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4069080" y="1143000"/>
            <a:ext cx="8686800" cy="868680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Oval 2"/>
          <p:cNvSpPr/>
          <p:nvPr/>
        </p:nvSpPr>
        <p:spPr>
          <a:xfrm>
            <a:off x="4937760" y="2011680"/>
            <a:ext cx="6949440" cy="694944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Oval 3"/>
          <p:cNvSpPr/>
          <p:nvPr/>
        </p:nvSpPr>
        <p:spPr>
          <a:xfrm>
            <a:off x="5806440" y="2880360"/>
            <a:ext cx="5212080" cy="521208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6675120" y="3749039"/>
            <a:ext cx="3474720" cy="347472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7543800" y="4617720"/>
            <a:ext cx="1737360" cy="1737360"/>
          </a:xfrm>
          <a:prstGeom prst="ellipse">
            <a:avLst/>
          </a:prstGeom>
          <a:noFill/>
          <a:ln w="15875">
            <a:solidFill>
              <a:srgbClr val="1B334F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234440"/>
            <a:ext cx="7315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CONTEXT INTEGRITY SOK  ·  RESULTS REVIEW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22960" y="1691640"/>
            <a:ext cx="8778240" cy="21031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Reuniting Adversarial and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Incidental Poisoning of LLM</a:t>
            </a:r>
          </a:p>
          <a:p>
            <a:pPr>
              <a:spcAft>
                <a:spcPts val="200"/>
              </a:spcAft>
            </a:pPr>
            <a:r>
              <a:rPr sz="4000" b="1">
                <a:solidFill>
                  <a:srgbClr val="FFFFFF"/>
                </a:solidFill>
                <a:latin typeface="Cambria"/>
              </a:rPr>
              <a:t>Agent Context Windows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22960" y="3703320"/>
            <a:ext cx="7772400" cy="5486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600" b="0">
                <a:solidFill>
                  <a:srgbClr val="CADCFC"/>
                </a:solidFill>
                <a:latin typeface="Calibri"/>
              </a:rPr>
              <a:t>A Systematization of Knowledge — RQ1–RQ7 complete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822960" y="5989320"/>
            <a:ext cx="82296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FE8EF"/>
                </a:solidFill>
                <a:latin typeface="Calibri"/>
              </a:rPr>
              <a:t>1,158 papers screened · 1,026 included · 237 mechanisms · 534 defenses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THE ROADMAP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Seven questions, one corpus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24028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31343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874519" y="232257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Taxonomy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120640" y="2322576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60.5% of the cube is empty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81635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88950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874519" y="289864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Cross-citation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120640" y="2898648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11.7% / 9.1% between tracks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392424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465576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874519" y="3474720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Pollution census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120640" y="3474720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223 named mechanisms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968496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041648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874519" y="4050791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Defense census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120640" y="4050791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534 named defenses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544568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617720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874519" y="4626864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Coverage matrix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120640" y="4626864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131 mechanisms never defended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12064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193792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874519" y="5202936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Generalization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120640" y="5202936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9 reconstructed case studies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69671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769864"/>
            <a:ext cx="10058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RQ7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874519" y="5779008"/>
            <a:ext cx="310896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Open problems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5120640" y="5779008"/>
            <a:ext cx="612648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0">
                <a:solidFill>
                  <a:srgbClr val="CADCFC"/>
                </a:solidFill>
                <a:latin typeface="Calibri"/>
              </a:rPr>
              <a:t>7 ranked, falsifiable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METHODOLOGY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Kitchenham SLR + PRISMA-lite screening,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run across two literatures instead of one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Search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86868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Two tracks searched in parallel: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adversarial poisoning and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incidental degradation.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25,922 records discovered.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42900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65760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Screen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65760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Fixed inclusion criteria in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config.yaml, applied by rule,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not by hand. Every change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logged in rescreening_log.md.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17920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46520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Extract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46520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Full text read for 1,097 papers.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32 coded fields per paper,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closed vocabularies for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channel and consequence.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9006839" y="2743200"/>
            <a:ext cx="2606040" cy="269748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235439" y="2971800"/>
            <a:ext cx="21945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700" b="1">
                <a:solidFill>
                  <a:srgbClr val="E0A458"/>
                </a:solidFill>
                <a:latin typeface="Cambria"/>
              </a:rPr>
              <a:t>Synthesize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235439" y="3429000"/>
            <a:ext cx="2194560" cy="1920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Registries joined into the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coverage matrix, then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reconstructed empirically</a:t>
            </a:r>
          </a:p>
          <a:p>
            <a:pPr>
              <a:spcAft>
                <a:spcPts val="100"/>
              </a:spcAft>
            </a:pPr>
            <a:r>
              <a:rPr sz="1150" b="0">
                <a:solidFill>
                  <a:srgbClr val="CADCFC"/>
                </a:solidFill>
                <a:latin typeface="Calibri"/>
              </a:rPr>
              <a:t>for RQ6.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THE CORPUS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What the numbers are computed over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4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68880"/>
            <a:ext cx="3017520" cy="30175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74720"/>
            <a:ext cx="29260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1,026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206240"/>
            <a:ext cx="29260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papers included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54880" y="2788920"/>
            <a:ext cx="66751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1,158 rows screened; 132 excluded with cause</a:t>
            </a:r>
          </a:p>
          <a:p>
            <a:pPr>
              <a:spcAft>
                <a:spcPts val="2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Every exclusion is recorded in rescreening_log.md —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duplicates, off-criteria admissions, and screening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corrections, with the reasoning for each.</a:t>
            </a:r>
          </a:p>
          <a:p>
            <a:pPr>
              <a:spcAft>
                <a:spcPts val="2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corpus grew 1,008 → 1,158 in Sept 2026 after a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screening bug was found: the signal-term list required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agent-era vocabulary, so the papers that founded the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field — which say "LLM-integrated application", never</a:t>
            </a:r>
          </a:p>
          <a:p>
            <a:pPr>
              <a:spcAft>
                <a:spcPts val="2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"agent" — had been silently dropped.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Which combinations of channel, intent,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and consequence have been studied at all?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5</a:t>
            </a:r>
          </a:p>
        </p:txBody>
      </p:sp>
      <p:sp>
        <p:nvSpPr>
          <p:cNvPr id="5" name="Oval 4"/>
          <p:cNvSpPr/>
          <p:nvPr/>
        </p:nvSpPr>
        <p:spPr>
          <a:xfrm>
            <a:off x="1645920" y="2514600"/>
            <a:ext cx="3291840" cy="329184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691640" y="3657600"/>
            <a:ext cx="320040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60.5%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691640" y="4389120"/>
            <a:ext cx="320040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the cube is empty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675120" y="3017520"/>
            <a:ext cx="4846320" cy="2743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800" b="1">
                <a:solidFill>
                  <a:srgbClr val="FFFFFF"/>
                </a:solidFill>
                <a:latin typeface="Calibri"/>
              </a:rPr>
              <a:t>98 of 162 cells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9 channels × 3 intents × 6 consequences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Down from 63.6% before the screening fix.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Recovering 150 foundational papers filled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five cells — and left 98 untouched.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RQ1  ·  TAXONOMY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Where the work actually sits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3230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tool-output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474720" y="2468880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3474720" y="2468880"/>
            <a:ext cx="71323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192" y="24323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86207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direct-input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474720" y="2898648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3474720" y="2898648"/>
            <a:ext cx="71323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286207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66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29184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RAG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474720" y="3328416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3474720" y="3328416"/>
            <a:ext cx="3025832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0192" y="329184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28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72160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cross-modal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474720" y="3758184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3474720" y="3758184"/>
            <a:ext cx="1945178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372160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18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151376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memory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3474720" y="4187952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3474720" y="4187952"/>
            <a:ext cx="1512916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4151376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14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581144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tool-metadata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3474720" y="4617720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3474720" y="4617720"/>
            <a:ext cx="1296785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45811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12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010912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multi-agent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3474720" y="5047488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Rounded Rectangle 30"/>
          <p:cNvSpPr/>
          <p:nvPr/>
        </p:nvSpPr>
        <p:spPr>
          <a:xfrm>
            <a:off x="3474720" y="5047488"/>
            <a:ext cx="972589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10680192" y="5010912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640080" y="5440680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supply-chain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3474720" y="5477256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Rounded Rectangle 34"/>
          <p:cNvSpPr/>
          <p:nvPr/>
        </p:nvSpPr>
        <p:spPr>
          <a:xfrm>
            <a:off x="3474720" y="5477256"/>
            <a:ext cx="648392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6" name="TextBox 35"/>
          <p:cNvSpPr txBox="1"/>
          <p:nvPr/>
        </p:nvSpPr>
        <p:spPr>
          <a:xfrm>
            <a:off x="10680192" y="5440680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640080" y="5870448"/>
            <a:ext cx="2834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skill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3474720" y="5907024"/>
            <a:ext cx="71323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Rounded Rectangle 38"/>
          <p:cNvSpPr/>
          <p:nvPr/>
        </p:nvSpPr>
        <p:spPr>
          <a:xfrm>
            <a:off x="3474720" y="5907024"/>
            <a:ext cx="432261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10680192" y="5870448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40080" y="626364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E8EF"/>
                </a:solidFill>
                <a:latin typeface="Calibri"/>
              </a:rPr>
              <a:t>Named mechanisms per channel (RQ3 registry). direct-input and tool-output are now exactly tied.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RQ2  ·  CITATION NETWORK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Two literatures. Do they read each other?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7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560320"/>
            <a:ext cx="10881360" cy="1143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24912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Security → cites ML/AI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16382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70 of 599 papers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052560" y="281635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>
                <a:solidFill>
                  <a:srgbClr val="E0A458"/>
                </a:solidFill>
                <a:latin typeface="Cambria"/>
              </a:rPr>
              <a:t>11.7%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3977639"/>
            <a:ext cx="10881360" cy="1143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914400" y="4142231"/>
            <a:ext cx="4206240" cy="4114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500" b="1">
                <a:solidFill>
                  <a:srgbClr val="FFFFFF"/>
                </a:solidFill>
                <a:latin typeface="Calibri"/>
              </a:rPr>
              <a:t>ML/AI → cites Security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914400" y="4581144"/>
            <a:ext cx="49377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FE8EF"/>
                </a:solidFill>
                <a:latin typeface="Calibri"/>
              </a:rPr>
              <a:t>37 of 407 papers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052560" y="4233672"/>
            <a:ext cx="2194560" cy="7315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r"/>
            <a:r>
              <a:rPr sz="4000" b="1">
                <a:solidFill>
                  <a:srgbClr val="1C7293"/>
                </a:solidFill>
                <a:latin typeface="Cambria"/>
              </a:rPr>
              <a:t>9.1%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57784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Roughly nine in ten papers never cite across the divide.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Unchanged after the corpus grew by 150 papers — the disconnect is structural, not a sampling artifact.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RQ3  ·  POLLUTION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How many distinct ways can a context be poisoned?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8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42316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36042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223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91939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named mechanisms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434840" y="2697480"/>
            <a:ext cx="6949440" cy="3108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168 adversarial  ·  55 incidental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Up from 183 before the screening fix. The 41 recovered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mechanisms are 40 adversarial and skew hard to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direct-input — 23 of 41.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That closed what had looked like a decisive channel gap.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old "tool-output dominates" reading overstated a gap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our own screening had manufactured.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989320"/>
            <a:ext cx="10881360" cy="4572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150" b="0">
                <a:solidFill>
                  <a:srgbClr val="CFE8EF"/>
                </a:solidFill>
                <a:latin typeface="Calibri"/>
              </a:rPr>
              <a:t>By consequence:  goal-hijack 126   ·   reasoning-corruption 46   ·   silent-corruption 21   ·   persistence-backdoor 14   ·   data-exfiltration 13   ·   resource-abuse 3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RQ4  ·  DEFENSE CENSUS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And how many defenses answer them?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9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33172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26898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534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00050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named defenses</a:t>
            </a:r>
          </a:p>
        </p:txBody>
      </p:sp>
      <p:sp>
        <p:nvSpPr>
          <p:cNvPr id="8" name="Oval 7"/>
          <p:cNvSpPr/>
          <p:nvPr/>
        </p:nvSpPr>
        <p:spPr>
          <a:xfrm>
            <a:off x="4160520" y="2331720"/>
            <a:ext cx="2880360" cy="288036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206240" y="3268980"/>
            <a:ext cx="278892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2.8%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206240" y="4000500"/>
            <a:ext cx="2788920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tested on both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threat models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635240" y="2697480"/>
            <a:ext cx="393192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Only 15 of 534 defenses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were validated against both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adversarial and incidental</a:t>
            </a:r>
          </a:p>
          <a:p>
            <a:pPr>
              <a:spcAft>
                <a:spcPts val="400"/>
              </a:spcAft>
            </a:pPr>
            <a:r>
              <a:rPr sz="1500" b="1">
                <a:solidFill>
                  <a:srgbClr val="FFFFFF"/>
                </a:solidFill>
                <a:latin typeface="Calibri"/>
              </a:rPr>
              <a:t>context corruption.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This figure did not move when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55 defenses were added — including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StruQ, SecAlign, Spotlighting and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the Instruction Hierarchy.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FFFFFF"/>
                </a:solidFill>
                <a:latin typeface="Calibri"/>
              </a:rPr>
              <a:t>2.9% → 2.8%.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Which defenses were ever tested</a:t>
            </a:r>
          </a:p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against which attacks?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10</a:t>
            </a:r>
          </a:p>
        </p:txBody>
      </p:sp>
      <p:sp>
        <p:nvSpPr>
          <p:cNvPr id="5" name="Oval 4"/>
          <p:cNvSpPr/>
          <p:nvPr/>
        </p:nvSpPr>
        <p:spPr>
          <a:xfrm>
            <a:off x="868680" y="2560320"/>
            <a:ext cx="2788920" cy="27889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3451859"/>
            <a:ext cx="26974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E0A458"/>
                </a:solidFill>
                <a:latin typeface="Cambria"/>
              </a:rPr>
              <a:t>40%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4183379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of defenses have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any confirmed test</a:t>
            </a:r>
          </a:p>
        </p:txBody>
      </p:sp>
      <p:sp>
        <p:nvSpPr>
          <p:cNvPr id="8" name="Oval 7"/>
          <p:cNvSpPr/>
          <p:nvPr/>
        </p:nvSpPr>
        <p:spPr>
          <a:xfrm>
            <a:off x="4069080" y="2560320"/>
            <a:ext cx="2788920" cy="2788920"/>
          </a:xfrm>
          <a:prstGeom prst="ellipse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114800" y="3451859"/>
            <a:ext cx="2697479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/>
            <a:r>
              <a:rPr sz="5400" b="1">
                <a:solidFill>
                  <a:srgbClr val="B54A3F"/>
                </a:solidFill>
                <a:latin typeface="Cambria"/>
              </a:rPr>
              <a:t>131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4183379"/>
            <a:ext cx="2697479" cy="640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mechanisms never</a:t>
            </a:r>
          </a:p>
          <a:p>
            <a:pPr algn="ctr">
              <a:spcAft>
                <a:spcPts val="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defended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79" y="2880360"/>
            <a:ext cx="4023360" cy="29260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700" b="1">
                <a:solidFill>
                  <a:srgbClr val="FFFFFF"/>
                </a:solidFill>
                <a:latin typeface="Calibri"/>
              </a:rPr>
              <a:t>332 confirmed pairs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213 of 534 defenses matched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106 of 237 mechanisms covered</a:t>
            </a:r>
          </a:p>
          <a:p>
            <a:pPr>
              <a:spcAft>
                <a:spcPts val="400"/>
              </a:spcAft>
            </a:pPr>
            <a:r>
              <a:rPr sz="10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Of the matched defenses,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163 were tested against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exactly one mechanism.</a:t>
            </a:r>
          </a:p>
          <a:p>
            <a:pPr>
              <a:spcAft>
                <a:spcPts val="400"/>
              </a:spcAft>
            </a:pPr>
            <a:r>
              <a:rPr sz="8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There is no generalist-defense</a:t>
            </a:r>
          </a:p>
          <a:p>
            <a:pPr>
              <a:spcAft>
                <a:spcPts val="400"/>
              </a:spcAft>
            </a:pPr>
            <a:r>
              <a:rPr sz="1300" b="1">
                <a:solidFill>
                  <a:srgbClr val="E0A458"/>
                </a:solidFill>
                <a:latin typeface="Calibri"/>
              </a:rPr>
              <a:t>category to speak of.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COVERAGE MATRIX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Testing effort concentrates on a handful of targets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7802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Indirect Prompt Injection (IPI)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74920" y="251460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074920" y="2514600"/>
            <a:ext cx="5532120" cy="201168"/>
          </a:xfrm>
          <a:prstGeom prst="roundRect">
            <a:avLst/>
          </a:prstGeom>
          <a:solidFill>
            <a:srgbClr val="E0A45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10680192" y="24780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76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298094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AgentDojo: important-instructions injection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074920" y="301752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5074920" y="3017520"/>
            <a:ext cx="1091865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0680192" y="298094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15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348386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lost in the middle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074920" y="352044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074920" y="352044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680192" y="348386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398678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Combined Attack (Open-Prompt-Injection)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74920" y="402336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5074920" y="402336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10680192" y="398678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0080" y="448970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BIPIA benchmark attack set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074920" y="452628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Rounded Rectangle 22"/>
          <p:cNvSpPr/>
          <p:nvPr/>
        </p:nvSpPr>
        <p:spPr>
          <a:xfrm>
            <a:off x="5074920" y="452628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10680192" y="448970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0080" y="4992624"/>
            <a:ext cx="44348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ADCFC"/>
                </a:solidFill>
                <a:latin typeface="Calibri"/>
              </a:rPr>
              <a:t>AgentDojo: ignore-previous injection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074920" y="5029200"/>
            <a:ext cx="5532120" cy="20116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Rounded Rectangle 26"/>
          <p:cNvSpPr/>
          <p:nvPr/>
        </p:nvSpPr>
        <p:spPr>
          <a:xfrm>
            <a:off x="5074920" y="5029200"/>
            <a:ext cx="946283" cy="201168"/>
          </a:xfrm>
          <a:prstGeom prst="roundRect">
            <a:avLst/>
          </a:prstGeom>
          <a:solidFill>
            <a:srgbClr val="1C729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10680192" y="4992624"/>
            <a:ext cx="91440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1">
                <a:solidFill>
                  <a:srgbClr val="FFFFFF"/>
                </a:solidFill>
                <a:latin typeface="Calibri"/>
              </a:rPr>
              <a:t>13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40080" y="571500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One umbrella mechanism absorbs 22.9% of all test pairs; these six take 43.1%.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The other 131 mechanisms absorb none.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RQ5  ·  THE TEST THAT FAILED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We predicted the gap would close.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It did not — and that is the result.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12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97480"/>
            <a:ext cx="5257800" cy="28803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E0A458"/>
                </a:solidFill>
                <a:latin typeface="Calibri"/>
              </a:rPr>
              <a:t>The prediction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Recovering the field's foundational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defenses — StruQ, SecAlign, Spotlighting,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Attention Tracker, the Liu et al. baselines —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should reveal that mechanisms which look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"never defended" were defended after all.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263640" y="2697480"/>
            <a:ext cx="5257800" cy="288036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537960" y="2926080"/>
            <a:ext cx="4754880" cy="246888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500" b="1">
                <a:solidFill>
                  <a:srgbClr val="B54A3F"/>
                </a:solidFill>
                <a:latin typeface="Calibri"/>
              </a:rPr>
              <a:t>What happened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164 papers recovered. 55 defenses and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41 mechanisms added. 45 new pairs.</a:t>
            </a:r>
          </a:p>
          <a:p>
            <a:pPr>
              <a:spcAft>
                <a:spcPts val="400"/>
              </a:spcAft>
            </a:pPr>
            <a:r>
              <a:rPr sz="600" b="0">
                <a:solidFill>
                  <a:srgbClr val="CADCFC"/>
                </a:solidFill>
                <a:latin typeface="Calibri"/>
              </a:rPr>
              <a:t/>
            </a:r>
          </a:p>
          <a:p>
            <a:pPr>
              <a:spcAft>
                <a:spcPts val="400"/>
              </a:spcAft>
            </a:pPr>
            <a:r>
              <a:rPr sz="1250" b="1">
                <a:solidFill>
                  <a:srgbClr val="FFFFFF"/>
                </a:solidFill>
                <a:latin typeface="Calibri"/>
              </a:rPr>
              <a:t>Pre-existing mechanisms newly covered:</a:t>
            </a:r>
          </a:p>
          <a:p>
            <a:pPr>
              <a:spcAft>
                <a:spcPts val="400"/>
              </a:spcAft>
            </a:pPr>
            <a:r>
              <a:rPr sz="2600" b="1">
                <a:solidFill>
                  <a:srgbClr val="B54A3F"/>
                </a:solidFill>
                <a:latin typeface="Calibri"/>
              </a:rPr>
              <a:t>zero.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FE8EF"/>
                </a:solidFill>
                <a:latin typeface="Calibri"/>
              </a:rPr>
              <a:t>Coverage of the original 196 is unchanged.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5806440"/>
            <a:ext cx="1088136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400" b="1">
                <a:solidFill>
                  <a:srgbClr val="FFFFFF"/>
                </a:solidFill>
                <a:latin typeface="Calibri"/>
              </a:rPr>
              <a:t>The recovered defenses and the recovered attacks cover each other.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E0A458"/>
                </a:solidFill>
                <a:latin typeface="Calibri"/>
              </a:rPr>
              <a:t>"Your gap is an artifact of your corpus boundaries" has now been tested directly, and does not hold.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RQ6  ·  DEFENSE GENERALIZATION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Does a defense built for one threat model</a:t>
            </a:r>
          </a:p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hold against the other?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13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1C7293"/>
                </a:solidFill>
                <a:latin typeface="Cambria"/>
              </a:rPr>
              <a:t>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Full generalization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14400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holds against the untested threat model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352544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626864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B57E39"/>
                </a:solidFill>
                <a:latin typeface="Cambria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26864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Partial / degraded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26864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measurable protection, materially weaker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8065007" y="2606040"/>
            <a:ext cx="3520440" cy="228600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339327" y="2788920"/>
            <a:ext cx="3017520" cy="8229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4400" b="1">
                <a:solidFill>
                  <a:srgbClr val="B54A3F"/>
                </a:solidFill>
                <a:latin typeface="Cambria"/>
              </a:rPr>
              <a:t>2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39327" y="3611880"/>
            <a:ext cx="301752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FFFFFF"/>
                </a:solidFill>
                <a:latin typeface="Calibri"/>
              </a:rPr>
              <a:t>Inert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339327" y="4023360"/>
            <a:ext cx="3017520" cy="7772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no measurable protection at all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40080" y="5212080"/>
            <a:ext cx="10881360" cy="11887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50" b="1">
                <a:solidFill>
                  <a:srgbClr val="FFFFFF"/>
                </a:solidFill>
                <a:latin typeface="Calibri"/>
              </a:rPr>
              <a:t>9 case studies, each rebuilt from the defense's own released code or weights — never from its paper's numbers.</a:t>
            </a:r>
          </a:p>
          <a:p>
            <a:pPr>
              <a:spcAft>
                <a:spcPts val="4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Generalization tracks intervention point: ingestion defenses mostly hold, execution defenses mostly do not.</a:t>
            </a:r>
          </a:p>
          <a:p>
            <a:pPr>
              <a:spcAft>
                <a:spcPts val="400"/>
              </a:spcAft>
            </a:pPr>
            <a:r>
              <a:rPr sz="1200" b="0">
                <a:solidFill>
                  <a:srgbClr val="CFE8EF"/>
                </a:solidFill>
                <a:latin typeface="Calibri"/>
              </a:rPr>
              <a:t>That split is partly confounded — the ingestion harnesses model a text classifier, the execution ones an agent. Stated, not hidden.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RQ7  ·  OPEN PROBLEMS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Seven problems, ranked by expected value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14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331720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2404872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1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241401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Cross-track evaluation is not happening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583680" y="2414015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0.9% of test pairs cross the divide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907791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68680" y="298094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2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371600" y="2990087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The uncovered tail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583680" y="2990087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131 mechanisms have no tested defense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483863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868680" y="3557015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3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371600" y="3566159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Single-mechanism validation is the norm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583680" y="3566159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163 defenses tested against exactly one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059935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868680" y="4133087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4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142231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Defenses are tested only against contemporaries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583680" y="4142231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attack papers hold the later record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36008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68680" y="4709160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5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1371600" y="4718304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Intervention point predicts generalization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583680" y="4718304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testable, and partly confounded today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212079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868680" y="5285231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6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371600" y="5294375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Benchmarks stand in for mechanisms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6583680" y="5294375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one umbrella entry absorbs 22.9% of pairs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788152"/>
            <a:ext cx="10881360" cy="475488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868680" y="5861304"/>
            <a:ext cx="4572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00" b="1">
                <a:solidFill>
                  <a:srgbClr val="E0A458"/>
                </a:solidFill>
                <a:latin typeface="Cambria"/>
              </a:rPr>
              <a:t>7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1371600" y="5870448"/>
            <a:ext cx="51206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50" b="1">
                <a:solidFill>
                  <a:srgbClr val="FFFFFF"/>
                </a:solidFill>
                <a:latin typeface="Calibri"/>
              </a:rPr>
              <a:t>Reporting conventions, not capability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6583680" y="5870448"/>
            <a:ext cx="46634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four of seven need no new science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SYNTHESIS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800" b="1">
                <a:solidFill>
                  <a:srgbClr val="FFFFFF"/>
                </a:solidFill>
                <a:latin typeface="Cambria"/>
              </a:rPr>
              <a:t>The field is underclaiming coverage it already has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15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423160"/>
            <a:ext cx="10881360" cy="10058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5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Two literatures study the same pond and barely read each other (RQ2).</a:t>
            </a:r>
          </a:p>
          <a:p>
            <a:pPr>
              <a:spcAft>
                <a:spcPts val="500"/>
              </a:spcAft>
            </a:pPr>
            <a:r>
              <a:rPr sz="1400" b="0">
                <a:solidFill>
                  <a:srgbClr val="CADCFC"/>
                </a:solidFill>
                <a:latin typeface="Calibri"/>
              </a:rPr>
              <a:t>They name 223 ways to poison a context and 534 ways to defend one — and almost never test the two against each other (RQ5).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3703320"/>
            <a:ext cx="10881360" cy="1417320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960120" y="3913632"/>
            <a:ext cx="10241280" cy="10515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300"/>
              </a:spcAft>
            </a:pPr>
            <a:r>
              <a:rPr sz="1700" b="1">
                <a:solidFill>
                  <a:srgbClr val="E0A458"/>
                </a:solidFill>
                <a:latin typeface="Calibri"/>
              </a:rPr>
              <a:t>The binding constraint is coordination, not capability.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RQ6 found 6 of 7 runnable defenses showed some protection against the threat model they were never tested on.</a:t>
            </a:r>
          </a:p>
          <a:p>
            <a:pPr>
              <a:spcAft>
                <a:spcPts val="300"/>
              </a:spcAft>
            </a:pPr>
            <a:r>
              <a:rPr sz="1300" b="0">
                <a:solidFill>
                  <a:srgbClr val="FFFFFF"/>
                </a:solidFill>
                <a:latin typeface="Calibri"/>
              </a:rPr>
              <a:t>The generalization is already there. The evaluation convention that would surface it is not.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5394960"/>
            <a:ext cx="10881360" cy="9144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400"/>
              </a:spcAft>
            </a:pPr>
            <a:r>
              <a:rPr sz="1300" b="0">
                <a:solidFill>
                  <a:srgbClr val="CFE8EF"/>
                </a:solidFill>
                <a:latin typeface="Calibri"/>
              </a:rPr>
              <a:t>And the gap is not ours. We imported the literature we thought was missing, specifically to close it. It did not close.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REPRODUCIBILITY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2600" b="1">
                <a:solidFill>
                  <a:srgbClr val="FFFFFF"/>
                </a:solidFill>
                <a:latin typeface="Cambria"/>
              </a:rPr>
              <a:t>Every number on these slides regenerates from the repo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16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640080" y="2468880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256946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config.yaml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212080" y="256946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screening criteria, applied by rule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90672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914400" y="3191256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rescreening_log.md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212080" y="3191256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every corpus-affecting decision, dated, with cause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3712464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914400" y="3813048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scripts/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212080" y="3813048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dedupe → registries → coverage matrix → RQ1/RQ2/RQ7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0080" y="4334256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4400" y="4434840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context_sok_master_workbook.xlsx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5212080" y="4434840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papers, mechanisms, defenses, pairs, gaps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4956048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914400" y="5056632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mcp_server/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212080" y="5056632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the same data, queryable conversationally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40080" y="5577840"/>
            <a:ext cx="10881360" cy="512064"/>
          </a:xfrm>
          <a:prstGeom prst="roundRect">
            <a:avLst/>
          </a:prstGeom>
          <a:solidFill>
            <a:srgbClr val="1B334F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914400" y="5678424"/>
            <a:ext cx="42062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300" b="1">
                <a:solidFill>
                  <a:srgbClr val="E0A458"/>
                </a:solidFill>
                <a:latin typeface="Calibri"/>
              </a:rPr>
              <a:t>scripts/build_presentation.py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212080" y="5678424"/>
            <a:ext cx="603504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0">
                <a:solidFill>
                  <a:srgbClr val="CADCFC"/>
                </a:solidFill>
                <a:latin typeface="Calibri"/>
              </a:rPr>
              <a:t>this deck, built from the live registries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0080" y="6309360"/>
            <a:ext cx="1088136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00" b="0">
                <a:solidFill>
                  <a:srgbClr val="CFE8EF"/>
                </a:solidFill>
                <a:latin typeface="Calibri"/>
              </a:rPr>
              <a:t>RQ6 numbers come from running each defense's released code or weights — never from the paper's reported figures.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12253C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640080" y="411480"/>
            <a:ext cx="8229600" cy="32004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250" b="1">
                <a:solidFill>
                  <a:srgbClr val="E0A458"/>
                </a:solidFill>
                <a:latin typeface="Calibri"/>
              </a:rPr>
              <a:t>WHAT'S NEXT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640080" y="1371600"/>
            <a:ext cx="10607040" cy="13716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200"/>
              </a:spcAft>
            </a:pPr>
            <a:r>
              <a:rPr sz="3000" b="1">
                <a:solidFill>
                  <a:srgbClr val="FFFFFF"/>
                </a:solidFill>
                <a:latin typeface="Cambria"/>
              </a:rPr>
              <a:t>From findings to manuscript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1521440" y="6510528"/>
            <a:ext cx="548640" cy="27432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000" b="0">
                <a:solidFill>
                  <a:srgbClr val="CADCFC"/>
                </a:solidFill>
                <a:latin typeface="Calibri"/>
              </a:rPr>
              <a:t>17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640080" y="233172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Resolve the RQ6 confound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4846320" y="2359151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port the ingestion defenses into an agent harness so intervention point is tested, not inferred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40080" y="315467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Close the transfer program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846320" y="3182111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three-stage coverage recovery; first prediction already validated by execution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40080" y="3977639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Decide the survey question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846320" y="400507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whether a pure survey satisfies the include criteria — affects the original corpus too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0080" y="480060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Differentiation table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846320" y="482803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against the five closest SoKs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40080" y="5623560"/>
            <a:ext cx="4114800" cy="36576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sz="1450" b="1">
                <a:solidFill>
                  <a:srgbClr val="E0A458"/>
                </a:solidFill>
                <a:latin typeface="Cambria"/>
              </a:rPr>
              <a:t>Manuscript draft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846320" y="5650992"/>
            <a:ext cx="6675120" cy="685800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>
              <a:spcAft>
                <a:spcPts val="100"/>
              </a:spcAft>
            </a:pPr>
            <a:r>
              <a:rPr sz="1250" b="0">
                <a:solidFill>
                  <a:srgbClr val="CADCFC"/>
                </a:solidFill>
                <a:latin typeface="Calibri"/>
              </a:rPr>
              <a:t>RQ1–RQ7 complete; threats-to-validity already written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