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Oval 1"/>
          <p:cNvSpPr/>
          <p:nvPr/>
        </p:nvSpPr>
        <p:spPr>
          <a:xfrm>
            <a:off x="4069080" y="1143000"/>
            <a:ext cx="8686800" cy="8686800"/>
          </a:xfrm>
          <a:prstGeom prst="ellipse">
            <a:avLst/>
          </a:prstGeom>
          <a:noFill/>
          <a:ln w="15875">
            <a:solidFill>
              <a:srgbClr val="1B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937760" y="2011680"/>
            <a:ext cx="6949440" cy="6949440"/>
          </a:xfrm>
          <a:prstGeom prst="ellipse">
            <a:avLst/>
          </a:prstGeom>
          <a:noFill/>
          <a:ln w="15875">
            <a:solidFill>
              <a:srgbClr val="1B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06440" y="2880360"/>
            <a:ext cx="5212080" cy="5212080"/>
          </a:xfrm>
          <a:prstGeom prst="ellipse">
            <a:avLst/>
          </a:prstGeom>
          <a:noFill/>
          <a:ln w="15875">
            <a:solidFill>
              <a:srgbClr val="1B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675120" y="3749039"/>
            <a:ext cx="3474720" cy="3474720"/>
          </a:xfrm>
          <a:prstGeom prst="ellipse">
            <a:avLst/>
          </a:prstGeom>
          <a:noFill/>
          <a:ln w="15875">
            <a:solidFill>
              <a:srgbClr val="1B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43800" y="4617720"/>
            <a:ext cx="1737360" cy="1737360"/>
          </a:xfrm>
          <a:prstGeom prst="ellipse">
            <a:avLst/>
          </a:prstGeom>
          <a:noFill/>
          <a:ln w="15875">
            <a:solidFill>
              <a:srgbClr val="1B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234440"/>
            <a:ext cx="7315200" cy="320040"/>
          </a:xfrm>
          <a:prstGeom prst="rect">
            <a:avLst/>
          </a:prstGeom>
          <a:noFill/>
        </p:spPr>
        <p:txBody>
          <a:bodyPr wrap="square">
            <a:spAutoFit/>
          </a:bodyPr>
          <a:lstStyle/>
          <a:p>
            <a:r>
              <a:rPr sz="1250" b="1">
                <a:solidFill>
                  <a:srgbClr val="E0A458"/>
                </a:solidFill>
                <a:latin typeface="Calibri"/>
              </a:rPr>
              <a:t>CONTEXT INTEGRITY SOK  ·  RESULTS REVIEW</a:t>
            </a:r>
          </a:p>
        </p:txBody>
      </p:sp>
      <p:sp>
        <p:nvSpPr>
          <p:cNvPr id="8" name="TextBox 7"/>
          <p:cNvSpPr txBox="1"/>
          <p:nvPr/>
        </p:nvSpPr>
        <p:spPr>
          <a:xfrm>
            <a:off x="822960" y="1691640"/>
            <a:ext cx="8778240" cy="2103120"/>
          </a:xfrm>
          <a:prstGeom prst="rect">
            <a:avLst/>
          </a:prstGeom>
          <a:noFill/>
        </p:spPr>
        <p:txBody>
          <a:bodyPr wrap="square">
            <a:spAutoFit/>
          </a:bodyPr>
          <a:lstStyle/>
          <a:p>
            <a:pPr>
              <a:spcAft>
                <a:spcPts val="200"/>
              </a:spcAft>
            </a:pPr>
            <a:r>
              <a:rPr sz="4000" b="1">
                <a:solidFill>
                  <a:srgbClr val="FFFFFF"/>
                </a:solidFill>
                <a:latin typeface="Cambria"/>
              </a:rPr>
              <a:t>Reuniting Adversarial and</a:t>
            </a:r>
          </a:p>
          <a:p>
            <a:pPr>
              <a:spcAft>
                <a:spcPts val="200"/>
              </a:spcAft>
            </a:pPr>
            <a:r>
              <a:rPr sz="4000" b="1">
                <a:solidFill>
                  <a:srgbClr val="FFFFFF"/>
                </a:solidFill>
                <a:latin typeface="Cambria"/>
              </a:rPr>
              <a:t>Incidental Poisoning of LLM</a:t>
            </a:r>
          </a:p>
          <a:p>
            <a:pPr>
              <a:spcAft>
                <a:spcPts val="200"/>
              </a:spcAft>
            </a:pPr>
            <a:r>
              <a:rPr sz="4000" b="1">
                <a:solidFill>
                  <a:srgbClr val="FFFFFF"/>
                </a:solidFill>
                <a:latin typeface="Cambria"/>
              </a:rPr>
              <a:t>Agent Context Windows</a:t>
            </a:r>
          </a:p>
        </p:txBody>
      </p:sp>
      <p:sp>
        <p:nvSpPr>
          <p:cNvPr id="9" name="TextBox 8"/>
          <p:cNvSpPr txBox="1"/>
          <p:nvPr/>
        </p:nvSpPr>
        <p:spPr>
          <a:xfrm>
            <a:off x="822960" y="3703320"/>
            <a:ext cx="7772400" cy="548640"/>
          </a:xfrm>
          <a:prstGeom prst="rect">
            <a:avLst/>
          </a:prstGeom>
          <a:noFill/>
        </p:spPr>
        <p:txBody>
          <a:bodyPr wrap="square">
            <a:spAutoFit/>
          </a:bodyPr>
          <a:lstStyle/>
          <a:p>
            <a:r>
              <a:rPr sz="1600" b="0">
                <a:solidFill>
                  <a:srgbClr val="CADCFC"/>
                </a:solidFill>
                <a:latin typeface="Calibri"/>
              </a:rPr>
              <a:t>A Systematization of Knowledge. RQ1 to RQ7 are complete.</a:t>
            </a:r>
          </a:p>
        </p:txBody>
      </p:sp>
      <p:sp>
        <p:nvSpPr>
          <p:cNvPr id="10" name="TextBox 9"/>
          <p:cNvSpPr txBox="1"/>
          <p:nvPr/>
        </p:nvSpPr>
        <p:spPr>
          <a:xfrm>
            <a:off x="822960" y="5989320"/>
            <a:ext cx="8229600" cy="365760"/>
          </a:xfrm>
          <a:prstGeom prst="rect">
            <a:avLst/>
          </a:prstGeom>
          <a:noFill/>
        </p:spPr>
        <p:txBody>
          <a:bodyPr wrap="square">
            <a:spAutoFit/>
          </a:bodyPr>
          <a:lstStyle/>
          <a:p>
            <a:r>
              <a:rPr sz="1300" b="0">
                <a:solidFill>
                  <a:srgbClr val="CFE8EF"/>
                </a:solidFill>
                <a:latin typeface="Calibri"/>
              </a:rPr>
              <a:t>1,158 papers screened · 1,026 included · 237 mechanisms · 534 defenses · 16 cells we ran ourselves</a:t>
            </a:r>
          </a:p>
        </p:txBody>
      </p:sp>
      <p:sp>
        <p:nvSpPr>
          <p:cNvPr id="11" name="TextBox 10"/>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THE ROADMAP</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Seven questions, then the experiments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a:t>
            </a:r>
          </a:p>
        </p:txBody>
      </p:sp>
      <p:sp>
        <p:nvSpPr>
          <p:cNvPr id="5" name="Rounded Rectangle 4"/>
          <p:cNvSpPr/>
          <p:nvPr/>
        </p:nvSpPr>
        <p:spPr>
          <a:xfrm>
            <a:off x="640080" y="2103120"/>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76272"/>
            <a:ext cx="1005840" cy="320040"/>
          </a:xfrm>
          <a:prstGeom prst="rect">
            <a:avLst/>
          </a:prstGeom>
          <a:noFill/>
        </p:spPr>
        <p:txBody>
          <a:bodyPr wrap="square">
            <a:spAutoFit/>
          </a:bodyPr>
          <a:lstStyle/>
          <a:p>
            <a:r>
              <a:rPr sz="1400" b="1">
                <a:solidFill>
                  <a:srgbClr val="E0A458"/>
                </a:solidFill>
                <a:latin typeface="Cambria"/>
              </a:rPr>
              <a:t>RQ1</a:t>
            </a:r>
          </a:p>
        </p:txBody>
      </p:sp>
      <p:sp>
        <p:nvSpPr>
          <p:cNvPr id="7" name="TextBox 6"/>
          <p:cNvSpPr txBox="1"/>
          <p:nvPr/>
        </p:nvSpPr>
        <p:spPr>
          <a:xfrm>
            <a:off x="1874519" y="2185415"/>
            <a:ext cx="3108960" cy="320040"/>
          </a:xfrm>
          <a:prstGeom prst="rect">
            <a:avLst/>
          </a:prstGeom>
          <a:noFill/>
        </p:spPr>
        <p:txBody>
          <a:bodyPr wrap="square">
            <a:spAutoFit/>
          </a:bodyPr>
          <a:lstStyle/>
          <a:p>
            <a:r>
              <a:rPr sz="1350" b="1">
                <a:solidFill>
                  <a:srgbClr val="FFFFFF"/>
                </a:solidFill>
                <a:latin typeface="Calibri"/>
              </a:rPr>
              <a:t>Taxonomy</a:t>
            </a:r>
          </a:p>
        </p:txBody>
      </p:sp>
      <p:sp>
        <p:nvSpPr>
          <p:cNvPr id="8" name="TextBox 7"/>
          <p:cNvSpPr txBox="1"/>
          <p:nvPr/>
        </p:nvSpPr>
        <p:spPr>
          <a:xfrm>
            <a:off x="5120640" y="2185415"/>
            <a:ext cx="6126480" cy="320040"/>
          </a:xfrm>
          <a:prstGeom prst="rect">
            <a:avLst/>
          </a:prstGeom>
          <a:noFill/>
        </p:spPr>
        <p:txBody>
          <a:bodyPr wrap="square">
            <a:spAutoFit/>
          </a:bodyPr>
          <a:lstStyle/>
          <a:p>
            <a:r>
              <a:rPr sz="1300" b="0">
                <a:solidFill>
                  <a:srgbClr val="CADCFC"/>
                </a:solidFill>
                <a:latin typeface="Calibri"/>
              </a:rPr>
              <a:t>60.5% of the cube is empty</a:t>
            </a:r>
          </a:p>
        </p:txBody>
      </p:sp>
      <p:sp>
        <p:nvSpPr>
          <p:cNvPr id="9" name="Rounded Rectangle 8"/>
          <p:cNvSpPr/>
          <p:nvPr/>
        </p:nvSpPr>
        <p:spPr>
          <a:xfrm>
            <a:off x="640080" y="2633472"/>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06624"/>
            <a:ext cx="1005840" cy="320040"/>
          </a:xfrm>
          <a:prstGeom prst="rect">
            <a:avLst/>
          </a:prstGeom>
          <a:noFill/>
        </p:spPr>
        <p:txBody>
          <a:bodyPr wrap="square">
            <a:spAutoFit/>
          </a:bodyPr>
          <a:lstStyle/>
          <a:p>
            <a:r>
              <a:rPr sz="1400" b="1">
                <a:solidFill>
                  <a:srgbClr val="E0A458"/>
                </a:solidFill>
                <a:latin typeface="Cambria"/>
              </a:rPr>
              <a:t>RQ2</a:t>
            </a:r>
          </a:p>
        </p:txBody>
      </p:sp>
      <p:sp>
        <p:nvSpPr>
          <p:cNvPr id="11" name="TextBox 10"/>
          <p:cNvSpPr txBox="1"/>
          <p:nvPr/>
        </p:nvSpPr>
        <p:spPr>
          <a:xfrm>
            <a:off x="1874519" y="2715768"/>
            <a:ext cx="3108960" cy="320040"/>
          </a:xfrm>
          <a:prstGeom prst="rect">
            <a:avLst/>
          </a:prstGeom>
          <a:noFill/>
        </p:spPr>
        <p:txBody>
          <a:bodyPr wrap="square">
            <a:spAutoFit/>
          </a:bodyPr>
          <a:lstStyle/>
          <a:p>
            <a:r>
              <a:rPr sz="1350" b="1">
                <a:solidFill>
                  <a:srgbClr val="FFFFFF"/>
                </a:solidFill>
                <a:latin typeface="Calibri"/>
              </a:rPr>
              <a:t>Cross-citation</a:t>
            </a:r>
          </a:p>
        </p:txBody>
      </p:sp>
      <p:sp>
        <p:nvSpPr>
          <p:cNvPr id="12" name="TextBox 11"/>
          <p:cNvSpPr txBox="1"/>
          <p:nvPr/>
        </p:nvSpPr>
        <p:spPr>
          <a:xfrm>
            <a:off x="5120640" y="2715768"/>
            <a:ext cx="6126480" cy="320040"/>
          </a:xfrm>
          <a:prstGeom prst="rect">
            <a:avLst/>
          </a:prstGeom>
          <a:noFill/>
        </p:spPr>
        <p:txBody>
          <a:bodyPr wrap="square">
            <a:spAutoFit/>
          </a:bodyPr>
          <a:lstStyle/>
          <a:p>
            <a:r>
              <a:rPr sz="1300" b="0">
                <a:solidFill>
                  <a:srgbClr val="CADCFC"/>
                </a:solidFill>
                <a:latin typeface="Calibri"/>
              </a:rPr>
              <a:t>11.7% / 9.1% between tracks</a:t>
            </a:r>
          </a:p>
        </p:txBody>
      </p:sp>
      <p:sp>
        <p:nvSpPr>
          <p:cNvPr id="13" name="Rounded Rectangle 12"/>
          <p:cNvSpPr/>
          <p:nvPr/>
        </p:nvSpPr>
        <p:spPr>
          <a:xfrm>
            <a:off x="640080" y="3163824"/>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36976"/>
            <a:ext cx="1005840" cy="320040"/>
          </a:xfrm>
          <a:prstGeom prst="rect">
            <a:avLst/>
          </a:prstGeom>
          <a:noFill/>
        </p:spPr>
        <p:txBody>
          <a:bodyPr wrap="square">
            <a:spAutoFit/>
          </a:bodyPr>
          <a:lstStyle/>
          <a:p>
            <a:r>
              <a:rPr sz="1400" b="1">
                <a:solidFill>
                  <a:srgbClr val="E0A458"/>
                </a:solidFill>
                <a:latin typeface="Cambria"/>
              </a:rPr>
              <a:t>RQ3</a:t>
            </a:r>
          </a:p>
        </p:txBody>
      </p:sp>
      <p:sp>
        <p:nvSpPr>
          <p:cNvPr id="15" name="TextBox 14"/>
          <p:cNvSpPr txBox="1"/>
          <p:nvPr/>
        </p:nvSpPr>
        <p:spPr>
          <a:xfrm>
            <a:off x="1874519" y="3246120"/>
            <a:ext cx="3108960" cy="320040"/>
          </a:xfrm>
          <a:prstGeom prst="rect">
            <a:avLst/>
          </a:prstGeom>
          <a:noFill/>
        </p:spPr>
        <p:txBody>
          <a:bodyPr wrap="square">
            <a:spAutoFit/>
          </a:bodyPr>
          <a:lstStyle/>
          <a:p>
            <a:r>
              <a:rPr sz="1350" b="1">
                <a:solidFill>
                  <a:srgbClr val="FFFFFF"/>
                </a:solidFill>
                <a:latin typeface="Calibri"/>
              </a:rPr>
              <a:t>Pollution census</a:t>
            </a:r>
          </a:p>
        </p:txBody>
      </p:sp>
      <p:sp>
        <p:nvSpPr>
          <p:cNvPr id="16" name="TextBox 15"/>
          <p:cNvSpPr txBox="1"/>
          <p:nvPr/>
        </p:nvSpPr>
        <p:spPr>
          <a:xfrm>
            <a:off x="5120640" y="3246120"/>
            <a:ext cx="6126480" cy="320040"/>
          </a:xfrm>
          <a:prstGeom prst="rect">
            <a:avLst/>
          </a:prstGeom>
          <a:noFill/>
        </p:spPr>
        <p:txBody>
          <a:bodyPr wrap="square">
            <a:spAutoFit/>
          </a:bodyPr>
          <a:lstStyle/>
          <a:p>
            <a:r>
              <a:rPr sz="1300" b="0">
                <a:solidFill>
                  <a:srgbClr val="CADCFC"/>
                </a:solidFill>
                <a:latin typeface="Calibri"/>
              </a:rPr>
              <a:t>223 named mechanisms</a:t>
            </a:r>
          </a:p>
        </p:txBody>
      </p:sp>
      <p:sp>
        <p:nvSpPr>
          <p:cNvPr id="17" name="Rounded Rectangle 16"/>
          <p:cNvSpPr/>
          <p:nvPr/>
        </p:nvSpPr>
        <p:spPr>
          <a:xfrm>
            <a:off x="640080" y="3694175"/>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67327"/>
            <a:ext cx="1005840" cy="320040"/>
          </a:xfrm>
          <a:prstGeom prst="rect">
            <a:avLst/>
          </a:prstGeom>
          <a:noFill/>
        </p:spPr>
        <p:txBody>
          <a:bodyPr wrap="square">
            <a:spAutoFit/>
          </a:bodyPr>
          <a:lstStyle/>
          <a:p>
            <a:r>
              <a:rPr sz="1400" b="1">
                <a:solidFill>
                  <a:srgbClr val="E0A458"/>
                </a:solidFill>
                <a:latin typeface="Cambria"/>
              </a:rPr>
              <a:t>RQ4</a:t>
            </a:r>
          </a:p>
        </p:txBody>
      </p:sp>
      <p:sp>
        <p:nvSpPr>
          <p:cNvPr id="19" name="TextBox 18"/>
          <p:cNvSpPr txBox="1"/>
          <p:nvPr/>
        </p:nvSpPr>
        <p:spPr>
          <a:xfrm>
            <a:off x="1874519" y="3776471"/>
            <a:ext cx="3108960" cy="320040"/>
          </a:xfrm>
          <a:prstGeom prst="rect">
            <a:avLst/>
          </a:prstGeom>
          <a:noFill/>
        </p:spPr>
        <p:txBody>
          <a:bodyPr wrap="square">
            <a:spAutoFit/>
          </a:bodyPr>
          <a:lstStyle/>
          <a:p>
            <a:r>
              <a:rPr sz="1350" b="1">
                <a:solidFill>
                  <a:srgbClr val="FFFFFF"/>
                </a:solidFill>
                <a:latin typeface="Calibri"/>
              </a:rPr>
              <a:t>Defense census</a:t>
            </a:r>
          </a:p>
        </p:txBody>
      </p:sp>
      <p:sp>
        <p:nvSpPr>
          <p:cNvPr id="20" name="TextBox 19"/>
          <p:cNvSpPr txBox="1"/>
          <p:nvPr/>
        </p:nvSpPr>
        <p:spPr>
          <a:xfrm>
            <a:off x="5120640" y="3776471"/>
            <a:ext cx="6126480" cy="320040"/>
          </a:xfrm>
          <a:prstGeom prst="rect">
            <a:avLst/>
          </a:prstGeom>
          <a:noFill/>
        </p:spPr>
        <p:txBody>
          <a:bodyPr wrap="square">
            <a:spAutoFit/>
          </a:bodyPr>
          <a:lstStyle/>
          <a:p>
            <a:r>
              <a:rPr sz="1300" b="0">
                <a:solidFill>
                  <a:srgbClr val="CADCFC"/>
                </a:solidFill>
                <a:latin typeface="Calibri"/>
              </a:rPr>
              <a:t>534 named defenses</a:t>
            </a:r>
          </a:p>
        </p:txBody>
      </p:sp>
      <p:sp>
        <p:nvSpPr>
          <p:cNvPr id="21" name="Rounded Rectangle 20"/>
          <p:cNvSpPr/>
          <p:nvPr/>
        </p:nvSpPr>
        <p:spPr>
          <a:xfrm>
            <a:off x="640080" y="4224527"/>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297679"/>
            <a:ext cx="1005840" cy="320040"/>
          </a:xfrm>
          <a:prstGeom prst="rect">
            <a:avLst/>
          </a:prstGeom>
          <a:noFill/>
        </p:spPr>
        <p:txBody>
          <a:bodyPr wrap="square">
            <a:spAutoFit/>
          </a:bodyPr>
          <a:lstStyle/>
          <a:p>
            <a:r>
              <a:rPr sz="1400" b="1">
                <a:solidFill>
                  <a:srgbClr val="E0A458"/>
                </a:solidFill>
                <a:latin typeface="Cambria"/>
              </a:rPr>
              <a:t>RQ5</a:t>
            </a:r>
          </a:p>
        </p:txBody>
      </p:sp>
      <p:sp>
        <p:nvSpPr>
          <p:cNvPr id="23" name="TextBox 22"/>
          <p:cNvSpPr txBox="1"/>
          <p:nvPr/>
        </p:nvSpPr>
        <p:spPr>
          <a:xfrm>
            <a:off x="1874519" y="4306823"/>
            <a:ext cx="3108960" cy="320040"/>
          </a:xfrm>
          <a:prstGeom prst="rect">
            <a:avLst/>
          </a:prstGeom>
          <a:noFill/>
        </p:spPr>
        <p:txBody>
          <a:bodyPr wrap="square">
            <a:spAutoFit/>
          </a:bodyPr>
          <a:lstStyle/>
          <a:p>
            <a:r>
              <a:rPr sz="1350" b="1">
                <a:solidFill>
                  <a:srgbClr val="FFFFFF"/>
                </a:solidFill>
                <a:latin typeface="Calibri"/>
              </a:rPr>
              <a:t>Coverage matrix</a:t>
            </a:r>
          </a:p>
        </p:txBody>
      </p:sp>
      <p:sp>
        <p:nvSpPr>
          <p:cNvPr id="24" name="TextBox 23"/>
          <p:cNvSpPr txBox="1"/>
          <p:nvPr/>
        </p:nvSpPr>
        <p:spPr>
          <a:xfrm>
            <a:off x="5120640" y="4306823"/>
            <a:ext cx="6126480" cy="320040"/>
          </a:xfrm>
          <a:prstGeom prst="rect">
            <a:avLst/>
          </a:prstGeom>
          <a:noFill/>
        </p:spPr>
        <p:txBody>
          <a:bodyPr wrap="square">
            <a:spAutoFit/>
          </a:bodyPr>
          <a:lstStyle/>
          <a:p>
            <a:r>
              <a:rPr sz="1300" b="0">
                <a:solidFill>
                  <a:srgbClr val="CADCFC"/>
                </a:solidFill>
                <a:latin typeface="Calibri"/>
              </a:rPr>
              <a:t>119 mechanisms never defended</a:t>
            </a:r>
          </a:p>
        </p:txBody>
      </p:sp>
      <p:sp>
        <p:nvSpPr>
          <p:cNvPr id="25" name="Rounded Rectangle 24"/>
          <p:cNvSpPr/>
          <p:nvPr/>
        </p:nvSpPr>
        <p:spPr>
          <a:xfrm>
            <a:off x="640080" y="4754879"/>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828031"/>
            <a:ext cx="1005840" cy="320040"/>
          </a:xfrm>
          <a:prstGeom prst="rect">
            <a:avLst/>
          </a:prstGeom>
          <a:noFill/>
        </p:spPr>
        <p:txBody>
          <a:bodyPr wrap="square">
            <a:spAutoFit/>
          </a:bodyPr>
          <a:lstStyle/>
          <a:p>
            <a:r>
              <a:rPr sz="1400" b="1">
                <a:solidFill>
                  <a:srgbClr val="E0A458"/>
                </a:solidFill>
                <a:latin typeface="Cambria"/>
              </a:rPr>
              <a:t>RQ6</a:t>
            </a:r>
          </a:p>
        </p:txBody>
      </p:sp>
      <p:sp>
        <p:nvSpPr>
          <p:cNvPr id="27" name="TextBox 26"/>
          <p:cNvSpPr txBox="1"/>
          <p:nvPr/>
        </p:nvSpPr>
        <p:spPr>
          <a:xfrm>
            <a:off x="1874519" y="4837175"/>
            <a:ext cx="3108960" cy="320040"/>
          </a:xfrm>
          <a:prstGeom prst="rect">
            <a:avLst/>
          </a:prstGeom>
          <a:noFill/>
        </p:spPr>
        <p:txBody>
          <a:bodyPr wrap="square">
            <a:spAutoFit/>
          </a:bodyPr>
          <a:lstStyle/>
          <a:p>
            <a:r>
              <a:rPr sz="1350" b="1">
                <a:solidFill>
                  <a:srgbClr val="FFFFFF"/>
                </a:solidFill>
                <a:latin typeface="Calibri"/>
              </a:rPr>
              <a:t>Generalization</a:t>
            </a:r>
          </a:p>
        </p:txBody>
      </p:sp>
      <p:sp>
        <p:nvSpPr>
          <p:cNvPr id="28" name="TextBox 27"/>
          <p:cNvSpPr txBox="1"/>
          <p:nvPr/>
        </p:nvSpPr>
        <p:spPr>
          <a:xfrm>
            <a:off x="5120640" y="4837175"/>
            <a:ext cx="6126480" cy="320040"/>
          </a:xfrm>
          <a:prstGeom prst="rect">
            <a:avLst/>
          </a:prstGeom>
          <a:noFill/>
        </p:spPr>
        <p:txBody>
          <a:bodyPr wrap="square">
            <a:spAutoFit/>
          </a:bodyPr>
          <a:lstStyle/>
          <a:p>
            <a:r>
              <a:rPr sz="1300" b="0">
                <a:solidFill>
                  <a:srgbClr val="CADCFC"/>
                </a:solidFill>
                <a:latin typeface="Calibri"/>
              </a:rPr>
              <a:t>9 reconstructed case studies</a:t>
            </a:r>
          </a:p>
        </p:txBody>
      </p:sp>
      <p:sp>
        <p:nvSpPr>
          <p:cNvPr id="29" name="Rounded Rectangle 28"/>
          <p:cNvSpPr/>
          <p:nvPr/>
        </p:nvSpPr>
        <p:spPr>
          <a:xfrm>
            <a:off x="640080" y="5285231"/>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58383"/>
            <a:ext cx="1005840" cy="320040"/>
          </a:xfrm>
          <a:prstGeom prst="rect">
            <a:avLst/>
          </a:prstGeom>
          <a:noFill/>
        </p:spPr>
        <p:txBody>
          <a:bodyPr wrap="square">
            <a:spAutoFit/>
          </a:bodyPr>
          <a:lstStyle/>
          <a:p>
            <a:r>
              <a:rPr sz="1400" b="1">
                <a:solidFill>
                  <a:srgbClr val="E0A458"/>
                </a:solidFill>
                <a:latin typeface="Cambria"/>
              </a:rPr>
              <a:t>RQ7</a:t>
            </a:r>
          </a:p>
        </p:txBody>
      </p:sp>
      <p:sp>
        <p:nvSpPr>
          <p:cNvPr id="31" name="TextBox 30"/>
          <p:cNvSpPr txBox="1"/>
          <p:nvPr/>
        </p:nvSpPr>
        <p:spPr>
          <a:xfrm>
            <a:off x="1874519" y="5367527"/>
            <a:ext cx="3108960" cy="320040"/>
          </a:xfrm>
          <a:prstGeom prst="rect">
            <a:avLst/>
          </a:prstGeom>
          <a:noFill/>
        </p:spPr>
        <p:txBody>
          <a:bodyPr wrap="square">
            <a:spAutoFit/>
          </a:bodyPr>
          <a:lstStyle/>
          <a:p>
            <a:r>
              <a:rPr sz="1350" b="1">
                <a:solidFill>
                  <a:srgbClr val="FFFFFF"/>
                </a:solidFill>
                <a:latin typeface="Calibri"/>
              </a:rPr>
              <a:t>Open problems</a:t>
            </a:r>
          </a:p>
        </p:txBody>
      </p:sp>
      <p:sp>
        <p:nvSpPr>
          <p:cNvPr id="32" name="TextBox 31"/>
          <p:cNvSpPr txBox="1"/>
          <p:nvPr/>
        </p:nvSpPr>
        <p:spPr>
          <a:xfrm>
            <a:off x="5120640" y="5367527"/>
            <a:ext cx="6126480" cy="320040"/>
          </a:xfrm>
          <a:prstGeom prst="rect">
            <a:avLst/>
          </a:prstGeom>
          <a:noFill/>
        </p:spPr>
        <p:txBody>
          <a:bodyPr wrap="square">
            <a:spAutoFit/>
          </a:bodyPr>
          <a:lstStyle/>
          <a:p>
            <a:r>
              <a:rPr sz="1300" b="0">
                <a:solidFill>
                  <a:srgbClr val="CADCFC"/>
                </a:solidFill>
                <a:latin typeface="Calibri"/>
              </a:rPr>
              <a:t>7 ranked, falsifiable</a:t>
            </a:r>
          </a:p>
        </p:txBody>
      </p:sp>
      <p:sp>
        <p:nvSpPr>
          <p:cNvPr id="33" name="Rounded Rectangle 32"/>
          <p:cNvSpPr/>
          <p:nvPr/>
        </p:nvSpPr>
        <p:spPr>
          <a:xfrm>
            <a:off x="640080" y="5815583"/>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888736"/>
            <a:ext cx="1005840" cy="320040"/>
          </a:xfrm>
          <a:prstGeom prst="rect">
            <a:avLst/>
          </a:prstGeom>
          <a:noFill/>
        </p:spPr>
        <p:txBody>
          <a:bodyPr wrap="square">
            <a:spAutoFit/>
          </a:bodyPr>
          <a:lstStyle/>
          <a:p>
            <a:r>
              <a:rPr sz="1400" b="1">
                <a:solidFill>
                  <a:srgbClr val="E0A458"/>
                </a:solidFill>
                <a:latin typeface="Cambria"/>
              </a:rPr>
              <a:t>NEW</a:t>
            </a:r>
          </a:p>
        </p:txBody>
      </p:sp>
      <p:sp>
        <p:nvSpPr>
          <p:cNvPr id="35" name="TextBox 34"/>
          <p:cNvSpPr txBox="1"/>
          <p:nvPr/>
        </p:nvSpPr>
        <p:spPr>
          <a:xfrm>
            <a:off x="1874519" y="5897879"/>
            <a:ext cx="3108960" cy="320040"/>
          </a:xfrm>
          <a:prstGeom prst="rect">
            <a:avLst/>
          </a:prstGeom>
          <a:noFill/>
        </p:spPr>
        <p:txBody>
          <a:bodyPr wrap="square">
            <a:spAutoFit/>
          </a:bodyPr>
          <a:lstStyle/>
          <a:p>
            <a:r>
              <a:rPr sz="1350" b="1">
                <a:solidFill>
                  <a:srgbClr val="FFFFFF"/>
                </a:solidFill>
                <a:latin typeface="Calibri"/>
              </a:rPr>
              <a:t>Transfer matrix</a:t>
            </a:r>
          </a:p>
        </p:txBody>
      </p:sp>
      <p:sp>
        <p:nvSpPr>
          <p:cNvPr id="36" name="TextBox 35"/>
          <p:cNvSpPr txBox="1"/>
          <p:nvPr/>
        </p:nvSpPr>
        <p:spPr>
          <a:xfrm>
            <a:off x="5120640" y="5897879"/>
            <a:ext cx="6126480" cy="320040"/>
          </a:xfrm>
          <a:prstGeom prst="rect">
            <a:avLst/>
          </a:prstGeom>
          <a:noFill/>
        </p:spPr>
        <p:txBody>
          <a:bodyPr wrap="square">
            <a:spAutoFit/>
          </a:bodyPr>
          <a:lstStyle/>
          <a:p>
            <a:r>
              <a:rPr sz="1300" b="0">
                <a:solidFill>
                  <a:srgbClr val="CADCFC"/>
                </a:solidFill>
                <a:latin typeface="Calibri"/>
              </a:rPr>
              <a:t>16 cells that no paper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METHODOLOGY</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Kitchenham SLR + PRISMA-lite screening,</a:t>
            </a:r>
          </a:p>
          <a:p>
            <a:pPr>
              <a:spcAft>
                <a:spcPts val="200"/>
              </a:spcAft>
            </a:pPr>
            <a:r>
              <a:rPr sz="3000" b="1">
                <a:solidFill>
                  <a:srgbClr val="FFFFFF"/>
                </a:solidFill>
                <a:latin typeface="Cambria"/>
              </a:rPr>
              <a:t>run across two literatures instead of one</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3</a:t>
            </a:r>
          </a:p>
        </p:txBody>
      </p:sp>
      <p:sp>
        <p:nvSpPr>
          <p:cNvPr id="5" name="Rounded Rectangle 4"/>
          <p:cNvSpPr/>
          <p:nvPr/>
        </p:nvSpPr>
        <p:spPr>
          <a:xfrm>
            <a:off x="640080" y="2743200"/>
            <a:ext cx="2606040" cy="269748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71800"/>
            <a:ext cx="2194560" cy="365760"/>
          </a:xfrm>
          <a:prstGeom prst="rect">
            <a:avLst/>
          </a:prstGeom>
          <a:noFill/>
        </p:spPr>
        <p:txBody>
          <a:bodyPr wrap="square">
            <a:spAutoFit/>
          </a:bodyPr>
          <a:lstStyle/>
          <a:p>
            <a:r>
              <a:rPr sz="1700" b="1">
                <a:solidFill>
                  <a:srgbClr val="E0A458"/>
                </a:solidFill>
                <a:latin typeface="Cambria"/>
              </a:rPr>
              <a:t>Search</a:t>
            </a:r>
          </a:p>
        </p:txBody>
      </p:sp>
      <p:sp>
        <p:nvSpPr>
          <p:cNvPr id="7" name="TextBox 6"/>
          <p:cNvSpPr txBox="1"/>
          <p:nvPr/>
        </p:nvSpPr>
        <p:spPr>
          <a:xfrm>
            <a:off x="868680" y="3429000"/>
            <a:ext cx="2194560" cy="1920240"/>
          </a:xfrm>
          <a:prstGeom prst="rect">
            <a:avLst/>
          </a:prstGeom>
          <a:noFill/>
        </p:spPr>
        <p:txBody>
          <a:bodyPr wrap="square">
            <a:spAutoFit/>
          </a:bodyPr>
          <a:lstStyle/>
          <a:p>
            <a:pPr>
              <a:spcAft>
                <a:spcPts val="100"/>
              </a:spcAft>
            </a:pPr>
            <a:r>
              <a:rPr sz="1150" b="0">
                <a:solidFill>
                  <a:srgbClr val="CADCFC"/>
                </a:solidFill>
                <a:latin typeface="Calibri"/>
              </a:rPr>
              <a:t>We searched two tracks at</a:t>
            </a:r>
          </a:p>
          <a:p>
            <a:pPr>
              <a:spcAft>
                <a:spcPts val="100"/>
              </a:spcAft>
            </a:pPr>
            <a:r>
              <a:rPr sz="1150" b="0">
                <a:solidFill>
                  <a:srgbClr val="CADCFC"/>
                </a:solidFill>
                <a:latin typeface="Calibri"/>
              </a:rPr>
              <a:t>the same time. One track is</a:t>
            </a:r>
          </a:p>
          <a:p>
            <a:pPr>
              <a:spcAft>
                <a:spcPts val="100"/>
              </a:spcAft>
            </a:pPr>
            <a:r>
              <a:rPr sz="1150" b="0">
                <a:solidFill>
                  <a:srgbClr val="CADCFC"/>
                </a:solidFill>
                <a:latin typeface="Calibri"/>
              </a:rPr>
              <a:t>adversarial. One track is</a:t>
            </a:r>
          </a:p>
          <a:p>
            <a:pPr>
              <a:spcAft>
                <a:spcPts val="100"/>
              </a:spcAft>
            </a:pPr>
            <a:r>
              <a:rPr sz="1150" b="0">
                <a:solidFill>
                  <a:srgbClr val="CADCFC"/>
                </a:solidFill>
                <a:latin typeface="Calibri"/>
              </a:rPr>
              <a:t>incidental. We found</a:t>
            </a:r>
          </a:p>
          <a:p>
            <a:pPr>
              <a:spcAft>
                <a:spcPts val="100"/>
              </a:spcAft>
            </a:pPr>
            <a:r>
              <a:rPr sz="1150" b="0">
                <a:solidFill>
                  <a:srgbClr val="CADCFC"/>
                </a:solidFill>
                <a:latin typeface="Calibri"/>
              </a:rPr>
              <a:t>25,922 records.</a:t>
            </a:r>
          </a:p>
        </p:txBody>
      </p:sp>
      <p:sp>
        <p:nvSpPr>
          <p:cNvPr id="8" name="Rounded Rectangle 7"/>
          <p:cNvSpPr/>
          <p:nvPr/>
        </p:nvSpPr>
        <p:spPr>
          <a:xfrm>
            <a:off x="3429000" y="2743200"/>
            <a:ext cx="2606040" cy="269748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971800"/>
            <a:ext cx="2194560" cy="365760"/>
          </a:xfrm>
          <a:prstGeom prst="rect">
            <a:avLst/>
          </a:prstGeom>
          <a:noFill/>
        </p:spPr>
        <p:txBody>
          <a:bodyPr wrap="square">
            <a:spAutoFit/>
          </a:bodyPr>
          <a:lstStyle/>
          <a:p>
            <a:r>
              <a:rPr sz="1700" b="1">
                <a:solidFill>
                  <a:srgbClr val="E0A458"/>
                </a:solidFill>
                <a:latin typeface="Cambria"/>
              </a:rPr>
              <a:t>Screen</a:t>
            </a:r>
          </a:p>
        </p:txBody>
      </p:sp>
      <p:sp>
        <p:nvSpPr>
          <p:cNvPr id="10" name="TextBox 9"/>
          <p:cNvSpPr txBox="1"/>
          <p:nvPr/>
        </p:nvSpPr>
        <p:spPr>
          <a:xfrm>
            <a:off x="3657600" y="3429000"/>
            <a:ext cx="2194560" cy="1920240"/>
          </a:xfrm>
          <a:prstGeom prst="rect">
            <a:avLst/>
          </a:prstGeom>
          <a:noFill/>
        </p:spPr>
        <p:txBody>
          <a:bodyPr wrap="square">
            <a:spAutoFit/>
          </a:bodyPr>
          <a:lstStyle/>
          <a:p>
            <a:pPr>
              <a:spcAft>
                <a:spcPts val="100"/>
              </a:spcAft>
            </a:pPr>
            <a:r>
              <a:rPr sz="1150" b="0">
                <a:solidFill>
                  <a:srgbClr val="CADCFC"/>
                </a:solidFill>
                <a:latin typeface="Calibri"/>
              </a:rPr>
              <a:t>The rules are in config.yaml.</a:t>
            </a:r>
          </a:p>
          <a:p>
            <a:pPr>
              <a:spcAft>
                <a:spcPts val="100"/>
              </a:spcAft>
            </a:pPr>
            <a:r>
              <a:rPr sz="1150" b="0">
                <a:solidFill>
                  <a:srgbClr val="CADCFC"/>
                </a:solidFill>
                <a:latin typeface="Calibri"/>
              </a:rPr>
              <a:t>A program applies them.</a:t>
            </a:r>
          </a:p>
          <a:p>
            <a:pPr>
              <a:spcAft>
                <a:spcPts val="100"/>
              </a:spcAft>
            </a:pPr>
            <a:r>
              <a:rPr sz="1150" b="0">
                <a:solidFill>
                  <a:srgbClr val="CADCFC"/>
                </a:solidFill>
                <a:latin typeface="Calibri"/>
              </a:rPr>
              <a:t>We do not screen by hand.</a:t>
            </a:r>
          </a:p>
          <a:p>
            <a:pPr>
              <a:spcAft>
                <a:spcPts val="100"/>
              </a:spcAft>
            </a:pPr>
            <a:r>
              <a:rPr sz="1150" b="0">
                <a:solidFill>
                  <a:srgbClr val="CADCFC"/>
                </a:solidFill>
                <a:latin typeface="Calibri"/>
              </a:rPr>
              <a:t>rescreening_log.md records</a:t>
            </a:r>
          </a:p>
          <a:p>
            <a:pPr>
              <a:spcAft>
                <a:spcPts val="100"/>
              </a:spcAft>
            </a:pPr>
            <a:r>
              <a:rPr sz="1150" b="0">
                <a:solidFill>
                  <a:srgbClr val="CADCFC"/>
                </a:solidFill>
                <a:latin typeface="Calibri"/>
              </a:rPr>
              <a:t>each change.</a:t>
            </a:r>
          </a:p>
        </p:txBody>
      </p:sp>
      <p:sp>
        <p:nvSpPr>
          <p:cNvPr id="11" name="Rounded Rectangle 10"/>
          <p:cNvSpPr/>
          <p:nvPr/>
        </p:nvSpPr>
        <p:spPr>
          <a:xfrm>
            <a:off x="6217920" y="2743200"/>
            <a:ext cx="2606040" cy="269748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971800"/>
            <a:ext cx="2194560" cy="365760"/>
          </a:xfrm>
          <a:prstGeom prst="rect">
            <a:avLst/>
          </a:prstGeom>
          <a:noFill/>
        </p:spPr>
        <p:txBody>
          <a:bodyPr wrap="square">
            <a:spAutoFit/>
          </a:bodyPr>
          <a:lstStyle/>
          <a:p>
            <a:r>
              <a:rPr sz="1700" b="1">
                <a:solidFill>
                  <a:srgbClr val="E0A458"/>
                </a:solidFill>
                <a:latin typeface="Cambria"/>
              </a:rPr>
              <a:t>Extract</a:t>
            </a:r>
          </a:p>
        </p:txBody>
      </p:sp>
      <p:sp>
        <p:nvSpPr>
          <p:cNvPr id="13" name="TextBox 12"/>
          <p:cNvSpPr txBox="1"/>
          <p:nvPr/>
        </p:nvSpPr>
        <p:spPr>
          <a:xfrm>
            <a:off x="6446520" y="3429000"/>
            <a:ext cx="2194560" cy="1920240"/>
          </a:xfrm>
          <a:prstGeom prst="rect">
            <a:avLst/>
          </a:prstGeom>
          <a:noFill/>
        </p:spPr>
        <p:txBody>
          <a:bodyPr wrap="square">
            <a:spAutoFit/>
          </a:bodyPr>
          <a:lstStyle/>
          <a:p>
            <a:pPr>
              <a:spcAft>
                <a:spcPts val="100"/>
              </a:spcAft>
            </a:pPr>
            <a:r>
              <a:rPr sz="1150" b="0">
                <a:solidFill>
                  <a:srgbClr val="CADCFC"/>
                </a:solidFill>
                <a:latin typeface="Calibri"/>
              </a:rPr>
              <a:t>We read the full text of</a:t>
            </a:r>
          </a:p>
          <a:p>
            <a:pPr>
              <a:spcAft>
                <a:spcPts val="100"/>
              </a:spcAft>
            </a:pPr>
            <a:r>
              <a:rPr sz="1150" b="0">
                <a:solidFill>
                  <a:srgbClr val="CADCFC"/>
                </a:solidFill>
                <a:latin typeface="Calibri"/>
              </a:rPr>
              <a:t>1,097 papers. We code 32</a:t>
            </a:r>
          </a:p>
          <a:p>
            <a:pPr>
              <a:spcAft>
                <a:spcPts val="100"/>
              </a:spcAft>
            </a:pPr>
            <a:r>
              <a:rPr sz="1150" b="0">
                <a:solidFill>
                  <a:srgbClr val="CADCFC"/>
                </a:solidFill>
                <a:latin typeface="Calibri"/>
              </a:rPr>
              <a:t>fields for each paper.</a:t>
            </a:r>
          </a:p>
          <a:p>
            <a:pPr>
              <a:spcAft>
                <a:spcPts val="100"/>
              </a:spcAft>
            </a:pPr>
            <a:r>
              <a:rPr sz="1150" b="0">
                <a:solidFill>
                  <a:srgbClr val="CADCFC"/>
                </a:solidFill>
                <a:latin typeface="Calibri"/>
              </a:rPr>
              <a:t>Channel and consequence</a:t>
            </a:r>
          </a:p>
          <a:p>
            <a:pPr>
              <a:spcAft>
                <a:spcPts val="100"/>
              </a:spcAft>
            </a:pPr>
            <a:r>
              <a:rPr sz="1150" b="0">
                <a:solidFill>
                  <a:srgbClr val="CADCFC"/>
                </a:solidFill>
                <a:latin typeface="Calibri"/>
              </a:rPr>
              <a:t>use closed lists.</a:t>
            </a:r>
          </a:p>
        </p:txBody>
      </p:sp>
      <p:sp>
        <p:nvSpPr>
          <p:cNvPr id="14" name="Rounded Rectangle 13"/>
          <p:cNvSpPr/>
          <p:nvPr/>
        </p:nvSpPr>
        <p:spPr>
          <a:xfrm>
            <a:off x="9006839" y="2743200"/>
            <a:ext cx="2606040" cy="269748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39" y="2971800"/>
            <a:ext cx="2194560" cy="365760"/>
          </a:xfrm>
          <a:prstGeom prst="rect">
            <a:avLst/>
          </a:prstGeom>
          <a:noFill/>
        </p:spPr>
        <p:txBody>
          <a:bodyPr wrap="square">
            <a:spAutoFit/>
          </a:bodyPr>
          <a:lstStyle/>
          <a:p>
            <a:r>
              <a:rPr sz="1700" b="1">
                <a:solidFill>
                  <a:srgbClr val="E0A458"/>
                </a:solidFill>
                <a:latin typeface="Cambria"/>
              </a:rPr>
              <a:t>Synthesize</a:t>
            </a:r>
          </a:p>
        </p:txBody>
      </p:sp>
      <p:sp>
        <p:nvSpPr>
          <p:cNvPr id="16" name="TextBox 15"/>
          <p:cNvSpPr txBox="1"/>
          <p:nvPr/>
        </p:nvSpPr>
        <p:spPr>
          <a:xfrm>
            <a:off x="9235439" y="3429000"/>
            <a:ext cx="2194560" cy="1920240"/>
          </a:xfrm>
          <a:prstGeom prst="rect">
            <a:avLst/>
          </a:prstGeom>
          <a:noFill/>
        </p:spPr>
        <p:txBody>
          <a:bodyPr wrap="square">
            <a:spAutoFit/>
          </a:bodyPr>
          <a:lstStyle/>
          <a:p>
            <a:pPr>
              <a:spcAft>
                <a:spcPts val="100"/>
              </a:spcAft>
            </a:pPr>
            <a:r>
              <a:rPr sz="1150" b="0">
                <a:solidFill>
                  <a:srgbClr val="CADCFC"/>
                </a:solidFill>
                <a:latin typeface="Calibri"/>
              </a:rPr>
              <a:t>We join the registries into</a:t>
            </a:r>
          </a:p>
          <a:p>
            <a:pPr>
              <a:spcAft>
                <a:spcPts val="100"/>
              </a:spcAft>
            </a:pPr>
            <a:r>
              <a:rPr sz="1150" b="0">
                <a:solidFill>
                  <a:srgbClr val="CADCFC"/>
                </a:solidFill>
                <a:latin typeface="Calibri"/>
              </a:rPr>
              <a:t>the coverage matrix. Then</a:t>
            </a:r>
          </a:p>
          <a:p>
            <a:pPr>
              <a:spcAft>
                <a:spcPts val="100"/>
              </a:spcAft>
            </a:pPr>
            <a:r>
              <a:rPr sz="1150" b="0">
                <a:solidFill>
                  <a:srgbClr val="CADCFC"/>
                </a:solidFill>
                <a:latin typeface="Calibri"/>
              </a:rPr>
              <a:t>we run the defense code</a:t>
            </a:r>
          </a:p>
          <a:p>
            <a:pPr>
              <a:spcAft>
                <a:spcPts val="100"/>
              </a:spcAft>
            </a:pPr>
            <a:r>
              <a:rPr sz="1150" b="0">
                <a:solidFill>
                  <a:srgbClr val="CADCFC"/>
                </a:solidFill>
                <a:latin typeface="Calibri"/>
              </a:rPr>
              <a:t>ourselves. We do not use</a:t>
            </a:r>
          </a:p>
          <a:p>
            <a:pPr>
              <a:spcAft>
                <a:spcPts val="100"/>
              </a:spcAft>
            </a:pPr>
            <a:r>
              <a:rPr sz="1150" b="0">
                <a:solidFill>
                  <a:srgbClr val="CADCFC"/>
                </a:solidFill>
                <a:latin typeface="Calibri"/>
              </a:rPr>
              <a:t>the numbers in the papers.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THE CORPUS</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What the numbers are computed over</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4</a:t>
            </a:r>
          </a:p>
        </p:txBody>
      </p:sp>
      <p:sp>
        <p:nvSpPr>
          <p:cNvPr id="5" name="Oval 4"/>
          <p:cNvSpPr/>
          <p:nvPr/>
        </p:nvSpPr>
        <p:spPr>
          <a:xfrm>
            <a:off x="868680" y="2468880"/>
            <a:ext cx="3017520" cy="30175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74720"/>
            <a:ext cx="2926079" cy="914400"/>
          </a:xfrm>
          <a:prstGeom prst="rect">
            <a:avLst/>
          </a:prstGeom>
          <a:noFill/>
        </p:spPr>
        <p:txBody>
          <a:bodyPr wrap="square">
            <a:spAutoFit/>
          </a:bodyPr>
          <a:lstStyle/>
          <a:p>
            <a:pPr algn="ctr"/>
            <a:r>
              <a:rPr sz="5400" b="1">
                <a:solidFill>
                  <a:srgbClr val="E0A458"/>
                </a:solidFill>
                <a:latin typeface="Cambria"/>
              </a:rPr>
              <a:t>1,026</a:t>
            </a:r>
          </a:p>
        </p:txBody>
      </p:sp>
      <p:sp>
        <p:nvSpPr>
          <p:cNvPr id="7" name="TextBox 6"/>
          <p:cNvSpPr txBox="1"/>
          <p:nvPr/>
        </p:nvSpPr>
        <p:spPr>
          <a:xfrm>
            <a:off x="914400" y="4206240"/>
            <a:ext cx="2926079" cy="640080"/>
          </a:xfrm>
          <a:prstGeom prst="rect">
            <a:avLst/>
          </a:prstGeom>
          <a:noFill/>
        </p:spPr>
        <p:txBody>
          <a:bodyPr wrap="square">
            <a:spAutoFit/>
          </a:bodyPr>
          <a:lstStyle/>
          <a:p>
            <a:pPr algn="ctr">
              <a:spcAft>
                <a:spcPts val="0"/>
              </a:spcAft>
            </a:pPr>
            <a:r>
              <a:rPr sz="1400" b="0">
                <a:solidFill>
                  <a:srgbClr val="CADCFC"/>
                </a:solidFill>
                <a:latin typeface="Calibri"/>
              </a:rPr>
              <a:t>papers included</a:t>
            </a:r>
          </a:p>
        </p:txBody>
      </p:sp>
      <p:sp>
        <p:nvSpPr>
          <p:cNvPr id="8" name="TextBox 7"/>
          <p:cNvSpPr txBox="1"/>
          <p:nvPr/>
        </p:nvSpPr>
        <p:spPr>
          <a:xfrm>
            <a:off x="4754880" y="2788920"/>
            <a:ext cx="6675120" cy="2926080"/>
          </a:xfrm>
          <a:prstGeom prst="rect">
            <a:avLst/>
          </a:prstGeom>
          <a:noFill/>
        </p:spPr>
        <p:txBody>
          <a:bodyPr wrap="square">
            <a:spAutoFit/>
          </a:bodyPr>
          <a:lstStyle/>
          <a:p>
            <a:pPr>
              <a:spcAft>
                <a:spcPts val="200"/>
              </a:spcAft>
            </a:pPr>
            <a:r>
              <a:rPr sz="1400" b="1">
                <a:solidFill>
                  <a:srgbClr val="FFFFFF"/>
                </a:solidFill>
                <a:latin typeface="Calibri"/>
              </a:rPr>
              <a:t>1,158 rows screened; 132 excluded with cause</a:t>
            </a:r>
          </a:p>
          <a:p>
            <a:pPr>
              <a:spcAft>
                <a:spcPts val="200"/>
              </a:spcAft>
            </a:pPr>
            <a:r>
              <a:rPr sz="600" b="0">
                <a:solidFill>
                  <a:srgbClr val="CADCFC"/>
                </a:solidFill>
                <a:latin typeface="Calibri"/>
              </a:rPr>
              <a:t/>
            </a:r>
          </a:p>
          <a:p>
            <a:pPr>
              <a:spcAft>
                <a:spcPts val="200"/>
              </a:spcAft>
            </a:pPr>
            <a:r>
              <a:rPr sz="1250" b="0">
                <a:solidFill>
                  <a:srgbClr val="CADCFC"/>
                </a:solidFill>
                <a:latin typeface="Calibri"/>
              </a:rPr>
              <a:t>rescreening_log.md records each exclusion.</a:t>
            </a:r>
          </a:p>
          <a:p>
            <a:pPr>
              <a:spcAft>
                <a:spcPts val="200"/>
              </a:spcAft>
            </a:pPr>
            <a:r>
              <a:rPr sz="1250" b="0">
                <a:solidFill>
                  <a:srgbClr val="CADCFC"/>
                </a:solidFill>
                <a:latin typeface="Calibri"/>
              </a:rPr>
              <a:t>It gives a reason for each one.</a:t>
            </a:r>
          </a:p>
          <a:p>
            <a:pPr>
              <a:spcAft>
                <a:spcPts val="200"/>
              </a:spcAft>
            </a:pPr>
            <a:r>
              <a:rPr sz="800" b="0">
                <a:solidFill>
                  <a:srgbClr val="CADCFC"/>
                </a:solidFill>
                <a:latin typeface="Calibri"/>
              </a:rPr>
              <a:t/>
            </a:r>
          </a:p>
          <a:p>
            <a:pPr>
              <a:spcAft>
                <a:spcPts val="200"/>
              </a:spcAft>
            </a:pPr>
            <a:r>
              <a:rPr sz="1250" b="0">
                <a:solidFill>
                  <a:srgbClr val="CFE8EF"/>
                </a:solidFill>
                <a:latin typeface="Calibri"/>
              </a:rPr>
              <a:t>In September 2026 we found a defect in the rules.</a:t>
            </a:r>
          </a:p>
          <a:p>
            <a:pPr>
              <a:spcAft>
                <a:spcPts val="200"/>
              </a:spcAft>
            </a:pPr>
            <a:r>
              <a:rPr sz="1250" b="0">
                <a:solidFill>
                  <a:srgbClr val="CFE8EF"/>
                </a:solidFill>
                <a:latin typeface="Calibri"/>
              </a:rPr>
              <a:t>The rules looked for the word "agent". The first</a:t>
            </a:r>
          </a:p>
          <a:p>
            <a:pPr>
              <a:spcAft>
                <a:spcPts val="200"/>
              </a:spcAft>
            </a:pPr>
            <a:r>
              <a:rPr sz="1250" b="0">
                <a:solidFill>
                  <a:srgbClr val="CFE8EF"/>
                </a:solidFill>
                <a:latin typeface="Calibri"/>
              </a:rPr>
              <a:t>papers in this field do not use it. They say</a:t>
            </a:r>
          </a:p>
          <a:p>
            <a:pPr>
              <a:spcAft>
                <a:spcPts val="200"/>
              </a:spcAft>
            </a:pPr>
            <a:r>
              <a:rPr sz="1250" b="0">
                <a:solidFill>
                  <a:srgbClr val="CFE8EF"/>
                </a:solidFill>
                <a:latin typeface="Calibri"/>
              </a:rPr>
              <a:t>"LLM-integrated application". The rules dropped</a:t>
            </a:r>
          </a:p>
          <a:p>
            <a:pPr>
              <a:spcAft>
                <a:spcPts val="200"/>
              </a:spcAft>
            </a:pPr>
            <a:r>
              <a:rPr sz="1250" b="0">
                <a:solidFill>
                  <a:srgbClr val="CFE8EF"/>
                </a:solidFill>
                <a:latin typeface="Calibri"/>
              </a:rPr>
              <a:t>them. The corpus went from 1,008 to 1,158.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RQ1  ·  TAXONOMY</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Which combinations of channel, intent,</a:t>
            </a:r>
          </a:p>
          <a:p>
            <a:pPr>
              <a:spcAft>
                <a:spcPts val="200"/>
              </a:spcAft>
            </a:pPr>
            <a:r>
              <a:rPr sz="3000" b="1">
                <a:solidFill>
                  <a:srgbClr val="FFFFFF"/>
                </a:solidFill>
                <a:latin typeface="Cambria"/>
              </a:rPr>
              <a:t>and consequence have been studied at all?</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5</a:t>
            </a:r>
          </a:p>
        </p:txBody>
      </p:sp>
      <p:sp>
        <p:nvSpPr>
          <p:cNvPr id="5" name="Oval 4"/>
          <p:cNvSpPr/>
          <p:nvPr/>
        </p:nvSpPr>
        <p:spPr>
          <a:xfrm>
            <a:off x="1645920" y="2514600"/>
            <a:ext cx="3291840" cy="329184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91640" y="3657600"/>
            <a:ext cx="3200400" cy="914400"/>
          </a:xfrm>
          <a:prstGeom prst="rect">
            <a:avLst/>
          </a:prstGeom>
          <a:noFill/>
        </p:spPr>
        <p:txBody>
          <a:bodyPr wrap="square">
            <a:spAutoFit/>
          </a:bodyPr>
          <a:lstStyle/>
          <a:p>
            <a:pPr algn="ctr"/>
            <a:r>
              <a:rPr sz="5400" b="1">
                <a:solidFill>
                  <a:srgbClr val="E0A458"/>
                </a:solidFill>
                <a:latin typeface="Cambria"/>
              </a:rPr>
              <a:t>60.5%</a:t>
            </a:r>
          </a:p>
        </p:txBody>
      </p:sp>
      <p:sp>
        <p:nvSpPr>
          <p:cNvPr id="7" name="TextBox 6"/>
          <p:cNvSpPr txBox="1"/>
          <p:nvPr/>
        </p:nvSpPr>
        <p:spPr>
          <a:xfrm>
            <a:off x="1691640" y="4389120"/>
            <a:ext cx="3200400" cy="640080"/>
          </a:xfrm>
          <a:prstGeom prst="rect">
            <a:avLst/>
          </a:prstGeom>
          <a:noFill/>
        </p:spPr>
        <p:txBody>
          <a:bodyPr wrap="square">
            <a:spAutoFit/>
          </a:bodyPr>
          <a:lstStyle/>
          <a:p>
            <a:pPr algn="ctr">
              <a:spcAft>
                <a:spcPts val="0"/>
              </a:spcAft>
            </a:pPr>
            <a:r>
              <a:rPr sz="1400" b="0">
                <a:solidFill>
                  <a:srgbClr val="CADCFC"/>
                </a:solidFill>
                <a:latin typeface="Calibri"/>
              </a:rPr>
              <a:t>of the cube is empty</a:t>
            </a:r>
          </a:p>
        </p:txBody>
      </p:sp>
      <p:sp>
        <p:nvSpPr>
          <p:cNvPr id="8" name="TextBox 7"/>
          <p:cNvSpPr txBox="1"/>
          <p:nvPr/>
        </p:nvSpPr>
        <p:spPr>
          <a:xfrm>
            <a:off x="6675120" y="3017520"/>
            <a:ext cx="4846320" cy="2743200"/>
          </a:xfrm>
          <a:prstGeom prst="rect">
            <a:avLst/>
          </a:prstGeom>
          <a:noFill/>
        </p:spPr>
        <p:txBody>
          <a:bodyPr wrap="square">
            <a:spAutoFit/>
          </a:bodyPr>
          <a:lstStyle/>
          <a:p>
            <a:pPr>
              <a:spcAft>
                <a:spcPts val="400"/>
              </a:spcAft>
            </a:pPr>
            <a:r>
              <a:rPr sz="1800" b="1">
                <a:solidFill>
                  <a:srgbClr val="FFFFFF"/>
                </a:solidFill>
                <a:latin typeface="Calibri"/>
              </a:rPr>
              <a:t>98 of 162 cells</a:t>
            </a:r>
          </a:p>
          <a:p>
            <a:pPr>
              <a:spcAft>
                <a:spcPts val="400"/>
              </a:spcAft>
            </a:pPr>
            <a:r>
              <a:rPr sz="1250" b="0">
                <a:solidFill>
                  <a:srgbClr val="CFE8EF"/>
                </a:solidFill>
                <a:latin typeface="Calibri"/>
              </a:rPr>
              <a:t>9 channels × 3 intents × 6 consequences</a:t>
            </a:r>
          </a:p>
          <a:p>
            <a:pPr>
              <a:spcAft>
                <a:spcPts val="400"/>
              </a:spcAft>
            </a:pPr>
            <a:r>
              <a:rPr sz="800" b="0">
                <a:solidFill>
                  <a:srgbClr val="CADCFC"/>
                </a:solidFill>
                <a:latin typeface="Calibri"/>
              </a:rPr>
              <a:t/>
            </a:r>
          </a:p>
          <a:p>
            <a:pPr>
              <a:spcAft>
                <a:spcPts val="400"/>
              </a:spcAft>
            </a:pPr>
            <a:r>
              <a:rPr sz="1250" b="0">
                <a:solidFill>
                  <a:srgbClr val="CADCFC"/>
                </a:solidFill>
                <a:latin typeface="Calibri"/>
              </a:rPr>
              <a:t>Before the fix, 63.6% was empty.</a:t>
            </a:r>
          </a:p>
          <a:p>
            <a:pPr>
              <a:spcAft>
                <a:spcPts val="400"/>
              </a:spcAft>
            </a:pPr>
            <a:r>
              <a:rPr sz="1250" b="0">
                <a:solidFill>
                  <a:srgbClr val="CADCFC"/>
                </a:solidFill>
                <a:latin typeface="Calibri"/>
              </a:rPr>
              <a:t>The 150 new papers filled five cells.</a:t>
            </a:r>
          </a:p>
          <a:p>
            <a:pPr>
              <a:spcAft>
                <a:spcPts val="400"/>
              </a:spcAft>
            </a:pPr>
            <a:r>
              <a:rPr sz="1250" b="0">
                <a:solidFill>
                  <a:srgbClr val="CADCFC"/>
                </a:solidFill>
                <a:latin typeface="Calibri"/>
              </a:rPr>
              <a:t>They left 98 cells empty.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RQ1  ·  TAXONOMY</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Where the work actually sits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6</a:t>
            </a:r>
          </a:p>
        </p:txBody>
      </p:sp>
      <p:sp>
        <p:nvSpPr>
          <p:cNvPr id="5" name="TextBox 4"/>
          <p:cNvSpPr txBox="1"/>
          <p:nvPr/>
        </p:nvSpPr>
        <p:spPr>
          <a:xfrm>
            <a:off x="640080" y="2432304"/>
            <a:ext cx="2834640" cy="274320"/>
          </a:xfrm>
          <a:prstGeom prst="rect">
            <a:avLst/>
          </a:prstGeom>
          <a:noFill/>
        </p:spPr>
        <p:txBody>
          <a:bodyPr wrap="square">
            <a:spAutoFit/>
          </a:bodyPr>
          <a:lstStyle/>
          <a:p>
            <a:r>
              <a:rPr sz="1200" b="0">
                <a:solidFill>
                  <a:srgbClr val="CADCFC"/>
                </a:solidFill>
                <a:latin typeface="Calibri"/>
              </a:rPr>
              <a:t>tool-output</a:t>
            </a:r>
          </a:p>
        </p:txBody>
      </p:sp>
      <p:sp>
        <p:nvSpPr>
          <p:cNvPr id="6" name="Rounded Rectangle 5"/>
          <p:cNvSpPr/>
          <p:nvPr/>
        </p:nvSpPr>
        <p:spPr>
          <a:xfrm>
            <a:off x="3474720" y="2468880"/>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2468880"/>
            <a:ext cx="7132320" cy="201168"/>
          </a:xfrm>
          <a:prstGeom prst="round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80192" y="2432304"/>
            <a:ext cx="914400" cy="274320"/>
          </a:xfrm>
          <a:prstGeom prst="rect">
            <a:avLst/>
          </a:prstGeom>
          <a:noFill/>
        </p:spPr>
        <p:txBody>
          <a:bodyPr wrap="square">
            <a:spAutoFit/>
          </a:bodyPr>
          <a:lstStyle/>
          <a:p>
            <a:r>
              <a:rPr sz="1200" b="1">
                <a:solidFill>
                  <a:srgbClr val="FFFFFF"/>
                </a:solidFill>
                <a:latin typeface="Calibri"/>
              </a:rPr>
              <a:t>66</a:t>
            </a:r>
          </a:p>
        </p:txBody>
      </p:sp>
      <p:sp>
        <p:nvSpPr>
          <p:cNvPr id="9" name="TextBox 8"/>
          <p:cNvSpPr txBox="1"/>
          <p:nvPr/>
        </p:nvSpPr>
        <p:spPr>
          <a:xfrm>
            <a:off x="640080" y="2862072"/>
            <a:ext cx="2834640" cy="274320"/>
          </a:xfrm>
          <a:prstGeom prst="rect">
            <a:avLst/>
          </a:prstGeom>
          <a:noFill/>
        </p:spPr>
        <p:txBody>
          <a:bodyPr wrap="square">
            <a:spAutoFit/>
          </a:bodyPr>
          <a:lstStyle/>
          <a:p>
            <a:r>
              <a:rPr sz="1200" b="0">
                <a:solidFill>
                  <a:srgbClr val="CADCFC"/>
                </a:solidFill>
                <a:latin typeface="Calibri"/>
              </a:rPr>
              <a:t>direct-input</a:t>
            </a:r>
          </a:p>
        </p:txBody>
      </p:sp>
      <p:sp>
        <p:nvSpPr>
          <p:cNvPr id="10" name="Rounded Rectangle 9"/>
          <p:cNvSpPr/>
          <p:nvPr/>
        </p:nvSpPr>
        <p:spPr>
          <a:xfrm>
            <a:off x="3474720" y="2898648"/>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2898648"/>
            <a:ext cx="7132320" cy="201168"/>
          </a:xfrm>
          <a:prstGeom prst="round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80192" y="2862072"/>
            <a:ext cx="914400" cy="274320"/>
          </a:xfrm>
          <a:prstGeom prst="rect">
            <a:avLst/>
          </a:prstGeom>
          <a:noFill/>
        </p:spPr>
        <p:txBody>
          <a:bodyPr wrap="square">
            <a:spAutoFit/>
          </a:bodyPr>
          <a:lstStyle/>
          <a:p>
            <a:r>
              <a:rPr sz="1200" b="1">
                <a:solidFill>
                  <a:srgbClr val="FFFFFF"/>
                </a:solidFill>
                <a:latin typeface="Calibri"/>
              </a:rPr>
              <a:t>66</a:t>
            </a:r>
          </a:p>
        </p:txBody>
      </p:sp>
      <p:sp>
        <p:nvSpPr>
          <p:cNvPr id="13" name="TextBox 12"/>
          <p:cNvSpPr txBox="1"/>
          <p:nvPr/>
        </p:nvSpPr>
        <p:spPr>
          <a:xfrm>
            <a:off x="640080" y="3291840"/>
            <a:ext cx="2834640" cy="274320"/>
          </a:xfrm>
          <a:prstGeom prst="rect">
            <a:avLst/>
          </a:prstGeom>
          <a:noFill/>
        </p:spPr>
        <p:txBody>
          <a:bodyPr wrap="square">
            <a:spAutoFit/>
          </a:bodyPr>
          <a:lstStyle/>
          <a:p>
            <a:r>
              <a:rPr sz="1200" b="0">
                <a:solidFill>
                  <a:srgbClr val="CADCFC"/>
                </a:solidFill>
                <a:latin typeface="Calibri"/>
              </a:rPr>
              <a:t>RAG</a:t>
            </a:r>
          </a:p>
        </p:txBody>
      </p:sp>
      <p:sp>
        <p:nvSpPr>
          <p:cNvPr id="14" name="Rounded Rectangle 13"/>
          <p:cNvSpPr/>
          <p:nvPr/>
        </p:nvSpPr>
        <p:spPr>
          <a:xfrm>
            <a:off x="3474720" y="3328416"/>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74720" y="3328416"/>
            <a:ext cx="3025832"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80192" y="3291840"/>
            <a:ext cx="914400" cy="274320"/>
          </a:xfrm>
          <a:prstGeom prst="rect">
            <a:avLst/>
          </a:prstGeom>
          <a:noFill/>
        </p:spPr>
        <p:txBody>
          <a:bodyPr wrap="square">
            <a:spAutoFit/>
          </a:bodyPr>
          <a:lstStyle/>
          <a:p>
            <a:r>
              <a:rPr sz="1200" b="1">
                <a:solidFill>
                  <a:srgbClr val="FFFFFF"/>
                </a:solidFill>
                <a:latin typeface="Calibri"/>
              </a:rPr>
              <a:t>28</a:t>
            </a:r>
          </a:p>
        </p:txBody>
      </p:sp>
      <p:sp>
        <p:nvSpPr>
          <p:cNvPr id="17" name="TextBox 16"/>
          <p:cNvSpPr txBox="1"/>
          <p:nvPr/>
        </p:nvSpPr>
        <p:spPr>
          <a:xfrm>
            <a:off x="640080" y="3721608"/>
            <a:ext cx="2834640" cy="274320"/>
          </a:xfrm>
          <a:prstGeom prst="rect">
            <a:avLst/>
          </a:prstGeom>
          <a:noFill/>
        </p:spPr>
        <p:txBody>
          <a:bodyPr wrap="square">
            <a:spAutoFit/>
          </a:bodyPr>
          <a:lstStyle/>
          <a:p>
            <a:r>
              <a:rPr sz="1200" b="0">
                <a:solidFill>
                  <a:srgbClr val="CADCFC"/>
                </a:solidFill>
                <a:latin typeface="Calibri"/>
              </a:rPr>
              <a:t>cross-modal</a:t>
            </a:r>
          </a:p>
        </p:txBody>
      </p:sp>
      <p:sp>
        <p:nvSpPr>
          <p:cNvPr id="18" name="Rounded Rectangle 17"/>
          <p:cNvSpPr/>
          <p:nvPr/>
        </p:nvSpPr>
        <p:spPr>
          <a:xfrm>
            <a:off x="3474720" y="3758184"/>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74720" y="3758184"/>
            <a:ext cx="1945178"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80192" y="3721608"/>
            <a:ext cx="914400" cy="274320"/>
          </a:xfrm>
          <a:prstGeom prst="rect">
            <a:avLst/>
          </a:prstGeom>
          <a:noFill/>
        </p:spPr>
        <p:txBody>
          <a:bodyPr wrap="square">
            <a:spAutoFit/>
          </a:bodyPr>
          <a:lstStyle/>
          <a:p>
            <a:r>
              <a:rPr sz="1200" b="1">
                <a:solidFill>
                  <a:srgbClr val="FFFFFF"/>
                </a:solidFill>
                <a:latin typeface="Calibri"/>
              </a:rPr>
              <a:t>18</a:t>
            </a:r>
          </a:p>
        </p:txBody>
      </p:sp>
      <p:sp>
        <p:nvSpPr>
          <p:cNvPr id="21" name="TextBox 20"/>
          <p:cNvSpPr txBox="1"/>
          <p:nvPr/>
        </p:nvSpPr>
        <p:spPr>
          <a:xfrm>
            <a:off x="640080" y="4151376"/>
            <a:ext cx="2834640" cy="274320"/>
          </a:xfrm>
          <a:prstGeom prst="rect">
            <a:avLst/>
          </a:prstGeom>
          <a:noFill/>
        </p:spPr>
        <p:txBody>
          <a:bodyPr wrap="square">
            <a:spAutoFit/>
          </a:bodyPr>
          <a:lstStyle/>
          <a:p>
            <a:r>
              <a:rPr sz="1200" b="0">
                <a:solidFill>
                  <a:srgbClr val="CADCFC"/>
                </a:solidFill>
                <a:latin typeface="Calibri"/>
              </a:rPr>
              <a:t>memory</a:t>
            </a:r>
          </a:p>
        </p:txBody>
      </p:sp>
      <p:sp>
        <p:nvSpPr>
          <p:cNvPr id="22" name="Rounded Rectangle 21"/>
          <p:cNvSpPr/>
          <p:nvPr/>
        </p:nvSpPr>
        <p:spPr>
          <a:xfrm>
            <a:off x="3474720" y="4187952"/>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4720" y="4187952"/>
            <a:ext cx="1512916"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80192" y="4151376"/>
            <a:ext cx="914400" cy="274320"/>
          </a:xfrm>
          <a:prstGeom prst="rect">
            <a:avLst/>
          </a:prstGeom>
          <a:noFill/>
        </p:spPr>
        <p:txBody>
          <a:bodyPr wrap="square">
            <a:spAutoFit/>
          </a:bodyPr>
          <a:lstStyle/>
          <a:p>
            <a:r>
              <a:rPr sz="1200" b="1">
                <a:solidFill>
                  <a:srgbClr val="FFFFFF"/>
                </a:solidFill>
                <a:latin typeface="Calibri"/>
              </a:rPr>
              <a:t>14</a:t>
            </a:r>
          </a:p>
        </p:txBody>
      </p:sp>
      <p:sp>
        <p:nvSpPr>
          <p:cNvPr id="25" name="TextBox 24"/>
          <p:cNvSpPr txBox="1"/>
          <p:nvPr/>
        </p:nvSpPr>
        <p:spPr>
          <a:xfrm>
            <a:off x="640080" y="4581144"/>
            <a:ext cx="2834640" cy="274320"/>
          </a:xfrm>
          <a:prstGeom prst="rect">
            <a:avLst/>
          </a:prstGeom>
          <a:noFill/>
        </p:spPr>
        <p:txBody>
          <a:bodyPr wrap="square">
            <a:spAutoFit/>
          </a:bodyPr>
          <a:lstStyle/>
          <a:p>
            <a:r>
              <a:rPr sz="1200" b="0">
                <a:solidFill>
                  <a:srgbClr val="CADCFC"/>
                </a:solidFill>
                <a:latin typeface="Calibri"/>
              </a:rPr>
              <a:t>tool-metadata</a:t>
            </a:r>
          </a:p>
        </p:txBody>
      </p:sp>
      <p:sp>
        <p:nvSpPr>
          <p:cNvPr id="26" name="Rounded Rectangle 25"/>
          <p:cNvSpPr/>
          <p:nvPr/>
        </p:nvSpPr>
        <p:spPr>
          <a:xfrm>
            <a:off x="3474720" y="4617720"/>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474720" y="4617720"/>
            <a:ext cx="1296785"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0192" y="4581144"/>
            <a:ext cx="914400" cy="274320"/>
          </a:xfrm>
          <a:prstGeom prst="rect">
            <a:avLst/>
          </a:prstGeom>
          <a:noFill/>
        </p:spPr>
        <p:txBody>
          <a:bodyPr wrap="square">
            <a:spAutoFit/>
          </a:bodyPr>
          <a:lstStyle/>
          <a:p>
            <a:r>
              <a:rPr sz="1200" b="1">
                <a:solidFill>
                  <a:srgbClr val="FFFFFF"/>
                </a:solidFill>
                <a:latin typeface="Calibri"/>
              </a:rPr>
              <a:t>12</a:t>
            </a:r>
          </a:p>
        </p:txBody>
      </p:sp>
      <p:sp>
        <p:nvSpPr>
          <p:cNvPr id="29" name="TextBox 28"/>
          <p:cNvSpPr txBox="1"/>
          <p:nvPr/>
        </p:nvSpPr>
        <p:spPr>
          <a:xfrm>
            <a:off x="640080" y="5010912"/>
            <a:ext cx="2834640" cy="274320"/>
          </a:xfrm>
          <a:prstGeom prst="rect">
            <a:avLst/>
          </a:prstGeom>
          <a:noFill/>
        </p:spPr>
        <p:txBody>
          <a:bodyPr wrap="square">
            <a:spAutoFit/>
          </a:bodyPr>
          <a:lstStyle/>
          <a:p>
            <a:r>
              <a:rPr sz="1200" b="0">
                <a:solidFill>
                  <a:srgbClr val="CADCFC"/>
                </a:solidFill>
                <a:latin typeface="Calibri"/>
              </a:rPr>
              <a:t>multi-agent</a:t>
            </a:r>
          </a:p>
        </p:txBody>
      </p:sp>
      <p:sp>
        <p:nvSpPr>
          <p:cNvPr id="30" name="Rounded Rectangle 29"/>
          <p:cNvSpPr/>
          <p:nvPr/>
        </p:nvSpPr>
        <p:spPr>
          <a:xfrm>
            <a:off x="3474720" y="5047488"/>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474720" y="5047488"/>
            <a:ext cx="972589"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0192" y="5010912"/>
            <a:ext cx="914400" cy="274320"/>
          </a:xfrm>
          <a:prstGeom prst="rect">
            <a:avLst/>
          </a:prstGeom>
          <a:noFill/>
        </p:spPr>
        <p:txBody>
          <a:bodyPr wrap="square">
            <a:spAutoFit/>
          </a:bodyPr>
          <a:lstStyle/>
          <a:p>
            <a:r>
              <a:rPr sz="1200" b="1">
                <a:solidFill>
                  <a:srgbClr val="FFFFFF"/>
                </a:solidFill>
                <a:latin typeface="Calibri"/>
              </a:rPr>
              <a:t>9</a:t>
            </a:r>
          </a:p>
        </p:txBody>
      </p:sp>
      <p:sp>
        <p:nvSpPr>
          <p:cNvPr id="33" name="TextBox 32"/>
          <p:cNvSpPr txBox="1"/>
          <p:nvPr/>
        </p:nvSpPr>
        <p:spPr>
          <a:xfrm>
            <a:off x="640080" y="5440680"/>
            <a:ext cx="2834640" cy="274320"/>
          </a:xfrm>
          <a:prstGeom prst="rect">
            <a:avLst/>
          </a:prstGeom>
          <a:noFill/>
        </p:spPr>
        <p:txBody>
          <a:bodyPr wrap="square">
            <a:spAutoFit/>
          </a:bodyPr>
          <a:lstStyle/>
          <a:p>
            <a:r>
              <a:rPr sz="1200" b="0">
                <a:solidFill>
                  <a:srgbClr val="CADCFC"/>
                </a:solidFill>
                <a:latin typeface="Calibri"/>
              </a:rPr>
              <a:t>supply-chain</a:t>
            </a:r>
          </a:p>
        </p:txBody>
      </p:sp>
      <p:sp>
        <p:nvSpPr>
          <p:cNvPr id="34" name="Rounded Rectangle 33"/>
          <p:cNvSpPr/>
          <p:nvPr/>
        </p:nvSpPr>
        <p:spPr>
          <a:xfrm>
            <a:off x="3474720" y="5477256"/>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4720" y="5477256"/>
            <a:ext cx="648392"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80192" y="5440680"/>
            <a:ext cx="914400" cy="274320"/>
          </a:xfrm>
          <a:prstGeom prst="rect">
            <a:avLst/>
          </a:prstGeom>
          <a:noFill/>
        </p:spPr>
        <p:txBody>
          <a:bodyPr wrap="square">
            <a:spAutoFit/>
          </a:bodyPr>
          <a:lstStyle/>
          <a:p>
            <a:r>
              <a:rPr sz="1200" b="1">
                <a:solidFill>
                  <a:srgbClr val="FFFFFF"/>
                </a:solidFill>
                <a:latin typeface="Calibri"/>
              </a:rPr>
              <a:t>6</a:t>
            </a:r>
          </a:p>
        </p:txBody>
      </p:sp>
      <p:sp>
        <p:nvSpPr>
          <p:cNvPr id="37" name="TextBox 36"/>
          <p:cNvSpPr txBox="1"/>
          <p:nvPr/>
        </p:nvSpPr>
        <p:spPr>
          <a:xfrm>
            <a:off x="640080" y="5870448"/>
            <a:ext cx="2834640" cy="274320"/>
          </a:xfrm>
          <a:prstGeom prst="rect">
            <a:avLst/>
          </a:prstGeom>
          <a:noFill/>
        </p:spPr>
        <p:txBody>
          <a:bodyPr wrap="square">
            <a:spAutoFit/>
          </a:bodyPr>
          <a:lstStyle/>
          <a:p>
            <a:r>
              <a:rPr sz="1200" b="0">
                <a:solidFill>
                  <a:srgbClr val="CADCFC"/>
                </a:solidFill>
                <a:latin typeface="Calibri"/>
              </a:rPr>
              <a:t>skill</a:t>
            </a:r>
          </a:p>
        </p:txBody>
      </p:sp>
      <p:sp>
        <p:nvSpPr>
          <p:cNvPr id="38" name="Rounded Rectangle 37"/>
          <p:cNvSpPr/>
          <p:nvPr/>
        </p:nvSpPr>
        <p:spPr>
          <a:xfrm>
            <a:off x="3474720" y="5907024"/>
            <a:ext cx="71323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474720" y="5907024"/>
            <a:ext cx="432261"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80192" y="5870448"/>
            <a:ext cx="914400" cy="274320"/>
          </a:xfrm>
          <a:prstGeom prst="rect">
            <a:avLst/>
          </a:prstGeom>
          <a:noFill/>
        </p:spPr>
        <p:txBody>
          <a:bodyPr wrap="square">
            <a:spAutoFit/>
          </a:bodyPr>
          <a:lstStyle/>
          <a:p>
            <a:r>
              <a:rPr sz="1200" b="1">
                <a:solidFill>
                  <a:srgbClr val="FFFFFF"/>
                </a:solidFill>
                <a:latin typeface="Calibri"/>
              </a:rPr>
              <a:t>4</a:t>
            </a:r>
          </a:p>
        </p:txBody>
      </p:sp>
      <p:sp>
        <p:nvSpPr>
          <p:cNvPr id="41" name="TextBox 40"/>
          <p:cNvSpPr txBox="1"/>
          <p:nvPr/>
        </p:nvSpPr>
        <p:spPr>
          <a:xfrm>
            <a:off x="640080" y="6263640"/>
            <a:ext cx="10881360" cy="365760"/>
          </a:xfrm>
          <a:prstGeom prst="rect">
            <a:avLst/>
          </a:prstGeom>
          <a:noFill/>
        </p:spPr>
        <p:txBody>
          <a:bodyPr wrap="square">
            <a:spAutoFit/>
          </a:bodyPr>
          <a:lstStyle/>
          <a:p>
            <a:r>
              <a:rPr sz="1200" b="0">
                <a:solidFill>
                  <a:srgbClr val="CFE8EF"/>
                </a:solidFill>
                <a:latin typeface="Calibri"/>
              </a:rPr>
              <a:t>Named mechanisms for each channel. direct-input and tool-output are equal.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RQ2  ·  CITATION NETWORK</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Two literatures. Do they read each other?</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7</a:t>
            </a:r>
          </a:p>
        </p:txBody>
      </p:sp>
      <p:sp>
        <p:nvSpPr>
          <p:cNvPr id="5" name="Rounded Rectangle 4"/>
          <p:cNvSpPr/>
          <p:nvPr/>
        </p:nvSpPr>
        <p:spPr>
          <a:xfrm>
            <a:off x="640080" y="2560320"/>
            <a:ext cx="10881360" cy="11430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4206240" cy="411480"/>
          </a:xfrm>
          <a:prstGeom prst="rect">
            <a:avLst/>
          </a:prstGeom>
          <a:noFill/>
        </p:spPr>
        <p:txBody>
          <a:bodyPr wrap="square">
            <a:spAutoFit/>
          </a:bodyPr>
          <a:lstStyle/>
          <a:p>
            <a:r>
              <a:rPr sz="1500" b="1">
                <a:solidFill>
                  <a:srgbClr val="FFFFFF"/>
                </a:solidFill>
                <a:latin typeface="Calibri"/>
              </a:rPr>
              <a:t>Security → cites ML/AI</a:t>
            </a:r>
          </a:p>
        </p:txBody>
      </p:sp>
      <p:sp>
        <p:nvSpPr>
          <p:cNvPr id="7" name="TextBox 6"/>
          <p:cNvSpPr txBox="1"/>
          <p:nvPr/>
        </p:nvSpPr>
        <p:spPr>
          <a:xfrm>
            <a:off x="914400" y="3163824"/>
            <a:ext cx="4937760" cy="365760"/>
          </a:xfrm>
          <a:prstGeom prst="rect">
            <a:avLst/>
          </a:prstGeom>
          <a:noFill/>
        </p:spPr>
        <p:txBody>
          <a:bodyPr wrap="square">
            <a:spAutoFit/>
          </a:bodyPr>
          <a:lstStyle/>
          <a:p>
            <a:r>
              <a:rPr sz="1250" b="0">
                <a:solidFill>
                  <a:srgbClr val="CFE8EF"/>
                </a:solidFill>
                <a:latin typeface="Calibri"/>
              </a:rPr>
              <a:t>70 of 599 papers</a:t>
            </a:r>
          </a:p>
        </p:txBody>
      </p:sp>
      <p:sp>
        <p:nvSpPr>
          <p:cNvPr id="8" name="TextBox 7"/>
          <p:cNvSpPr txBox="1"/>
          <p:nvPr/>
        </p:nvSpPr>
        <p:spPr>
          <a:xfrm>
            <a:off x="9052560" y="2816352"/>
            <a:ext cx="2194560" cy="731520"/>
          </a:xfrm>
          <a:prstGeom prst="rect">
            <a:avLst/>
          </a:prstGeom>
          <a:noFill/>
        </p:spPr>
        <p:txBody>
          <a:bodyPr wrap="square">
            <a:spAutoFit/>
          </a:bodyPr>
          <a:lstStyle/>
          <a:p>
            <a:pPr algn="r"/>
            <a:r>
              <a:rPr sz="4000" b="1">
                <a:solidFill>
                  <a:srgbClr val="E0A458"/>
                </a:solidFill>
                <a:latin typeface="Cambria"/>
              </a:rPr>
              <a:t>11.7%</a:t>
            </a:r>
          </a:p>
        </p:txBody>
      </p:sp>
      <p:sp>
        <p:nvSpPr>
          <p:cNvPr id="9" name="Rounded Rectangle 8"/>
          <p:cNvSpPr/>
          <p:nvPr/>
        </p:nvSpPr>
        <p:spPr>
          <a:xfrm>
            <a:off x="640080" y="3977639"/>
            <a:ext cx="10881360" cy="11430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42231"/>
            <a:ext cx="4206240" cy="411480"/>
          </a:xfrm>
          <a:prstGeom prst="rect">
            <a:avLst/>
          </a:prstGeom>
          <a:noFill/>
        </p:spPr>
        <p:txBody>
          <a:bodyPr wrap="square">
            <a:spAutoFit/>
          </a:bodyPr>
          <a:lstStyle/>
          <a:p>
            <a:r>
              <a:rPr sz="1500" b="1">
                <a:solidFill>
                  <a:srgbClr val="FFFFFF"/>
                </a:solidFill>
                <a:latin typeface="Calibri"/>
              </a:rPr>
              <a:t>ML/AI → cites Security</a:t>
            </a:r>
          </a:p>
        </p:txBody>
      </p:sp>
      <p:sp>
        <p:nvSpPr>
          <p:cNvPr id="11" name="TextBox 10"/>
          <p:cNvSpPr txBox="1"/>
          <p:nvPr/>
        </p:nvSpPr>
        <p:spPr>
          <a:xfrm>
            <a:off x="914400" y="4581144"/>
            <a:ext cx="4937760" cy="365760"/>
          </a:xfrm>
          <a:prstGeom prst="rect">
            <a:avLst/>
          </a:prstGeom>
          <a:noFill/>
        </p:spPr>
        <p:txBody>
          <a:bodyPr wrap="square">
            <a:spAutoFit/>
          </a:bodyPr>
          <a:lstStyle/>
          <a:p>
            <a:r>
              <a:rPr sz="1250" b="0">
                <a:solidFill>
                  <a:srgbClr val="CFE8EF"/>
                </a:solidFill>
                <a:latin typeface="Calibri"/>
              </a:rPr>
              <a:t>37 of 407 papers</a:t>
            </a:r>
          </a:p>
        </p:txBody>
      </p:sp>
      <p:sp>
        <p:nvSpPr>
          <p:cNvPr id="12" name="TextBox 11"/>
          <p:cNvSpPr txBox="1"/>
          <p:nvPr/>
        </p:nvSpPr>
        <p:spPr>
          <a:xfrm>
            <a:off x="9052560" y="4233672"/>
            <a:ext cx="2194560" cy="731520"/>
          </a:xfrm>
          <a:prstGeom prst="rect">
            <a:avLst/>
          </a:prstGeom>
          <a:noFill/>
        </p:spPr>
        <p:txBody>
          <a:bodyPr wrap="square">
            <a:spAutoFit/>
          </a:bodyPr>
          <a:lstStyle/>
          <a:p>
            <a:pPr algn="r"/>
            <a:r>
              <a:rPr sz="4000" b="1">
                <a:solidFill>
                  <a:srgbClr val="1C7293"/>
                </a:solidFill>
                <a:latin typeface="Cambria"/>
              </a:rPr>
              <a:t>9.1%</a:t>
            </a:r>
          </a:p>
        </p:txBody>
      </p:sp>
      <p:sp>
        <p:nvSpPr>
          <p:cNvPr id="13" name="TextBox 12"/>
          <p:cNvSpPr txBox="1"/>
          <p:nvPr/>
        </p:nvSpPr>
        <p:spPr>
          <a:xfrm>
            <a:off x="640080" y="5577840"/>
            <a:ext cx="10881360" cy="914400"/>
          </a:xfrm>
          <a:prstGeom prst="rect">
            <a:avLst/>
          </a:prstGeom>
          <a:noFill/>
        </p:spPr>
        <p:txBody>
          <a:bodyPr wrap="square">
            <a:spAutoFit/>
          </a:bodyPr>
          <a:lstStyle/>
          <a:p>
            <a:pPr>
              <a:spcAft>
                <a:spcPts val="400"/>
              </a:spcAft>
            </a:pPr>
            <a:r>
              <a:rPr sz="1400" b="1">
                <a:solidFill>
                  <a:srgbClr val="FFFFFF"/>
                </a:solidFill>
                <a:latin typeface="Calibri"/>
              </a:rPr>
              <a:t>Nine of ten papers do not cite the other track.</a:t>
            </a:r>
          </a:p>
          <a:p>
            <a:pPr>
              <a:spcAft>
                <a:spcPts val="400"/>
              </a:spcAft>
            </a:pPr>
            <a:r>
              <a:rPr sz="1250" b="0">
                <a:solidFill>
                  <a:srgbClr val="CFE8EF"/>
                </a:solidFill>
                <a:latin typeface="Calibri"/>
              </a:rPr>
              <a:t>The corpus grew by 150 papers. The rates did not change. The split is structural.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RQ3  ·  POLLUTION CENSUS</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How many distinct ways can a context be poisoned?</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8</a:t>
            </a:r>
          </a:p>
        </p:txBody>
      </p:sp>
      <p:sp>
        <p:nvSpPr>
          <p:cNvPr id="5" name="Oval 4"/>
          <p:cNvSpPr/>
          <p:nvPr/>
        </p:nvSpPr>
        <p:spPr>
          <a:xfrm>
            <a:off x="868680" y="2423160"/>
            <a:ext cx="2880360" cy="288036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60420"/>
            <a:ext cx="2788920" cy="914400"/>
          </a:xfrm>
          <a:prstGeom prst="rect">
            <a:avLst/>
          </a:prstGeom>
          <a:noFill/>
        </p:spPr>
        <p:txBody>
          <a:bodyPr wrap="square">
            <a:spAutoFit/>
          </a:bodyPr>
          <a:lstStyle/>
          <a:p>
            <a:pPr algn="ctr"/>
            <a:r>
              <a:rPr sz="5400" b="1">
                <a:solidFill>
                  <a:srgbClr val="E0A458"/>
                </a:solidFill>
                <a:latin typeface="Cambria"/>
              </a:rPr>
              <a:t>223</a:t>
            </a:r>
          </a:p>
        </p:txBody>
      </p:sp>
      <p:sp>
        <p:nvSpPr>
          <p:cNvPr id="7" name="TextBox 6"/>
          <p:cNvSpPr txBox="1"/>
          <p:nvPr/>
        </p:nvSpPr>
        <p:spPr>
          <a:xfrm>
            <a:off x="914400" y="4091939"/>
            <a:ext cx="2788920" cy="640080"/>
          </a:xfrm>
          <a:prstGeom prst="rect">
            <a:avLst/>
          </a:prstGeom>
          <a:noFill/>
        </p:spPr>
        <p:txBody>
          <a:bodyPr wrap="square">
            <a:spAutoFit/>
          </a:bodyPr>
          <a:lstStyle/>
          <a:p>
            <a:pPr algn="ctr">
              <a:spcAft>
                <a:spcPts val="0"/>
              </a:spcAft>
            </a:pPr>
            <a:r>
              <a:rPr sz="1400" b="0">
                <a:solidFill>
                  <a:srgbClr val="CADCFC"/>
                </a:solidFill>
                <a:latin typeface="Calibri"/>
              </a:rPr>
              <a:t>named mechanisms</a:t>
            </a:r>
          </a:p>
        </p:txBody>
      </p:sp>
      <p:sp>
        <p:nvSpPr>
          <p:cNvPr id="8" name="TextBox 7"/>
          <p:cNvSpPr txBox="1"/>
          <p:nvPr/>
        </p:nvSpPr>
        <p:spPr>
          <a:xfrm>
            <a:off x="4434840" y="2697480"/>
            <a:ext cx="6949440" cy="3108960"/>
          </a:xfrm>
          <a:prstGeom prst="rect">
            <a:avLst/>
          </a:prstGeom>
          <a:noFill/>
        </p:spPr>
        <p:txBody>
          <a:bodyPr wrap="square">
            <a:spAutoFit/>
          </a:bodyPr>
          <a:lstStyle/>
          <a:p>
            <a:pPr>
              <a:spcAft>
                <a:spcPts val="400"/>
              </a:spcAft>
            </a:pPr>
            <a:r>
              <a:rPr sz="1700" b="1">
                <a:solidFill>
                  <a:srgbClr val="FFFFFF"/>
                </a:solidFill>
                <a:latin typeface="Calibri"/>
              </a:rPr>
              <a:t>168 adversarial  ·  55 incidental</a:t>
            </a:r>
          </a:p>
          <a:p>
            <a:pPr>
              <a:spcAft>
                <a:spcPts val="400"/>
              </a:spcAft>
            </a:pPr>
            <a:r>
              <a:rPr sz="800" b="0">
                <a:solidFill>
                  <a:srgbClr val="CADCFC"/>
                </a:solidFill>
                <a:latin typeface="Calibri"/>
              </a:rPr>
              <a:t/>
            </a:r>
          </a:p>
          <a:p>
            <a:pPr>
              <a:spcAft>
                <a:spcPts val="400"/>
              </a:spcAft>
            </a:pPr>
            <a:r>
              <a:rPr sz="1250" b="0">
                <a:solidFill>
                  <a:srgbClr val="CADCFC"/>
                </a:solidFill>
                <a:latin typeface="Calibri"/>
              </a:rPr>
              <a:t>Before the fix we had 183. We added 41.</a:t>
            </a:r>
          </a:p>
          <a:p>
            <a:pPr>
              <a:spcAft>
                <a:spcPts val="400"/>
              </a:spcAft>
            </a:pPr>
            <a:r>
              <a:rPr sz="1250" b="0">
                <a:solidFill>
                  <a:srgbClr val="CADCFC"/>
                </a:solidFill>
                <a:latin typeface="Calibri"/>
              </a:rPr>
              <a:t>40 of the new ones are adversarial.</a:t>
            </a:r>
          </a:p>
          <a:p>
            <a:pPr>
              <a:spcAft>
                <a:spcPts val="400"/>
              </a:spcAft>
            </a:pPr>
            <a:r>
              <a:rPr sz="1250" b="0">
                <a:solidFill>
                  <a:srgbClr val="CADCFC"/>
                </a:solidFill>
                <a:latin typeface="Calibri"/>
              </a:rPr>
              <a:t>23 of them use the direct-input channel.</a:t>
            </a:r>
          </a:p>
          <a:p>
            <a:pPr>
              <a:spcAft>
                <a:spcPts val="400"/>
              </a:spcAft>
            </a:pPr>
            <a:r>
              <a:rPr sz="800" b="0">
                <a:solidFill>
                  <a:srgbClr val="CADCFC"/>
                </a:solidFill>
                <a:latin typeface="Calibri"/>
              </a:rPr>
              <a:t/>
            </a:r>
          </a:p>
          <a:p>
            <a:pPr>
              <a:spcAft>
                <a:spcPts val="400"/>
              </a:spcAft>
            </a:pPr>
            <a:r>
              <a:rPr sz="1300" b="1">
                <a:solidFill>
                  <a:srgbClr val="E0A458"/>
                </a:solidFill>
                <a:latin typeface="Calibri"/>
              </a:rPr>
              <a:t>This closed a channel gap that looked real.</a:t>
            </a:r>
          </a:p>
          <a:p>
            <a:pPr>
              <a:spcAft>
                <a:spcPts val="400"/>
              </a:spcAft>
            </a:pPr>
            <a:r>
              <a:rPr sz="1250" b="0">
                <a:solidFill>
                  <a:srgbClr val="CFE8EF"/>
                </a:solidFill>
                <a:latin typeface="Calibri"/>
              </a:rPr>
              <a:t>Our own screening made that gap.</a:t>
            </a:r>
          </a:p>
          <a:p>
            <a:pPr>
              <a:spcAft>
                <a:spcPts val="400"/>
              </a:spcAft>
            </a:pPr>
            <a:r>
              <a:rPr sz="1250" b="0">
                <a:solidFill>
                  <a:srgbClr val="CFE8EF"/>
                </a:solidFill>
                <a:latin typeface="Calibri"/>
              </a:rPr>
              <a:t>The field did not.</a:t>
            </a:r>
          </a:p>
        </p:txBody>
      </p:sp>
      <p:sp>
        <p:nvSpPr>
          <p:cNvPr id="9" name="TextBox 8"/>
          <p:cNvSpPr txBox="1"/>
          <p:nvPr/>
        </p:nvSpPr>
        <p:spPr>
          <a:xfrm>
            <a:off x="640080" y="5989320"/>
            <a:ext cx="10881360" cy="457200"/>
          </a:xfrm>
          <a:prstGeom prst="rect">
            <a:avLst/>
          </a:prstGeom>
          <a:noFill/>
        </p:spPr>
        <p:txBody>
          <a:bodyPr wrap="square">
            <a:spAutoFit/>
          </a:bodyPr>
          <a:lstStyle/>
          <a:p>
            <a:r>
              <a:rPr sz="1150" b="0">
                <a:solidFill>
                  <a:srgbClr val="CFE8EF"/>
                </a:solidFill>
                <a:latin typeface="Calibri"/>
              </a:rPr>
              <a:t>By consequence:  goal-hijack 126   ·   reasoning-corruption 46   ·   silent-corruption 21   ·   persistence-backdoor 14   ·   data-exfiltration 13   ·   resource-abuse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RQ4  ·  DEFENSE CENSUS</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And how many defenses answer them?</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9</a:t>
            </a:r>
          </a:p>
        </p:txBody>
      </p:sp>
      <p:sp>
        <p:nvSpPr>
          <p:cNvPr id="5" name="Oval 4"/>
          <p:cNvSpPr/>
          <p:nvPr/>
        </p:nvSpPr>
        <p:spPr>
          <a:xfrm>
            <a:off x="868680" y="2331720"/>
            <a:ext cx="2880360" cy="288036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268980"/>
            <a:ext cx="2788920" cy="914400"/>
          </a:xfrm>
          <a:prstGeom prst="rect">
            <a:avLst/>
          </a:prstGeom>
          <a:noFill/>
        </p:spPr>
        <p:txBody>
          <a:bodyPr wrap="square">
            <a:spAutoFit/>
          </a:bodyPr>
          <a:lstStyle/>
          <a:p>
            <a:pPr algn="ctr"/>
            <a:r>
              <a:rPr sz="5400" b="1">
                <a:solidFill>
                  <a:srgbClr val="E0A458"/>
                </a:solidFill>
                <a:latin typeface="Cambria"/>
              </a:rPr>
              <a:t>534</a:t>
            </a:r>
          </a:p>
        </p:txBody>
      </p:sp>
      <p:sp>
        <p:nvSpPr>
          <p:cNvPr id="7" name="TextBox 6"/>
          <p:cNvSpPr txBox="1"/>
          <p:nvPr/>
        </p:nvSpPr>
        <p:spPr>
          <a:xfrm>
            <a:off x="914400" y="4000500"/>
            <a:ext cx="2788920" cy="640080"/>
          </a:xfrm>
          <a:prstGeom prst="rect">
            <a:avLst/>
          </a:prstGeom>
          <a:noFill/>
        </p:spPr>
        <p:txBody>
          <a:bodyPr wrap="square">
            <a:spAutoFit/>
          </a:bodyPr>
          <a:lstStyle/>
          <a:p>
            <a:pPr algn="ctr">
              <a:spcAft>
                <a:spcPts val="0"/>
              </a:spcAft>
            </a:pPr>
            <a:r>
              <a:rPr sz="1400" b="0">
                <a:solidFill>
                  <a:srgbClr val="CADCFC"/>
                </a:solidFill>
                <a:latin typeface="Calibri"/>
              </a:rPr>
              <a:t>named defenses</a:t>
            </a:r>
          </a:p>
        </p:txBody>
      </p:sp>
      <p:sp>
        <p:nvSpPr>
          <p:cNvPr id="8" name="Oval 7"/>
          <p:cNvSpPr/>
          <p:nvPr/>
        </p:nvSpPr>
        <p:spPr>
          <a:xfrm>
            <a:off x="4160520" y="2331720"/>
            <a:ext cx="2880360" cy="288036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3268980"/>
            <a:ext cx="2788920" cy="914400"/>
          </a:xfrm>
          <a:prstGeom prst="rect">
            <a:avLst/>
          </a:prstGeom>
          <a:noFill/>
        </p:spPr>
        <p:txBody>
          <a:bodyPr wrap="square">
            <a:spAutoFit/>
          </a:bodyPr>
          <a:lstStyle/>
          <a:p>
            <a:pPr algn="ctr"/>
            <a:r>
              <a:rPr sz="5400" b="1">
                <a:solidFill>
                  <a:srgbClr val="B54A3F"/>
                </a:solidFill>
                <a:latin typeface="Cambria"/>
              </a:rPr>
              <a:t>2.8%</a:t>
            </a:r>
          </a:p>
        </p:txBody>
      </p:sp>
      <p:sp>
        <p:nvSpPr>
          <p:cNvPr id="10" name="TextBox 9"/>
          <p:cNvSpPr txBox="1"/>
          <p:nvPr/>
        </p:nvSpPr>
        <p:spPr>
          <a:xfrm>
            <a:off x="4206240" y="4000500"/>
            <a:ext cx="2788920" cy="640080"/>
          </a:xfrm>
          <a:prstGeom prst="rect">
            <a:avLst/>
          </a:prstGeom>
          <a:noFill/>
        </p:spPr>
        <p:txBody>
          <a:bodyPr wrap="square">
            <a:spAutoFit/>
          </a:bodyPr>
          <a:lstStyle/>
          <a:p>
            <a:pPr algn="ctr">
              <a:spcAft>
                <a:spcPts val="0"/>
              </a:spcAft>
            </a:pPr>
            <a:r>
              <a:rPr sz="1400" b="0">
                <a:solidFill>
                  <a:srgbClr val="CADCFC"/>
                </a:solidFill>
                <a:latin typeface="Calibri"/>
              </a:rPr>
              <a:t>answer both</a:t>
            </a:r>
          </a:p>
          <a:p>
            <a:pPr algn="ctr">
              <a:spcAft>
                <a:spcPts val="0"/>
              </a:spcAft>
            </a:pPr>
            <a:r>
              <a:rPr sz="1400" b="0">
                <a:solidFill>
                  <a:srgbClr val="CADCFC"/>
                </a:solidFill>
                <a:latin typeface="Calibri"/>
              </a:rPr>
              <a:t>threat models</a:t>
            </a:r>
          </a:p>
        </p:txBody>
      </p:sp>
      <p:sp>
        <p:nvSpPr>
          <p:cNvPr id="11" name="TextBox 10"/>
          <p:cNvSpPr txBox="1"/>
          <p:nvPr/>
        </p:nvSpPr>
        <p:spPr>
          <a:xfrm>
            <a:off x="7635240" y="2697480"/>
            <a:ext cx="3931920" cy="2926080"/>
          </a:xfrm>
          <a:prstGeom prst="rect">
            <a:avLst/>
          </a:prstGeom>
          <a:noFill/>
        </p:spPr>
        <p:txBody>
          <a:bodyPr wrap="square">
            <a:spAutoFit/>
          </a:bodyPr>
          <a:lstStyle/>
          <a:p>
            <a:pPr>
              <a:spcAft>
                <a:spcPts val="400"/>
              </a:spcAft>
            </a:pPr>
            <a:r>
              <a:rPr sz="1500" b="1">
                <a:solidFill>
                  <a:srgbClr val="FFFFFF"/>
                </a:solidFill>
                <a:latin typeface="Calibri"/>
              </a:rPr>
              <a:t>Only 15 of 534 defenses</a:t>
            </a:r>
          </a:p>
          <a:p>
            <a:pPr>
              <a:spcAft>
                <a:spcPts val="400"/>
              </a:spcAft>
            </a:pPr>
            <a:r>
              <a:rPr sz="1500" b="1">
                <a:solidFill>
                  <a:srgbClr val="FFFFFF"/>
                </a:solidFill>
                <a:latin typeface="Calibri"/>
              </a:rPr>
              <a:t>answer both threat models:</a:t>
            </a:r>
          </a:p>
          <a:p>
            <a:pPr>
              <a:spcAft>
                <a:spcPts val="400"/>
              </a:spcAft>
            </a:pPr>
            <a:r>
              <a:rPr sz="1500" b="1">
                <a:solidFill>
                  <a:srgbClr val="FFFFFF"/>
                </a:solidFill>
                <a:latin typeface="Calibri"/>
              </a:rPr>
              <a:t>adversarial corruption and</a:t>
            </a:r>
          </a:p>
          <a:p>
            <a:pPr>
              <a:spcAft>
                <a:spcPts val="400"/>
              </a:spcAft>
            </a:pPr>
            <a:r>
              <a:rPr sz="1500" b="1">
                <a:solidFill>
                  <a:srgbClr val="FFFFFF"/>
                </a:solidFill>
                <a:latin typeface="Calibri"/>
              </a:rPr>
              <a:t>incidental corruption.</a:t>
            </a:r>
          </a:p>
          <a:p>
            <a:pPr>
              <a:spcAft>
                <a:spcPts val="400"/>
              </a:spcAft>
            </a:pPr>
            <a:r>
              <a:rPr sz="1000" b="0">
                <a:solidFill>
                  <a:srgbClr val="CADCFC"/>
                </a:solidFill>
                <a:latin typeface="Calibri"/>
              </a:rPr>
              <a:t/>
            </a:r>
          </a:p>
          <a:p>
            <a:pPr>
              <a:spcAft>
                <a:spcPts val="400"/>
              </a:spcAft>
            </a:pPr>
            <a:r>
              <a:rPr sz="1250" b="0">
                <a:solidFill>
                  <a:srgbClr val="E0A458"/>
                </a:solidFill>
                <a:latin typeface="Calibri"/>
              </a:rPr>
              <a:t>We added 55 defenses. These</a:t>
            </a:r>
          </a:p>
          <a:p>
            <a:pPr>
              <a:spcAft>
                <a:spcPts val="400"/>
              </a:spcAft>
            </a:pPr>
            <a:r>
              <a:rPr sz="1250" b="0">
                <a:solidFill>
                  <a:srgbClr val="E0A458"/>
                </a:solidFill>
                <a:latin typeface="Calibri"/>
              </a:rPr>
              <a:t>include StruQ, SecAlign,</a:t>
            </a:r>
          </a:p>
          <a:p>
            <a:pPr>
              <a:spcAft>
                <a:spcPts val="400"/>
              </a:spcAft>
            </a:pPr>
            <a:r>
              <a:rPr sz="1250" b="0">
                <a:solidFill>
                  <a:srgbClr val="E0A458"/>
                </a:solidFill>
                <a:latin typeface="Calibri"/>
              </a:rPr>
              <a:t>Spotlighting and the</a:t>
            </a:r>
          </a:p>
          <a:p>
            <a:pPr>
              <a:spcAft>
                <a:spcPts val="400"/>
              </a:spcAft>
            </a:pPr>
            <a:r>
              <a:rPr sz="1250" b="0">
                <a:solidFill>
                  <a:srgbClr val="E0A458"/>
                </a:solidFill>
                <a:latin typeface="Calibri"/>
              </a:rPr>
              <a:t>Instruction Hierarchy.</a:t>
            </a:r>
          </a:p>
          <a:p>
            <a:pPr>
              <a:spcAft>
                <a:spcPts val="400"/>
              </a:spcAft>
            </a:pPr>
            <a:r>
              <a:rPr sz="1250" b="0">
                <a:solidFill>
                  <a:srgbClr val="E0A458"/>
                </a:solidFill>
                <a:latin typeface="Calibri"/>
              </a:rPr>
              <a:t>The number did not move.</a:t>
            </a:r>
          </a:p>
          <a:p>
            <a:pPr>
              <a:spcAft>
                <a:spcPts val="400"/>
              </a:spcAft>
            </a:pPr>
            <a:r>
              <a:rPr sz="800" b="0">
                <a:solidFill>
                  <a:srgbClr val="CADCFC"/>
                </a:solidFill>
                <a:latin typeface="Calibri"/>
              </a:rPr>
              <a:t/>
            </a:r>
          </a:p>
          <a:p>
            <a:pPr>
              <a:spcAft>
                <a:spcPts val="400"/>
              </a:spcAft>
            </a:pPr>
            <a:r>
              <a:rPr sz="1300" b="1">
                <a:solidFill>
                  <a:srgbClr val="FFFFFF"/>
                </a:solidFill>
                <a:latin typeface="Calibri"/>
              </a:rPr>
              <a:t>2.9%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RQ5  ·  COVERAGE MATRIX</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Which defenses were ever tested</a:t>
            </a:r>
          </a:p>
          <a:p>
            <a:pPr>
              <a:spcAft>
                <a:spcPts val="200"/>
              </a:spcAft>
            </a:pPr>
            <a:r>
              <a:rPr sz="3000" b="1">
                <a:solidFill>
                  <a:srgbClr val="FFFFFF"/>
                </a:solidFill>
                <a:latin typeface="Cambria"/>
              </a:rPr>
              <a:t>against which attacks?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10</a:t>
            </a:r>
          </a:p>
        </p:txBody>
      </p:sp>
      <p:sp>
        <p:nvSpPr>
          <p:cNvPr id="5" name="Oval 4"/>
          <p:cNvSpPr/>
          <p:nvPr/>
        </p:nvSpPr>
        <p:spPr>
          <a:xfrm>
            <a:off x="868680" y="2560320"/>
            <a:ext cx="2788920" cy="27889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51859"/>
            <a:ext cx="2697479" cy="914400"/>
          </a:xfrm>
          <a:prstGeom prst="rect">
            <a:avLst/>
          </a:prstGeom>
          <a:noFill/>
        </p:spPr>
        <p:txBody>
          <a:bodyPr wrap="square">
            <a:spAutoFit/>
          </a:bodyPr>
          <a:lstStyle/>
          <a:p>
            <a:pPr algn="ctr"/>
            <a:r>
              <a:rPr sz="5400" b="1">
                <a:solidFill>
                  <a:srgbClr val="E0A458"/>
                </a:solidFill>
                <a:latin typeface="Cambria"/>
              </a:rPr>
              <a:t>40%</a:t>
            </a:r>
          </a:p>
        </p:txBody>
      </p:sp>
      <p:sp>
        <p:nvSpPr>
          <p:cNvPr id="7" name="TextBox 6"/>
          <p:cNvSpPr txBox="1"/>
          <p:nvPr/>
        </p:nvSpPr>
        <p:spPr>
          <a:xfrm>
            <a:off x="914400" y="4183379"/>
            <a:ext cx="2697479" cy="640080"/>
          </a:xfrm>
          <a:prstGeom prst="rect">
            <a:avLst/>
          </a:prstGeom>
          <a:noFill/>
        </p:spPr>
        <p:txBody>
          <a:bodyPr wrap="square">
            <a:spAutoFit/>
          </a:bodyPr>
          <a:lstStyle/>
          <a:p>
            <a:pPr algn="ctr">
              <a:spcAft>
                <a:spcPts val="0"/>
              </a:spcAft>
            </a:pPr>
            <a:r>
              <a:rPr sz="1400" b="0">
                <a:solidFill>
                  <a:srgbClr val="CADCFC"/>
                </a:solidFill>
                <a:latin typeface="Calibri"/>
              </a:rPr>
              <a:t>of defenses have</a:t>
            </a:r>
          </a:p>
          <a:p>
            <a:pPr algn="ctr">
              <a:spcAft>
                <a:spcPts val="0"/>
              </a:spcAft>
            </a:pPr>
            <a:r>
              <a:rPr sz="1400" b="0">
                <a:solidFill>
                  <a:srgbClr val="CADCFC"/>
                </a:solidFill>
                <a:latin typeface="Calibri"/>
              </a:rPr>
              <a:t>one test or more</a:t>
            </a:r>
          </a:p>
        </p:txBody>
      </p:sp>
      <p:sp>
        <p:nvSpPr>
          <p:cNvPr id="8" name="Oval 7"/>
          <p:cNvSpPr/>
          <p:nvPr/>
        </p:nvSpPr>
        <p:spPr>
          <a:xfrm>
            <a:off x="4069080" y="2560320"/>
            <a:ext cx="2788920" cy="27889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3451859"/>
            <a:ext cx="2697479" cy="914400"/>
          </a:xfrm>
          <a:prstGeom prst="rect">
            <a:avLst/>
          </a:prstGeom>
          <a:noFill/>
        </p:spPr>
        <p:txBody>
          <a:bodyPr wrap="square">
            <a:spAutoFit/>
          </a:bodyPr>
          <a:lstStyle/>
          <a:p>
            <a:pPr algn="ctr"/>
            <a:r>
              <a:rPr sz="5400" b="1">
                <a:solidFill>
                  <a:srgbClr val="B54A3F"/>
                </a:solidFill>
                <a:latin typeface="Cambria"/>
              </a:rPr>
              <a:t>119</a:t>
            </a:r>
          </a:p>
        </p:txBody>
      </p:sp>
      <p:sp>
        <p:nvSpPr>
          <p:cNvPr id="10" name="TextBox 9"/>
          <p:cNvSpPr txBox="1"/>
          <p:nvPr/>
        </p:nvSpPr>
        <p:spPr>
          <a:xfrm>
            <a:off x="4114800" y="4183379"/>
            <a:ext cx="2697479" cy="640080"/>
          </a:xfrm>
          <a:prstGeom prst="rect">
            <a:avLst/>
          </a:prstGeom>
          <a:noFill/>
        </p:spPr>
        <p:txBody>
          <a:bodyPr wrap="square">
            <a:spAutoFit/>
          </a:bodyPr>
          <a:lstStyle/>
          <a:p>
            <a:pPr algn="ctr">
              <a:spcAft>
                <a:spcPts val="0"/>
              </a:spcAft>
            </a:pPr>
            <a:r>
              <a:rPr sz="1400" b="0">
                <a:solidFill>
                  <a:srgbClr val="CADCFC"/>
                </a:solidFill>
                <a:latin typeface="Calibri"/>
              </a:rPr>
              <a:t>mechanisms never</a:t>
            </a:r>
          </a:p>
          <a:p>
            <a:pPr algn="ctr">
              <a:spcAft>
                <a:spcPts val="0"/>
              </a:spcAft>
            </a:pPr>
            <a:r>
              <a:rPr sz="1400" b="0">
                <a:solidFill>
                  <a:srgbClr val="CADCFC"/>
                </a:solidFill>
                <a:latin typeface="Calibri"/>
              </a:rPr>
              <a:t>defended</a:t>
            </a:r>
          </a:p>
        </p:txBody>
      </p:sp>
      <p:sp>
        <p:nvSpPr>
          <p:cNvPr id="11" name="TextBox 10"/>
          <p:cNvSpPr txBox="1"/>
          <p:nvPr/>
        </p:nvSpPr>
        <p:spPr>
          <a:xfrm>
            <a:off x="7498079" y="2880360"/>
            <a:ext cx="4023360" cy="2926080"/>
          </a:xfrm>
          <a:prstGeom prst="rect">
            <a:avLst/>
          </a:prstGeom>
          <a:noFill/>
        </p:spPr>
        <p:txBody>
          <a:bodyPr wrap="square">
            <a:spAutoFit/>
          </a:bodyPr>
          <a:lstStyle/>
          <a:p>
            <a:pPr>
              <a:spcAft>
                <a:spcPts val="400"/>
              </a:spcAft>
            </a:pPr>
            <a:r>
              <a:rPr sz="1700" b="1">
                <a:solidFill>
                  <a:srgbClr val="FFFFFF"/>
                </a:solidFill>
                <a:latin typeface="Calibri"/>
              </a:rPr>
              <a:t>349 confirmed pairs</a:t>
            </a:r>
          </a:p>
          <a:p>
            <a:pPr>
              <a:spcAft>
                <a:spcPts val="400"/>
              </a:spcAft>
            </a:pPr>
            <a:r>
              <a:rPr sz="1250" b="0">
                <a:solidFill>
                  <a:srgbClr val="CADCFC"/>
                </a:solidFill>
                <a:latin typeface="Calibri"/>
              </a:rPr>
              <a:t>213 of 534 defenses matched</a:t>
            </a:r>
          </a:p>
          <a:p>
            <a:pPr>
              <a:spcAft>
                <a:spcPts val="400"/>
              </a:spcAft>
            </a:pPr>
            <a:r>
              <a:rPr sz="1250" b="0">
                <a:solidFill>
                  <a:srgbClr val="CADCFC"/>
                </a:solidFill>
                <a:latin typeface="Calibri"/>
              </a:rPr>
              <a:t>118 of 237 mechanisms covered</a:t>
            </a:r>
          </a:p>
          <a:p>
            <a:pPr>
              <a:spcAft>
                <a:spcPts val="400"/>
              </a:spcAft>
            </a:pPr>
            <a:r>
              <a:rPr sz="1000" b="0">
                <a:solidFill>
                  <a:srgbClr val="CADCFC"/>
                </a:solidFill>
                <a:latin typeface="Calibri"/>
              </a:rPr>
              <a:t/>
            </a:r>
          </a:p>
          <a:p>
            <a:pPr>
              <a:spcAft>
                <a:spcPts val="400"/>
              </a:spcAft>
            </a:pPr>
            <a:r>
              <a:rPr sz="1250" b="0">
                <a:solidFill>
                  <a:srgbClr val="CFE8EF"/>
                </a:solidFill>
                <a:latin typeface="Calibri"/>
              </a:rPr>
              <a:t>163 of them have one test only.</a:t>
            </a:r>
          </a:p>
          <a:p>
            <a:pPr>
              <a:spcAft>
                <a:spcPts val="400"/>
              </a:spcAft>
            </a:pPr>
            <a:r>
              <a:rPr sz="800" b="0">
                <a:solidFill>
                  <a:srgbClr val="CADCFC"/>
                </a:solidFill>
                <a:latin typeface="Calibri"/>
              </a:rPr>
              <a:t/>
            </a:r>
          </a:p>
          <a:p>
            <a:pPr>
              <a:spcAft>
                <a:spcPts val="400"/>
              </a:spcAft>
            </a:pPr>
            <a:r>
              <a:rPr sz="1300" b="1">
                <a:solidFill>
                  <a:srgbClr val="E0A458"/>
                </a:solidFill>
                <a:latin typeface="Calibri"/>
              </a:rPr>
              <a:t>There are almost no</a:t>
            </a:r>
          </a:p>
          <a:p>
            <a:pPr>
              <a:spcAft>
                <a:spcPts val="400"/>
              </a:spcAft>
            </a:pPr>
            <a:r>
              <a:rPr sz="1300" b="1">
                <a:solidFill>
                  <a:srgbClr val="E0A458"/>
                </a:solidFill>
                <a:latin typeface="Calibri"/>
              </a:rPr>
              <a:t>general defenses.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RQ5  ·  COVERAGE MATRIX</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600" b="1">
                <a:solidFill>
                  <a:srgbClr val="FFFFFF"/>
                </a:solidFill>
                <a:latin typeface="Cambria"/>
              </a:rPr>
              <a:t>Testing effort concentrates on a handful of targets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11</a:t>
            </a:r>
          </a:p>
        </p:txBody>
      </p:sp>
      <p:sp>
        <p:nvSpPr>
          <p:cNvPr id="5" name="TextBox 4"/>
          <p:cNvSpPr txBox="1"/>
          <p:nvPr/>
        </p:nvSpPr>
        <p:spPr>
          <a:xfrm>
            <a:off x="640080" y="2478024"/>
            <a:ext cx="4434840" cy="274320"/>
          </a:xfrm>
          <a:prstGeom prst="rect">
            <a:avLst/>
          </a:prstGeom>
          <a:noFill/>
        </p:spPr>
        <p:txBody>
          <a:bodyPr wrap="square">
            <a:spAutoFit/>
          </a:bodyPr>
          <a:lstStyle/>
          <a:p>
            <a:r>
              <a:rPr sz="1200" b="0">
                <a:solidFill>
                  <a:srgbClr val="CADCFC"/>
                </a:solidFill>
                <a:latin typeface="Calibri"/>
              </a:rPr>
              <a:t>Indirect Prompt Injection (IPI)</a:t>
            </a:r>
          </a:p>
        </p:txBody>
      </p:sp>
      <p:sp>
        <p:nvSpPr>
          <p:cNvPr id="6" name="Rounded Rectangle 5"/>
          <p:cNvSpPr/>
          <p:nvPr/>
        </p:nvSpPr>
        <p:spPr>
          <a:xfrm>
            <a:off x="5074920" y="251460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74920" y="2514600"/>
            <a:ext cx="5532120" cy="201168"/>
          </a:xfrm>
          <a:prstGeom prst="round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80192" y="2478024"/>
            <a:ext cx="914400" cy="274320"/>
          </a:xfrm>
          <a:prstGeom prst="rect">
            <a:avLst/>
          </a:prstGeom>
          <a:noFill/>
        </p:spPr>
        <p:txBody>
          <a:bodyPr wrap="square">
            <a:spAutoFit/>
          </a:bodyPr>
          <a:lstStyle/>
          <a:p>
            <a:r>
              <a:rPr sz="1200" b="1">
                <a:solidFill>
                  <a:srgbClr val="FFFFFF"/>
                </a:solidFill>
                <a:latin typeface="Calibri"/>
              </a:rPr>
              <a:t>76</a:t>
            </a:r>
          </a:p>
        </p:txBody>
      </p:sp>
      <p:sp>
        <p:nvSpPr>
          <p:cNvPr id="9" name="TextBox 8"/>
          <p:cNvSpPr txBox="1"/>
          <p:nvPr/>
        </p:nvSpPr>
        <p:spPr>
          <a:xfrm>
            <a:off x="640080" y="2980944"/>
            <a:ext cx="4434840" cy="274320"/>
          </a:xfrm>
          <a:prstGeom prst="rect">
            <a:avLst/>
          </a:prstGeom>
          <a:noFill/>
        </p:spPr>
        <p:txBody>
          <a:bodyPr wrap="square">
            <a:spAutoFit/>
          </a:bodyPr>
          <a:lstStyle/>
          <a:p>
            <a:r>
              <a:rPr sz="1200" b="0">
                <a:solidFill>
                  <a:srgbClr val="CADCFC"/>
                </a:solidFill>
                <a:latin typeface="Calibri"/>
              </a:rPr>
              <a:t>AgentDojo: important-instructions injection</a:t>
            </a:r>
          </a:p>
        </p:txBody>
      </p:sp>
      <p:sp>
        <p:nvSpPr>
          <p:cNvPr id="10" name="Rounded Rectangle 9"/>
          <p:cNvSpPr/>
          <p:nvPr/>
        </p:nvSpPr>
        <p:spPr>
          <a:xfrm>
            <a:off x="5074920" y="301752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74920" y="3017520"/>
            <a:ext cx="1091865"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80192" y="2980944"/>
            <a:ext cx="914400" cy="274320"/>
          </a:xfrm>
          <a:prstGeom prst="rect">
            <a:avLst/>
          </a:prstGeom>
          <a:noFill/>
        </p:spPr>
        <p:txBody>
          <a:bodyPr wrap="square">
            <a:spAutoFit/>
          </a:bodyPr>
          <a:lstStyle/>
          <a:p>
            <a:r>
              <a:rPr sz="1200" b="1">
                <a:solidFill>
                  <a:srgbClr val="FFFFFF"/>
                </a:solidFill>
                <a:latin typeface="Calibri"/>
              </a:rPr>
              <a:t>15</a:t>
            </a:r>
          </a:p>
        </p:txBody>
      </p:sp>
      <p:sp>
        <p:nvSpPr>
          <p:cNvPr id="13" name="TextBox 12"/>
          <p:cNvSpPr txBox="1"/>
          <p:nvPr/>
        </p:nvSpPr>
        <p:spPr>
          <a:xfrm>
            <a:off x="640080" y="3483864"/>
            <a:ext cx="4434840" cy="274320"/>
          </a:xfrm>
          <a:prstGeom prst="rect">
            <a:avLst/>
          </a:prstGeom>
          <a:noFill/>
        </p:spPr>
        <p:txBody>
          <a:bodyPr wrap="square">
            <a:spAutoFit/>
          </a:bodyPr>
          <a:lstStyle/>
          <a:p>
            <a:r>
              <a:rPr sz="1200" b="0">
                <a:solidFill>
                  <a:srgbClr val="CADCFC"/>
                </a:solidFill>
                <a:latin typeface="Calibri"/>
              </a:rPr>
              <a:t>lost in the middle</a:t>
            </a:r>
          </a:p>
        </p:txBody>
      </p:sp>
      <p:sp>
        <p:nvSpPr>
          <p:cNvPr id="14" name="Rounded Rectangle 13"/>
          <p:cNvSpPr/>
          <p:nvPr/>
        </p:nvSpPr>
        <p:spPr>
          <a:xfrm>
            <a:off x="5074920" y="352044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74920" y="3520440"/>
            <a:ext cx="946283"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80192" y="3483864"/>
            <a:ext cx="914400" cy="274320"/>
          </a:xfrm>
          <a:prstGeom prst="rect">
            <a:avLst/>
          </a:prstGeom>
          <a:noFill/>
        </p:spPr>
        <p:txBody>
          <a:bodyPr wrap="square">
            <a:spAutoFit/>
          </a:bodyPr>
          <a:lstStyle/>
          <a:p>
            <a:r>
              <a:rPr sz="1200" b="1">
                <a:solidFill>
                  <a:srgbClr val="FFFFFF"/>
                </a:solidFill>
                <a:latin typeface="Calibri"/>
              </a:rPr>
              <a:t>13</a:t>
            </a:r>
          </a:p>
        </p:txBody>
      </p:sp>
      <p:sp>
        <p:nvSpPr>
          <p:cNvPr id="17" name="TextBox 16"/>
          <p:cNvSpPr txBox="1"/>
          <p:nvPr/>
        </p:nvSpPr>
        <p:spPr>
          <a:xfrm>
            <a:off x="640080" y="3986784"/>
            <a:ext cx="4434840" cy="274320"/>
          </a:xfrm>
          <a:prstGeom prst="rect">
            <a:avLst/>
          </a:prstGeom>
          <a:noFill/>
        </p:spPr>
        <p:txBody>
          <a:bodyPr wrap="square">
            <a:spAutoFit/>
          </a:bodyPr>
          <a:lstStyle/>
          <a:p>
            <a:r>
              <a:rPr sz="1200" b="0">
                <a:solidFill>
                  <a:srgbClr val="CADCFC"/>
                </a:solidFill>
                <a:latin typeface="Calibri"/>
              </a:rPr>
              <a:t>Combined Attack (Open-Prompt-Injection)</a:t>
            </a:r>
          </a:p>
        </p:txBody>
      </p:sp>
      <p:sp>
        <p:nvSpPr>
          <p:cNvPr id="18" name="Rounded Rectangle 17"/>
          <p:cNvSpPr/>
          <p:nvPr/>
        </p:nvSpPr>
        <p:spPr>
          <a:xfrm>
            <a:off x="5074920" y="402336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74920" y="4023360"/>
            <a:ext cx="946283"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80192" y="3986784"/>
            <a:ext cx="914400" cy="274320"/>
          </a:xfrm>
          <a:prstGeom prst="rect">
            <a:avLst/>
          </a:prstGeom>
          <a:noFill/>
        </p:spPr>
        <p:txBody>
          <a:bodyPr wrap="square">
            <a:spAutoFit/>
          </a:bodyPr>
          <a:lstStyle/>
          <a:p>
            <a:r>
              <a:rPr sz="1200" b="1">
                <a:solidFill>
                  <a:srgbClr val="FFFFFF"/>
                </a:solidFill>
                <a:latin typeface="Calibri"/>
              </a:rPr>
              <a:t>13</a:t>
            </a:r>
          </a:p>
        </p:txBody>
      </p:sp>
      <p:sp>
        <p:nvSpPr>
          <p:cNvPr id="21" name="TextBox 20"/>
          <p:cNvSpPr txBox="1"/>
          <p:nvPr/>
        </p:nvSpPr>
        <p:spPr>
          <a:xfrm>
            <a:off x="640080" y="4489704"/>
            <a:ext cx="4434840" cy="274320"/>
          </a:xfrm>
          <a:prstGeom prst="rect">
            <a:avLst/>
          </a:prstGeom>
          <a:noFill/>
        </p:spPr>
        <p:txBody>
          <a:bodyPr wrap="square">
            <a:spAutoFit/>
          </a:bodyPr>
          <a:lstStyle/>
          <a:p>
            <a:r>
              <a:rPr sz="1200" b="0">
                <a:solidFill>
                  <a:srgbClr val="CADCFC"/>
                </a:solidFill>
                <a:latin typeface="Calibri"/>
              </a:rPr>
              <a:t>BIPIA benchmark attack set</a:t>
            </a:r>
          </a:p>
        </p:txBody>
      </p:sp>
      <p:sp>
        <p:nvSpPr>
          <p:cNvPr id="22" name="Rounded Rectangle 21"/>
          <p:cNvSpPr/>
          <p:nvPr/>
        </p:nvSpPr>
        <p:spPr>
          <a:xfrm>
            <a:off x="5074920" y="452628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4526280"/>
            <a:ext cx="946283"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80192" y="4489704"/>
            <a:ext cx="914400" cy="274320"/>
          </a:xfrm>
          <a:prstGeom prst="rect">
            <a:avLst/>
          </a:prstGeom>
          <a:noFill/>
        </p:spPr>
        <p:txBody>
          <a:bodyPr wrap="square">
            <a:spAutoFit/>
          </a:bodyPr>
          <a:lstStyle/>
          <a:p>
            <a:r>
              <a:rPr sz="1200" b="1">
                <a:solidFill>
                  <a:srgbClr val="FFFFFF"/>
                </a:solidFill>
                <a:latin typeface="Calibri"/>
              </a:rPr>
              <a:t>13</a:t>
            </a:r>
          </a:p>
        </p:txBody>
      </p:sp>
      <p:sp>
        <p:nvSpPr>
          <p:cNvPr id="25" name="TextBox 24"/>
          <p:cNvSpPr txBox="1"/>
          <p:nvPr/>
        </p:nvSpPr>
        <p:spPr>
          <a:xfrm>
            <a:off x="640080" y="4992624"/>
            <a:ext cx="4434840" cy="274320"/>
          </a:xfrm>
          <a:prstGeom prst="rect">
            <a:avLst/>
          </a:prstGeom>
          <a:noFill/>
        </p:spPr>
        <p:txBody>
          <a:bodyPr wrap="square">
            <a:spAutoFit/>
          </a:bodyPr>
          <a:lstStyle/>
          <a:p>
            <a:r>
              <a:rPr sz="1200" b="0">
                <a:solidFill>
                  <a:srgbClr val="CADCFC"/>
                </a:solidFill>
                <a:latin typeface="Calibri"/>
              </a:rPr>
              <a:t>AgentDojo: ignore-previous injection</a:t>
            </a:r>
          </a:p>
        </p:txBody>
      </p:sp>
      <p:sp>
        <p:nvSpPr>
          <p:cNvPr id="26" name="Rounded Rectangle 25"/>
          <p:cNvSpPr/>
          <p:nvPr/>
        </p:nvSpPr>
        <p:spPr>
          <a:xfrm>
            <a:off x="5074920" y="5029200"/>
            <a:ext cx="5532120" cy="20116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74920" y="5029200"/>
            <a:ext cx="946283" cy="2011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0192" y="4992624"/>
            <a:ext cx="914400" cy="274320"/>
          </a:xfrm>
          <a:prstGeom prst="rect">
            <a:avLst/>
          </a:prstGeom>
          <a:noFill/>
        </p:spPr>
        <p:txBody>
          <a:bodyPr wrap="square">
            <a:spAutoFit/>
          </a:bodyPr>
          <a:lstStyle/>
          <a:p>
            <a:r>
              <a:rPr sz="1200" b="1">
                <a:solidFill>
                  <a:srgbClr val="FFFFFF"/>
                </a:solidFill>
                <a:latin typeface="Calibri"/>
              </a:rPr>
              <a:t>13</a:t>
            </a:r>
          </a:p>
        </p:txBody>
      </p:sp>
      <p:sp>
        <p:nvSpPr>
          <p:cNvPr id="29" name="TextBox 28"/>
          <p:cNvSpPr txBox="1"/>
          <p:nvPr/>
        </p:nvSpPr>
        <p:spPr>
          <a:xfrm>
            <a:off x="640080" y="5715000"/>
            <a:ext cx="10881360" cy="822960"/>
          </a:xfrm>
          <a:prstGeom prst="rect">
            <a:avLst/>
          </a:prstGeom>
          <a:noFill/>
        </p:spPr>
        <p:txBody>
          <a:bodyPr wrap="square">
            <a:spAutoFit/>
          </a:bodyPr>
          <a:lstStyle/>
          <a:p>
            <a:pPr>
              <a:spcAft>
                <a:spcPts val="400"/>
              </a:spcAft>
            </a:pPr>
            <a:r>
              <a:rPr sz="1400" b="1">
                <a:solidFill>
                  <a:srgbClr val="FFFFFF"/>
                </a:solidFill>
                <a:latin typeface="Calibri"/>
              </a:rPr>
              <a:t>One mechanism takes 22.9% of all pairs. These six take 43.1%.</a:t>
            </a:r>
          </a:p>
          <a:p>
            <a:pPr>
              <a:spcAft>
                <a:spcPts val="400"/>
              </a:spcAft>
            </a:pPr>
            <a:r>
              <a:rPr sz="1250" b="0">
                <a:solidFill>
                  <a:srgbClr val="CFE8EF"/>
                </a:solidFill>
                <a:latin typeface="Calibri"/>
              </a:rPr>
              <a:t>The other 119 mechanisms get no test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RQ5  ·  THE TEST THAT FAILED</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We predicted the gap would close.</a:t>
            </a:r>
          </a:p>
          <a:p>
            <a:pPr>
              <a:spcAft>
                <a:spcPts val="200"/>
              </a:spcAft>
            </a:pPr>
            <a:r>
              <a:rPr sz="2800" b="1">
                <a:solidFill>
                  <a:srgbClr val="FFFFFF"/>
                </a:solidFill>
                <a:latin typeface="Cambria"/>
              </a:rPr>
              <a:t>It did not — and that is the result.</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12</a:t>
            </a:r>
          </a:p>
        </p:txBody>
      </p:sp>
      <p:sp>
        <p:nvSpPr>
          <p:cNvPr id="5" name="Rounded Rectangle 4"/>
          <p:cNvSpPr/>
          <p:nvPr/>
        </p:nvSpPr>
        <p:spPr>
          <a:xfrm>
            <a:off x="640080" y="2697480"/>
            <a:ext cx="5257800" cy="28803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26080"/>
            <a:ext cx="4754880" cy="2468880"/>
          </a:xfrm>
          <a:prstGeom prst="rect">
            <a:avLst/>
          </a:prstGeom>
          <a:noFill/>
        </p:spPr>
        <p:txBody>
          <a:bodyPr wrap="square">
            <a:spAutoFit/>
          </a:bodyPr>
          <a:lstStyle/>
          <a:p>
            <a:pPr>
              <a:spcAft>
                <a:spcPts val="400"/>
              </a:spcAft>
            </a:pPr>
            <a:r>
              <a:rPr sz="1500" b="1">
                <a:solidFill>
                  <a:srgbClr val="E0A458"/>
                </a:solidFill>
                <a:latin typeface="Calibri"/>
              </a:rPr>
              <a:t>The prediction</a:t>
            </a:r>
          </a:p>
          <a:p>
            <a:pPr>
              <a:spcAft>
                <a:spcPts val="400"/>
              </a:spcAft>
            </a:pPr>
            <a:r>
              <a:rPr sz="600" b="0">
                <a:solidFill>
                  <a:srgbClr val="CADCFC"/>
                </a:solidFill>
                <a:latin typeface="Calibri"/>
              </a:rPr>
              <a:t/>
            </a:r>
          </a:p>
          <a:p>
            <a:pPr>
              <a:spcAft>
                <a:spcPts val="400"/>
              </a:spcAft>
            </a:pPr>
            <a:r>
              <a:rPr sz="1250" b="0">
                <a:solidFill>
                  <a:srgbClr val="CADCFC"/>
                </a:solidFill>
                <a:latin typeface="Calibri"/>
              </a:rPr>
              <a:t>We predicted this. The first</a:t>
            </a:r>
          </a:p>
          <a:p>
            <a:pPr>
              <a:spcAft>
                <a:spcPts val="400"/>
              </a:spcAft>
            </a:pPr>
            <a:r>
              <a:rPr sz="1250" b="0">
                <a:solidFill>
                  <a:srgbClr val="CADCFC"/>
                </a:solidFill>
                <a:latin typeface="Calibri"/>
              </a:rPr>
              <a:t>defenses of the field will cover the</a:t>
            </a:r>
          </a:p>
          <a:p>
            <a:pPr>
              <a:spcAft>
                <a:spcPts val="400"/>
              </a:spcAft>
            </a:pPr>
            <a:r>
              <a:rPr sz="1250" b="0">
                <a:solidFill>
                  <a:srgbClr val="CADCFC"/>
                </a:solidFill>
                <a:latin typeface="Calibri"/>
              </a:rPr>
              <a:t>mechanisms that look open. StruQ,</a:t>
            </a:r>
          </a:p>
          <a:p>
            <a:pPr>
              <a:spcAft>
                <a:spcPts val="400"/>
              </a:spcAft>
            </a:pPr>
            <a:r>
              <a:rPr sz="1250" b="0">
                <a:solidFill>
                  <a:srgbClr val="CADCFC"/>
                </a:solidFill>
                <a:latin typeface="Calibri"/>
              </a:rPr>
              <a:t>SecAlign, Spotlighting, Attention</a:t>
            </a:r>
          </a:p>
          <a:p>
            <a:pPr>
              <a:spcAft>
                <a:spcPts val="400"/>
              </a:spcAft>
            </a:pPr>
            <a:r>
              <a:rPr sz="1250" b="0">
                <a:solidFill>
                  <a:srgbClr val="CADCFC"/>
                </a:solidFill>
                <a:latin typeface="Calibri"/>
              </a:rPr>
              <a:t>Tracker and the Liu baselines will</a:t>
            </a:r>
          </a:p>
          <a:p>
            <a:pPr>
              <a:spcAft>
                <a:spcPts val="400"/>
              </a:spcAft>
            </a:pPr>
            <a:r>
              <a:rPr sz="1250" b="0">
                <a:solidFill>
                  <a:srgbClr val="CADCFC"/>
                </a:solidFill>
                <a:latin typeface="Calibri"/>
              </a:rPr>
              <a:t>close the gap.</a:t>
            </a:r>
          </a:p>
        </p:txBody>
      </p:sp>
      <p:sp>
        <p:nvSpPr>
          <p:cNvPr id="7" name="Rounded Rectangle 6"/>
          <p:cNvSpPr/>
          <p:nvPr/>
        </p:nvSpPr>
        <p:spPr>
          <a:xfrm>
            <a:off x="6263640" y="2697480"/>
            <a:ext cx="5257800" cy="28803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926080"/>
            <a:ext cx="4754880" cy="2468880"/>
          </a:xfrm>
          <a:prstGeom prst="rect">
            <a:avLst/>
          </a:prstGeom>
          <a:noFill/>
        </p:spPr>
        <p:txBody>
          <a:bodyPr wrap="square">
            <a:spAutoFit/>
          </a:bodyPr>
          <a:lstStyle/>
          <a:p>
            <a:pPr>
              <a:spcAft>
                <a:spcPts val="400"/>
              </a:spcAft>
            </a:pPr>
            <a:r>
              <a:rPr sz="1500" b="1">
                <a:solidFill>
                  <a:srgbClr val="B54A3F"/>
                </a:solidFill>
                <a:latin typeface="Calibri"/>
              </a:rPr>
              <a:t>What happened</a:t>
            </a:r>
          </a:p>
          <a:p>
            <a:pPr>
              <a:spcAft>
                <a:spcPts val="400"/>
              </a:spcAft>
            </a:pPr>
            <a:r>
              <a:rPr sz="600" b="0">
                <a:solidFill>
                  <a:srgbClr val="CADCFC"/>
                </a:solidFill>
                <a:latin typeface="Calibri"/>
              </a:rPr>
              <a:t/>
            </a:r>
          </a:p>
          <a:p>
            <a:pPr>
              <a:spcAft>
                <a:spcPts val="400"/>
              </a:spcAft>
            </a:pPr>
            <a:r>
              <a:rPr sz="1250" b="0">
                <a:solidFill>
                  <a:srgbClr val="CADCFC"/>
                </a:solidFill>
                <a:latin typeface="Calibri"/>
              </a:rPr>
              <a:t>We added 164 papers. We added 55</a:t>
            </a:r>
          </a:p>
          <a:p>
            <a:pPr>
              <a:spcAft>
                <a:spcPts val="400"/>
              </a:spcAft>
            </a:pPr>
            <a:r>
              <a:rPr sz="1250" b="0">
                <a:solidFill>
                  <a:srgbClr val="CADCFC"/>
                </a:solidFill>
                <a:latin typeface="Calibri"/>
              </a:rPr>
              <a:t>defenses and 41 mechanisms. We got</a:t>
            </a:r>
          </a:p>
          <a:p>
            <a:pPr>
              <a:spcAft>
                <a:spcPts val="400"/>
              </a:spcAft>
            </a:pPr>
            <a:r>
              <a:rPr sz="1250" b="0">
                <a:solidFill>
                  <a:srgbClr val="CADCFC"/>
                </a:solidFill>
                <a:latin typeface="Calibri"/>
              </a:rPr>
              <a:t>45 new pairs.</a:t>
            </a:r>
          </a:p>
          <a:p>
            <a:pPr>
              <a:spcAft>
                <a:spcPts val="400"/>
              </a:spcAft>
            </a:pPr>
            <a:r>
              <a:rPr sz="600" b="0">
                <a:solidFill>
                  <a:srgbClr val="CADCFC"/>
                </a:solidFill>
                <a:latin typeface="Calibri"/>
              </a:rPr>
              <a:t/>
            </a:r>
          </a:p>
          <a:p>
            <a:pPr>
              <a:spcAft>
                <a:spcPts val="400"/>
              </a:spcAft>
            </a:pPr>
            <a:r>
              <a:rPr sz="1250" b="1">
                <a:solidFill>
                  <a:srgbClr val="FFFFFF"/>
                </a:solidFill>
                <a:latin typeface="Calibri"/>
              </a:rPr>
              <a:t>Old mechanisms now covered:</a:t>
            </a:r>
          </a:p>
          <a:p>
            <a:pPr>
              <a:spcAft>
                <a:spcPts val="400"/>
              </a:spcAft>
            </a:pPr>
            <a:r>
              <a:rPr sz="2600" b="1">
                <a:solidFill>
                  <a:srgbClr val="B54A3F"/>
                </a:solidFill>
                <a:latin typeface="Calibri"/>
              </a:rPr>
              <a:t>zero.</a:t>
            </a:r>
          </a:p>
          <a:p>
            <a:pPr>
              <a:spcAft>
                <a:spcPts val="400"/>
              </a:spcAft>
            </a:pPr>
            <a:r>
              <a:rPr sz="1250" b="0">
                <a:solidFill>
                  <a:srgbClr val="CFE8EF"/>
                </a:solidFill>
                <a:latin typeface="Calibri"/>
              </a:rPr>
              <a:t>The first 196 mechanisms did not move.</a:t>
            </a:r>
          </a:p>
        </p:txBody>
      </p:sp>
      <p:sp>
        <p:nvSpPr>
          <p:cNvPr id="9" name="TextBox 8"/>
          <p:cNvSpPr txBox="1"/>
          <p:nvPr/>
        </p:nvSpPr>
        <p:spPr>
          <a:xfrm>
            <a:off x="640080" y="5806440"/>
            <a:ext cx="10881360" cy="822960"/>
          </a:xfrm>
          <a:prstGeom prst="rect">
            <a:avLst/>
          </a:prstGeom>
          <a:noFill/>
        </p:spPr>
        <p:txBody>
          <a:bodyPr wrap="square">
            <a:spAutoFit/>
          </a:bodyPr>
          <a:lstStyle/>
          <a:p>
            <a:pPr>
              <a:spcAft>
                <a:spcPts val="400"/>
              </a:spcAft>
            </a:pPr>
            <a:r>
              <a:rPr sz="1400" b="1">
                <a:solidFill>
                  <a:srgbClr val="FFFFFF"/>
                </a:solidFill>
                <a:latin typeface="Calibri"/>
              </a:rPr>
              <a:t>The new defenses and the new attacks cover each other. They cover nothing else.</a:t>
            </a:r>
          </a:p>
          <a:p>
            <a:pPr>
              <a:spcAft>
                <a:spcPts val="400"/>
              </a:spcAft>
            </a:pPr>
            <a:r>
              <a:rPr sz="1250" b="0">
                <a:solidFill>
                  <a:srgbClr val="E0A458"/>
                </a:solidFill>
                <a:latin typeface="Calibri"/>
              </a:rPr>
              <a:t>A reviewer can say that our corpus limits make the gap. We tested that claim. It is not correct.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RQ6  ·  DEFENSE GENERALIZATION</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Does a defense built for one threat model</a:t>
            </a:r>
          </a:p>
          <a:p>
            <a:pPr>
              <a:spcAft>
                <a:spcPts val="200"/>
              </a:spcAft>
            </a:pPr>
            <a:r>
              <a:rPr sz="2800" b="1">
                <a:solidFill>
                  <a:srgbClr val="FFFFFF"/>
                </a:solidFill>
                <a:latin typeface="Cambria"/>
              </a:rPr>
              <a:t>hold against the other?</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13</a:t>
            </a:r>
          </a:p>
        </p:txBody>
      </p:sp>
      <p:sp>
        <p:nvSpPr>
          <p:cNvPr id="5" name="Rounded Rectangle 4"/>
          <p:cNvSpPr/>
          <p:nvPr/>
        </p:nvSpPr>
        <p:spPr>
          <a:xfrm>
            <a:off x="640080" y="2606040"/>
            <a:ext cx="3520440" cy="22860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017520" cy="822960"/>
          </a:xfrm>
          <a:prstGeom prst="rect">
            <a:avLst/>
          </a:prstGeom>
          <a:noFill/>
        </p:spPr>
        <p:txBody>
          <a:bodyPr wrap="square">
            <a:spAutoFit/>
          </a:bodyPr>
          <a:lstStyle/>
          <a:p>
            <a:r>
              <a:rPr sz="4400" b="1">
                <a:solidFill>
                  <a:srgbClr val="1C7293"/>
                </a:solidFill>
                <a:latin typeface="Cambria"/>
              </a:rPr>
              <a:t>3</a:t>
            </a:r>
          </a:p>
        </p:txBody>
      </p:sp>
      <p:sp>
        <p:nvSpPr>
          <p:cNvPr id="7" name="TextBox 6"/>
          <p:cNvSpPr txBox="1"/>
          <p:nvPr/>
        </p:nvSpPr>
        <p:spPr>
          <a:xfrm>
            <a:off x="914400" y="3611880"/>
            <a:ext cx="3017520" cy="365760"/>
          </a:xfrm>
          <a:prstGeom prst="rect">
            <a:avLst/>
          </a:prstGeom>
          <a:noFill/>
        </p:spPr>
        <p:txBody>
          <a:bodyPr wrap="square">
            <a:spAutoFit/>
          </a:bodyPr>
          <a:lstStyle/>
          <a:p>
            <a:r>
              <a:rPr sz="1450" b="1">
                <a:solidFill>
                  <a:srgbClr val="FFFFFF"/>
                </a:solidFill>
                <a:latin typeface="Calibri"/>
              </a:rPr>
              <a:t>Full generalization</a:t>
            </a:r>
          </a:p>
        </p:txBody>
      </p:sp>
      <p:sp>
        <p:nvSpPr>
          <p:cNvPr id="8" name="TextBox 7"/>
          <p:cNvSpPr txBox="1"/>
          <p:nvPr/>
        </p:nvSpPr>
        <p:spPr>
          <a:xfrm>
            <a:off x="914400" y="4023360"/>
            <a:ext cx="3017520" cy="777240"/>
          </a:xfrm>
          <a:prstGeom prst="rect">
            <a:avLst/>
          </a:prstGeom>
          <a:noFill/>
        </p:spPr>
        <p:txBody>
          <a:bodyPr wrap="square">
            <a:spAutoFit/>
          </a:bodyPr>
          <a:lstStyle/>
          <a:p>
            <a:pPr>
              <a:spcAft>
                <a:spcPts val="100"/>
              </a:spcAft>
            </a:pPr>
            <a:r>
              <a:rPr sz="1200" b="0">
                <a:solidFill>
                  <a:srgbClr val="CFE8EF"/>
                </a:solidFill>
                <a:latin typeface="Calibri"/>
              </a:rPr>
              <a:t>holds against the untested threat model</a:t>
            </a:r>
          </a:p>
        </p:txBody>
      </p:sp>
      <p:sp>
        <p:nvSpPr>
          <p:cNvPr id="9" name="Rounded Rectangle 8"/>
          <p:cNvSpPr/>
          <p:nvPr/>
        </p:nvSpPr>
        <p:spPr>
          <a:xfrm>
            <a:off x="4352544" y="2606040"/>
            <a:ext cx="3520440" cy="22860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788920"/>
            <a:ext cx="3017520" cy="822960"/>
          </a:xfrm>
          <a:prstGeom prst="rect">
            <a:avLst/>
          </a:prstGeom>
          <a:noFill/>
        </p:spPr>
        <p:txBody>
          <a:bodyPr wrap="square">
            <a:spAutoFit/>
          </a:bodyPr>
          <a:lstStyle/>
          <a:p>
            <a:r>
              <a:rPr sz="4400" b="1">
                <a:solidFill>
                  <a:srgbClr val="B57E39"/>
                </a:solidFill>
                <a:latin typeface="Cambria"/>
              </a:rPr>
              <a:t>4</a:t>
            </a:r>
          </a:p>
        </p:txBody>
      </p:sp>
      <p:sp>
        <p:nvSpPr>
          <p:cNvPr id="11" name="TextBox 10"/>
          <p:cNvSpPr txBox="1"/>
          <p:nvPr/>
        </p:nvSpPr>
        <p:spPr>
          <a:xfrm>
            <a:off x="4626864" y="3611880"/>
            <a:ext cx="3017520" cy="365760"/>
          </a:xfrm>
          <a:prstGeom prst="rect">
            <a:avLst/>
          </a:prstGeom>
          <a:noFill/>
        </p:spPr>
        <p:txBody>
          <a:bodyPr wrap="square">
            <a:spAutoFit/>
          </a:bodyPr>
          <a:lstStyle/>
          <a:p>
            <a:r>
              <a:rPr sz="1450" b="1">
                <a:solidFill>
                  <a:srgbClr val="FFFFFF"/>
                </a:solidFill>
                <a:latin typeface="Calibri"/>
              </a:rPr>
              <a:t>Partial / degraded</a:t>
            </a:r>
          </a:p>
        </p:txBody>
      </p:sp>
      <p:sp>
        <p:nvSpPr>
          <p:cNvPr id="12" name="TextBox 11"/>
          <p:cNvSpPr txBox="1"/>
          <p:nvPr/>
        </p:nvSpPr>
        <p:spPr>
          <a:xfrm>
            <a:off x="4626864" y="4023360"/>
            <a:ext cx="3017520" cy="777240"/>
          </a:xfrm>
          <a:prstGeom prst="rect">
            <a:avLst/>
          </a:prstGeom>
          <a:noFill/>
        </p:spPr>
        <p:txBody>
          <a:bodyPr wrap="square">
            <a:spAutoFit/>
          </a:bodyPr>
          <a:lstStyle/>
          <a:p>
            <a:pPr>
              <a:spcAft>
                <a:spcPts val="100"/>
              </a:spcAft>
            </a:pPr>
            <a:r>
              <a:rPr sz="1200" b="0">
                <a:solidFill>
                  <a:srgbClr val="CFE8EF"/>
                </a:solidFill>
                <a:latin typeface="Calibri"/>
              </a:rPr>
              <a:t>measurable protection, materially weaker</a:t>
            </a:r>
          </a:p>
        </p:txBody>
      </p:sp>
      <p:sp>
        <p:nvSpPr>
          <p:cNvPr id="13" name="Rounded Rectangle 12"/>
          <p:cNvSpPr/>
          <p:nvPr/>
        </p:nvSpPr>
        <p:spPr>
          <a:xfrm>
            <a:off x="8065007" y="2606040"/>
            <a:ext cx="3520440" cy="22860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7" y="2788920"/>
            <a:ext cx="3017520" cy="822960"/>
          </a:xfrm>
          <a:prstGeom prst="rect">
            <a:avLst/>
          </a:prstGeom>
          <a:noFill/>
        </p:spPr>
        <p:txBody>
          <a:bodyPr wrap="square">
            <a:spAutoFit/>
          </a:bodyPr>
          <a:lstStyle/>
          <a:p>
            <a:r>
              <a:rPr sz="4400" b="1">
                <a:solidFill>
                  <a:srgbClr val="B54A3F"/>
                </a:solidFill>
                <a:latin typeface="Cambria"/>
              </a:rPr>
              <a:t>2</a:t>
            </a:r>
          </a:p>
        </p:txBody>
      </p:sp>
      <p:sp>
        <p:nvSpPr>
          <p:cNvPr id="15" name="TextBox 14"/>
          <p:cNvSpPr txBox="1"/>
          <p:nvPr/>
        </p:nvSpPr>
        <p:spPr>
          <a:xfrm>
            <a:off x="8339327" y="3611880"/>
            <a:ext cx="3017520" cy="365760"/>
          </a:xfrm>
          <a:prstGeom prst="rect">
            <a:avLst/>
          </a:prstGeom>
          <a:noFill/>
        </p:spPr>
        <p:txBody>
          <a:bodyPr wrap="square">
            <a:spAutoFit/>
          </a:bodyPr>
          <a:lstStyle/>
          <a:p>
            <a:r>
              <a:rPr sz="1450" b="1">
                <a:solidFill>
                  <a:srgbClr val="FFFFFF"/>
                </a:solidFill>
                <a:latin typeface="Calibri"/>
              </a:rPr>
              <a:t>Inert</a:t>
            </a:r>
          </a:p>
        </p:txBody>
      </p:sp>
      <p:sp>
        <p:nvSpPr>
          <p:cNvPr id="16" name="TextBox 15"/>
          <p:cNvSpPr txBox="1"/>
          <p:nvPr/>
        </p:nvSpPr>
        <p:spPr>
          <a:xfrm>
            <a:off x="8339327" y="4023360"/>
            <a:ext cx="3017520" cy="777240"/>
          </a:xfrm>
          <a:prstGeom prst="rect">
            <a:avLst/>
          </a:prstGeom>
          <a:noFill/>
        </p:spPr>
        <p:txBody>
          <a:bodyPr wrap="square">
            <a:spAutoFit/>
          </a:bodyPr>
          <a:lstStyle/>
          <a:p>
            <a:pPr>
              <a:spcAft>
                <a:spcPts val="100"/>
              </a:spcAft>
            </a:pPr>
            <a:r>
              <a:rPr sz="1200" b="0">
                <a:solidFill>
                  <a:srgbClr val="CFE8EF"/>
                </a:solidFill>
                <a:latin typeface="Calibri"/>
              </a:rPr>
              <a:t>no measurable protection at all</a:t>
            </a:r>
          </a:p>
        </p:txBody>
      </p:sp>
      <p:sp>
        <p:nvSpPr>
          <p:cNvPr id="17" name="TextBox 16"/>
          <p:cNvSpPr txBox="1"/>
          <p:nvPr/>
        </p:nvSpPr>
        <p:spPr>
          <a:xfrm>
            <a:off x="640080" y="5212080"/>
            <a:ext cx="10881360" cy="1188720"/>
          </a:xfrm>
          <a:prstGeom prst="rect">
            <a:avLst/>
          </a:prstGeom>
          <a:noFill/>
        </p:spPr>
        <p:txBody>
          <a:bodyPr wrap="square">
            <a:spAutoFit/>
          </a:bodyPr>
          <a:lstStyle/>
          <a:p>
            <a:pPr>
              <a:spcAft>
                <a:spcPts val="400"/>
              </a:spcAft>
            </a:pPr>
            <a:r>
              <a:rPr sz="1350" b="1">
                <a:solidFill>
                  <a:srgbClr val="FFFFFF"/>
                </a:solidFill>
                <a:latin typeface="Calibri"/>
              </a:rPr>
              <a:t>We rebuilt 9 defenses from their released code or weights. We did not use the numbers in the papers.</a:t>
            </a:r>
          </a:p>
          <a:p>
            <a:pPr>
              <a:spcAft>
                <a:spcPts val="400"/>
              </a:spcAft>
            </a:pPr>
            <a:r>
              <a:rPr sz="1250" b="0">
                <a:solidFill>
                  <a:srgbClr val="CADCFC"/>
                </a:solidFill>
                <a:latin typeface="Calibri"/>
              </a:rPr>
              <a:t>The result follows the intervention point. Ingestion defenses usually hold. Execution defenses usually do not.</a:t>
            </a:r>
          </a:p>
          <a:p>
            <a:pPr>
              <a:spcAft>
                <a:spcPts val="400"/>
              </a:spcAft>
            </a:pPr>
            <a:r>
              <a:rPr sz="1200" b="0">
                <a:solidFill>
                  <a:srgbClr val="CFE8EF"/>
                </a:solidFill>
                <a:latin typeface="Calibri"/>
              </a:rPr>
              <a:t>A confound applies. The ingestion harness is a text classifier. The execution harness is an agent. We state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BENCHMARK STANDARDIZATION</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The field has no standard benchmark to test on</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14</a:t>
            </a:r>
          </a:p>
        </p:txBody>
      </p:sp>
      <p:sp>
        <p:nvSpPr>
          <p:cNvPr id="5" name="Oval 4"/>
          <p:cNvSpPr/>
          <p:nvPr/>
        </p:nvSpPr>
        <p:spPr>
          <a:xfrm>
            <a:off x="868680" y="2468880"/>
            <a:ext cx="2834640" cy="283464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2743200" cy="914400"/>
          </a:xfrm>
          <a:prstGeom prst="rect">
            <a:avLst/>
          </a:prstGeom>
          <a:noFill/>
        </p:spPr>
        <p:txBody>
          <a:bodyPr wrap="square">
            <a:spAutoFit/>
          </a:bodyPr>
          <a:lstStyle/>
          <a:p>
            <a:pPr algn="ctr"/>
            <a:r>
              <a:rPr sz="5400" b="1">
                <a:solidFill>
                  <a:srgbClr val="B54A3F"/>
                </a:solidFill>
                <a:latin typeface="Cambria"/>
              </a:rPr>
              <a:t>42.6%</a:t>
            </a:r>
          </a:p>
        </p:txBody>
      </p:sp>
      <p:sp>
        <p:nvSpPr>
          <p:cNvPr id="7" name="TextBox 6"/>
          <p:cNvSpPr txBox="1"/>
          <p:nvPr/>
        </p:nvSpPr>
        <p:spPr>
          <a:xfrm>
            <a:off x="914400" y="4114800"/>
            <a:ext cx="2743200" cy="640080"/>
          </a:xfrm>
          <a:prstGeom prst="rect">
            <a:avLst/>
          </a:prstGeom>
          <a:noFill/>
        </p:spPr>
        <p:txBody>
          <a:bodyPr wrap="square">
            <a:spAutoFit/>
          </a:bodyPr>
          <a:lstStyle/>
          <a:p>
            <a:pPr algn="ctr">
              <a:spcAft>
                <a:spcPts val="0"/>
              </a:spcAft>
            </a:pPr>
            <a:r>
              <a:rPr sz="1400" b="0">
                <a:solidFill>
                  <a:srgbClr val="CADCFC"/>
                </a:solidFill>
                <a:latin typeface="Calibri"/>
              </a:rPr>
              <a:t>of attacks use data</a:t>
            </a:r>
          </a:p>
          <a:p>
            <a:pPr algn="ctr">
              <a:spcAft>
                <a:spcPts val="0"/>
              </a:spcAft>
            </a:pPr>
            <a:r>
              <a:rPr sz="1400" b="0">
                <a:solidFill>
                  <a:srgbClr val="CADCFC"/>
                </a:solidFill>
                <a:latin typeface="Calibri"/>
              </a:rPr>
              <a:t>nobody else can reuse</a:t>
            </a:r>
          </a:p>
        </p:txBody>
      </p:sp>
      <p:sp>
        <p:nvSpPr>
          <p:cNvPr id="8" name="Oval 7"/>
          <p:cNvSpPr/>
          <p:nvPr/>
        </p:nvSpPr>
        <p:spPr>
          <a:xfrm>
            <a:off x="4069080" y="2468880"/>
            <a:ext cx="2834640" cy="283464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3383280"/>
            <a:ext cx="2743200" cy="914400"/>
          </a:xfrm>
          <a:prstGeom prst="rect">
            <a:avLst/>
          </a:prstGeom>
          <a:noFill/>
        </p:spPr>
        <p:txBody>
          <a:bodyPr wrap="square">
            <a:spAutoFit/>
          </a:bodyPr>
          <a:lstStyle/>
          <a:p>
            <a:pPr algn="ctr"/>
            <a:r>
              <a:rPr sz="5400" b="1">
                <a:solidFill>
                  <a:srgbClr val="E0A458"/>
                </a:solidFill>
                <a:latin typeface="Cambria"/>
              </a:rPr>
              <a:t>11.7%</a:t>
            </a:r>
          </a:p>
        </p:txBody>
      </p:sp>
      <p:sp>
        <p:nvSpPr>
          <p:cNvPr id="10" name="TextBox 9"/>
          <p:cNvSpPr txBox="1"/>
          <p:nvPr/>
        </p:nvSpPr>
        <p:spPr>
          <a:xfrm>
            <a:off x="4114800" y="4114800"/>
            <a:ext cx="2743200" cy="640080"/>
          </a:xfrm>
          <a:prstGeom prst="rect">
            <a:avLst/>
          </a:prstGeom>
          <a:noFill/>
        </p:spPr>
        <p:txBody>
          <a:bodyPr wrap="square">
            <a:spAutoFit/>
          </a:bodyPr>
          <a:lstStyle/>
          <a:p>
            <a:pPr algn="ctr">
              <a:spcAft>
                <a:spcPts val="0"/>
              </a:spcAft>
            </a:pPr>
            <a:r>
              <a:rPr sz="1400" b="0">
                <a:solidFill>
                  <a:srgbClr val="CADCFC"/>
                </a:solidFill>
                <a:latin typeface="Calibri"/>
              </a:rPr>
              <a:t>use the most common</a:t>
            </a:r>
          </a:p>
          <a:p>
            <a:pPr algn="ctr">
              <a:spcAft>
                <a:spcPts val="0"/>
              </a:spcAft>
            </a:pPr>
            <a:r>
              <a:rPr sz="1400" b="0">
                <a:solidFill>
                  <a:srgbClr val="CADCFC"/>
                </a:solidFill>
                <a:latin typeface="Calibri"/>
              </a:rPr>
              <a:t>benchmark</a:t>
            </a:r>
          </a:p>
        </p:txBody>
      </p:sp>
      <p:sp>
        <p:nvSpPr>
          <p:cNvPr id="11" name="TextBox 10"/>
          <p:cNvSpPr txBox="1"/>
          <p:nvPr/>
        </p:nvSpPr>
        <p:spPr>
          <a:xfrm>
            <a:off x="7498079" y="2788920"/>
            <a:ext cx="4023360" cy="2926080"/>
          </a:xfrm>
          <a:prstGeom prst="rect">
            <a:avLst/>
          </a:prstGeom>
          <a:noFill/>
        </p:spPr>
        <p:txBody>
          <a:bodyPr wrap="square">
            <a:spAutoFit/>
          </a:bodyPr>
          <a:lstStyle/>
          <a:p>
            <a:pPr>
              <a:spcAft>
                <a:spcPts val="400"/>
              </a:spcAft>
            </a:pPr>
            <a:r>
              <a:rPr sz="1700" b="1">
                <a:solidFill>
                  <a:srgbClr val="FFFFFF"/>
                </a:solidFill>
                <a:latin typeface="Calibri"/>
              </a:rPr>
              <a:t>255 distinct benchmarks</a:t>
            </a:r>
          </a:p>
          <a:p>
            <a:pPr>
              <a:spcAft>
                <a:spcPts val="400"/>
              </a:spcAft>
            </a:pPr>
            <a:r>
              <a:rPr sz="1300" b="0">
                <a:solidFill>
                  <a:srgbClr val="CADCFC"/>
                </a:solidFill>
                <a:latin typeface="Calibri"/>
              </a:rPr>
              <a:t>for 223 named attacks</a:t>
            </a:r>
          </a:p>
          <a:p>
            <a:pPr>
              <a:spcAft>
                <a:spcPts val="400"/>
              </a:spcAft>
            </a:pPr>
            <a:r>
              <a:rPr sz="800" b="0">
                <a:solidFill>
                  <a:srgbClr val="CADCFC"/>
                </a:solidFill>
                <a:latin typeface="Calibri"/>
              </a:rPr>
              <a:t/>
            </a:r>
          </a:p>
          <a:p>
            <a:pPr>
              <a:spcAft>
                <a:spcPts val="400"/>
              </a:spcAft>
            </a:pPr>
            <a:r>
              <a:rPr sz="1300" b="1">
                <a:solidFill>
                  <a:srgbClr val="E0A458"/>
                </a:solidFill>
                <a:latin typeface="Calibri"/>
              </a:rPr>
              <a:t>199 of them (78%)</a:t>
            </a:r>
          </a:p>
          <a:p>
            <a:pPr>
              <a:spcAft>
                <a:spcPts val="400"/>
              </a:spcAft>
            </a:pPr>
            <a:r>
              <a:rPr sz="1300" b="1">
                <a:solidFill>
                  <a:srgbClr val="E0A458"/>
                </a:solidFill>
                <a:latin typeface="Calibri"/>
              </a:rPr>
              <a:t>are used by exactly one paper.</a:t>
            </a:r>
          </a:p>
          <a:p>
            <a:pPr>
              <a:spcAft>
                <a:spcPts val="400"/>
              </a:spcAft>
            </a:pPr>
            <a:r>
              <a:rPr sz="800" b="0">
                <a:solidFill>
                  <a:srgbClr val="CADCFC"/>
                </a:solidFill>
                <a:latin typeface="Calibri"/>
              </a:rPr>
              <a:t/>
            </a:r>
          </a:p>
          <a:p>
            <a:pPr>
              <a:spcAft>
                <a:spcPts val="400"/>
              </a:spcAft>
            </a:pPr>
            <a:r>
              <a:rPr sz="1250" b="0">
                <a:solidFill>
                  <a:srgbClr val="CFE8EF"/>
                </a:solidFill>
                <a:latin typeface="Calibri"/>
              </a:rPr>
              <a:t>There are more benchmarks</a:t>
            </a:r>
          </a:p>
          <a:p>
            <a:pPr>
              <a:spcAft>
                <a:spcPts val="400"/>
              </a:spcAft>
            </a:pPr>
            <a:r>
              <a:rPr sz="1250" b="0">
                <a:solidFill>
                  <a:srgbClr val="CFE8EF"/>
                </a:solidFill>
                <a:latin typeface="Calibri"/>
              </a:rPr>
              <a:t>than attacks. Two papers can</a:t>
            </a:r>
          </a:p>
          <a:p>
            <a:pPr>
              <a:spcAft>
                <a:spcPts val="400"/>
              </a:spcAft>
            </a:pPr>
            <a:r>
              <a:rPr sz="1250" b="0">
                <a:solidFill>
                  <a:srgbClr val="CFE8EF"/>
                </a:solidFill>
                <a:latin typeface="Calibri"/>
              </a:rPr>
              <a:t>use one corpus and still</a:t>
            </a:r>
          </a:p>
          <a:p>
            <a:pPr>
              <a:spcAft>
                <a:spcPts val="400"/>
              </a:spcAft>
            </a:pPr>
            <a:r>
              <a:rPr sz="1250" b="0">
                <a:solidFill>
                  <a:srgbClr val="CFE8EF"/>
                </a:solidFill>
                <a:latin typeface="Calibri"/>
              </a:rPr>
              <a:t>not compare.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DEFENSE HALF-LIFE</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How long does a published defense survive?</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15</a:t>
            </a:r>
          </a:p>
        </p:txBody>
      </p:sp>
      <p:sp>
        <p:nvSpPr>
          <p:cNvPr id="5" name="Oval 4"/>
          <p:cNvSpPr/>
          <p:nvPr/>
        </p:nvSpPr>
        <p:spPr>
          <a:xfrm>
            <a:off x="868680" y="2468880"/>
            <a:ext cx="3017520" cy="30175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74720"/>
            <a:ext cx="2926079" cy="914400"/>
          </a:xfrm>
          <a:prstGeom prst="rect">
            <a:avLst/>
          </a:prstGeom>
          <a:noFill/>
        </p:spPr>
        <p:txBody>
          <a:bodyPr wrap="square">
            <a:spAutoFit/>
          </a:bodyPr>
          <a:lstStyle/>
          <a:p>
            <a:pPr algn="ctr"/>
            <a:r>
              <a:rPr sz="5400" b="1">
                <a:solidFill>
                  <a:srgbClr val="B54A3F"/>
                </a:solidFill>
                <a:latin typeface="Cambria"/>
              </a:rPr>
              <a:t>96%</a:t>
            </a:r>
          </a:p>
        </p:txBody>
      </p:sp>
      <p:sp>
        <p:nvSpPr>
          <p:cNvPr id="7" name="TextBox 6"/>
          <p:cNvSpPr txBox="1"/>
          <p:nvPr/>
        </p:nvSpPr>
        <p:spPr>
          <a:xfrm>
            <a:off x="914400" y="4206240"/>
            <a:ext cx="2926079" cy="640080"/>
          </a:xfrm>
          <a:prstGeom prst="rect">
            <a:avLst/>
          </a:prstGeom>
          <a:noFill/>
        </p:spPr>
        <p:txBody>
          <a:bodyPr wrap="square">
            <a:spAutoFit/>
          </a:bodyPr>
          <a:lstStyle/>
          <a:p>
            <a:pPr algn="ctr">
              <a:spcAft>
                <a:spcPts val="0"/>
              </a:spcAft>
            </a:pPr>
            <a:r>
              <a:rPr sz="1400" b="0">
                <a:solidFill>
                  <a:srgbClr val="CADCFC"/>
                </a:solidFill>
                <a:latin typeface="Calibri"/>
              </a:rPr>
              <a:t>of published defeats</a:t>
            </a:r>
          </a:p>
          <a:p>
            <a:pPr algn="ctr">
              <a:spcAft>
                <a:spcPts val="0"/>
              </a:spcAft>
            </a:pPr>
            <a:r>
              <a:rPr sz="1400" b="0">
                <a:solidFill>
                  <a:srgbClr val="CADCFC"/>
                </a:solidFill>
                <a:latin typeface="Calibri"/>
              </a:rPr>
              <a:t>land within one year</a:t>
            </a:r>
          </a:p>
        </p:txBody>
      </p:sp>
      <p:sp>
        <p:nvSpPr>
          <p:cNvPr id="8" name="TextBox 7"/>
          <p:cNvSpPr txBox="1"/>
          <p:nvPr/>
        </p:nvSpPr>
        <p:spPr>
          <a:xfrm>
            <a:off x="4754880" y="2788920"/>
            <a:ext cx="6675120" cy="2926080"/>
          </a:xfrm>
          <a:prstGeom prst="rect">
            <a:avLst/>
          </a:prstGeom>
          <a:noFill/>
        </p:spPr>
        <p:txBody>
          <a:bodyPr wrap="square">
            <a:spAutoFit/>
          </a:bodyPr>
          <a:lstStyle/>
          <a:p>
            <a:pPr>
              <a:spcAft>
                <a:spcPts val="400"/>
              </a:spcAft>
            </a:pPr>
            <a:r>
              <a:rPr sz="1500" b="1">
                <a:solidFill>
                  <a:srgbClr val="FFFFFF"/>
                </a:solidFill>
                <a:latin typeface="Calibri"/>
              </a:rPr>
              <a:t>24 datable defeats, median gap 1 year, maximum 2.</a:t>
            </a:r>
          </a:p>
          <a:p>
            <a:pPr>
              <a:spcAft>
                <a:spcPts val="400"/>
              </a:spcAft>
            </a:pPr>
            <a:r>
              <a:rPr sz="800" b="0">
                <a:solidFill>
                  <a:srgbClr val="CADCFC"/>
                </a:solidFill>
                <a:latin typeface="Calibri"/>
              </a:rPr>
              <a:t/>
            </a:r>
          </a:p>
          <a:p>
            <a:pPr>
              <a:spcAft>
                <a:spcPts val="400"/>
              </a:spcAft>
            </a:pPr>
            <a:r>
              <a:rPr sz="1250" b="0">
                <a:solidFill>
                  <a:srgbClr val="CADCFC"/>
                </a:solidFill>
                <a:latin typeface="Calibri"/>
              </a:rPr>
              <a:t>Four teams defeated DataSentinel four separate times.</a:t>
            </a:r>
          </a:p>
          <a:p>
            <a:pPr>
              <a:spcAft>
                <a:spcPts val="400"/>
              </a:spcAft>
            </a:pPr>
            <a:r>
              <a:rPr sz="1250" b="0">
                <a:solidFill>
                  <a:srgbClr val="CADCFC"/>
                </a:solidFill>
                <a:latin typeface="Calibri"/>
              </a:rPr>
              <a:t>A defense does not stop after one defeat.</a:t>
            </a:r>
          </a:p>
          <a:p>
            <a:pPr>
              <a:spcAft>
                <a:spcPts val="400"/>
              </a:spcAft>
            </a:pPr>
            <a:r>
              <a:rPr sz="800" b="0">
                <a:solidFill>
                  <a:srgbClr val="CADCFC"/>
                </a:solidFill>
                <a:latin typeface="Calibri"/>
              </a:rPr>
              <a:t/>
            </a:r>
          </a:p>
          <a:p>
            <a:pPr>
              <a:spcAft>
                <a:spcPts val="400"/>
              </a:spcAft>
            </a:pPr>
            <a:r>
              <a:rPr sz="1300" b="1">
                <a:solidFill>
                  <a:srgbClr val="E0A458"/>
                </a:solidFill>
                <a:latin typeface="Calibri"/>
              </a:rPr>
              <a:t>Read this as an upper limit.</a:t>
            </a:r>
          </a:p>
          <a:p>
            <a:pPr>
              <a:spcAft>
                <a:spcPts val="400"/>
              </a:spcAft>
            </a:pPr>
            <a:r>
              <a:rPr sz="1250" b="0">
                <a:solidFill>
                  <a:srgbClr val="CFE8EF"/>
                </a:solidFill>
                <a:latin typeface="Calibri"/>
              </a:rPr>
              <a:t>Only 2.81% of the registry has a recorded</a:t>
            </a:r>
          </a:p>
          <a:p>
            <a:pPr>
              <a:spcAft>
                <a:spcPts val="400"/>
              </a:spcAft>
            </a:pPr>
            <a:r>
              <a:rPr sz="1250" b="0">
                <a:solidFill>
                  <a:srgbClr val="CFE8EF"/>
                </a:solidFill>
                <a:latin typeface="Calibri"/>
              </a:rPr>
              <a:t>outcome. The sample prefers defenses that are</a:t>
            </a:r>
          </a:p>
          <a:p>
            <a:pPr>
              <a:spcAft>
                <a:spcPts val="400"/>
              </a:spcAft>
            </a:pPr>
            <a:r>
              <a:rPr sz="1250" b="0">
                <a:solidFill>
                  <a:srgbClr val="CFE8EF"/>
                </a:solidFill>
                <a:latin typeface="Calibri"/>
              </a:rPr>
              <a:t>well known. Attack papers go after those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TRANSFER</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Detection depends on recognising the attack.</a:t>
            </a:r>
          </a:p>
          <a:p>
            <a:pPr>
              <a:spcAft>
                <a:spcPts val="200"/>
              </a:spcAft>
            </a:pPr>
            <a:r>
              <a:rPr sz="2800" b="1">
                <a:solidFill>
                  <a:srgbClr val="FFFFFF"/>
                </a:solidFill>
                <a:latin typeface="Cambria"/>
              </a:rPr>
              <a:t>Action-checking does not.</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16</a:t>
            </a:r>
          </a:p>
        </p:txBody>
      </p:sp>
      <p:sp>
        <p:nvSpPr>
          <p:cNvPr id="5" name="Rounded Rectangle 4"/>
          <p:cNvSpPr/>
          <p:nvPr/>
        </p:nvSpPr>
        <p:spPr>
          <a:xfrm>
            <a:off x="640080" y="2697480"/>
            <a:ext cx="5257800" cy="24231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26080"/>
            <a:ext cx="4754880" cy="2011680"/>
          </a:xfrm>
          <a:prstGeom prst="rect">
            <a:avLst/>
          </a:prstGeom>
          <a:noFill/>
        </p:spPr>
        <p:txBody>
          <a:bodyPr wrap="square">
            <a:spAutoFit/>
          </a:bodyPr>
          <a:lstStyle/>
          <a:p>
            <a:pPr>
              <a:spcAft>
                <a:spcPts val="400"/>
              </a:spcAft>
            </a:pPr>
            <a:r>
              <a:rPr sz="1500" b="1">
                <a:solidFill>
                  <a:srgbClr val="E0A458"/>
                </a:solidFill>
                <a:latin typeface="Calibri"/>
              </a:rPr>
              <a:t>Attack it was built against</a:t>
            </a:r>
          </a:p>
          <a:p>
            <a:pPr>
              <a:spcAft>
                <a:spcPts val="400"/>
              </a:spcAft>
            </a:pPr>
            <a:r>
              <a:rPr sz="600" b="0">
                <a:solidFill>
                  <a:srgbClr val="CADCFC"/>
                </a:solidFill>
                <a:latin typeface="Calibri"/>
              </a:rPr>
              <a:t/>
            </a:r>
          </a:p>
          <a:p>
            <a:pPr>
              <a:spcAft>
                <a:spcPts val="400"/>
              </a:spcAft>
            </a:pPr>
            <a:r>
              <a:rPr sz="1250" b="0">
                <a:solidFill>
                  <a:srgbClr val="CADCFC"/>
                </a:solidFill>
                <a:latin typeface="Calibri"/>
              </a:rPr>
              <a:t>Three of four ingestion detectors</a:t>
            </a:r>
          </a:p>
          <a:p>
            <a:pPr>
              <a:spcAft>
                <a:spcPts val="400"/>
              </a:spcAft>
            </a:pPr>
            <a:r>
              <a:rPr sz="1250" b="0">
                <a:solidFill>
                  <a:srgbClr val="CADCFC"/>
                </a:solidFill>
                <a:latin typeface="Calibri"/>
              </a:rPr>
              <a:t>stop it completely.</a:t>
            </a:r>
          </a:p>
          <a:p>
            <a:pPr>
              <a:spcAft>
                <a:spcPts val="400"/>
              </a:spcAft>
            </a:pPr>
            <a:r>
              <a:rPr sz="1250" b="0">
                <a:solidFill>
                  <a:srgbClr val="CFE8EF"/>
                </a:solidFill>
                <a:latin typeface="Calibri"/>
              </a:rPr>
              <a:t>The attack announces itself:</a:t>
            </a:r>
          </a:p>
          <a:p>
            <a:pPr>
              <a:spcAft>
                <a:spcPts val="400"/>
              </a:spcAft>
            </a:pPr>
            <a:r>
              <a:rPr sz="1250" b="0">
                <a:solidFill>
                  <a:srgbClr val="CFE8EF"/>
                </a:solidFill>
                <a:latin typeface="Calibri"/>
              </a:rPr>
              <a:t>"an important message from Emma".</a:t>
            </a:r>
          </a:p>
        </p:txBody>
      </p:sp>
      <p:sp>
        <p:nvSpPr>
          <p:cNvPr id="7" name="Rounded Rectangle 6"/>
          <p:cNvSpPr/>
          <p:nvPr/>
        </p:nvSpPr>
        <p:spPr>
          <a:xfrm>
            <a:off x="6263640" y="2697480"/>
            <a:ext cx="5257800" cy="24231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926080"/>
            <a:ext cx="4754880" cy="2011680"/>
          </a:xfrm>
          <a:prstGeom prst="rect">
            <a:avLst/>
          </a:prstGeom>
          <a:noFill/>
        </p:spPr>
        <p:txBody>
          <a:bodyPr wrap="square">
            <a:spAutoFit/>
          </a:bodyPr>
          <a:lstStyle/>
          <a:p>
            <a:pPr>
              <a:spcAft>
                <a:spcPts val="400"/>
              </a:spcAft>
            </a:pPr>
            <a:r>
              <a:rPr sz="1500" b="1">
                <a:solidFill>
                  <a:srgbClr val="B54A3F"/>
                </a:solidFill>
                <a:latin typeface="Calibri"/>
              </a:rPr>
              <a:t>Same goal, different disguise</a:t>
            </a:r>
          </a:p>
          <a:p>
            <a:pPr>
              <a:spcAft>
                <a:spcPts val="400"/>
              </a:spcAft>
            </a:pPr>
            <a:r>
              <a:rPr sz="600" b="0">
                <a:solidFill>
                  <a:srgbClr val="CADCFC"/>
                </a:solidFill>
                <a:latin typeface="Calibri"/>
              </a:rPr>
              <a:t/>
            </a:r>
          </a:p>
          <a:p>
            <a:pPr>
              <a:spcAft>
                <a:spcPts val="400"/>
              </a:spcAft>
            </a:pPr>
            <a:r>
              <a:rPr sz="1250" b="0">
                <a:solidFill>
                  <a:srgbClr val="CADCFC"/>
                </a:solidFill>
                <a:latin typeface="Calibri"/>
              </a:rPr>
              <a:t>The same detectors stop working.</a:t>
            </a:r>
          </a:p>
          <a:p>
            <a:pPr>
              <a:spcAft>
                <a:spcPts val="400"/>
              </a:spcAft>
            </a:pPr>
            <a:r>
              <a:rPr sz="1250" b="0">
                <a:solidFill>
                  <a:srgbClr val="CADCFC"/>
                </a:solidFill>
                <a:latin typeface="Calibri"/>
              </a:rPr>
              <a:t>The payload forges a system turn,</a:t>
            </a:r>
          </a:p>
          <a:p>
            <a:pPr>
              <a:spcAft>
                <a:spcPts val="400"/>
              </a:spcAft>
            </a:pPr>
            <a:r>
              <a:rPr sz="1250" b="0">
                <a:solidFill>
                  <a:srgbClr val="CADCFC"/>
                </a:solidFill>
                <a:latin typeface="Calibri"/>
              </a:rPr>
              <a:t>so it reads as configuration,</a:t>
            </a:r>
          </a:p>
          <a:p>
            <a:pPr>
              <a:spcAft>
                <a:spcPts val="400"/>
              </a:spcAft>
            </a:pPr>
            <a:r>
              <a:rPr sz="1250" b="0">
                <a:solidFill>
                  <a:srgbClr val="CADCFC"/>
                </a:solidFill>
                <a:latin typeface="Calibri"/>
              </a:rPr>
              <a:t>not as an injected instruction.</a:t>
            </a:r>
          </a:p>
        </p:txBody>
      </p:sp>
      <p:sp>
        <p:nvSpPr>
          <p:cNvPr id="9" name="TextBox 8"/>
          <p:cNvSpPr txBox="1"/>
          <p:nvPr/>
        </p:nvSpPr>
        <p:spPr>
          <a:xfrm>
            <a:off x="640080" y="5349240"/>
            <a:ext cx="10881360" cy="1188720"/>
          </a:xfrm>
          <a:prstGeom prst="rect">
            <a:avLst/>
          </a:prstGeom>
          <a:noFill/>
        </p:spPr>
        <p:txBody>
          <a:bodyPr wrap="square">
            <a:spAutoFit/>
          </a:bodyPr>
          <a:lstStyle/>
          <a:p>
            <a:pPr>
              <a:spcAft>
                <a:spcPts val="400"/>
              </a:spcAft>
            </a:pPr>
            <a:r>
              <a:rPr sz="1450" b="1">
                <a:solidFill>
                  <a:srgbClr val="FFFFFF"/>
                </a:solidFill>
                <a:latin typeface="Calibri"/>
              </a:rPr>
              <a:t>The execution-stage technique blocked BOTH.</a:t>
            </a:r>
          </a:p>
          <a:p>
            <a:pPr>
              <a:spcAft>
                <a:spcPts val="400"/>
              </a:spcAft>
            </a:pPr>
            <a:r>
              <a:rPr sz="1250" b="0">
                <a:solidFill>
                  <a:srgbClr val="CADCFC"/>
                </a:solidFill>
                <a:latin typeface="Calibri"/>
              </a:rPr>
              <a:t>It never reads the payload — it asks whether the action serves the user's request,</a:t>
            </a:r>
          </a:p>
          <a:p>
            <a:pPr>
              <a:spcAft>
                <a:spcPts val="400"/>
              </a:spcAft>
            </a:pPr>
            <a:r>
              <a:rPr sz="1250" b="0">
                <a:solidFill>
                  <a:srgbClr val="CADCFC"/>
                </a:solidFill>
                <a:latin typeface="Calibri"/>
              </a:rPr>
              <a:t>which is invariant to how the instruction was dressed up.</a:t>
            </a:r>
          </a:p>
          <a:p>
            <a:pPr>
              <a:spcAft>
                <a:spcPts val="400"/>
              </a:spcAft>
            </a:pPr>
            <a:r>
              <a:rPr sz="1250" b="1">
                <a:solidFill>
                  <a:srgbClr val="E0A458"/>
                </a:solidFill>
                <a:latin typeface="Calibri"/>
              </a:rPr>
              <a:t>RQ6 concluded execution defenses generalize least. This says the opposite.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TRANSFER MATRIX</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We run the defense code against attacks</a:t>
            </a:r>
          </a:p>
          <a:p>
            <a:pPr>
              <a:spcAft>
                <a:spcPts val="200"/>
              </a:spcAft>
            </a:pPr>
            <a:r>
              <a:rPr sz="2800" b="1">
                <a:solidFill>
                  <a:srgbClr val="FFFFFF"/>
                </a:solidFill>
                <a:latin typeface="Cambria"/>
              </a:rPr>
              <a:t>that no paper has tested it on</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17</a:t>
            </a:r>
          </a:p>
        </p:txBody>
      </p:sp>
      <p:sp>
        <p:nvSpPr>
          <p:cNvPr id="5" name="Oval 4"/>
          <p:cNvSpPr/>
          <p:nvPr/>
        </p:nvSpPr>
        <p:spPr>
          <a:xfrm>
            <a:off x="868680" y="2468880"/>
            <a:ext cx="2788920" cy="27889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60420"/>
            <a:ext cx="2697479" cy="914400"/>
          </a:xfrm>
          <a:prstGeom prst="rect">
            <a:avLst/>
          </a:prstGeom>
          <a:noFill/>
        </p:spPr>
        <p:txBody>
          <a:bodyPr wrap="square">
            <a:spAutoFit/>
          </a:bodyPr>
          <a:lstStyle/>
          <a:p>
            <a:pPr algn="ctr"/>
            <a:r>
              <a:rPr sz="5400" b="1">
                <a:solidFill>
                  <a:srgbClr val="E0A458"/>
                </a:solidFill>
                <a:latin typeface="Cambria"/>
              </a:rPr>
              <a:t>16</a:t>
            </a:r>
          </a:p>
        </p:txBody>
      </p:sp>
      <p:sp>
        <p:nvSpPr>
          <p:cNvPr id="7" name="TextBox 6"/>
          <p:cNvSpPr txBox="1"/>
          <p:nvPr/>
        </p:nvSpPr>
        <p:spPr>
          <a:xfrm>
            <a:off x="914400" y="4091939"/>
            <a:ext cx="2697479" cy="640080"/>
          </a:xfrm>
          <a:prstGeom prst="rect">
            <a:avLst/>
          </a:prstGeom>
          <a:noFill/>
        </p:spPr>
        <p:txBody>
          <a:bodyPr wrap="square">
            <a:spAutoFit/>
          </a:bodyPr>
          <a:lstStyle/>
          <a:p>
            <a:pPr algn="ctr">
              <a:spcAft>
                <a:spcPts val="0"/>
              </a:spcAft>
            </a:pPr>
            <a:r>
              <a:rPr sz="1400" b="0">
                <a:solidFill>
                  <a:srgbClr val="CADCFC"/>
                </a:solidFill>
                <a:latin typeface="Calibri"/>
              </a:rPr>
              <a:t>defense x attack</a:t>
            </a:r>
          </a:p>
          <a:p>
            <a:pPr algn="ctr">
              <a:spcAft>
                <a:spcPts val="0"/>
              </a:spcAft>
            </a:pPr>
            <a:r>
              <a:rPr sz="1400" b="0">
                <a:solidFill>
                  <a:srgbClr val="CADCFC"/>
                </a:solidFill>
                <a:latin typeface="Calibri"/>
              </a:rPr>
              <a:t>x model cells</a:t>
            </a:r>
          </a:p>
        </p:txBody>
      </p:sp>
      <p:sp>
        <p:nvSpPr>
          <p:cNvPr id="8" name="Oval 7"/>
          <p:cNvSpPr/>
          <p:nvPr/>
        </p:nvSpPr>
        <p:spPr>
          <a:xfrm>
            <a:off x="4069080" y="2468880"/>
            <a:ext cx="2788920" cy="2788920"/>
          </a:xfrm>
          <a:prstGeom prst="ellipse">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3360420"/>
            <a:ext cx="2697479" cy="914400"/>
          </a:xfrm>
          <a:prstGeom prst="rect">
            <a:avLst/>
          </a:prstGeom>
          <a:noFill/>
        </p:spPr>
        <p:txBody>
          <a:bodyPr wrap="square">
            <a:spAutoFit/>
          </a:bodyPr>
          <a:lstStyle/>
          <a:p>
            <a:pPr algn="ctr"/>
            <a:r>
              <a:rPr sz="5400" b="1">
                <a:solidFill>
                  <a:srgbClr val="E0A458"/>
                </a:solidFill>
                <a:latin typeface="Cambria"/>
              </a:rPr>
              <a:t>94</a:t>
            </a:r>
          </a:p>
        </p:txBody>
      </p:sp>
      <p:sp>
        <p:nvSpPr>
          <p:cNvPr id="10" name="TextBox 9"/>
          <p:cNvSpPr txBox="1"/>
          <p:nvPr/>
        </p:nvSpPr>
        <p:spPr>
          <a:xfrm>
            <a:off x="4114800" y="4091939"/>
            <a:ext cx="2697479" cy="640080"/>
          </a:xfrm>
          <a:prstGeom prst="rect">
            <a:avLst/>
          </a:prstGeom>
          <a:noFill/>
        </p:spPr>
        <p:txBody>
          <a:bodyPr wrap="square">
            <a:spAutoFit/>
          </a:bodyPr>
          <a:lstStyle/>
          <a:p>
            <a:pPr algn="ctr">
              <a:spcAft>
                <a:spcPts val="0"/>
              </a:spcAft>
            </a:pPr>
            <a:r>
              <a:rPr sz="1400" b="0">
                <a:solidFill>
                  <a:srgbClr val="CADCFC"/>
                </a:solidFill>
                <a:latin typeface="Calibri"/>
              </a:rPr>
              <a:t>measured</a:t>
            </a:r>
          </a:p>
          <a:p>
            <a:pPr algn="ctr">
              <a:spcAft>
                <a:spcPts val="0"/>
              </a:spcAft>
            </a:pPr>
            <a:r>
              <a:rPr sz="1400" b="0">
                <a:solidFill>
                  <a:srgbClr val="CADCFC"/>
                </a:solidFill>
                <a:latin typeface="Calibri"/>
              </a:rPr>
              <a:t>conditions</a:t>
            </a:r>
          </a:p>
        </p:txBody>
      </p:sp>
      <p:sp>
        <p:nvSpPr>
          <p:cNvPr id="11" name="TextBox 10"/>
          <p:cNvSpPr txBox="1"/>
          <p:nvPr/>
        </p:nvSpPr>
        <p:spPr>
          <a:xfrm>
            <a:off x="7498079" y="2743200"/>
            <a:ext cx="4023360" cy="3017520"/>
          </a:xfrm>
          <a:prstGeom prst="rect">
            <a:avLst/>
          </a:prstGeom>
          <a:noFill/>
        </p:spPr>
        <p:txBody>
          <a:bodyPr wrap="square">
            <a:spAutoFit/>
          </a:bodyPr>
          <a:lstStyle/>
          <a:p>
            <a:pPr>
              <a:spcAft>
                <a:spcPts val="400"/>
              </a:spcAft>
            </a:pPr>
            <a:r>
              <a:rPr sz="1400" b="1">
                <a:solidFill>
                  <a:srgbClr val="FFFFFF"/>
                </a:solidFill>
                <a:latin typeface="Calibri"/>
              </a:rPr>
              <a:t>No paper reports these pairs.</a:t>
            </a:r>
          </a:p>
          <a:p>
            <a:pPr>
              <a:spcAft>
                <a:spcPts val="400"/>
              </a:spcAft>
            </a:pPr>
            <a:r>
              <a:rPr sz="1400" b="1">
                <a:solidFill>
                  <a:srgbClr val="FFFFFF"/>
                </a:solidFill>
                <a:latin typeface="Calibri"/>
              </a:rPr>
              <a:t>That is why we chose them.</a:t>
            </a:r>
          </a:p>
          <a:p>
            <a:pPr>
              <a:spcAft>
                <a:spcPts val="400"/>
              </a:spcAft>
            </a:pPr>
            <a:r>
              <a:rPr sz="800" b="0">
                <a:solidFill>
                  <a:srgbClr val="CADCFC"/>
                </a:solidFill>
                <a:latin typeface="Calibri"/>
              </a:rPr>
              <a:t/>
            </a:r>
          </a:p>
          <a:p>
            <a:pPr>
              <a:spcAft>
                <a:spcPts val="400"/>
              </a:spcAft>
            </a:pPr>
            <a:r>
              <a:rPr sz="1250" b="0">
                <a:solidFill>
                  <a:srgbClr val="CADCFC"/>
                </a:solidFill>
                <a:latin typeface="Calibri"/>
              </a:rPr>
              <a:t>4 attacks. 5 defenses.</a:t>
            </a:r>
          </a:p>
          <a:p>
            <a:pPr>
              <a:spcAft>
                <a:spcPts val="400"/>
              </a:spcAft>
            </a:pPr>
            <a:r>
              <a:rPr sz="1250" b="0">
                <a:solidFill>
                  <a:srgbClr val="CADCFC"/>
                </a:solidFill>
                <a:latin typeface="Calibri"/>
              </a:rPr>
              <a:t>3 models. 2 defense families.</a:t>
            </a:r>
          </a:p>
          <a:p>
            <a:pPr>
              <a:spcAft>
                <a:spcPts val="400"/>
              </a:spcAft>
            </a:pPr>
            <a:r>
              <a:rPr sz="800" b="0">
                <a:solidFill>
                  <a:srgbClr val="CADCFC"/>
                </a:solidFill>
                <a:latin typeface="Calibri"/>
              </a:rPr>
              <a:t/>
            </a:r>
          </a:p>
          <a:p>
            <a:pPr>
              <a:spcAft>
                <a:spcPts val="400"/>
              </a:spcAft>
            </a:pPr>
            <a:r>
              <a:rPr sz="1250" b="0">
                <a:solidFill>
                  <a:srgbClr val="CFE8EF"/>
                </a:solidFill>
                <a:latin typeface="Calibri"/>
              </a:rPr>
              <a:t>We change the attack dose from</a:t>
            </a:r>
          </a:p>
          <a:p>
            <a:pPr>
              <a:spcAft>
                <a:spcPts val="400"/>
              </a:spcAft>
            </a:pPr>
            <a:r>
              <a:rPr sz="1250" b="0">
                <a:solidFill>
                  <a:srgbClr val="CFE8EF"/>
                </a:solidFill>
                <a:latin typeface="Calibri"/>
              </a:rPr>
              <a:t>0 to 10 bad passages of 10.</a:t>
            </a:r>
          </a:p>
          <a:p>
            <a:pPr>
              <a:spcAft>
                <a:spcPts val="400"/>
              </a:spcAft>
            </a:pPr>
            <a:r>
              <a:rPr sz="1250" b="0">
                <a:solidFill>
                  <a:srgbClr val="CFE8EF"/>
                </a:solidFill>
                <a:latin typeface="Calibri"/>
              </a:rPr>
              <a:t>Each cell is a curve.</a:t>
            </a:r>
          </a:p>
        </p:txBody>
      </p:sp>
      <p:sp>
        <p:nvSpPr>
          <p:cNvPr id="12" name="TextBox 11"/>
          <p:cNvSpPr txBox="1"/>
          <p:nvPr/>
        </p:nvSpPr>
        <p:spPr>
          <a:xfrm>
            <a:off x="640080" y="5897880"/>
            <a:ext cx="10881360" cy="822960"/>
          </a:xfrm>
          <a:prstGeom prst="rect">
            <a:avLst/>
          </a:prstGeom>
          <a:noFill/>
        </p:spPr>
        <p:txBody>
          <a:bodyPr wrap="square">
            <a:spAutoFit/>
          </a:bodyPr>
          <a:lstStyle/>
          <a:p>
            <a:pPr>
              <a:spcAft>
                <a:spcPts val="400"/>
              </a:spcAft>
            </a:pPr>
            <a:r>
              <a:rPr sz="1350" b="1">
                <a:solidFill>
                  <a:srgbClr val="E0A458"/>
                </a:solidFill>
                <a:latin typeface="Calibri"/>
              </a:rPr>
              <a:t>Three rules control every result.</a:t>
            </a:r>
          </a:p>
          <a:p>
            <a:pPr>
              <a:spcAft>
                <a:spcPts val="400"/>
              </a:spcAft>
            </a:pPr>
            <a:r>
              <a:rPr sz="1250" b="0">
                <a:solidFill>
                  <a:srgbClr val="CFE8EF"/>
                </a:solidFill>
                <a:latin typeface="Calibri"/>
              </a:rPr>
              <a:t>The control must fire first. A change below the detection limit is not a result. We do not change the authors' scoring code.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RESULT 1</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At full attack dose, one defense family</a:t>
            </a:r>
          </a:p>
          <a:p>
            <a:pPr>
              <a:spcAft>
                <a:spcPts val="200"/>
              </a:spcAft>
            </a:pPr>
            <a:r>
              <a:rPr sz="2800" b="1">
                <a:solidFill>
                  <a:srgbClr val="FFFFFF"/>
                </a:solidFill>
                <a:latin typeface="Cambria"/>
              </a:rPr>
              <a:t>fails and the other does not</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18</a:t>
            </a:r>
          </a:p>
        </p:txBody>
      </p:sp>
      <p:sp>
        <p:nvSpPr>
          <p:cNvPr id="5" name="Rounded Rectangle 4"/>
          <p:cNvSpPr/>
          <p:nvPr/>
        </p:nvSpPr>
        <p:spPr>
          <a:xfrm>
            <a:off x="640080" y="2560320"/>
            <a:ext cx="5303520" cy="24231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43200"/>
            <a:ext cx="4754880" cy="365760"/>
          </a:xfrm>
          <a:prstGeom prst="rect">
            <a:avLst/>
          </a:prstGeom>
          <a:noFill/>
        </p:spPr>
        <p:txBody>
          <a:bodyPr wrap="square">
            <a:spAutoFit/>
          </a:bodyPr>
          <a:lstStyle/>
          <a:p>
            <a:r>
              <a:rPr sz="1550" b="1">
                <a:solidFill>
                  <a:srgbClr val="FFFFFF"/>
                </a:solidFill>
                <a:latin typeface="Calibri"/>
              </a:rPr>
              <a:t>Context-reliance</a:t>
            </a:r>
          </a:p>
        </p:txBody>
      </p:sp>
      <p:sp>
        <p:nvSpPr>
          <p:cNvPr id="7" name="TextBox 6"/>
          <p:cNvSpPr txBox="1"/>
          <p:nvPr/>
        </p:nvSpPr>
        <p:spPr>
          <a:xfrm>
            <a:off x="914400" y="3154680"/>
            <a:ext cx="4754880" cy="1005840"/>
          </a:xfrm>
          <a:prstGeom prst="rect">
            <a:avLst/>
          </a:prstGeom>
          <a:noFill/>
        </p:spPr>
        <p:txBody>
          <a:bodyPr wrap="square">
            <a:spAutoFit/>
          </a:bodyPr>
          <a:lstStyle/>
          <a:p>
            <a:pPr>
              <a:spcAft>
                <a:spcPts val="100"/>
              </a:spcAft>
            </a:pPr>
            <a:r>
              <a:rPr sz="1200" b="0">
                <a:solidFill>
                  <a:srgbClr val="CFE8EF"/>
                </a:solidFill>
                <a:latin typeface="Calibri"/>
              </a:rPr>
              <a:t>It holds down memory so the model</a:t>
            </a:r>
          </a:p>
          <a:p>
            <a:pPr>
              <a:spcAft>
                <a:spcPts val="100"/>
              </a:spcAft>
            </a:pPr>
            <a:r>
              <a:rPr sz="1200" b="0">
                <a:solidFill>
                  <a:srgbClr val="CFE8EF"/>
                </a:solidFill>
                <a:latin typeface="Calibri"/>
              </a:rPr>
              <a:t>follows the retrieved text.</a:t>
            </a:r>
          </a:p>
          <a:p>
            <a:pPr>
              <a:spcAft>
                <a:spcPts val="100"/>
              </a:spcAft>
            </a:pPr>
            <a:r>
              <a:rPr sz="1200" b="0">
                <a:solidFill>
                  <a:srgbClr val="CFE8EF"/>
                </a:solidFill>
                <a:latin typeface="Calibri"/>
              </a:rPr>
              <a:t>ParamMute, CK-PLUG, SpARE</a:t>
            </a:r>
          </a:p>
        </p:txBody>
      </p:sp>
      <p:sp>
        <p:nvSpPr>
          <p:cNvPr id="8" name="TextBox 7"/>
          <p:cNvSpPr txBox="1"/>
          <p:nvPr/>
        </p:nvSpPr>
        <p:spPr>
          <a:xfrm>
            <a:off x="914400" y="4224528"/>
            <a:ext cx="4754880" cy="640080"/>
          </a:xfrm>
          <a:prstGeom prst="rect">
            <a:avLst/>
          </a:prstGeom>
          <a:noFill/>
        </p:spPr>
        <p:txBody>
          <a:bodyPr wrap="square">
            <a:spAutoFit/>
          </a:bodyPr>
          <a:lstStyle/>
          <a:p>
            <a:r>
              <a:rPr sz="3000" b="1">
                <a:solidFill>
                  <a:srgbClr val="B54A3F"/>
                </a:solidFill>
                <a:latin typeface="Cambria"/>
              </a:rPr>
              <a:t>4 of 5</a:t>
            </a:r>
          </a:p>
        </p:txBody>
      </p:sp>
      <p:sp>
        <p:nvSpPr>
          <p:cNvPr id="9" name="TextBox 8"/>
          <p:cNvSpPr txBox="1"/>
          <p:nvPr/>
        </p:nvSpPr>
        <p:spPr>
          <a:xfrm>
            <a:off x="2834639" y="4370832"/>
            <a:ext cx="2926080" cy="457200"/>
          </a:xfrm>
          <a:prstGeom prst="rect">
            <a:avLst/>
          </a:prstGeom>
          <a:noFill/>
        </p:spPr>
        <p:txBody>
          <a:bodyPr wrap="square">
            <a:spAutoFit/>
          </a:bodyPr>
          <a:lstStyle/>
          <a:p>
            <a:pPr>
              <a:spcAft>
                <a:spcPts val="0"/>
              </a:spcAft>
            </a:pPr>
            <a:r>
              <a:rPr sz="1150" b="0">
                <a:solidFill>
                  <a:srgbClr val="CADCFC"/>
                </a:solidFill>
                <a:latin typeface="Calibri"/>
              </a:rPr>
              <a:t>usable cells lose</a:t>
            </a:r>
          </a:p>
          <a:p>
            <a:pPr>
              <a:spcAft>
                <a:spcPts val="0"/>
              </a:spcAft>
            </a:pPr>
            <a:r>
              <a:rPr sz="1150" b="0">
                <a:solidFill>
                  <a:srgbClr val="CADCFC"/>
                </a:solidFill>
                <a:latin typeface="Calibri"/>
              </a:rPr>
              <a:t>accuracy we can measure</a:t>
            </a:r>
          </a:p>
        </p:txBody>
      </p:sp>
      <p:sp>
        <p:nvSpPr>
          <p:cNvPr id="10" name="Rounded Rectangle 9"/>
          <p:cNvSpPr/>
          <p:nvPr/>
        </p:nvSpPr>
        <p:spPr>
          <a:xfrm>
            <a:off x="6217920" y="2560320"/>
            <a:ext cx="5303520" cy="242316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743200"/>
            <a:ext cx="4754880" cy="365760"/>
          </a:xfrm>
          <a:prstGeom prst="rect">
            <a:avLst/>
          </a:prstGeom>
          <a:noFill/>
        </p:spPr>
        <p:txBody>
          <a:bodyPr wrap="square">
            <a:spAutoFit/>
          </a:bodyPr>
          <a:lstStyle/>
          <a:p>
            <a:r>
              <a:rPr sz="1550" b="1">
                <a:solidFill>
                  <a:srgbClr val="FFFFFF"/>
                </a:solidFill>
                <a:latin typeface="Calibri"/>
              </a:rPr>
              <a:t>Isolate-then-aggregate</a:t>
            </a:r>
          </a:p>
        </p:txBody>
      </p:sp>
      <p:sp>
        <p:nvSpPr>
          <p:cNvPr id="12" name="TextBox 11"/>
          <p:cNvSpPr txBox="1"/>
          <p:nvPr/>
        </p:nvSpPr>
        <p:spPr>
          <a:xfrm>
            <a:off x="6492240" y="3154680"/>
            <a:ext cx="4754880" cy="1005840"/>
          </a:xfrm>
          <a:prstGeom prst="rect">
            <a:avLst/>
          </a:prstGeom>
          <a:noFill/>
        </p:spPr>
        <p:txBody>
          <a:bodyPr wrap="square">
            <a:spAutoFit/>
          </a:bodyPr>
          <a:lstStyle/>
          <a:p>
            <a:pPr>
              <a:spcAft>
                <a:spcPts val="100"/>
              </a:spcAft>
            </a:pPr>
            <a:r>
              <a:rPr sz="1200" b="0">
                <a:solidFill>
                  <a:srgbClr val="CFE8EF"/>
                </a:solidFill>
                <a:latin typeface="Calibri"/>
              </a:rPr>
              <a:t>It answers each passage alone,</a:t>
            </a:r>
          </a:p>
          <a:p>
            <a:pPr>
              <a:spcAft>
                <a:spcPts val="100"/>
              </a:spcAft>
            </a:pPr>
            <a:r>
              <a:rPr sz="1200" b="0">
                <a:solidFill>
                  <a:srgbClr val="CFE8EF"/>
                </a:solidFill>
                <a:latin typeface="Calibri"/>
              </a:rPr>
              <a:t>then joins the answers.</a:t>
            </a:r>
          </a:p>
          <a:p>
            <a:pPr>
              <a:spcAft>
                <a:spcPts val="100"/>
              </a:spcAft>
            </a:pPr>
            <a:r>
              <a:rPr sz="1200" b="0">
                <a:solidFill>
                  <a:srgbClr val="CFE8EF"/>
                </a:solidFill>
                <a:latin typeface="Calibri"/>
              </a:rPr>
              <a:t>RobustRAG KeywordAgg, DecodingAgg</a:t>
            </a:r>
          </a:p>
        </p:txBody>
      </p:sp>
      <p:sp>
        <p:nvSpPr>
          <p:cNvPr id="13" name="TextBox 12"/>
          <p:cNvSpPr txBox="1"/>
          <p:nvPr/>
        </p:nvSpPr>
        <p:spPr>
          <a:xfrm>
            <a:off x="6492240" y="4224528"/>
            <a:ext cx="4754880" cy="640080"/>
          </a:xfrm>
          <a:prstGeom prst="rect">
            <a:avLst/>
          </a:prstGeom>
          <a:noFill/>
        </p:spPr>
        <p:txBody>
          <a:bodyPr wrap="square">
            <a:spAutoFit/>
          </a:bodyPr>
          <a:lstStyle/>
          <a:p>
            <a:r>
              <a:rPr sz="3000" b="1">
                <a:solidFill>
                  <a:srgbClr val="1C7293"/>
                </a:solidFill>
                <a:latin typeface="Cambria"/>
              </a:rPr>
              <a:t>0 of 8</a:t>
            </a:r>
          </a:p>
        </p:txBody>
      </p:sp>
      <p:sp>
        <p:nvSpPr>
          <p:cNvPr id="14" name="TextBox 13"/>
          <p:cNvSpPr txBox="1"/>
          <p:nvPr/>
        </p:nvSpPr>
        <p:spPr>
          <a:xfrm>
            <a:off x="8412480" y="4370832"/>
            <a:ext cx="2926080" cy="457200"/>
          </a:xfrm>
          <a:prstGeom prst="rect">
            <a:avLst/>
          </a:prstGeom>
          <a:noFill/>
        </p:spPr>
        <p:txBody>
          <a:bodyPr wrap="square">
            <a:spAutoFit/>
          </a:bodyPr>
          <a:lstStyle/>
          <a:p>
            <a:pPr>
              <a:spcAft>
                <a:spcPts val="0"/>
              </a:spcAft>
            </a:pPr>
            <a:r>
              <a:rPr sz="1150" b="0">
                <a:solidFill>
                  <a:srgbClr val="CADCFC"/>
                </a:solidFill>
                <a:latin typeface="Calibri"/>
              </a:rPr>
              <a:t>usable cells lose</a:t>
            </a:r>
          </a:p>
          <a:p>
            <a:pPr>
              <a:spcAft>
                <a:spcPts val="0"/>
              </a:spcAft>
            </a:pPr>
            <a:r>
              <a:rPr sz="1150" b="0">
                <a:solidFill>
                  <a:srgbClr val="CADCFC"/>
                </a:solidFill>
                <a:latin typeface="Calibri"/>
              </a:rPr>
              <a:t>accuracy we can measure</a:t>
            </a:r>
          </a:p>
        </p:txBody>
      </p:sp>
      <p:sp>
        <p:nvSpPr>
          <p:cNvPr id="15" name="TextBox 14"/>
          <p:cNvSpPr txBox="1"/>
          <p:nvPr/>
        </p:nvSpPr>
        <p:spPr>
          <a:xfrm>
            <a:off x="640080" y="5212080"/>
            <a:ext cx="10881360" cy="1280160"/>
          </a:xfrm>
          <a:prstGeom prst="rect">
            <a:avLst/>
          </a:prstGeom>
          <a:noFill/>
        </p:spPr>
        <p:txBody>
          <a:bodyPr wrap="square">
            <a:spAutoFit/>
          </a:bodyPr>
          <a:lstStyle/>
          <a:p>
            <a:pPr>
              <a:spcAft>
                <a:spcPts val="400"/>
              </a:spcAft>
            </a:pPr>
            <a:r>
              <a:rPr sz="1350" b="1">
                <a:solidFill>
                  <a:srgbClr val="FFFFFF"/>
                </a:solidFill>
                <a:latin typeface="Calibri"/>
              </a:rPr>
              <a:t>The loss is the same size every time: -31.7 and -31.8 points, on two defenses, two attacks and two models.</a:t>
            </a:r>
          </a:p>
          <a:p>
            <a:pPr>
              <a:spcAft>
                <a:spcPts val="400"/>
              </a:spcAft>
            </a:pPr>
            <a:r>
              <a:rPr sz="1250" b="0">
                <a:solidFill>
                  <a:srgbClr val="CADCFC"/>
                </a:solidFill>
                <a:latin typeface="Calibri"/>
              </a:rPr>
              <a:t>Against a false passage the loss starts at 8 bad passages of 10. It does not wait for 10 of 10.</a:t>
            </a:r>
          </a:p>
          <a:p>
            <a:pPr>
              <a:spcAft>
                <a:spcPts val="400"/>
              </a:spcAft>
            </a:pPr>
            <a:r>
              <a:rPr sz="1300" b="1">
                <a:solidFill>
                  <a:srgbClr val="E0A458"/>
                </a:solidFill>
                <a:latin typeface="Calibri"/>
              </a:rPr>
              <a:t>Design rule: do not hold down the model's own memory. It is the only thing left when the evidence goes.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RESULT 2</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Some defenses make the attack work.</a:t>
            </a:r>
          </a:p>
          <a:p>
            <a:pPr>
              <a:spcAft>
                <a:spcPts val="200"/>
              </a:spcAft>
            </a:pPr>
            <a:r>
              <a:rPr sz="2800" b="1">
                <a:solidFill>
                  <a:srgbClr val="FFFFFF"/>
                </a:solidFill>
                <a:latin typeface="Cambria"/>
              </a:rPr>
              <a:t>Without them it stays near zero.</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19</a:t>
            </a:r>
          </a:p>
        </p:txBody>
      </p:sp>
      <p:sp>
        <p:nvSpPr>
          <p:cNvPr id="5" name="TextBox 4"/>
          <p:cNvSpPr txBox="1"/>
          <p:nvPr/>
        </p:nvSpPr>
        <p:spPr>
          <a:xfrm>
            <a:off x="868680" y="2468880"/>
            <a:ext cx="3108960" cy="320040"/>
          </a:xfrm>
          <a:prstGeom prst="rect">
            <a:avLst/>
          </a:prstGeom>
          <a:noFill/>
        </p:spPr>
        <p:txBody>
          <a:bodyPr wrap="square">
            <a:spAutoFit/>
          </a:bodyPr>
          <a:lstStyle/>
          <a:p>
            <a:r>
              <a:rPr sz="1200" b="1">
                <a:solidFill>
                  <a:srgbClr val="E0A458"/>
                </a:solidFill>
                <a:latin typeface="Calibri"/>
              </a:rPr>
              <a:t>Defense</a:t>
            </a:r>
          </a:p>
        </p:txBody>
      </p:sp>
      <p:sp>
        <p:nvSpPr>
          <p:cNvPr id="6" name="TextBox 5"/>
          <p:cNvSpPr txBox="1"/>
          <p:nvPr/>
        </p:nvSpPr>
        <p:spPr>
          <a:xfrm>
            <a:off x="4069080" y="2468880"/>
            <a:ext cx="2286000" cy="320040"/>
          </a:xfrm>
          <a:prstGeom prst="rect">
            <a:avLst/>
          </a:prstGeom>
          <a:noFill/>
        </p:spPr>
        <p:txBody>
          <a:bodyPr wrap="square">
            <a:spAutoFit/>
          </a:bodyPr>
          <a:lstStyle/>
          <a:p>
            <a:r>
              <a:rPr sz="1200" b="1">
                <a:solidFill>
                  <a:srgbClr val="E0A458"/>
                </a:solidFill>
                <a:latin typeface="Calibri"/>
              </a:rPr>
              <a:t>Attack</a:t>
            </a:r>
          </a:p>
        </p:txBody>
      </p:sp>
      <p:sp>
        <p:nvSpPr>
          <p:cNvPr id="7" name="TextBox 6"/>
          <p:cNvSpPr txBox="1"/>
          <p:nvPr/>
        </p:nvSpPr>
        <p:spPr>
          <a:xfrm>
            <a:off x="6446520" y="2468880"/>
            <a:ext cx="1828800" cy="320040"/>
          </a:xfrm>
          <a:prstGeom prst="rect">
            <a:avLst/>
          </a:prstGeom>
          <a:noFill/>
        </p:spPr>
        <p:txBody>
          <a:bodyPr wrap="square">
            <a:spAutoFit/>
          </a:bodyPr>
          <a:lstStyle/>
          <a:p>
            <a:r>
              <a:rPr sz="1200" b="1">
                <a:solidFill>
                  <a:srgbClr val="E0A458"/>
                </a:solidFill>
                <a:latin typeface="Calibri"/>
              </a:rPr>
              <a:t>No defense</a:t>
            </a:r>
          </a:p>
        </p:txBody>
      </p:sp>
      <p:sp>
        <p:nvSpPr>
          <p:cNvPr id="8" name="TextBox 7"/>
          <p:cNvSpPr txBox="1"/>
          <p:nvPr/>
        </p:nvSpPr>
        <p:spPr>
          <a:xfrm>
            <a:off x="8458200" y="2468880"/>
            <a:ext cx="1828800" cy="320040"/>
          </a:xfrm>
          <a:prstGeom prst="rect">
            <a:avLst/>
          </a:prstGeom>
          <a:noFill/>
        </p:spPr>
        <p:txBody>
          <a:bodyPr wrap="square">
            <a:spAutoFit/>
          </a:bodyPr>
          <a:lstStyle/>
          <a:p>
            <a:r>
              <a:rPr sz="1200" b="1">
                <a:solidFill>
                  <a:srgbClr val="E0A458"/>
                </a:solidFill>
                <a:latin typeface="Calibri"/>
              </a:rPr>
              <a:t>With defense</a:t>
            </a:r>
          </a:p>
        </p:txBody>
      </p:sp>
      <p:sp>
        <p:nvSpPr>
          <p:cNvPr id="9" name="TextBox 8"/>
          <p:cNvSpPr txBox="1"/>
          <p:nvPr/>
        </p:nvSpPr>
        <p:spPr>
          <a:xfrm>
            <a:off x="10378440" y="2468880"/>
            <a:ext cx="1097280" cy="320040"/>
          </a:xfrm>
          <a:prstGeom prst="rect">
            <a:avLst/>
          </a:prstGeom>
          <a:noFill/>
        </p:spPr>
        <p:txBody>
          <a:bodyPr wrap="square">
            <a:spAutoFit/>
          </a:bodyPr>
          <a:lstStyle/>
          <a:p>
            <a:r>
              <a:rPr sz="1200" b="1">
                <a:solidFill>
                  <a:srgbClr val="E0A458"/>
                </a:solidFill>
                <a:latin typeface="Calibri"/>
              </a:rPr>
              <a:t>Dose</a:t>
            </a:r>
          </a:p>
        </p:txBody>
      </p:sp>
      <p:sp>
        <p:nvSpPr>
          <p:cNvPr id="10" name="Rounded Rectangle 9"/>
          <p:cNvSpPr/>
          <p:nvPr/>
        </p:nvSpPr>
        <p:spPr>
          <a:xfrm>
            <a:off x="640080" y="2852928"/>
            <a:ext cx="10881360" cy="438912"/>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3108960" cy="310896"/>
          </a:xfrm>
          <a:prstGeom prst="rect">
            <a:avLst/>
          </a:prstGeom>
          <a:noFill/>
        </p:spPr>
        <p:txBody>
          <a:bodyPr wrap="square">
            <a:spAutoFit/>
          </a:bodyPr>
          <a:lstStyle/>
          <a:p>
            <a:r>
              <a:rPr sz="1250" b="0">
                <a:solidFill>
                  <a:srgbClr val="FFFFFF"/>
                </a:solidFill>
                <a:latin typeface="Calibri"/>
              </a:rPr>
              <a:t>CK-PLUG</a:t>
            </a:r>
          </a:p>
        </p:txBody>
      </p:sp>
      <p:sp>
        <p:nvSpPr>
          <p:cNvPr id="12" name="TextBox 11"/>
          <p:cNvSpPr txBox="1"/>
          <p:nvPr/>
        </p:nvSpPr>
        <p:spPr>
          <a:xfrm>
            <a:off x="4069080" y="2926080"/>
            <a:ext cx="2286000" cy="310896"/>
          </a:xfrm>
          <a:prstGeom prst="rect">
            <a:avLst/>
          </a:prstGeom>
          <a:noFill/>
        </p:spPr>
        <p:txBody>
          <a:bodyPr wrap="square">
            <a:spAutoFit/>
          </a:bodyPr>
          <a:lstStyle/>
          <a:p>
            <a:r>
              <a:rPr sz="1250" b="0">
                <a:solidFill>
                  <a:srgbClr val="CADCFC"/>
                </a:solidFill>
                <a:latin typeface="Calibri"/>
              </a:rPr>
              <a:t>Tone steering</a:t>
            </a:r>
          </a:p>
        </p:txBody>
      </p:sp>
      <p:sp>
        <p:nvSpPr>
          <p:cNvPr id="13" name="TextBox 12"/>
          <p:cNvSpPr txBox="1"/>
          <p:nvPr/>
        </p:nvSpPr>
        <p:spPr>
          <a:xfrm>
            <a:off x="6446520" y="2926080"/>
            <a:ext cx="1828800" cy="310896"/>
          </a:xfrm>
          <a:prstGeom prst="rect">
            <a:avLst/>
          </a:prstGeom>
          <a:noFill/>
        </p:spPr>
        <p:txBody>
          <a:bodyPr wrap="square">
            <a:spAutoFit/>
          </a:bodyPr>
          <a:lstStyle/>
          <a:p>
            <a:r>
              <a:rPr sz="1250" b="0">
                <a:solidFill>
                  <a:srgbClr val="CADCFC"/>
                </a:solidFill>
                <a:latin typeface="Calibri"/>
              </a:rPr>
              <a:t>0.0 %</a:t>
            </a:r>
          </a:p>
        </p:txBody>
      </p:sp>
      <p:sp>
        <p:nvSpPr>
          <p:cNvPr id="14" name="TextBox 13"/>
          <p:cNvSpPr txBox="1"/>
          <p:nvPr/>
        </p:nvSpPr>
        <p:spPr>
          <a:xfrm>
            <a:off x="8458200" y="2926080"/>
            <a:ext cx="1828800" cy="310896"/>
          </a:xfrm>
          <a:prstGeom prst="rect">
            <a:avLst/>
          </a:prstGeom>
          <a:noFill/>
        </p:spPr>
        <p:txBody>
          <a:bodyPr wrap="square">
            <a:spAutoFit/>
          </a:bodyPr>
          <a:lstStyle/>
          <a:p>
            <a:r>
              <a:rPr sz="1350" b="1">
                <a:solidFill>
                  <a:srgbClr val="B54A3F"/>
                </a:solidFill>
                <a:latin typeface="Calibri"/>
              </a:rPr>
              <a:t>78.2 %</a:t>
            </a:r>
          </a:p>
        </p:txBody>
      </p:sp>
      <p:sp>
        <p:nvSpPr>
          <p:cNvPr id="15" name="TextBox 14"/>
          <p:cNvSpPr txBox="1"/>
          <p:nvPr/>
        </p:nvSpPr>
        <p:spPr>
          <a:xfrm>
            <a:off x="10378440" y="2926080"/>
            <a:ext cx="1097280" cy="310896"/>
          </a:xfrm>
          <a:prstGeom prst="rect">
            <a:avLst/>
          </a:prstGeom>
          <a:noFill/>
        </p:spPr>
        <p:txBody>
          <a:bodyPr wrap="square">
            <a:spAutoFit/>
          </a:bodyPr>
          <a:lstStyle/>
          <a:p>
            <a:r>
              <a:rPr sz="1200" b="0">
                <a:solidFill>
                  <a:srgbClr val="CFE8EF"/>
                </a:solidFill>
                <a:latin typeface="Calibri"/>
              </a:rPr>
              <a:t>1 of 10</a:t>
            </a:r>
          </a:p>
        </p:txBody>
      </p:sp>
      <p:sp>
        <p:nvSpPr>
          <p:cNvPr id="16" name="Rounded Rectangle 15"/>
          <p:cNvSpPr/>
          <p:nvPr/>
        </p:nvSpPr>
        <p:spPr>
          <a:xfrm>
            <a:off x="640080" y="3383280"/>
            <a:ext cx="10881360" cy="438912"/>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456432"/>
            <a:ext cx="3108960" cy="310896"/>
          </a:xfrm>
          <a:prstGeom prst="rect">
            <a:avLst/>
          </a:prstGeom>
          <a:noFill/>
        </p:spPr>
        <p:txBody>
          <a:bodyPr wrap="square">
            <a:spAutoFit/>
          </a:bodyPr>
          <a:lstStyle/>
          <a:p>
            <a:r>
              <a:rPr sz="1250" b="0">
                <a:solidFill>
                  <a:srgbClr val="FFFFFF"/>
                </a:solidFill>
                <a:latin typeface="Calibri"/>
              </a:rPr>
              <a:t>CK-PLUG</a:t>
            </a:r>
          </a:p>
        </p:txBody>
      </p:sp>
      <p:sp>
        <p:nvSpPr>
          <p:cNvPr id="18" name="TextBox 17"/>
          <p:cNvSpPr txBox="1"/>
          <p:nvPr/>
        </p:nvSpPr>
        <p:spPr>
          <a:xfrm>
            <a:off x="4069080" y="3456432"/>
            <a:ext cx="2286000" cy="310896"/>
          </a:xfrm>
          <a:prstGeom prst="rect">
            <a:avLst/>
          </a:prstGeom>
          <a:noFill/>
        </p:spPr>
        <p:txBody>
          <a:bodyPr wrap="square">
            <a:spAutoFit/>
          </a:bodyPr>
          <a:lstStyle/>
          <a:p>
            <a:r>
              <a:rPr sz="1250" b="0">
                <a:solidFill>
                  <a:srgbClr val="CADCFC"/>
                </a:solidFill>
                <a:latin typeface="Calibri"/>
              </a:rPr>
              <a:t>Tone steering</a:t>
            </a:r>
          </a:p>
        </p:txBody>
      </p:sp>
      <p:sp>
        <p:nvSpPr>
          <p:cNvPr id="19" name="TextBox 18"/>
          <p:cNvSpPr txBox="1"/>
          <p:nvPr/>
        </p:nvSpPr>
        <p:spPr>
          <a:xfrm>
            <a:off x="6446520" y="3456432"/>
            <a:ext cx="1828800" cy="310896"/>
          </a:xfrm>
          <a:prstGeom prst="rect">
            <a:avLst/>
          </a:prstGeom>
          <a:noFill/>
        </p:spPr>
        <p:txBody>
          <a:bodyPr wrap="square">
            <a:spAutoFit/>
          </a:bodyPr>
          <a:lstStyle/>
          <a:p>
            <a:r>
              <a:rPr sz="1250" b="0">
                <a:solidFill>
                  <a:srgbClr val="CADCFC"/>
                </a:solidFill>
                <a:latin typeface="Calibri"/>
              </a:rPr>
              <a:t>4.0 %</a:t>
            </a:r>
          </a:p>
        </p:txBody>
      </p:sp>
      <p:sp>
        <p:nvSpPr>
          <p:cNvPr id="20" name="TextBox 19"/>
          <p:cNvSpPr txBox="1"/>
          <p:nvPr/>
        </p:nvSpPr>
        <p:spPr>
          <a:xfrm>
            <a:off x="8458200" y="3456432"/>
            <a:ext cx="1828800" cy="310896"/>
          </a:xfrm>
          <a:prstGeom prst="rect">
            <a:avLst/>
          </a:prstGeom>
          <a:noFill/>
        </p:spPr>
        <p:txBody>
          <a:bodyPr wrap="square">
            <a:spAutoFit/>
          </a:bodyPr>
          <a:lstStyle/>
          <a:p>
            <a:r>
              <a:rPr sz="1350" b="1">
                <a:solidFill>
                  <a:srgbClr val="B54A3F"/>
                </a:solidFill>
                <a:latin typeface="Calibri"/>
              </a:rPr>
              <a:t>99.0 %</a:t>
            </a:r>
          </a:p>
        </p:txBody>
      </p:sp>
      <p:sp>
        <p:nvSpPr>
          <p:cNvPr id="21" name="TextBox 20"/>
          <p:cNvSpPr txBox="1"/>
          <p:nvPr/>
        </p:nvSpPr>
        <p:spPr>
          <a:xfrm>
            <a:off x="10378440" y="3456432"/>
            <a:ext cx="1097280" cy="310896"/>
          </a:xfrm>
          <a:prstGeom prst="rect">
            <a:avLst/>
          </a:prstGeom>
          <a:noFill/>
        </p:spPr>
        <p:txBody>
          <a:bodyPr wrap="square">
            <a:spAutoFit/>
          </a:bodyPr>
          <a:lstStyle/>
          <a:p>
            <a:r>
              <a:rPr sz="1200" b="0">
                <a:solidFill>
                  <a:srgbClr val="CFE8EF"/>
                </a:solidFill>
                <a:latin typeface="Calibri"/>
              </a:rPr>
              <a:t>10 of 10</a:t>
            </a:r>
          </a:p>
        </p:txBody>
      </p:sp>
      <p:sp>
        <p:nvSpPr>
          <p:cNvPr id="22" name="Rounded Rectangle 21"/>
          <p:cNvSpPr/>
          <p:nvPr/>
        </p:nvSpPr>
        <p:spPr>
          <a:xfrm>
            <a:off x="640080" y="3913632"/>
            <a:ext cx="10881360" cy="438912"/>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86784"/>
            <a:ext cx="3108960" cy="310896"/>
          </a:xfrm>
          <a:prstGeom prst="rect">
            <a:avLst/>
          </a:prstGeom>
          <a:noFill/>
        </p:spPr>
        <p:txBody>
          <a:bodyPr wrap="square">
            <a:spAutoFit/>
          </a:bodyPr>
          <a:lstStyle/>
          <a:p>
            <a:r>
              <a:rPr sz="1250" b="0">
                <a:solidFill>
                  <a:srgbClr val="FFFFFF"/>
                </a:solidFill>
                <a:latin typeface="Calibri"/>
              </a:rPr>
              <a:t>ParamMute</a:t>
            </a:r>
          </a:p>
        </p:txBody>
      </p:sp>
      <p:sp>
        <p:nvSpPr>
          <p:cNvPr id="24" name="TextBox 23"/>
          <p:cNvSpPr txBox="1"/>
          <p:nvPr/>
        </p:nvSpPr>
        <p:spPr>
          <a:xfrm>
            <a:off x="4069080" y="3986784"/>
            <a:ext cx="2286000" cy="310896"/>
          </a:xfrm>
          <a:prstGeom prst="rect">
            <a:avLst/>
          </a:prstGeom>
          <a:noFill/>
        </p:spPr>
        <p:txBody>
          <a:bodyPr wrap="square">
            <a:spAutoFit/>
          </a:bodyPr>
          <a:lstStyle/>
          <a:p>
            <a:r>
              <a:rPr sz="1250" b="0">
                <a:solidFill>
                  <a:srgbClr val="CADCFC"/>
                </a:solidFill>
                <a:latin typeface="Calibri"/>
              </a:rPr>
              <a:t>Tone steering</a:t>
            </a:r>
          </a:p>
        </p:txBody>
      </p:sp>
      <p:sp>
        <p:nvSpPr>
          <p:cNvPr id="25" name="TextBox 24"/>
          <p:cNvSpPr txBox="1"/>
          <p:nvPr/>
        </p:nvSpPr>
        <p:spPr>
          <a:xfrm>
            <a:off x="6446520" y="3986784"/>
            <a:ext cx="1828800" cy="310896"/>
          </a:xfrm>
          <a:prstGeom prst="rect">
            <a:avLst/>
          </a:prstGeom>
          <a:noFill/>
        </p:spPr>
        <p:txBody>
          <a:bodyPr wrap="square">
            <a:spAutoFit/>
          </a:bodyPr>
          <a:lstStyle/>
          <a:p>
            <a:r>
              <a:rPr sz="1250" b="0">
                <a:solidFill>
                  <a:srgbClr val="CADCFC"/>
                </a:solidFill>
                <a:latin typeface="Calibri"/>
              </a:rPr>
              <a:t>3.4 %</a:t>
            </a:r>
          </a:p>
        </p:txBody>
      </p:sp>
      <p:sp>
        <p:nvSpPr>
          <p:cNvPr id="26" name="TextBox 25"/>
          <p:cNvSpPr txBox="1"/>
          <p:nvPr/>
        </p:nvSpPr>
        <p:spPr>
          <a:xfrm>
            <a:off x="8458200" y="3986784"/>
            <a:ext cx="1828800" cy="310896"/>
          </a:xfrm>
          <a:prstGeom prst="rect">
            <a:avLst/>
          </a:prstGeom>
          <a:noFill/>
        </p:spPr>
        <p:txBody>
          <a:bodyPr wrap="square">
            <a:spAutoFit/>
          </a:bodyPr>
          <a:lstStyle/>
          <a:p>
            <a:r>
              <a:rPr sz="1350" b="1">
                <a:solidFill>
                  <a:srgbClr val="B54A3F"/>
                </a:solidFill>
                <a:latin typeface="Calibri"/>
              </a:rPr>
              <a:t>28.8 %</a:t>
            </a:r>
          </a:p>
        </p:txBody>
      </p:sp>
      <p:sp>
        <p:nvSpPr>
          <p:cNvPr id="27" name="TextBox 26"/>
          <p:cNvSpPr txBox="1"/>
          <p:nvPr/>
        </p:nvSpPr>
        <p:spPr>
          <a:xfrm>
            <a:off x="10378440" y="3986784"/>
            <a:ext cx="1097280" cy="310896"/>
          </a:xfrm>
          <a:prstGeom prst="rect">
            <a:avLst/>
          </a:prstGeom>
          <a:noFill/>
        </p:spPr>
        <p:txBody>
          <a:bodyPr wrap="square">
            <a:spAutoFit/>
          </a:bodyPr>
          <a:lstStyle/>
          <a:p>
            <a:r>
              <a:rPr sz="1200" b="0">
                <a:solidFill>
                  <a:srgbClr val="CFE8EF"/>
                </a:solidFill>
                <a:latin typeface="Calibri"/>
              </a:rPr>
              <a:t>10 of 10</a:t>
            </a:r>
          </a:p>
        </p:txBody>
      </p:sp>
      <p:sp>
        <p:nvSpPr>
          <p:cNvPr id="28" name="Rounded Rectangle 27"/>
          <p:cNvSpPr/>
          <p:nvPr/>
        </p:nvSpPr>
        <p:spPr>
          <a:xfrm>
            <a:off x="640080" y="4443983"/>
            <a:ext cx="10881360" cy="438912"/>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517136"/>
            <a:ext cx="3108960" cy="310896"/>
          </a:xfrm>
          <a:prstGeom prst="rect">
            <a:avLst/>
          </a:prstGeom>
          <a:noFill/>
        </p:spPr>
        <p:txBody>
          <a:bodyPr wrap="square">
            <a:spAutoFit/>
          </a:bodyPr>
          <a:lstStyle/>
          <a:p>
            <a:r>
              <a:rPr sz="1250" b="0">
                <a:solidFill>
                  <a:srgbClr val="FFFFFF"/>
                </a:solidFill>
                <a:latin typeface="Calibri"/>
              </a:rPr>
              <a:t>RobustRAG KeywordAgg, Llama-3</a:t>
            </a:r>
          </a:p>
        </p:txBody>
      </p:sp>
      <p:sp>
        <p:nvSpPr>
          <p:cNvPr id="30" name="TextBox 29"/>
          <p:cNvSpPr txBox="1"/>
          <p:nvPr/>
        </p:nvSpPr>
        <p:spPr>
          <a:xfrm>
            <a:off x="4069080" y="4517136"/>
            <a:ext cx="2286000" cy="310896"/>
          </a:xfrm>
          <a:prstGeom prst="rect">
            <a:avLst/>
          </a:prstGeom>
          <a:noFill/>
        </p:spPr>
        <p:txBody>
          <a:bodyPr wrap="square">
            <a:spAutoFit/>
          </a:bodyPr>
          <a:lstStyle/>
          <a:p>
            <a:r>
              <a:rPr sz="1250" b="0">
                <a:solidFill>
                  <a:srgbClr val="CADCFC"/>
                </a:solidFill>
                <a:latin typeface="Calibri"/>
              </a:rPr>
              <a:t>Refusal</a:t>
            </a:r>
          </a:p>
        </p:txBody>
      </p:sp>
      <p:sp>
        <p:nvSpPr>
          <p:cNvPr id="31" name="TextBox 30"/>
          <p:cNvSpPr txBox="1"/>
          <p:nvPr/>
        </p:nvSpPr>
        <p:spPr>
          <a:xfrm>
            <a:off x="6446520" y="4517136"/>
            <a:ext cx="1828800" cy="310896"/>
          </a:xfrm>
          <a:prstGeom prst="rect">
            <a:avLst/>
          </a:prstGeom>
          <a:noFill/>
        </p:spPr>
        <p:txBody>
          <a:bodyPr wrap="square">
            <a:spAutoFit/>
          </a:bodyPr>
          <a:lstStyle/>
          <a:p>
            <a:r>
              <a:rPr sz="1250" b="0">
                <a:solidFill>
                  <a:srgbClr val="CADCFC"/>
                </a:solidFill>
                <a:latin typeface="Calibri"/>
              </a:rPr>
              <a:t>0.0 %</a:t>
            </a:r>
          </a:p>
        </p:txBody>
      </p:sp>
      <p:sp>
        <p:nvSpPr>
          <p:cNvPr id="32" name="TextBox 31"/>
          <p:cNvSpPr txBox="1"/>
          <p:nvPr/>
        </p:nvSpPr>
        <p:spPr>
          <a:xfrm>
            <a:off x="8458200" y="4517136"/>
            <a:ext cx="1828800" cy="310896"/>
          </a:xfrm>
          <a:prstGeom prst="rect">
            <a:avLst/>
          </a:prstGeom>
          <a:noFill/>
        </p:spPr>
        <p:txBody>
          <a:bodyPr wrap="square">
            <a:spAutoFit/>
          </a:bodyPr>
          <a:lstStyle/>
          <a:p>
            <a:r>
              <a:rPr sz="1350" b="1">
                <a:solidFill>
                  <a:srgbClr val="B54A3F"/>
                </a:solidFill>
                <a:latin typeface="Calibri"/>
              </a:rPr>
              <a:t>85.0 %</a:t>
            </a:r>
          </a:p>
        </p:txBody>
      </p:sp>
      <p:sp>
        <p:nvSpPr>
          <p:cNvPr id="33" name="TextBox 32"/>
          <p:cNvSpPr txBox="1"/>
          <p:nvPr/>
        </p:nvSpPr>
        <p:spPr>
          <a:xfrm>
            <a:off x="10378440" y="4517136"/>
            <a:ext cx="1097280" cy="310896"/>
          </a:xfrm>
          <a:prstGeom prst="rect">
            <a:avLst/>
          </a:prstGeom>
          <a:noFill/>
        </p:spPr>
        <p:txBody>
          <a:bodyPr wrap="square">
            <a:spAutoFit/>
          </a:bodyPr>
          <a:lstStyle/>
          <a:p>
            <a:r>
              <a:rPr sz="1200" b="0">
                <a:solidFill>
                  <a:srgbClr val="CFE8EF"/>
                </a:solidFill>
                <a:latin typeface="Calibri"/>
              </a:rPr>
              <a:t>9 of 10</a:t>
            </a:r>
          </a:p>
        </p:txBody>
      </p:sp>
      <p:sp>
        <p:nvSpPr>
          <p:cNvPr id="34" name="Rounded Rectangle 33"/>
          <p:cNvSpPr/>
          <p:nvPr/>
        </p:nvSpPr>
        <p:spPr>
          <a:xfrm>
            <a:off x="640080" y="4974336"/>
            <a:ext cx="10881360" cy="438912"/>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047488"/>
            <a:ext cx="3108960" cy="310896"/>
          </a:xfrm>
          <a:prstGeom prst="rect">
            <a:avLst/>
          </a:prstGeom>
          <a:noFill/>
        </p:spPr>
        <p:txBody>
          <a:bodyPr wrap="square">
            <a:spAutoFit/>
          </a:bodyPr>
          <a:lstStyle/>
          <a:p>
            <a:r>
              <a:rPr sz="1250" b="0">
                <a:solidFill>
                  <a:srgbClr val="FFFFFF"/>
                </a:solidFill>
                <a:latin typeface="Calibri"/>
              </a:rPr>
              <a:t>RobustRAG KeywordAgg, Mistral</a:t>
            </a:r>
          </a:p>
        </p:txBody>
      </p:sp>
      <p:sp>
        <p:nvSpPr>
          <p:cNvPr id="36" name="TextBox 35"/>
          <p:cNvSpPr txBox="1"/>
          <p:nvPr/>
        </p:nvSpPr>
        <p:spPr>
          <a:xfrm>
            <a:off x="4069080" y="5047488"/>
            <a:ext cx="2286000" cy="310896"/>
          </a:xfrm>
          <a:prstGeom prst="rect">
            <a:avLst/>
          </a:prstGeom>
          <a:noFill/>
        </p:spPr>
        <p:txBody>
          <a:bodyPr wrap="square">
            <a:spAutoFit/>
          </a:bodyPr>
          <a:lstStyle/>
          <a:p>
            <a:r>
              <a:rPr sz="1250" b="0">
                <a:solidFill>
                  <a:srgbClr val="CADCFC"/>
                </a:solidFill>
                <a:latin typeface="Calibri"/>
              </a:rPr>
              <a:t>Refusal</a:t>
            </a:r>
          </a:p>
        </p:txBody>
      </p:sp>
      <p:sp>
        <p:nvSpPr>
          <p:cNvPr id="37" name="TextBox 36"/>
          <p:cNvSpPr txBox="1"/>
          <p:nvPr/>
        </p:nvSpPr>
        <p:spPr>
          <a:xfrm>
            <a:off x="6446520" y="5047488"/>
            <a:ext cx="1828800" cy="310896"/>
          </a:xfrm>
          <a:prstGeom prst="rect">
            <a:avLst/>
          </a:prstGeom>
          <a:noFill/>
        </p:spPr>
        <p:txBody>
          <a:bodyPr wrap="square">
            <a:spAutoFit/>
          </a:bodyPr>
          <a:lstStyle/>
          <a:p>
            <a:r>
              <a:rPr sz="1250" b="0">
                <a:solidFill>
                  <a:srgbClr val="CADCFC"/>
                </a:solidFill>
                <a:latin typeface="Calibri"/>
              </a:rPr>
              <a:t>0.0 %</a:t>
            </a:r>
          </a:p>
        </p:txBody>
      </p:sp>
      <p:sp>
        <p:nvSpPr>
          <p:cNvPr id="38" name="TextBox 37"/>
          <p:cNvSpPr txBox="1"/>
          <p:nvPr/>
        </p:nvSpPr>
        <p:spPr>
          <a:xfrm>
            <a:off x="8458200" y="5047488"/>
            <a:ext cx="1828800" cy="310896"/>
          </a:xfrm>
          <a:prstGeom prst="rect">
            <a:avLst/>
          </a:prstGeom>
          <a:noFill/>
        </p:spPr>
        <p:txBody>
          <a:bodyPr wrap="square">
            <a:spAutoFit/>
          </a:bodyPr>
          <a:lstStyle/>
          <a:p>
            <a:r>
              <a:rPr sz="1350" b="1">
                <a:solidFill>
                  <a:srgbClr val="1C7293"/>
                </a:solidFill>
                <a:latin typeface="Calibri"/>
              </a:rPr>
              <a:t>5.7 %</a:t>
            </a:r>
          </a:p>
        </p:txBody>
      </p:sp>
      <p:sp>
        <p:nvSpPr>
          <p:cNvPr id="39" name="TextBox 38"/>
          <p:cNvSpPr txBox="1"/>
          <p:nvPr/>
        </p:nvSpPr>
        <p:spPr>
          <a:xfrm>
            <a:off x="10378440" y="5047488"/>
            <a:ext cx="1097280" cy="310896"/>
          </a:xfrm>
          <a:prstGeom prst="rect">
            <a:avLst/>
          </a:prstGeom>
          <a:noFill/>
        </p:spPr>
        <p:txBody>
          <a:bodyPr wrap="square">
            <a:spAutoFit/>
          </a:bodyPr>
          <a:lstStyle/>
          <a:p>
            <a:r>
              <a:rPr sz="1200" b="0">
                <a:solidFill>
                  <a:srgbClr val="CFE8EF"/>
                </a:solidFill>
                <a:latin typeface="Calibri"/>
              </a:rPr>
              <a:t>9 of 10</a:t>
            </a:r>
          </a:p>
        </p:txBody>
      </p:sp>
      <p:sp>
        <p:nvSpPr>
          <p:cNvPr id="40" name="TextBox 39"/>
          <p:cNvSpPr txBox="1"/>
          <p:nvPr/>
        </p:nvSpPr>
        <p:spPr>
          <a:xfrm>
            <a:off x="640080" y="5669280"/>
            <a:ext cx="10881360" cy="1005840"/>
          </a:xfrm>
          <a:prstGeom prst="rect">
            <a:avLst/>
          </a:prstGeom>
          <a:noFill/>
        </p:spPr>
        <p:txBody>
          <a:bodyPr wrap="square">
            <a:spAutoFit/>
          </a:bodyPr>
          <a:lstStyle/>
          <a:p>
            <a:pPr>
              <a:spcAft>
                <a:spcPts val="400"/>
              </a:spcAft>
            </a:pPr>
            <a:r>
              <a:rPr sz="1350" b="1">
                <a:solidFill>
                  <a:srgbClr val="FFFFFF"/>
                </a:solidFill>
                <a:latin typeface="Calibri"/>
              </a:rPr>
              <a:t>With no defense the attack stays at or near zero at every dose. It works only through the defense.</a:t>
            </a:r>
          </a:p>
          <a:p>
            <a:pPr>
              <a:spcAft>
                <a:spcPts val="400"/>
              </a:spcAft>
            </a:pPr>
            <a:r>
              <a:rPr sz="1250" b="0">
                <a:solidFill>
                  <a:srgbClr val="CADCFC"/>
                </a:solidFill>
                <a:latin typeface="Calibri"/>
              </a:rPr>
              <a:t>Tone steering does not change the answer. A defense that pushes the model to follow the text follows the tone too.</a:t>
            </a:r>
          </a:p>
          <a:p>
            <a:pPr>
              <a:spcAft>
                <a:spcPts val="400"/>
              </a:spcAft>
            </a:pPr>
            <a:r>
              <a:rPr sz="1250" b="1">
                <a:solidFill>
                  <a:srgbClr val="E0A458"/>
                </a:solidFill>
                <a:latin typeface="Calibri"/>
              </a:rPr>
              <a:t>The last row is the warning: the same defense helps on one model and does harm on another.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RESULT 3</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800" b="1">
                <a:solidFill>
                  <a:srgbClr val="FFFFFF"/>
                </a:solidFill>
                <a:latin typeface="Cambria"/>
              </a:rPr>
              <a:t>Two versions of one defense give</a:t>
            </a:r>
          </a:p>
          <a:p>
            <a:pPr>
              <a:spcAft>
                <a:spcPts val="200"/>
              </a:spcAft>
            </a:pPr>
            <a:r>
              <a:rPr sz="2800" b="1">
                <a:solidFill>
                  <a:srgbClr val="FFFFFF"/>
                </a:solidFill>
                <a:latin typeface="Cambria"/>
              </a:rPr>
              <a:t>opposite answers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20</a:t>
            </a:r>
          </a:p>
        </p:txBody>
      </p:sp>
      <p:sp>
        <p:nvSpPr>
          <p:cNvPr id="5" name="TextBox 4"/>
          <p:cNvSpPr txBox="1"/>
          <p:nvPr/>
        </p:nvSpPr>
        <p:spPr>
          <a:xfrm>
            <a:off x="640080" y="2331720"/>
            <a:ext cx="10881360" cy="365760"/>
          </a:xfrm>
          <a:prstGeom prst="rect">
            <a:avLst/>
          </a:prstGeom>
          <a:noFill/>
        </p:spPr>
        <p:txBody>
          <a:bodyPr wrap="square">
            <a:spAutoFit/>
          </a:bodyPr>
          <a:lstStyle/>
          <a:p>
            <a:r>
              <a:rPr sz="1250" b="0">
                <a:solidFill>
                  <a:srgbClr val="CFE8EF"/>
                </a:solidFill>
                <a:latin typeface="Calibri"/>
              </a:rPr>
              <a:t>RobustRAG ships both. They share the isolation step. They differ only in how they join the answers.</a:t>
            </a:r>
          </a:p>
        </p:txBody>
      </p:sp>
      <p:sp>
        <p:nvSpPr>
          <p:cNvPr id="6" name="TextBox 5"/>
          <p:cNvSpPr txBox="1"/>
          <p:nvPr/>
        </p:nvSpPr>
        <p:spPr>
          <a:xfrm>
            <a:off x="868680" y="2788920"/>
            <a:ext cx="2834640" cy="320040"/>
          </a:xfrm>
          <a:prstGeom prst="rect">
            <a:avLst/>
          </a:prstGeom>
          <a:noFill/>
        </p:spPr>
        <p:txBody>
          <a:bodyPr wrap="square">
            <a:spAutoFit/>
          </a:bodyPr>
          <a:lstStyle/>
          <a:p>
            <a:r>
              <a:rPr sz="1250" b="1">
                <a:solidFill>
                  <a:srgbClr val="E0A458"/>
                </a:solidFill>
                <a:latin typeface="Calibri"/>
              </a:rPr>
              <a:t>Bad passages of 10</a:t>
            </a:r>
          </a:p>
        </p:txBody>
      </p:sp>
      <p:sp>
        <p:nvSpPr>
          <p:cNvPr id="7" name="TextBox 6"/>
          <p:cNvSpPr txBox="1"/>
          <p:nvPr/>
        </p:nvSpPr>
        <p:spPr>
          <a:xfrm>
            <a:off x="3977639" y="2788920"/>
            <a:ext cx="960120" cy="320040"/>
          </a:xfrm>
          <a:prstGeom prst="rect">
            <a:avLst/>
          </a:prstGeom>
          <a:noFill/>
        </p:spPr>
        <p:txBody>
          <a:bodyPr wrap="square">
            <a:spAutoFit/>
          </a:bodyPr>
          <a:lstStyle/>
          <a:p>
            <a:pPr algn="ctr"/>
            <a:r>
              <a:rPr sz="1250" b="1">
                <a:solidFill>
                  <a:srgbClr val="E0A458"/>
                </a:solidFill>
                <a:latin typeface="Calibri"/>
              </a:rPr>
              <a:t>1</a:t>
            </a:r>
          </a:p>
        </p:txBody>
      </p:sp>
      <p:sp>
        <p:nvSpPr>
          <p:cNvPr id="8" name="TextBox 7"/>
          <p:cNvSpPr txBox="1"/>
          <p:nvPr/>
        </p:nvSpPr>
        <p:spPr>
          <a:xfrm>
            <a:off x="5056631" y="2788920"/>
            <a:ext cx="960120" cy="320040"/>
          </a:xfrm>
          <a:prstGeom prst="rect">
            <a:avLst/>
          </a:prstGeom>
          <a:noFill/>
        </p:spPr>
        <p:txBody>
          <a:bodyPr wrap="square">
            <a:spAutoFit/>
          </a:bodyPr>
          <a:lstStyle/>
          <a:p>
            <a:pPr algn="ctr"/>
            <a:r>
              <a:rPr sz="1250" b="1">
                <a:solidFill>
                  <a:srgbClr val="E0A458"/>
                </a:solidFill>
                <a:latin typeface="Calibri"/>
              </a:rPr>
              <a:t>5</a:t>
            </a:r>
          </a:p>
        </p:txBody>
      </p:sp>
      <p:sp>
        <p:nvSpPr>
          <p:cNvPr id="9" name="TextBox 8"/>
          <p:cNvSpPr txBox="1"/>
          <p:nvPr/>
        </p:nvSpPr>
        <p:spPr>
          <a:xfrm>
            <a:off x="6135623" y="2788920"/>
            <a:ext cx="960120" cy="320040"/>
          </a:xfrm>
          <a:prstGeom prst="rect">
            <a:avLst/>
          </a:prstGeom>
          <a:noFill/>
        </p:spPr>
        <p:txBody>
          <a:bodyPr wrap="square">
            <a:spAutoFit/>
          </a:bodyPr>
          <a:lstStyle/>
          <a:p>
            <a:pPr algn="ctr"/>
            <a:r>
              <a:rPr sz="1250" b="1">
                <a:solidFill>
                  <a:srgbClr val="E0A458"/>
                </a:solidFill>
                <a:latin typeface="Calibri"/>
              </a:rPr>
              <a:t>6</a:t>
            </a:r>
          </a:p>
        </p:txBody>
      </p:sp>
      <p:sp>
        <p:nvSpPr>
          <p:cNvPr id="10" name="TextBox 9"/>
          <p:cNvSpPr txBox="1"/>
          <p:nvPr/>
        </p:nvSpPr>
        <p:spPr>
          <a:xfrm>
            <a:off x="7214616" y="2788920"/>
            <a:ext cx="960120" cy="320040"/>
          </a:xfrm>
          <a:prstGeom prst="rect">
            <a:avLst/>
          </a:prstGeom>
          <a:noFill/>
        </p:spPr>
        <p:txBody>
          <a:bodyPr wrap="square">
            <a:spAutoFit/>
          </a:bodyPr>
          <a:lstStyle/>
          <a:p>
            <a:pPr algn="ctr"/>
            <a:r>
              <a:rPr sz="1250" b="1">
                <a:solidFill>
                  <a:srgbClr val="E0A458"/>
                </a:solidFill>
                <a:latin typeface="Calibri"/>
              </a:rPr>
              <a:t>7</a:t>
            </a:r>
          </a:p>
        </p:txBody>
      </p:sp>
      <p:sp>
        <p:nvSpPr>
          <p:cNvPr id="11" name="TextBox 10"/>
          <p:cNvSpPr txBox="1"/>
          <p:nvPr/>
        </p:nvSpPr>
        <p:spPr>
          <a:xfrm>
            <a:off x="8293608" y="2788920"/>
            <a:ext cx="960120" cy="320040"/>
          </a:xfrm>
          <a:prstGeom prst="rect">
            <a:avLst/>
          </a:prstGeom>
          <a:noFill/>
        </p:spPr>
        <p:txBody>
          <a:bodyPr wrap="square">
            <a:spAutoFit/>
          </a:bodyPr>
          <a:lstStyle/>
          <a:p>
            <a:pPr algn="ctr"/>
            <a:r>
              <a:rPr sz="1250" b="1">
                <a:solidFill>
                  <a:srgbClr val="E0A458"/>
                </a:solidFill>
                <a:latin typeface="Calibri"/>
              </a:rPr>
              <a:t>8</a:t>
            </a:r>
          </a:p>
        </p:txBody>
      </p:sp>
      <p:sp>
        <p:nvSpPr>
          <p:cNvPr id="12" name="TextBox 11"/>
          <p:cNvSpPr txBox="1"/>
          <p:nvPr/>
        </p:nvSpPr>
        <p:spPr>
          <a:xfrm>
            <a:off x="9372600" y="2788920"/>
            <a:ext cx="960120" cy="320040"/>
          </a:xfrm>
          <a:prstGeom prst="rect">
            <a:avLst/>
          </a:prstGeom>
          <a:noFill/>
        </p:spPr>
        <p:txBody>
          <a:bodyPr wrap="square">
            <a:spAutoFit/>
          </a:bodyPr>
          <a:lstStyle/>
          <a:p>
            <a:pPr algn="ctr"/>
            <a:r>
              <a:rPr sz="1250" b="1">
                <a:solidFill>
                  <a:srgbClr val="E0A458"/>
                </a:solidFill>
                <a:latin typeface="Calibri"/>
              </a:rPr>
              <a:t>9</a:t>
            </a:r>
          </a:p>
        </p:txBody>
      </p:sp>
      <p:sp>
        <p:nvSpPr>
          <p:cNvPr id="13" name="TextBox 12"/>
          <p:cNvSpPr txBox="1"/>
          <p:nvPr/>
        </p:nvSpPr>
        <p:spPr>
          <a:xfrm>
            <a:off x="10451592" y="2788920"/>
            <a:ext cx="960120" cy="320040"/>
          </a:xfrm>
          <a:prstGeom prst="rect">
            <a:avLst/>
          </a:prstGeom>
          <a:noFill/>
        </p:spPr>
        <p:txBody>
          <a:bodyPr wrap="square">
            <a:spAutoFit/>
          </a:bodyPr>
          <a:lstStyle/>
          <a:p>
            <a:pPr algn="ctr"/>
            <a:r>
              <a:rPr sz="1250" b="1">
                <a:solidFill>
                  <a:srgbClr val="E0A458"/>
                </a:solidFill>
                <a:latin typeface="Calibri"/>
              </a:rPr>
              <a:t>10</a:t>
            </a:r>
          </a:p>
        </p:txBody>
      </p:sp>
      <p:sp>
        <p:nvSpPr>
          <p:cNvPr id="14" name="Rounded Rectangle 13"/>
          <p:cNvSpPr/>
          <p:nvPr/>
        </p:nvSpPr>
        <p:spPr>
          <a:xfrm>
            <a:off x="640080" y="3218688"/>
            <a:ext cx="10881360" cy="4572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91840"/>
            <a:ext cx="2834640" cy="320040"/>
          </a:xfrm>
          <a:prstGeom prst="rect">
            <a:avLst/>
          </a:prstGeom>
          <a:noFill/>
        </p:spPr>
        <p:txBody>
          <a:bodyPr wrap="square">
            <a:spAutoFit/>
          </a:bodyPr>
          <a:lstStyle/>
          <a:p>
            <a:r>
              <a:rPr sz="1250" b="0">
                <a:solidFill>
                  <a:srgbClr val="FFFFFF"/>
                </a:solidFill>
                <a:latin typeface="Calibri"/>
              </a:rPr>
              <a:t>KeywordAgg</a:t>
            </a:r>
          </a:p>
        </p:txBody>
      </p:sp>
      <p:sp>
        <p:nvSpPr>
          <p:cNvPr id="16" name="TextBox 15"/>
          <p:cNvSpPr txBox="1"/>
          <p:nvPr/>
        </p:nvSpPr>
        <p:spPr>
          <a:xfrm>
            <a:off x="3977639" y="3291840"/>
            <a:ext cx="960120" cy="320040"/>
          </a:xfrm>
          <a:prstGeom prst="rect">
            <a:avLst/>
          </a:prstGeom>
          <a:noFill/>
        </p:spPr>
        <p:txBody>
          <a:bodyPr wrap="square">
            <a:spAutoFit/>
          </a:bodyPr>
          <a:lstStyle/>
          <a:p>
            <a:pPr algn="ctr"/>
            <a:r>
              <a:rPr sz="1250" b="0">
                <a:solidFill>
                  <a:srgbClr val="1C7293"/>
                </a:solidFill>
                <a:latin typeface="Calibri"/>
              </a:rPr>
              <a:t>+7.3</a:t>
            </a:r>
          </a:p>
        </p:txBody>
      </p:sp>
      <p:sp>
        <p:nvSpPr>
          <p:cNvPr id="17" name="TextBox 16"/>
          <p:cNvSpPr txBox="1"/>
          <p:nvPr/>
        </p:nvSpPr>
        <p:spPr>
          <a:xfrm>
            <a:off x="5056631" y="3291840"/>
            <a:ext cx="960120" cy="320040"/>
          </a:xfrm>
          <a:prstGeom prst="rect">
            <a:avLst/>
          </a:prstGeom>
          <a:noFill/>
        </p:spPr>
        <p:txBody>
          <a:bodyPr wrap="square">
            <a:spAutoFit/>
          </a:bodyPr>
          <a:lstStyle/>
          <a:p>
            <a:pPr algn="ctr"/>
            <a:r>
              <a:rPr sz="1250" b="0">
                <a:solidFill>
                  <a:srgbClr val="1C7293"/>
                </a:solidFill>
                <a:latin typeface="Calibri"/>
              </a:rPr>
              <a:t>+4.0</a:t>
            </a:r>
          </a:p>
        </p:txBody>
      </p:sp>
      <p:sp>
        <p:nvSpPr>
          <p:cNvPr id="18" name="TextBox 17"/>
          <p:cNvSpPr txBox="1"/>
          <p:nvPr/>
        </p:nvSpPr>
        <p:spPr>
          <a:xfrm>
            <a:off x="6135623" y="3291840"/>
            <a:ext cx="960120" cy="320040"/>
          </a:xfrm>
          <a:prstGeom prst="rect">
            <a:avLst/>
          </a:prstGeom>
          <a:noFill/>
        </p:spPr>
        <p:txBody>
          <a:bodyPr wrap="square">
            <a:spAutoFit/>
          </a:bodyPr>
          <a:lstStyle/>
          <a:p>
            <a:pPr algn="ctr"/>
            <a:r>
              <a:rPr sz="1250" b="0">
                <a:solidFill>
                  <a:srgbClr val="1C7293"/>
                </a:solidFill>
                <a:latin typeface="Calibri"/>
              </a:rPr>
              <a:t>+4.0</a:t>
            </a:r>
          </a:p>
        </p:txBody>
      </p:sp>
      <p:sp>
        <p:nvSpPr>
          <p:cNvPr id="19" name="TextBox 18"/>
          <p:cNvSpPr txBox="1"/>
          <p:nvPr/>
        </p:nvSpPr>
        <p:spPr>
          <a:xfrm>
            <a:off x="7214616" y="3291840"/>
            <a:ext cx="960120" cy="320040"/>
          </a:xfrm>
          <a:prstGeom prst="rect">
            <a:avLst/>
          </a:prstGeom>
          <a:noFill/>
        </p:spPr>
        <p:txBody>
          <a:bodyPr wrap="square">
            <a:spAutoFit/>
          </a:bodyPr>
          <a:lstStyle/>
          <a:p>
            <a:pPr algn="ctr"/>
            <a:r>
              <a:rPr sz="1250" b="0">
                <a:solidFill>
                  <a:srgbClr val="1C7293"/>
                </a:solidFill>
                <a:latin typeface="Calibri"/>
              </a:rPr>
              <a:t>+5.7</a:t>
            </a:r>
          </a:p>
        </p:txBody>
      </p:sp>
      <p:sp>
        <p:nvSpPr>
          <p:cNvPr id="20" name="TextBox 19"/>
          <p:cNvSpPr txBox="1"/>
          <p:nvPr/>
        </p:nvSpPr>
        <p:spPr>
          <a:xfrm>
            <a:off x="8293608" y="3291840"/>
            <a:ext cx="960120" cy="320040"/>
          </a:xfrm>
          <a:prstGeom prst="rect">
            <a:avLst/>
          </a:prstGeom>
          <a:noFill/>
        </p:spPr>
        <p:txBody>
          <a:bodyPr wrap="square">
            <a:spAutoFit/>
          </a:bodyPr>
          <a:lstStyle/>
          <a:p>
            <a:pPr algn="ctr"/>
            <a:r>
              <a:rPr sz="1250" b="0">
                <a:solidFill>
                  <a:srgbClr val="1C7293"/>
                </a:solidFill>
                <a:latin typeface="Calibri"/>
              </a:rPr>
              <a:t>+6.7</a:t>
            </a:r>
          </a:p>
        </p:txBody>
      </p:sp>
      <p:sp>
        <p:nvSpPr>
          <p:cNvPr id="21" name="TextBox 20"/>
          <p:cNvSpPr txBox="1"/>
          <p:nvPr/>
        </p:nvSpPr>
        <p:spPr>
          <a:xfrm>
            <a:off x="9372600" y="3291840"/>
            <a:ext cx="960120" cy="320040"/>
          </a:xfrm>
          <a:prstGeom prst="rect">
            <a:avLst/>
          </a:prstGeom>
          <a:noFill/>
        </p:spPr>
        <p:txBody>
          <a:bodyPr wrap="square">
            <a:spAutoFit/>
          </a:bodyPr>
          <a:lstStyle/>
          <a:p>
            <a:pPr algn="ctr"/>
            <a:r>
              <a:rPr sz="1250" b="0">
                <a:solidFill>
                  <a:srgbClr val="1C7293"/>
                </a:solidFill>
                <a:latin typeface="Calibri"/>
              </a:rPr>
              <a:t>+12.3</a:t>
            </a:r>
          </a:p>
        </p:txBody>
      </p:sp>
      <p:sp>
        <p:nvSpPr>
          <p:cNvPr id="22" name="TextBox 21"/>
          <p:cNvSpPr txBox="1"/>
          <p:nvPr/>
        </p:nvSpPr>
        <p:spPr>
          <a:xfrm>
            <a:off x="10451592" y="3291840"/>
            <a:ext cx="960120" cy="320040"/>
          </a:xfrm>
          <a:prstGeom prst="rect">
            <a:avLst/>
          </a:prstGeom>
          <a:noFill/>
        </p:spPr>
        <p:txBody>
          <a:bodyPr wrap="square">
            <a:spAutoFit/>
          </a:bodyPr>
          <a:lstStyle/>
          <a:p>
            <a:pPr algn="ctr"/>
            <a:r>
              <a:rPr sz="1250" b="0">
                <a:solidFill>
                  <a:srgbClr val="1C7293"/>
                </a:solidFill>
                <a:latin typeface="Calibri"/>
              </a:rPr>
              <a:t>-5.7</a:t>
            </a:r>
          </a:p>
        </p:txBody>
      </p:sp>
      <p:sp>
        <p:nvSpPr>
          <p:cNvPr id="23" name="Rounded Rectangle 22"/>
          <p:cNvSpPr/>
          <p:nvPr/>
        </p:nvSpPr>
        <p:spPr>
          <a:xfrm>
            <a:off x="640080" y="3767328"/>
            <a:ext cx="10881360" cy="4572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840480"/>
            <a:ext cx="2834640" cy="320040"/>
          </a:xfrm>
          <a:prstGeom prst="rect">
            <a:avLst/>
          </a:prstGeom>
          <a:noFill/>
        </p:spPr>
        <p:txBody>
          <a:bodyPr wrap="square">
            <a:spAutoFit/>
          </a:bodyPr>
          <a:lstStyle/>
          <a:p>
            <a:r>
              <a:rPr sz="1250" b="0">
                <a:solidFill>
                  <a:srgbClr val="FFFFFF"/>
                </a:solidFill>
                <a:latin typeface="Calibri"/>
              </a:rPr>
              <a:t>DecodingAgg</a:t>
            </a:r>
          </a:p>
        </p:txBody>
      </p:sp>
      <p:sp>
        <p:nvSpPr>
          <p:cNvPr id="25" name="TextBox 24"/>
          <p:cNvSpPr txBox="1"/>
          <p:nvPr/>
        </p:nvSpPr>
        <p:spPr>
          <a:xfrm>
            <a:off x="3977639" y="3840480"/>
            <a:ext cx="960120" cy="320040"/>
          </a:xfrm>
          <a:prstGeom prst="rect">
            <a:avLst/>
          </a:prstGeom>
          <a:noFill/>
        </p:spPr>
        <p:txBody>
          <a:bodyPr wrap="square">
            <a:spAutoFit/>
          </a:bodyPr>
          <a:lstStyle/>
          <a:p>
            <a:pPr algn="ctr"/>
            <a:r>
              <a:rPr sz="1250" b="0">
                <a:solidFill>
                  <a:srgbClr val="B54A3F"/>
                </a:solidFill>
                <a:latin typeface="Calibri"/>
              </a:rPr>
              <a:t>+8.7</a:t>
            </a:r>
          </a:p>
        </p:txBody>
      </p:sp>
      <p:sp>
        <p:nvSpPr>
          <p:cNvPr id="26" name="TextBox 25"/>
          <p:cNvSpPr txBox="1"/>
          <p:nvPr/>
        </p:nvSpPr>
        <p:spPr>
          <a:xfrm>
            <a:off x="5056631" y="3840480"/>
            <a:ext cx="960120" cy="320040"/>
          </a:xfrm>
          <a:prstGeom prst="rect">
            <a:avLst/>
          </a:prstGeom>
          <a:noFill/>
        </p:spPr>
        <p:txBody>
          <a:bodyPr wrap="square">
            <a:spAutoFit/>
          </a:bodyPr>
          <a:lstStyle/>
          <a:p>
            <a:pPr algn="ctr"/>
            <a:r>
              <a:rPr sz="1250" b="0">
                <a:solidFill>
                  <a:srgbClr val="B54A3F"/>
                </a:solidFill>
                <a:latin typeface="Calibri"/>
              </a:rPr>
              <a:t>-9.0</a:t>
            </a:r>
          </a:p>
        </p:txBody>
      </p:sp>
      <p:sp>
        <p:nvSpPr>
          <p:cNvPr id="27" name="TextBox 26"/>
          <p:cNvSpPr txBox="1"/>
          <p:nvPr/>
        </p:nvSpPr>
        <p:spPr>
          <a:xfrm>
            <a:off x="6135623" y="3840480"/>
            <a:ext cx="960120" cy="320040"/>
          </a:xfrm>
          <a:prstGeom prst="rect">
            <a:avLst/>
          </a:prstGeom>
          <a:noFill/>
        </p:spPr>
        <p:txBody>
          <a:bodyPr wrap="square">
            <a:spAutoFit/>
          </a:bodyPr>
          <a:lstStyle/>
          <a:p>
            <a:pPr algn="ctr"/>
            <a:r>
              <a:rPr sz="1250" b="0">
                <a:solidFill>
                  <a:srgbClr val="B54A3F"/>
                </a:solidFill>
                <a:latin typeface="Calibri"/>
              </a:rPr>
              <a:t>-14.0</a:t>
            </a:r>
          </a:p>
        </p:txBody>
      </p:sp>
      <p:sp>
        <p:nvSpPr>
          <p:cNvPr id="28" name="TextBox 27"/>
          <p:cNvSpPr txBox="1"/>
          <p:nvPr/>
        </p:nvSpPr>
        <p:spPr>
          <a:xfrm>
            <a:off x="7214616" y="3840480"/>
            <a:ext cx="960120" cy="320040"/>
          </a:xfrm>
          <a:prstGeom prst="rect">
            <a:avLst/>
          </a:prstGeom>
          <a:noFill/>
        </p:spPr>
        <p:txBody>
          <a:bodyPr wrap="square">
            <a:spAutoFit/>
          </a:bodyPr>
          <a:lstStyle/>
          <a:p>
            <a:pPr algn="ctr"/>
            <a:r>
              <a:rPr sz="1250" b="0">
                <a:solidFill>
                  <a:srgbClr val="B54A3F"/>
                </a:solidFill>
                <a:latin typeface="Calibri"/>
              </a:rPr>
              <a:t>-18.3</a:t>
            </a:r>
          </a:p>
        </p:txBody>
      </p:sp>
      <p:sp>
        <p:nvSpPr>
          <p:cNvPr id="29" name="TextBox 28"/>
          <p:cNvSpPr txBox="1"/>
          <p:nvPr/>
        </p:nvSpPr>
        <p:spPr>
          <a:xfrm>
            <a:off x="8293608" y="3840480"/>
            <a:ext cx="960120" cy="320040"/>
          </a:xfrm>
          <a:prstGeom prst="rect">
            <a:avLst/>
          </a:prstGeom>
          <a:noFill/>
        </p:spPr>
        <p:txBody>
          <a:bodyPr wrap="square">
            <a:spAutoFit/>
          </a:bodyPr>
          <a:lstStyle/>
          <a:p>
            <a:pPr algn="ctr"/>
            <a:r>
              <a:rPr sz="1250" b="0">
                <a:solidFill>
                  <a:srgbClr val="B54A3F"/>
                </a:solidFill>
                <a:latin typeface="Calibri"/>
              </a:rPr>
              <a:t>-20.3</a:t>
            </a:r>
          </a:p>
        </p:txBody>
      </p:sp>
      <p:sp>
        <p:nvSpPr>
          <p:cNvPr id="30" name="TextBox 29"/>
          <p:cNvSpPr txBox="1"/>
          <p:nvPr/>
        </p:nvSpPr>
        <p:spPr>
          <a:xfrm>
            <a:off x="9372600" y="3840480"/>
            <a:ext cx="960120" cy="320040"/>
          </a:xfrm>
          <a:prstGeom prst="rect">
            <a:avLst/>
          </a:prstGeom>
          <a:noFill/>
        </p:spPr>
        <p:txBody>
          <a:bodyPr wrap="square">
            <a:spAutoFit/>
          </a:bodyPr>
          <a:lstStyle/>
          <a:p>
            <a:pPr algn="ctr"/>
            <a:r>
              <a:rPr sz="1250" b="0">
                <a:solidFill>
                  <a:srgbClr val="B54A3F"/>
                </a:solidFill>
                <a:latin typeface="Calibri"/>
              </a:rPr>
              <a:t>-17.3</a:t>
            </a:r>
          </a:p>
        </p:txBody>
      </p:sp>
      <p:sp>
        <p:nvSpPr>
          <p:cNvPr id="31" name="TextBox 30"/>
          <p:cNvSpPr txBox="1"/>
          <p:nvPr/>
        </p:nvSpPr>
        <p:spPr>
          <a:xfrm>
            <a:off x="10451592" y="3840480"/>
            <a:ext cx="960120" cy="320040"/>
          </a:xfrm>
          <a:prstGeom prst="rect">
            <a:avLst/>
          </a:prstGeom>
          <a:noFill/>
        </p:spPr>
        <p:txBody>
          <a:bodyPr wrap="square">
            <a:spAutoFit/>
          </a:bodyPr>
          <a:lstStyle/>
          <a:p>
            <a:pPr algn="ctr"/>
            <a:r>
              <a:rPr sz="1250" b="0">
                <a:solidFill>
                  <a:srgbClr val="B54A3F"/>
                </a:solidFill>
                <a:latin typeface="Calibri"/>
              </a:rPr>
              <a:t>-4.0</a:t>
            </a:r>
          </a:p>
        </p:txBody>
      </p:sp>
      <p:sp>
        <p:nvSpPr>
          <p:cNvPr id="32" name="Rounded Rectangle 31"/>
          <p:cNvSpPr/>
          <p:nvPr/>
        </p:nvSpPr>
        <p:spPr>
          <a:xfrm>
            <a:off x="640080" y="4315968"/>
            <a:ext cx="10881360" cy="45720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389120"/>
            <a:ext cx="2834640" cy="320040"/>
          </a:xfrm>
          <a:prstGeom prst="rect">
            <a:avLst/>
          </a:prstGeom>
          <a:noFill/>
        </p:spPr>
        <p:txBody>
          <a:bodyPr wrap="square">
            <a:spAutoFit/>
          </a:bodyPr>
          <a:lstStyle/>
          <a:p>
            <a:r>
              <a:rPr sz="1250" b="1">
                <a:solidFill>
                  <a:srgbClr val="FFFFFF"/>
                </a:solidFill>
                <a:latin typeface="Calibri"/>
              </a:rPr>
              <a:t>Difference</a:t>
            </a:r>
          </a:p>
        </p:txBody>
      </p:sp>
      <p:sp>
        <p:nvSpPr>
          <p:cNvPr id="34" name="TextBox 33"/>
          <p:cNvSpPr txBox="1"/>
          <p:nvPr/>
        </p:nvSpPr>
        <p:spPr>
          <a:xfrm>
            <a:off x="3977639" y="4389120"/>
            <a:ext cx="960120" cy="320040"/>
          </a:xfrm>
          <a:prstGeom prst="rect">
            <a:avLst/>
          </a:prstGeom>
          <a:noFill/>
        </p:spPr>
        <p:txBody>
          <a:bodyPr wrap="square">
            <a:spAutoFit/>
          </a:bodyPr>
          <a:lstStyle/>
          <a:p>
            <a:pPr algn="ctr"/>
            <a:r>
              <a:rPr sz="1250" b="1">
                <a:solidFill>
                  <a:srgbClr val="FFFFFF"/>
                </a:solidFill>
                <a:latin typeface="Calibri"/>
              </a:rPr>
              <a:t>1.4</a:t>
            </a:r>
          </a:p>
        </p:txBody>
      </p:sp>
      <p:sp>
        <p:nvSpPr>
          <p:cNvPr id="35" name="TextBox 34"/>
          <p:cNvSpPr txBox="1"/>
          <p:nvPr/>
        </p:nvSpPr>
        <p:spPr>
          <a:xfrm>
            <a:off x="5056631" y="4389120"/>
            <a:ext cx="960120" cy="320040"/>
          </a:xfrm>
          <a:prstGeom prst="rect">
            <a:avLst/>
          </a:prstGeom>
          <a:noFill/>
        </p:spPr>
        <p:txBody>
          <a:bodyPr wrap="square">
            <a:spAutoFit/>
          </a:bodyPr>
          <a:lstStyle/>
          <a:p>
            <a:pPr algn="ctr"/>
            <a:r>
              <a:rPr sz="1250" b="1">
                <a:solidFill>
                  <a:srgbClr val="FFFFFF"/>
                </a:solidFill>
                <a:latin typeface="Calibri"/>
              </a:rPr>
              <a:t>13.0</a:t>
            </a:r>
          </a:p>
        </p:txBody>
      </p:sp>
      <p:sp>
        <p:nvSpPr>
          <p:cNvPr id="36" name="TextBox 35"/>
          <p:cNvSpPr txBox="1"/>
          <p:nvPr/>
        </p:nvSpPr>
        <p:spPr>
          <a:xfrm>
            <a:off x="6135623" y="4389120"/>
            <a:ext cx="960120" cy="320040"/>
          </a:xfrm>
          <a:prstGeom prst="rect">
            <a:avLst/>
          </a:prstGeom>
          <a:noFill/>
        </p:spPr>
        <p:txBody>
          <a:bodyPr wrap="square">
            <a:spAutoFit/>
          </a:bodyPr>
          <a:lstStyle/>
          <a:p>
            <a:pPr algn="ctr"/>
            <a:r>
              <a:rPr sz="1250" b="1">
                <a:solidFill>
                  <a:srgbClr val="FFFFFF"/>
                </a:solidFill>
                <a:latin typeface="Calibri"/>
              </a:rPr>
              <a:t>18.0</a:t>
            </a:r>
          </a:p>
        </p:txBody>
      </p:sp>
      <p:sp>
        <p:nvSpPr>
          <p:cNvPr id="37" name="TextBox 36"/>
          <p:cNvSpPr txBox="1"/>
          <p:nvPr/>
        </p:nvSpPr>
        <p:spPr>
          <a:xfrm>
            <a:off x="7214616" y="4389120"/>
            <a:ext cx="960120" cy="320040"/>
          </a:xfrm>
          <a:prstGeom prst="rect">
            <a:avLst/>
          </a:prstGeom>
          <a:noFill/>
        </p:spPr>
        <p:txBody>
          <a:bodyPr wrap="square">
            <a:spAutoFit/>
          </a:bodyPr>
          <a:lstStyle/>
          <a:p>
            <a:pPr algn="ctr"/>
            <a:r>
              <a:rPr sz="1250" b="1">
                <a:solidFill>
                  <a:srgbClr val="FFFFFF"/>
                </a:solidFill>
                <a:latin typeface="Calibri"/>
              </a:rPr>
              <a:t>24.0</a:t>
            </a:r>
          </a:p>
        </p:txBody>
      </p:sp>
      <p:sp>
        <p:nvSpPr>
          <p:cNvPr id="38" name="TextBox 37"/>
          <p:cNvSpPr txBox="1"/>
          <p:nvPr/>
        </p:nvSpPr>
        <p:spPr>
          <a:xfrm>
            <a:off x="8293608" y="4389120"/>
            <a:ext cx="960120" cy="320040"/>
          </a:xfrm>
          <a:prstGeom prst="rect">
            <a:avLst/>
          </a:prstGeom>
          <a:noFill/>
        </p:spPr>
        <p:txBody>
          <a:bodyPr wrap="square">
            <a:spAutoFit/>
          </a:bodyPr>
          <a:lstStyle/>
          <a:p>
            <a:pPr algn="ctr"/>
            <a:r>
              <a:rPr sz="1250" b="1">
                <a:solidFill>
                  <a:srgbClr val="FFFFFF"/>
                </a:solidFill>
                <a:latin typeface="Calibri"/>
              </a:rPr>
              <a:t>27.0</a:t>
            </a:r>
          </a:p>
        </p:txBody>
      </p:sp>
      <p:sp>
        <p:nvSpPr>
          <p:cNvPr id="39" name="TextBox 38"/>
          <p:cNvSpPr txBox="1"/>
          <p:nvPr/>
        </p:nvSpPr>
        <p:spPr>
          <a:xfrm>
            <a:off x="9372600" y="4389120"/>
            <a:ext cx="960120" cy="320040"/>
          </a:xfrm>
          <a:prstGeom prst="rect">
            <a:avLst/>
          </a:prstGeom>
          <a:noFill/>
        </p:spPr>
        <p:txBody>
          <a:bodyPr wrap="square">
            <a:spAutoFit/>
          </a:bodyPr>
          <a:lstStyle/>
          <a:p>
            <a:pPr algn="ctr"/>
            <a:r>
              <a:rPr sz="1250" b="1">
                <a:solidFill>
                  <a:srgbClr val="FFFFFF"/>
                </a:solidFill>
                <a:latin typeface="Calibri"/>
              </a:rPr>
              <a:t>29.6</a:t>
            </a:r>
          </a:p>
        </p:txBody>
      </p:sp>
      <p:sp>
        <p:nvSpPr>
          <p:cNvPr id="40" name="TextBox 39"/>
          <p:cNvSpPr txBox="1"/>
          <p:nvPr/>
        </p:nvSpPr>
        <p:spPr>
          <a:xfrm>
            <a:off x="10451592" y="4389120"/>
            <a:ext cx="960120" cy="320040"/>
          </a:xfrm>
          <a:prstGeom prst="rect">
            <a:avLst/>
          </a:prstGeom>
          <a:noFill/>
        </p:spPr>
        <p:txBody>
          <a:bodyPr wrap="square">
            <a:spAutoFit/>
          </a:bodyPr>
          <a:lstStyle/>
          <a:p>
            <a:pPr algn="ctr"/>
            <a:r>
              <a:rPr sz="1250" b="1">
                <a:solidFill>
                  <a:srgbClr val="FFFFFF"/>
                </a:solidFill>
                <a:latin typeface="Calibri"/>
              </a:rPr>
              <a:t>1.7</a:t>
            </a:r>
          </a:p>
        </p:txBody>
      </p:sp>
      <p:sp>
        <p:nvSpPr>
          <p:cNvPr id="41" name="TextBox 40"/>
          <p:cNvSpPr txBox="1"/>
          <p:nvPr/>
        </p:nvSpPr>
        <p:spPr>
          <a:xfrm>
            <a:off x="640080" y="5074920"/>
            <a:ext cx="10881360" cy="1371600"/>
          </a:xfrm>
          <a:prstGeom prst="rect">
            <a:avLst/>
          </a:prstGeom>
          <a:noFill/>
        </p:spPr>
        <p:txBody>
          <a:bodyPr wrap="square">
            <a:spAutoFit/>
          </a:bodyPr>
          <a:lstStyle/>
          <a:p>
            <a:pPr>
              <a:spcAft>
                <a:spcPts val="400"/>
              </a:spcAft>
            </a:pPr>
            <a:r>
              <a:rPr sz="1350" b="1">
                <a:solidFill>
                  <a:srgbClr val="FFFFFF"/>
                </a:solidFill>
                <a:latin typeface="Calibri"/>
              </a:rPr>
              <a:t>At 9 bad passages of 10, one version helps and the other does harm. They are 29.6 points apart.</a:t>
            </a:r>
          </a:p>
          <a:p>
            <a:pPr>
              <a:spcAft>
                <a:spcPts val="400"/>
              </a:spcAft>
            </a:pPr>
            <a:r>
              <a:rPr sz="1250" b="0">
                <a:solidFill>
                  <a:srgbClr val="CADCFC"/>
                </a:solidFill>
                <a:latin typeface="Calibri"/>
              </a:rPr>
              <a:t>We wrote the cause down before we ran the test. A keyword filter throws away a passage with no answer in it, so one good passage still carries the answer. An average of the outputs lets nine bad ones drown it.</a:t>
            </a:r>
          </a:p>
          <a:p>
            <a:pPr>
              <a:spcAft>
                <a:spcPts val="400"/>
              </a:spcAft>
            </a:pPr>
            <a:r>
              <a:rPr sz="1300" b="1">
                <a:solidFill>
                  <a:srgbClr val="E0A458"/>
                </a:solidFill>
                <a:latin typeface="Calibri"/>
              </a:rPr>
              <a:t>So the difference must grow as good passages go, and must vanish when none are left. It does both.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DIFFERENTIATION</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Against the five closest SoKs</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21</a:t>
            </a:r>
          </a:p>
        </p:txBody>
      </p:sp>
      <p:sp>
        <p:nvSpPr>
          <p:cNvPr id="5" name="TextBox 4"/>
          <p:cNvSpPr txBox="1"/>
          <p:nvPr/>
        </p:nvSpPr>
        <p:spPr>
          <a:xfrm>
            <a:off x="640080" y="2240280"/>
            <a:ext cx="10881360" cy="365760"/>
          </a:xfrm>
          <a:prstGeom prst="rect">
            <a:avLst/>
          </a:prstGeom>
          <a:noFill/>
        </p:spPr>
        <p:txBody>
          <a:bodyPr wrap="square">
            <a:spAutoFit/>
          </a:bodyPr>
          <a:lstStyle/>
          <a:p>
            <a:r>
              <a:rPr sz="1250" b="0">
                <a:solidFill>
                  <a:srgbClr val="CFE8EF"/>
                </a:solidFill>
                <a:latin typeface="Calibri"/>
              </a:rPr>
              <a:t>closest competitor: The Landscape of Prompt Injection Threats (2602.10453)</a:t>
            </a:r>
          </a:p>
        </p:txBody>
      </p:sp>
      <p:sp>
        <p:nvSpPr>
          <p:cNvPr id="6" name="Rounded Rectangle 5"/>
          <p:cNvSpPr/>
          <p:nvPr/>
        </p:nvSpPr>
        <p:spPr>
          <a:xfrm>
            <a:off x="640080" y="2697480"/>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52344"/>
            <a:ext cx="4754880" cy="310896"/>
          </a:xfrm>
          <a:prstGeom prst="rect">
            <a:avLst/>
          </a:prstGeom>
          <a:noFill/>
        </p:spPr>
        <p:txBody>
          <a:bodyPr wrap="square">
            <a:spAutoFit/>
          </a:bodyPr>
          <a:lstStyle/>
          <a:p>
            <a:r>
              <a:rPr sz="1300" b="1">
                <a:solidFill>
                  <a:srgbClr val="FFFFFF"/>
                </a:solidFill>
                <a:latin typeface="Calibri"/>
              </a:rPr>
              <a:t>papers reviewed</a:t>
            </a:r>
          </a:p>
        </p:txBody>
      </p:sp>
      <p:sp>
        <p:nvSpPr>
          <p:cNvPr id="8" name="TextBox 7"/>
          <p:cNvSpPr txBox="1"/>
          <p:nvPr/>
        </p:nvSpPr>
        <p:spPr>
          <a:xfrm>
            <a:off x="5760720" y="2752344"/>
            <a:ext cx="2377440" cy="310896"/>
          </a:xfrm>
          <a:prstGeom prst="rect">
            <a:avLst/>
          </a:prstGeom>
          <a:noFill/>
        </p:spPr>
        <p:txBody>
          <a:bodyPr wrap="square">
            <a:spAutoFit/>
          </a:bodyPr>
          <a:lstStyle/>
          <a:p>
            <a:r>
              <a:rPr sz="1300" b="0">
                <a:solidFill>
                  <a:srgbClr val="CADCFC"/>
                </a:solidFill>
                <a:latin typeface="Calibri"/>
              </a:rPr>
              <a:t>78</a:t>
            </a:r>
          </a:p>
        </p:txBody>
      </p:sp>
      <p:sp>
        <p:nvSpPr>
          <p:cNvPr id="9" name="TextBox 8"/>
          <p:cNvSpPr txBox="1"/>
          <p:nvPr/>
        </p:nvSpPr>
        <p:spPr>
          <a:xfrm>
            <a:off x="8595360" y="2752344"/>
            <a:ext cx="2651760" cy="310896"/>
          </a:xfrm>
          <a:prstGeom prst="rect">
            <a:avLst/>
          </a:prstGeom>
          <a:noFill/>
        </p:spPr>
        <p:txBody>
          <a:bodyPr wrap="square">
            <a:spAutoFit/>
          </a:bodyPr>
          <a:lstStyle/>
          <a:p>
            <a:r>
              <a:rPr sz="1300" b="1">
                <a:solidFill>
                  <a:srgbClr val="E0A458"/>
                </a:solidFill>
                <a:latin typeface="Calibri"/>
              </a:rPr>
              <a:t>1,026</a:t>
            </a:r>
          </a:p>
        </p:txBody>
      </p:sp>
      <p:sp>
        <p:nvSpPr>
          <p:cNvPr id="10" name="Rounded Rectangle 9"/>
          <p:cNvSpPr/>
          <p:nvPr/>
        </p:nvSpPr>
        <p:spPr>
          <a:xfrm>
            <a:off x="640080" y="3209544"/>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64408"/>
            <a:ext cx="4754880" cy="310896"/>
          </a:xfrm>
          <a:prstGeom prst="rect">
            <a:avLst/>
          </a:prstGeom>
          <a:noFill/>
        </p:spPr>
        <p:txBody>
          <a:bodyPr wrap="square">
            <a:spAutoFit/>
          </a:bodyPr>
          <a:lstStyle/>
          <a:p>
            <a:r>
              <a:rPr sz="1300" b="1">
                <a:solidFill>
                  <a:srgbClr val="FFFFFF"/>
                </a:solidFill>
                <a:latin typeface="Calibri"/>
              </a:rPr>
              <a:t>attacks catalogued</a:t>
            </a:r>
          </a:p>
        </p:txBody>
      </p:sp>
      <p:sp>
        <p:nvSpPr>
          <p:cNvPr id="12" name="TextBox 11"/>
          <p:cNvSpPr txBox="1"/>
          <p:nvPr/>
        </p:nvSpPr>
        <p:spPr>
          <a:xfrm>
            <a:off x="5760720" y="3264408"/>
            <a:ext cx="2377440" cy="310896"/>
          </a:xfrm>
          <a:prstGeom prst="rect">
            <a:avLst/>
          </a:prstGeom>
          <a:noFill/>
        </p:spPr>
        <p:txBody>
          <a:bodyPr wrap="square">
            <a:spAutoFit/>
          </a:bodyPr>
          <a:lstStyle/>
          <a:p>
            <a:r>
              <a:rPr sz="1300" b="0">
                <a:solidFill>
                  <a:srgbClr val="CADCFC"/>
                </a:solidFill>
                <a:latin typeface="Calibri"/>
              </a:rPr>
              <a:t>37</a:t>
            </a:r>
          </a:p>
        </p:txBody>
      </p:sp>
      <p:sp>
        <p:nvSpPr>
          <p:cNvPr id="13" name="TextBox 12"/>
          <p:cNvSpPr txBox="1"/>
          <p:nvPr/>
        </p:nvSpPr>
        <p:spPr>
          <a:xfrm>
            <a:off x="8595360" y="3264408"/>
            <a:ext cx="2651760" cy="310896"/>
          </a:xfrm>
          <a:prstGeom prst="rect">
            <a:avLst/>
          </a:prstGeom>
          <a:noFill/>
        </p:spPr>
        <p:txBody>
          <a:bodyPr wrap="square">
            <a:spAutoFit/>
          </a:bodyPr>
          <a:lstStyle/>
          <a:p>
            <a:r>
              <a:rPr sz="1300" b="1">
                <a:solidFill>
                  <a:srgbClr val="E0A458"/>
                </a:solidFill>
                <a:latin typeface="Calibri"/>
              </a:rPr>
              <a:t>223</a:t>
            </a:r>
          </a:p>
        </p:txBody>
      </p:sp>
      <p:sp>
        <p:nvSpPr>
          <p:cNvPr id="14" name="Rounded Rectangle 13"/>
          <p:cNvSpPr/>
          <p:nvPr/>
        </p:nvSpPr>
        <p:spPr>
          <a:xfrm>
            <a:off x="640080" y="3721608"/>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76472"/>
            <a:ext cx="4754880" cy="310896"/>
          </a:xfrm>
          <a:prstGeom prst="rect">
            <a:avLst/>
          </a:prstGeom>
          <a:noFill/>
        </p:spPr>
        <p:txBody>
          <a:bodyPr wrap="square">
            <a:spAutoFit/>
          </a:bodyPr>
          <a:lstStyle/>
          <a:p>
            <a:r>
              <a:rPr sz="1300" b="1">
                <a:solidFill>
                  <a:srgbClr val="FFFFFF"/>
                </a:solidFill>
                <a:latin typeface="Calibri"/>
              </a:rPr>
              <a:t>defenses catalogued</a:t>
            </a:r>
          </a:p>
        </p:txBody>
      </p:sp>
      <p:sp>
        <p:nvSpPr>
          <p:cNvPr id="16" name="TextBox 15"/>
          <p:cNvSpPr txBox="1"/>
          <p:nvPr/>
        </p:nvSpPr>
        <p:spPr>
          <a:xfrm>
            <a:off x="5760720" y="3776472"/>
            <a:ext cx="2377440" cy="310896"/>
          </a:xfrm>
          <a:prstGeom prst="rect">
            <a:avLst/>
          </a:prstGeom>
          <a:noFill/>
        </p:spPr>
        <p:txBody>
          <a:bodyPr wrap="square">
            <a:spAutoFit/>
          </a:bodyPr>
          <a:lstStyle/>
          <a:p>
            <a:r>
              <a:rPr sz="1300" b="0">
                <a:solidFill>
                  <a:srgbClr val="CADCFC"/>
                </a:solidFill>
                <a:latin typeface="Calibri"/>
              </a:rPr>
              <a:t>41</a:t>
            </a:r>
          </a:p>
        </p:txBody>
      </p:sp>
      <p:sp>
        <p:nvSpPr>
          <p:cNvPr id="17" name="TextBox 16"/>
          <p:cNvSpPr txBox="1"/>
          <p:nvPr/>
        </p:nvSpPr>
        <p:spPr>
          <a:xfrm>
            <a:off x="8595360" y="3776472"/>
            <a:ext cx="2651760" cy="310896"/>
          </a:xfrm>
          <a:prstGeom prst="rect">
            <a:avLst/>
          </a:prstGeom>
          <a:noFill/>
        </p:spPr>
        <p:txBody>
          <a:bodyPr wrap="square">
            <a:spAutoFit/>
          </a:bodyPr>
          <a:lstStyle/>
          <a:p>
            <a:r>
              <a:rPr sz="1300" b="1">
                <a:solidFill>
                  <a:srgbClr val="E0A458"/>
                </a:solidFill>
                <a:latin typeface="Calibri"/>
              </a:rPr>
              <a:t>534</a:t>
            </a:r>
          </a:p>
        </p:txBody>
      </p:sp>
      <p:sp>
        <p:nvSpPr>
          <p:cNvPr id="18" name="Rounded Rectangle 17"/>
          <p:cNvSpPr/>
          <p:nvPr/>
        </p:nvSpPr>
        <p:spPr>
          <a:xfrm>
            <a:off x="640080" y="4233672"/>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288536"/>
            <a:ext cx="4754880" cy="310896"/>
          </a:xfrm>
          <a:prstGeom prst="rect">
            <a:avLst/>
          </a:prstGeom>
          <a:noFill/>
        </p:spPr>
        <p:txBody>
          <a:bodyPr wrap="square">
            <a:spAutoFit/>
          </a:bodyPr>
          <a:lstStyle/>
          <a:p>
            <a:r>
              <a:rPr sz="1300" b="1">
                <a:solidFill>
                  <a:srgbClr val="FFFFFF"/>
                </a:solidFill>
                <a:latin typeface="Calibri"/>
              </a:rPr>
              <a:t>attack × defense pairs</a:t>
            </a:r>
          </a:p>
        </p:txBody>
      </p:sp>
      <p:sp>
        <p:nvSpPr>
          <p:cNvPr id="20" name="TextBox 19"/>
          <p:cNvSpPr txBox="1"/>
          <p:nvPr/>
        </p:nvSpPr>
        <p:spPr>
          <a:xfrm>
            <a:off x="5760720" y="4288536"/>
            <a:ext cx="2377440" cy="310896"/>
          </a:xfrm>
          <a:prstGeom prst="rect">
            <a:avLst/>
          </a:prstGeom>
          <a:noFill/>
        </p:spPr>
        <p:txBody>
          <a:bodyPr wrap="square">
            <a:spAutoFit/>
          </a:bodyPr>
          <a:lstStyle/>
          <a:p>
            <a:r>
              <a:rPr sz="1300" b="0">
                <a:solidFill>
                  <a:srgbClr val="CADCFC"/>
                </a:solidFill>
                <a:latin typeface="Calibri"/>
              </a:rPr>
              <a:t>—</a:t>
            </a:r>
          </a:p>
        </p:txBody>
      </p:sp>
      <p:sp>
        <p:nvSpPr>
          <p:cNvPr id="21" name="TextBox 20"/>
          <p:cNvSpPr txBox="1"/>
          <p:nvPr/>
        </p:nvSpPr>
        <p:spPr>
          <a:xfrm>
            <a:off x="8595360" y="4288536"/>
            <a:ext cx="2651760" cy="310896"/>
          </a:xfrm>
          <a:prstGeom prst="rect">
            <a:avLst/>
          </a:prstGeom>
          <a:noFill/>
        </p:spPr>
        <p:txBody>
          <a:bodyPr wrap="square">
            <a:spAutoFit/>
          </a:bodyPr>
          <a:lstStyle/>
          <a:p>
            <a:r>
              <a:rPr sz="1300" b="1">
                <a:solidFill>
                  <a:srgbClr val="E0A458"/>
                </a:solidFill>
                <a:latin typeface="Calibri"/>
              </a:rPr>
              <a:t>349</a:t>
            </a:r>
          </a:p>
        </p:txBody>
      </p:sp>
      <p:sp>
        <p:nvSpPr>
          <p:cNvPr id="22" name="Rounded Rectangle 21"/>
          <p:cNvSpPr/>
          <p:nvPr/>
        </p:nvSpPr>
        <p:spPr>
          <a:xfrm>
            <a:off x="640080" y="4745736"/>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800600"/>
            <a:ext cx="4754880" cy="310896"/>
          </a:xfrm>
          <a:prstGeom prst="rect">
            <a:avLst/>
          </a:prstGeom>
          <a:noFill/>
        </p:spPr>
        <p:txBody>
          <a:bodyPr wrap="square">
            <a:spAutoFit/>
          </a:bodyPr>
          <a:lstStyle/>
          <a:p>
            <a:r>
              <a:rPr sz="1300" b="1">
                <a:solidFill>
                  <a:srgbClr val="FFFFFF"/>
                </a:solidFill>
                <a:latin typeface="Calibri"/>
              </a:rPr>
              <a:t>runs own experiments</a:t>
            </a:r>
          </a:p>
        </p:txBody>
      </p:sp>
      <p:sp>
        <p:nvSpPr>
          <p:cNvPr id="24" name="TextBox 23"/>
          <p:cNvSpPr txBox="1"/>
          <p:nvPr/>
        </p:nvSpPr>
        <p:spPr>
          <a:xfrm>
            <a:off x="5760720" y="4800600"/>
            <a:ext cx="2377440" cy="310896"/>
          </a:xfrm>
          <a:prstGeom prst="rect">
            <a:avLst/>
          </a:prstGeom>
          <a:noFill/>
        </p:spPr>
        <p:txBody>
          <a:bodyPr wrap="square">
            <a:spAutoFit/>
          </a:bodyPr>
          <a:lstStyle/>
          <a:p>
            <a:r>
              <a:rPr sz="1300" b="0">
                <a:solidFill>
                  <a:srgbClr val="CADCFC"/>
                </a:solidFill>
                <a:latin typeface="Calibri"/>
              </a:rPr>
              <a:t>yes</a:t>
            </a:r>
          </a:p>
        </p:txBody>
      </p:sp>
      <p:sp>
        <p:nvSpPr>
          <p:cNvPr id="25" name="TextBox 24"/>
          <p:cNvSpPr txBox="1"/>
          <p:nvPr/>
        </p:nvSpPr>
        <p:spPr>
          <a:xfrm>
            <a:off x="8595360" y="4800600"/>
            <a:ext cx="2651760" cy="310896"/>
          </a:xfrm>
          <a:prstGeom prst="rect">
            <a:avLst/>
          </a:prstGeom>
          <a:noFill/>
        </p:spPr>
        <p:txBody>
          <a:bodyPr wrap="square">
            <a:spAutoFit/>
          </a:bodyPr>
          <a:lstStyle/>
          <a:p>
            <a:r>
              <a:rPr sz="1300" b="1">
                <a:solidFill>
                  <a:srgbClr val="E0A458"/>
                </a:solidFill>
                <a:latin typeface="Calibri"/>
              </a:rPr>
              <a:t>yes</a:t>
            </a:r>
          </a:p>
        </p:txBody>
      </p:sp>
      <p:sp>
        <p:nvSpPr>
          <p:cNvPr id="26" name="Rounded Rectangle 25"/>
          <p:cNvSpPr/>
          <p:nvPr/>
        </p:nvSpPr>
        <p:spPr>
          <a:xfrm>
            <a:off x="640080" y="5257800"/>
            <a:ext cx="10881360" cy="42062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312664"/>
            <a:ext cx="4754880" cy="310896"/>
          </a:xfrm>
          <a:prstGeom prst="rect">
            <a:avLst/>
          </a:prstGeom>
          <a:noFill/>
        </p:spPr>
        <p:txBody>
          <a:bodyPr wrap="square">
            <a:spAutoFit/>
          </a:bodyPr>
          <a:lstStyle/>
          <a:p>
            <a:r>
              <a:rPr sz="1300" b="1">
                <a:solidFill>
                  <a:srgbClr val="FFFFFF"/>
                </a:solidFill>
                <a:latin typeface="Calibri"/>
              </a:rPr>
              <a:t>covers BOTH literatures</a:t>
            </a:r>
          </a:p>
        </p:txBody>
      </p:sp>
      <p:sp>
        <p:nvSpPr>
          <p:cNvPr id="28" name="TextBox 27"/>
          <p:cNvSpPr txBox="1"/>
          <p:nvPr/>
        </p:nvSpPr>
        <p:spPr>
          <a:xfrm>
            <a:off x="5760720" y="5312664"/>
            <a:ext cx="2377440" cy="310896"/>
          </a:xfrm>
          <a:prstGeom prst="rect">
            <a:avLst/>
          </a:prstGeom>
          <a:noFill/>
        </p:spPr>
        <p:txBody>
          <a:bodyPr wrap="square">
            <a:spAutoFit/>
          </a:bodyPr>
          <a:lstStyle/>
          <a:p>
            <a:r>
              <a:rPr sz="1300" b="0">
                <a:solidFill>
                  <a:srgbClr val="CADCFC"/>
                </a:solidFill>
                <a:latin typeface="Calibri"/>
              </a:rPr>
              <a:t>no</a:t>
            </a:r>
          </a:p>
        </p:txBody>
      </p:sp>
      <p:sp>
        <p:nvSpPr>
          <p:cNvPr id="29" name="TextBox 28"/>
          <p:cNvSpPr txBox="1"/>
          <p:nvPr/>
        </p:nvSpPr>
        <p:spPr>
          <a:xfrm>
            <a:off x="8595360" y="5312664"/>
            <a:ext cx="2651760" cy="310896"/>
          </a:xfrm>
          <a:prstGeom prst="rect">
            <a:avLst/>
          </a:prstGeom>
          <a:noFill/>
        </p:spPr>
        <p:txBody>
          <a:bodyPr wrap="square">
            <a:spAutoFit/>
          </a:bodyPr>
          <a:lstStyle/>
          <a:p>
            <a:r>
              <a:rPr sz="1300" b="1">
                <a:solidFill>
                  <a:srgbClr val="E0A458"/>
                </a:solidFill>
                <a:latin typeface="Calibri"/>
              </a:rPr>
              <a:t>YES</a:t>
            </a:r>
          </a:p>
        </p:txBody>
      </p:sp>
      <p:sp>
        <p:nvSpPr>
          <p:cNvPr id="30" name="TextBox 29"/>
          <p:cNvSpPr txBox="1"/>
          <p:nvPr/>
        </p:nvSpPr>
        <p:spPr>
          <a:xfrm>
            <a:off x="640080" y="5806440"/>
            <a:ext cx="10881360" cy="822960"/>
          </a:xfrm>
          <a:prstGeom prst="rect">
            <a:avLst/>
          </a:prstGeom>
          <a:noFill/>
        </p:spPr>
        <p:txBody>
          <a:bodyPr wrap="square">
            <a:spAutoFit/>
          </a:bodyPr>
          <a:lstStyle/>
          <a:p>
            <a:pPr>
              <a:spcAft>
                <a:spcPts val="400"/>
              </a:spcAft>
            </a:pPr>
            <a:r>
              <a:rPr sz="1300" b="1">
                <a:solidFill>
                  <a:srgbClr val="FFFFFF"/>
                </a:solidFill>
                <a:latin typeface="Calibri"/>
              </a:rPr>
              <a:t>They also run experiments. That is not the difference.</a:t>
            </a:r>
          </a:p>
          <a:p>
            <a:pPr>
              <a:spcAft>
                <a:spcPts val="400"/>
              </a:spcAft>
            </a:pPr>
            <a:r>
              <a:rPr sz="1200" b="0">
                <a:solidFill>
                  <a:srgbClr val="CFE8EF"/>
                </a:solidFill>
                <a:latin typeface="Calibri"/>
              </a:rPr>
              <a:t>Four of the five closest surveys stay on one side of the divide. They do not mention it. The large ML survey does not cite security work. The closest security SoK does not cite degradation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RQ7  ·  OPEN PROBLEMS</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Seven problems, ranked by expected value</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22</a:t>
            </a:r>
          </a:p>
        </p:txBody>
      </p:sp>
      <p:sp>
        <p:nvSpPr>
          <p:cNvPr id="5" name="Rounded Rectangle 4"/>
          <p:cNvSpPr/>
          <p:nvPr/>
        </p:nvSpPr>
        <p:spPr>
          <a:xfrm>
            <a:off x="640080" y="2331720"/>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404872"/>
            <a:ext cx="457200" cy="320040"/>
          </a:xfrm>
          <a:prstGeom prst="rect">
            <a:avLst/>
          </a:prstGeom>
          <a:noFill/>
        </p:spPr>
        <p:txBody>
          <a:bodyPr wrap="square">
            <a:spAutoFit/>
          </a:bodyPr>
          <a:lstStyle/>
          <a:p>
            <a:r>
              <a:rPr sz="1400" b="1">
                <a:solidFill>
                  <a:srgbClr val="E0A458"/>
                </a:solidFill>
                <a:latin typeface="Cambria"/>
              </a:rPr>
              <a:t>1</a:t>
            </a:r>
          </a:p>
        </p:txBody>
      </p:sp>
      <p:sp>
        <p:nvSpPr>
          <p:cNvPr id="7" name="TextBox 6"/>
          <p:cNvSpPr txBox="1"/>
          <p:nvPr/>
        </p:nvSpPr>
        <p:spPr>
          <a:xfrm>
            <a:off x="1371600" y="2414015"/>
            <a:ext cx="5120640" cy="320040"/>
          </a:xfrm>
          <a:prstGeom prst="rect">
            <a:avLst/>
          </a:prstGeom>
          <a:noFill/>
        </p:spPr>
        <p:txBody>
          <a:bodyPr wrap="square">
            <a:spAutoFit/>
          </a:bodyPr>
          <a:lstStyle/>
          <a:p>
            <a:r>
              <a:rPr sz="1350" b="1">
                <a:solidFill>
                  <a:srgbClr val="FFFFFF"/>
                </a:solidFill>
                <a:latin typeface="Calibri"/>
              </a:rPr>
              <a:t>The tracks do not test each other</a:t>
            </a:r>
          </a:p>
        </p:txBody>
      </p:sp>
      <p:sp>
        <p:nvSpPr>
          <p:cNvPr id="8" name="TextBox 7"/>
          <p:cNvSpPr txBox="1"/>
          <p:nvPr/>
        </p:nvSpPr>
        <p:spPr>
          <a:xfrm>
            <a:off x="6583680" y="2414015"/>
            <a:ext cx="4663440" cy="320040"/>
          </a:xfrm>
          <a:prstGeom prst="rect">
            <a:avLst/>
          </a:prstGeom>
          <a:noFill/>
        </p:spPr>
        <p:txBody>
          <a:bodyPr wrap="square">
            <a:spAutoFit/>
          </a:bodyPr>
          <a:lstStyle/>
          <a:p>
            <a:r>
              <a:rPr sz="1250" b="0">
                <a:solidFill>
                  <a:srgbClr val="CADCFC"/>
                </a:solidFill>
                <a:latin typeface="Calibri"/>
              </a:rPr>
              <a:t>2.0% of pairs cross the divide</a:t>
            </a:r>
          </a:p>
        </p:txBody>
      </p:sp>
      <p:sp>
        <p:nvSpPr>
          <p:cNvPr id="9" name="Rounded Rectangle 8"/>
          <p:cNvSpPr/>
          <p:nvPr/>
        </p:nvSpPr>
        <p:spPr>
          <a:xfrm>
            <a:off x="640080" y="2907791"/>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80944"/>
            <a:ext cx="457200" cy="320040"/>
          </a:xfrm>
          <a:prstGeom prst="rect">
            <a:avLst/>
          </a:prstGeom>
          <a:noFill/>
        </p:spPr>
        <p:txBody>
          <a:bodyPr wrap="square">
            <a:spAutoFit/>
          </a:bodyPr>
          <a:lstStyle/>
          <a:p>
            <a:r>
              <a:rPr sz="1400" b="1">
                <a:solidFill>
                  <a:srgbClr val="E0A458"/>
                </a:solidFill>
                <a:latin typeface="Cambria"/>
              </a:rPr>
              <a:t>2</a:t>
            </a:r>
          </a:p>
        </p:txBody>
      </p:sp>
      <p:sp>
        <p:nvSpPr>
          <p:cNvPr id="11" name="TextBox 10"/>
          <p:cNvSpPr txBox="1"/>
          <p:nvPr/>
        </p:nvSpPr>
        <p:spPr>
          <a:xfrm>
            <a:off x="1371600" y="2990087"/>
            <a:ext cx="5120640" cy="320040"/>
          </a:xfrm>
          <a:prstGeom prst="rect">
            <a:avLst/>
          </a:prstGeom>
          <a:noFill/>
        </p:spPr>
        <p:txBody>
          <a:bodyPr wrap="square">
            <a:spAutoFit/>
          </a:bodyPr>
          <a:lstStyle/>
          <a:p>
            <a:r>
              <a:rPr sz="1350" b="1">
                <a:solidFill>
                  <a:srgbClr val="FFFFFF"/>
                </a:solidFill>
                <a:latin typeface="Calibri"/>
              </a:rPr>
              <a:t>The uncovered tail</a:t>
            </a:r>
          </a:p>
        </p:txBody>
      </p:sp>
      <p:sp>
        <p:nvSpPr>
          <p:cNvPr id="12" name="TextBox 11"/>
          <p:cNvSpPr txBox="1"/>
          <p:nvPr/>
        </p:nvSpPr>
        <p:spPr>
          <a:xfrm>
            <a:off x="6583680" y="2990087"/>
            <a:ext cx="4663440" cy="320040"/>
          </a:xfrm>
          <a:prstGeom prst="rect">
            <a:avLst/>
          </a:prstGeom>
          <a:noFill/>
        </p:spPr>
        <p:txBody>
          <a:bodyPr wrap="square">
            <a:spAutoFit/>
          </a:bodyPr>
          <a:lstStyle/>
          <a:p>
            <a:r>
              <a:rPr sz="1250" b="0">
                <a:solidFill>
                  <a:srgbClr val="CADCFC"/>
                </a:solidFill>
                <a:latin typeface="Calibri"/>
              </a:rPr>
              <a:t>119 mechanisms have no tested defense</a:t>
            </a:r>
          </a:p>
        </p:txBody>
      </p:sp>
      <p:sp>
        <p:nvSpPr>
          <p:cNvPr id="13" name="Rounded Rectangle 12"/>
          <p:cNvSpPr/>
          <p:nvPr/>
        </p:nvSpPr>
        <p:spPr>
          <a:xfrm>
            <a:off x="640080" y="3483863"/>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557015"/>
            <a:ext cx="457200" cy="320040"/>
          </a:xfrm>
          <a:prstGeom prst="rect">
            <a:avLst/>
          </a:prstGeom>
          <a:noFill/>
        </p:spPr>
        <p:txBody>
          <a:bodyPr wrap="square">
            <a:spAutoFit/>
          </a:bodyPr>
          <a:lstStyle/>
          <a:p>
            <a:r>
              <a:rPr sz="1400" b="1">
                <a:solidFill>
                  <a:srgbClr val="E0A458"/>
                </a:solidFill>
                <a:latin typeface="Cambria"/>
              </a:rPr>
              <a:t>3</a:t>
            </a:r>
          </a:p>
        </p:txBody>
      </p:sp>
      <p:sp>
        <p:nvSpPr>
          <p:cNvPr id="15" name="TextBox 14"/>
          <p:cNvSpPr txBox="1"/>
          <p:nvPr/>
        </p:nvSpPr>
        <p:spPr>
          <a:xfrm>
            <a:off x="1371600" y="3566159"/>
            <a:ext cx="5120640" cy="320040"/>
          </a:xfrm>
          <a:prstGeom prst="rect">
            <a:avLst/>
          </a:prstGeom>
          <a:noFill/>
        </p:spPr>
        <p:txBody>
          <a:bodyPr wrap="square">
            <a:spAutoFit/>
          </a:bodyPr>
          <a:lstStyle/>
          <a:p>
            <a:r>
              <a:rPr sz="1350" b="1">
                <a:solidFill>
                  <a:srgbClr val="FFFFFF"/>
                </a:solidFill>
                <a:latin typeface="Calibri"/>
              </a:rPr>
              <a:t>Single-mechanism validation is the norm</a:t>
            </a:r>
          </a:p>
        </p:txBody>
      </p:sp>
      <p:sp>
        <p:nvSpPr>
          <p:cNvPr id="16" name="TextBox 15"/>
          <p:cNvSpPr txBox="1"/>
          <p:nvPr/>
        </p:nvSpPr>
        <p:spPr>
          <a:xfrm>
            <a:off x="6583680" y="3566159"/>
            <a:ext cx="4663440" cy="320040"/>
          </a:xfrm>
          <a:prstGeom prst="rect">
            <a:avLst/>
          </a:prstGeom>
          <a:noFill/>
        </p:spPr>
        <p:txBody>
          <a:bodyPr wrap="square">
            <a:spAutoFit/>
          </a:bodyPr>
          <a:lstStyle/>
          <a:p>
            <a:r>
              <a:rPr sz="1250" b="0">
                <a:solidFill>
                  <a:srgbClr val="CADCFC"/>
                </a:solidFill>
                <a:latin typeface="Calibri"/>
              </a:rPr>
              <a:t>163 defenses tested against exactly one</a:t>
            </a:r>
          </a:p>
        </p:txBody>
      </p:sp>
      <p:sp>
        <p:nvSpPr>
          <p:cNvPr id="17" name="Rounded Rectangle 16"/>
          <p:cNvSpPr/>
          <p:nvPr/>
        </p:nvSpPr>
        <p:spPr>
          <a:xfrm>
            <a:off x="640080" y="4059935"/>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133087"/>
            <a:ext cx="457200" cy="320040"/>
          </a:xfrm>
          <a:prstGeom prst="rect">
            <a:avLst/>
          </a:prstGeom>
          <a:noFill/>
        </p:spPr>
        <p:txBody>
          <a:bodyPr wrap="square">
            <a:spAutoFit/>
          </a:bodyPr>
          <a:lstStyle/>
          <a:p>
            <a:r>
              <a:rPr sz="1400" b="1">
                <a:solidFill>
                  <a:srgbClr val="E0A458"/>
                </a:solidFill>
                <a:latin typeface="Cambria"/>
              </a:rPr>
              <a:t>4</a:t>
            </a:r>
          </a:p>
        </p:txBody>
      </p:sp>
      <p:sp>
        <p:nvSpPr>
          <p:cNvPr id="19" name="TextBox 18"/>
          <p:cNvSpPr txBox="1"/>
          <p:nvPr/>
        </p:nvSpPr>
        <p:spPr>
          <a:xfrm>
            <a:off x="1371600" y="4142231"/>
            <a:ext cx="5120640" cy="320040"/>
          </a:xfrm>
          <a:prstGeom prst="rect">
            <a:avLst/>
          </a:prstGeom>
          <a:noFill/>
        </p:spPr>
        <p:txBody>
          <a:bodyPr wrap="square">
            <a:spAutoFit/>
          </a:bodyPr>
          <a:lstStyle/>
          <a:p>
            <a:r>
              <a:rPr sz="1350" b="1">
                <a:solidFill>
                  <a:srgbClr val="FFFFFF"/>
                </a:solidFill>
                <a:latin typeface="Calibri"/>
              </a:rPr>
              <a:t>Defenses meet only their contemporaries</a:t>
            </a:r>
          </a:p>
        </p:txBody>
      </p:sp>
      <p:sp>
        <p:nvSpPr>
          <p:cNvPr id="20" name="TextBox 19"/>
          <p:cNvSpPr txBox="1"/>
          <p:nvPr/>
        </p:nvSpPr>
        <p:spPr>
          <a:xfrm>
            <a:off x="6583680" y="4142231"/>
            <a:ext cx="4663440" cy="320040"/>
          </a:xfrm>
          <a:prstGeom prst="rect">
            <a:avLst/>
          </a:prstGeom>
          <a:noFill/>
        </p:spPr>
        <p:txBody>
          <a:bodyPr wrap="square">
            <a:spAutoFit/>
          </a:bodyPr>
          <a:lstStyle/>
          <a:p>
            <a:r>
              <a:rPr sz="1250" b="0">
                <a:solidFill>
                  <a:srgbClr val="CADCFC"/>
                </a:solidFill>
                <a:latin typeface="Calibri"/>
              </a:rPr>
              <a:t>attack papers hold the later record</a:t>
            </a:r>
          </a:p>
        </p:txBody>
      </p:sp>
      <p:sp>
        <p:nvSpPr>
          <p:cNvPr id="21" name="Rounded Rectangle 20"/>
          <p:cNvSpPr/>
          <p:nvPr/>
        </p:nvSpPr>
        <p:spPr>
          <a:xfrm>
            <a:off x="640080" y="4636008"/>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09160"/>
            <a:ext cx="457200" cy="320040"/>
          </a:xfrm>
          <a:prstGeom prst="rect">
            <a:avLst/>
          </a:prstGeom>
          <a:noFill/>
        </p:spPr>
        <p:txBody>
          <a:bodyPr wrap="square">
            <a:spAutoFit/>
          </a:bodyPr>
          <a:lstStyle/>
          <a:p>
            <a:r>
              <a:rPr sz="1400" b="1">
                <a:solidFill>
                  <a:srgbClr val="E0A458"/>
                </a:solidFill>
                <a:latin typeface="Cambria"/>
              </a:rPr>
              <a:t>5</a:t>
            </a:r>
          </a:p>
        </p:txBody>
      </p:sp>
      <p:sp>
        <p:nvSpPr>
          <p:cNvPr id="23" name="TextBox 22"/>
          <p:cNvSpPr txBox="1"/>
          <p:nvPr/>
        </p:nvSpPr>
        <p:spPr>
          <a:xfrm>
            <a:off x="1371600" y="4718304"/>
            <a:ext cx="5120640" cy="320040"/>
          </a:xfrm>
          <a:prstGeom prst="rect">
            <a:avLst/>
          </a:prstGeom>
          <a:noFill/>
        </p:spPr>
        <p:txBody>
          <a:bodyPr wrap="square">
            <a:spAutoFit/>
          </a:bodyPr>
          <a:lstStyle/>
          <a:p>
            <a:r>
              <a:rPr sz="1350" b="1">
                <a:solidFill>
                  <a:srgbClr val="FFFFFF"/>
                </a:solidFill>
                <a:latin typeface="Calibri"/>
              </a:rPr>
              <a:t>Intervention point predicts generalization</a:t>
            </a:r>
          </a:p>
        </p:txBody>
      </p:sp>
      <p:sp>
        <p:nvSpPr>
          <p:cNvPr id="24" name="TextBox 23"/>
          <p:cNvSpPr txBox="1"/>
          <p:nvPr/>
        </p:nvSpPr>
        <p:spPr>
          <a:xfrm>
            <a:off x="6583680" y="4718304"/>
            <a:ext cx="4663440" cy="320040"/>
          </a:xfrm>
          <a:prstGeom prst="rect">
            <a:avLst/>
          </a:prstGeom>
          <a:noFill/>
        </p:spPr>
        <p:txBody>
          <a:bodyPr wrap="square">
            <a:spAutoFit/>
          </a:bodyPr>
          <a:lstStyle/>
          <a:p>
            <a:r>
              <a:rPr sz="1250" b="0">
                <a:solidFill>
                  <a:srgbClr val="CADCFC"/>
                </a:solidFill>
                <a:latin typeface="Calibri"/>
              </a:rPr>
              <a:t>testable, and partly confounded today</a:t>
            </a:r>
          </a:p>
        </p:txBody>
      </p:sp>
      <p:sp>
        <p:nvSpPr>
          <p:cNvPr id="25" name="Rounded Rectangle 24"/>
          <p:cNvSpPr/>
          <p:nvPr/>
        </p:nvSpPr>
        <p:spPr>
          <a:xfrm>
            <a:off x="640080" y="5212079"/>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285231"/>
            <a:ext cx="457200" cy="320040"/>
          </a:xfrm>
          <a:prstGeom prst="rect">
            <a:avLst/>
          </a:prstGeom>
          <a:noFill/>
        </p:spPr>
        <p:txBody>
          <a:bodyPr wrap="square">
            <a:spAutoFit/>
          </a:bodyPr>
          <a:lstStyle/>
          <a:p>
            <a:r>
              <a:rPr sz="1400" b="1">
                <a:solidFill>
                  <a:srgbClr val="E0A458"/>
                </a:solidFill>
                <a:latin typeface="Cambria"/>
              </a:rPr>
              <a:t>6</a:t>
            </a:r>
          </a:p>
        </p:txBody>
      </p:sp>
      <p:sp>
        <p:nvSpPr>
          <p:cNvPr id="27" name="TextBox 26"/>
          <p:cNvSpPr txBox="1"/>
          <p:nvPr/>
        </p:nvSpPr>
        <p:spPr>
          <a:xfrm>
            <a:off x="1371600" y="5294375"/>
            <a:ext cx="5120640" cy="320040"/>
          </a:xfrm>
          <a:prstGeom prst="rect">
            <a:avLst/>
          </a:prstGeom>
          <a:noFill/>
        </p:spPr>
        <p:txBody>
          <a:bodyPr wrap="square">
            <a:spAutoFit/>
          </a:bodyPr>
          <a:lstStyle/>
          <a:p>
            <a:r>
              <a:rPr sz="1350" b="1">
                <a:solidFill>
                  <a:srgbClr val="FFFFFF"/>
                </a:solidFill>
                <a:latin typeface="Calibri"/>
              </a:rPr>
              <a:t>Benchmarks stand in for mechanisms</a:t>
            </a:r>
          </a:p>
        </p:txBody>
      </p:sp>
      <p:sp>
        <p:nvSpPr>
          <p:cNvPr id="28" name="TextBox 27"/>
          <p:cNvSpPr txBox="1"/>
          <p:nvPr/>
        </p:nvSpPr>
        <p:spPr>
          <a:xfrm>
            <a:off x="6583680" y="5294375"/>
            <a:ext cx="4663440" cy="320040"/>
          </a:xfrm>
          <a:prstGeom prst="rect">
            <a:avLst/>
          </a:prstGeom>
          <a:noFill/>
        </p:spPr>
        <p:txBody>
          <a:bodyPr wrap="square">
            <a:spAutoFit/>
          </a:bodyPr>
          <a:lstStyle/>
          <a:p>
            <a:r>
              <a:rPr sz="1250" b="0">
                <a:solidFill>
                  <a:srgbClr val="CADCFC"/>
                </a:solidFill>
                <a:latin typeface="Calibri"/>
              </a:rPr>
              <a:t>one entry takes 22.9% of the pairs</a:t>
            </a:r>
          </a:p>
        </p:txBody>
      </p:sp>
      <p:sp>
        <p:nvSpPr>
          <p:cNvPr id="29" name="Rounded Rectangle 28"/>
          <p:cNvSpPr/>
          <p:nvPr/>
        </p:nvSpPr>
        <p:spPr>
          <a:xfrm>
            <a:off x="640080" y="5788152"/>
            <a:ext cx="10881360" cy="475488"/>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861304"/>
            <a:ext cx="457200" cy="320040"/>
          </a:xfrm>
          <a:prstGeom prst="rect">
            <a:avLst/>
          </a:prstGeom>
          <a:noFill/>
        </p:spPr>
        <p:txBody>
          <a:bodyPr wrap="square">
            <a:spAutoFit/>
          </a:bodyPr>
          <a:lstStyle/>
          <a:p>
            <a:r>
              <a:rPr sz="1400" b="1">
                <a:solidFill>
                  <a:srgbClr val="E0A458"/>
                </a:solidFill>
                <a:latin typeface="Cambria"/>
              </a:rPr>
              <a:t>7</a:t>
            </a:r>
          </a:p>
        </p:txBody>
      </p:sp>
      <p:sp>
        <p:nvSpPr>
          <p:cNvPr id="31" name="TextBox 30"/>
          <p:cNvSpPr txBox="1"/>
          <p:nvPr/>
        </p:nvSpPr>
        <p:spPr>
          <a:xfrm>
            <a:off x="1371600" y="5870448"/>
            <a:ext cx="5120640" cy="320040"/>
          </a:xfrm>
          <a:prstGeom prst="rect">
            <a:avLst/>
          </a:prstGeom>
          <a:noFill/>
        </p:spPr>
        <p:txBody>
          <a:bodyPr wrap="square">
            <a:spAutoFit/>
          </a:bodyPr>
          <a:lstStyle/>
          <a:p>
            <a:r>
              <a:rPr sz="1350" b="1">
                <a:solidFill>
                  <a:srgbClr val="FFFFFF"/>
                </a:solidFill>
                <a:latin typeface="Calibri"/>
              </a:rPr>
              <a:t>The problem is convention, not ability</a:t>
            </a:r>
          </a:p>
        </p:txBody>
      </p:sp>
      <p:sp>
        <p:nvSpPr>
          <p:cNvPr id="32" name="TextBox 31"/>
          <p:cNvSpPr txBox="1"/>
          <p:nvPr/>
        </p:nvSpPr>
        <p:spPr>
          <a:xfrm>
            <a:off x="6583680" y="5870448"/>
            <a:ext cx="4663440" cy="320040"/>
          </a:xfrm>
          <a:prstGeom prst="rect">
            <a:avLst/>
          </a:prstGeom>
          <a:noFill/>
        </p:spPr>
        <p:txBody>
          <a:bodyPr wrap="square">
            <a:spAutoFit/>
          </a:bodyPr>
          <a:lstStyle/>
          <a:p>
            <a:r>
              <a:rPr sz="1250" b="0">
                <a:solidFill>
                  <a:srgbClr val="CADCFC"/>
                </a:solidFill>
                <a:latin typeface="Calibri"/>
              </a:rPr>
              <a:t>four of seven need no new science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SYNTHESIS</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600" b="1">
                <a:solidFill>
                  <a:srgbClr val="FFFFFF"/>
                </a:solidFill>
                <a:latin typeface="Cambria"/>
              </a:rPr>
              <a:t>The field claims less coverage than it has.</a:t>
            </a:r>
          </a:p>
          <a:p>
            <a:pPr>
              <a:spcAft>
                <a:spcPts val="200"/>
              </a:spcAft>
            </a:pPr>
            <a:r>
              <a:rPr sz="2600" b="1">
                <a:solidFill>
                  <a:srgbClr val="FFFFFF"/>
                </a:solidFill>
                <a:latin typeface="Cambria"/>
              </a:rPr>
              <a:t>Some of what it has does harm.</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23</a:t>
            </a:r>
          </a:p>
        </p:txBody>
      </p:sp>
      <p:sp>
        <p:nvSpPr>
          <p:cNvPr id="5" name="TextBox 4"/>
          <p:cNvSpPr txBox="1"/>
          <p:nvPr/>
        </p:nvSpPr>
        <p:spPr>
          <a:xfrm>
            <a:off x="640080" y="2331720"/>
            <a:ext cx="10881360" cy="1097280"/>
          </a:xfrm>
          <a:prstGeom prst="rect">
            <a:avLst/>
          </a:prstGeom>
          <a:noFill/>
        </p:spPr>
        <p:txBody>
          <a:bodyPr wrap="square">
            <a:spAutoFit/>
          </a:bodyPr>
          <a:lstStyle/>
          <a:p>
            <a:pPr>
              <a:spcAft>
                <a:spcPts val="500"/>
              </a:spcAft>
            </a:pPr>
            <a:r>
              <a:rPr sz="1400" b="0">
                <a:solidFill>
                  <a:srgbClr val="CADCFC"/>
                </a:solidFill>
                <a:latin typeface="Calibri"/>
              </a:rPr>
              <a:t>Two literatures study the same problem. They do not read each other.</a:t>
            </a:r>
          </a:p>
          <a:p>
            <a:pPr>
              <a:spcAft>
                <a:spcPts val="500"/>
              </a:spcAft>
            </a:pPr>
            <a:r>
              <a:rPr sz="1400" b="0">
                <a:solidFill>
                  <a:srgbClr val="CADCFC"/>
                </a:solidFill>
                <a:latin typeface="Calibri"/>
              </a:rPr>
              <a:t>They name 223 ways to poison a context and 534 defenses. They almost never test one against the other.</a:t>
            </a:r>
          </a:p>
        </p:txBody>
      </p:sp>
      <p:sp>
        <p:nvSpPr>
          <p:cNvPr id="6" name="Rounded Rectangle 5"/>
          <p:cNvSpPr/>
          <p:nvPr/>
        </p:nvSpPr>
        <p:spPr>
          <a:xfrm>
            <a:off x="640080" y="3703320"/>
            <a:ext cx="10881360" cy="1417320"/>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13632"/>
            <a:ext cx="10241280" cy="1051560"/>
          </a:xfrm>
          <a:prstGeom prst="rect">
            <a:avLst/>
          </a:prstGeom>
          <a:noFill/>
        </p:spPr>
        <p:txBody>
          <a:bodyPr wrap="square">
            <a:spAutoFit/>
          </a:bodyPr>
          <a:lstStyle/>
          <a:p>
            <a:pPr>
              <a:spcAft>
                <a:spcPts val="300"/>
              </a:spcAft>
            </a:pPr>
            <a:r>
              <a:rPr sz="1700" b="1">
                <a:solidFill>
                  <a:srgbClr val="E0A458"/>
                </a:solidFill>
                <a:latin typeface="Calibri"/>
              </a:rPr>
              <a:t>The first limit is coordination. It is not ability.</a:t>
            </a:r>
          </a:p>
          <a:p>
            <a:pPr>
              <a:spcAft>
                <a:spcPts val="300"/>
              </a:spcAft>
            </a:pPr>
            <a:r>
              <a:rPr sz="1300" b="0">
                <a:solidFill>
                  <a:srgbClr val="FFFFFF"/>
                </a:solidFill>
                <a:latin typeface="Calibri"/>
              </a:rPr>
              <a:t>RQ6 ran 7 defenses. 6 of them gave some protection against a threat model they never saw.</a:t>
            </a:r>
          </a:p>
          <a:p>
            <a:pPr>
              <a:spcAft>
                <a:spcPts val="300"/>
              </a:spcAft>
            </a:pPr>
            <a:r>
              <a:rPr sz="1300" b="0">
                <a:solidFill>
                  <a:srgbClr val="FFFFFF"/>
                </a:solidFill>
                <a:latin typeface="Calibri"/>
              </a:rPr>
              <a:t>The protection is there. The test convention that would show it is not.</a:t>
            </a:r>
          </a:p>
        </p:txBody>
      </p:sp>
      <p:sp>
        <p:nvSpPr>
          <p:cNvPr id="8" name="TextBox 7"/>
          <p:cNvSpPr txBox="1"/>
          <p:nvPr/>
        </p:nvSpPr>
        <p:spPr>
          <a:xfrm>
            <a:off x="640080" y="5303520"/>
            <a:ext cx="10881360" cy="1280160"/>
          </a:xfrm>
          <a:prstGeom prst="rect">
            <a:avLst/>
          </a:prstGeom>
          <a:noFill/>
        </p:spPr>
        <p:txBody>
          <a:bodyPr wrap="square">
            <a:spAutoFit/>
          </a:bodyPr>
          <a:lstStyle/>
          <a:p>
            <a:pPr>
              <a:spcAft>
                <a:spcPts val="400"/>
              </a:spcAft>
            </a:pPr>
            <a:r>
              <a:rPr sz="1300" b="0">
                <a:solidFill>
                  <a:srgbClr val="CFE8EF"/>
                </a:solidFill>
                <a:latin typeface="Calibri"/>
              </a:rPr>
              <a:t>The gap is not ours. We added the literature we thought was missing, to close it. It did not close.</a:t>
            </a:r>
          </a:p>
          <a:p>
            <a:pPr>
              <a:spcAft>
                <a:spcPts val="400"/>
              </a:spcAft>
            </a:pPr>
            <a:r>
              <a:rPr sz="1300" b="1">
                <a:solidFill>
                  <a:srgbClr val="FFFFFF"/>
                </a:solidFill>
                <a:latin typeface="Calibri"/>
              </a:rPr>
              <a:t>But coverage is not the whole result. When we ran the code, some defenses did not simply fail.</a:t>
            </a:r>
          </a:p>
          <a:p>
            <a:pPr>
              <a:spcAft>
                <a:spcPts val="400"/>
              </a:spcAft>
            </a:pPr>
            <a:r>
              <a:rPr sz="1300" b="1">
                <a:solidFill>
                  <a:srgbClr val="B54A3F"/>
                </a:solidFill>
                <a:latin typeface="Calibri"/>
              </a:rPr>
              <a:t>They made an attack work that stays near zero on a model with no defense at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REPRODUCIBILITY</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2600" b="1">
                <a:solidFill>
                  <a:srgbClr val="FFFFFF"/>
                </a:solidFill>
                <a:latin typeface="Cambria"/>
              </a:rPr>
              <a:t>Every number on these slides regenerates from the repo</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24</a:t>
            </a:r>
          </a:p>
        </p:txBody>
      </p:sp>
      <p:sp>
        <p:nvSpPr>
          <p:cNvPr id="5" name="Rounded Rectangle 4"/>
          <p:cNvSpPr/>
          <p:nvPr/>
        </p:nvSpPr>
        <p:spPr>
          <a:xfrm>
            <a:off x="640080" y="2468880"/>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69464"/>
            <a:ext cx="4206240" cy="320040"/>
          </a:xfrm>
          <a:prstGeom prst="rect">
            <a:avLst/>
          </a:prstGeom>
          <a:noFill/>
        </p:spPr>
        <p:txBody>
          <a:bodyPr wrap="square">
            <a:spAutoFit/>
          </a:bodyPr>
          <a:lstStyle/>
          <a:p>
            <a:r>
              <a:rPr sz="1300" b="1">
                <a:solidFill>
                  <a:srgbClr val="E0A458"/>
                </a:solidFill>
                <a:latin typeface="Calibri"/>
              </a:rPr>
              <a:t>config.yaml</a:t>
            </a:r>
          </a:p>
        </p:txBody>
      </p:sp>
      <p:sp>
        <p:nvSpPr>
          <p:cNvPr id="7" name="TextBox 6"/>
          <p:cNvSpPr txBox="1"/>
          <p:nvPr/>
        </p:nvSpPr>
        <p:spPr>
          <a:xfrm>
            <a:off x="5212080" y="2569464"/>
            <a:ext cx="6035040" cy="320040"/>
          </a:xfrm>
          <a:prstGeom prst="rect">
            <a:avLst/>
          </a:prstGeom>
          <a:noFill/>
        </p:spPr>
        <p:txBody>
          <a:bodyPr wrap="square">
            <a:spAutoFit/>
          </a:bodyPr>
          <a:lstStyle/>
          <a:p>
            <a:r>
              <a:rPr sz="1250" b="0">
                <a:solidFill>
                  <a:srgbClr val="CADCFC"/>
                </a:solidFill>
                <a:latin typeface="Calibri"/>
              </a:rPr>
              <a:t>screening criteria, applied by rule</a:t>
            </a:r>
          </a:p>
        </p:txBody>
      </p:sp>
      <p:sp>
        <p:nvSpPr>
          <p:cNvPr id="8" name="Rounded Rectangle 7"/>
          <p:cNvSpPr/>
          <p:nvPr/>
        </p:nvSpPr>
        <p:spPr>
          <a:xfrm>
            <a:off x="640080" y="3090672"/>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91256"/>
            <a:ext cx="4206240" cy="320040"/>
          </a:xfrm>
          <a:prstGeom prst="rect">
            <a:avLst/>
          </a:prstGeom>
          <a:noFill/>
        </p:spPr>
        <p:txBody>
          <a:bodyPr wrap="square">
            <a:spAutoFit/>
          </a:bodyPr>
          <a:lstStyle/>
          <a:p>
            <a:r>
              <a:rPr sz="1300" b="1">
                <a:solidFill>
                  <a:srgbClr val="E0A458"/>
                </a:solidFill>
                <a:latin typeface="Calibri"/>
              </a:rPr>
              <a:t>rescreening_log.md</a:t>
            </a:r>
          </a:p>
        </p:txBody>
      </p:sp>
      <p:sp>
        <p:nvSpPr>
          <p:cNvPr id="10" name="TextBox 9"/>
          <p:cNvSpPr txBox="1"/>
          <p:nvPr/>
        </p:nvSpPr>
        <p:spPr>
          <a:xfrm>
            <a:off x="5212080" y="3191256"/>
            <a:ext cx="6035040" cy="320040"/>
          </a:xfrm>
          <a:prstGeom prst="rect">
            <a:avLst/>
          </a:prstGeom>
          <a:noFill/>
        </p:spPr>
        <p:txBody>
          <a:bodyPr wrap="square">
            <a:spAutoFit/>
          </a:bodyPr>
          <a:lstStyle/>
          <a:p>
            <a:r>
              <a:rPr sz="1250" b="0">
                <a:solidFill>
                  <a:srgbClr val="CADCFC"/>
                </a:solidFill>
                <a:latin typeface="Calibri"/>
              </a:rPr>
              <a:t>every corpus-affecting decision, dated, with cause</a:t>
            </a:r>
          </a:p>
        </p:txBody>
      </p:sp>
      <p:sp>
        <p:nvSpPr>
          <p:cNvPr id="11" name="Rounded Rectangle 10"/>
          <p:cNvSpPr/>
          <p:nvPr/>
        </p:nvSpPr>
        <p:spPr>
          <a:xfrm>
            <a:off x="640080" y="3712464"/>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813048"/>
            <a:ext cx="4206240" cy="320040"/>
          </a:xfrm>
          <a:prstGeom prst="rect">
            <a:avLst/>
          </a:prstGeom>
          <a:noFill/>
        </p:spPr>
        <p:txBody>
          <a:bodyPr wrap="square">
            <a:spAutoFit/>
          </a:bodyPr>
          <a:lstStyle/>
          <a:p>
            <a:r>
              <a:rPr sz="1300" b="1">
                <a:solidFill>
                  <a:srgbClr val="E0A458"/>
                </a:solidFill>
                <a:latin typeface="Calibri"/>
              </a:rPr>
              <a:t>scripts/</a:t>
            </a:r>
          </a:p>
        </p:txBody>
      </p:sp>
      <p:sp>
        <p:nvSpPr>
          <p:cNvPr id="13" name="TextBox 12"/>
          <p:cNvSpPr txBox="1"/>
          <p:nvPr/>
        </p:nvSpPr>
        <p:spPr>
          <a:xfrm>
            <a:off x="5212080" y="3813048"/>
            <a:ext cx="6035040" cy="320040"/>
          </a:xfrm>
          <a:prstGeom prst="rect">
            <a:avLst/>
          </a:prstGeom>
          <a:noFill/>
        </p:spPr>
        <p:txBody>
          <a:bodyPr wrap="square">
            <a:spAutoFit/>
          </a:bodyPr>
          <a:lstStyle/>
          <a:p>
            <a:r>
              <a:rPr sz="1250" b="0">
                <a:solidFill>
                  <a:srgbClr val="CADCFC"/>
                </a:solidFill>
                <a:latin typeface="Calibri"/>
              </a:rPr>
              <a:t>dedupe → registries → coverage matrix → RQ1/RQ2/RQ7</a:t>
            </a:r>
          </a:p>
        </p:txBody>
      </p:sp>
      <p:sp>
        <p:nvSpPr>
          <p:cNvPr id="14" name="Rounded Rectangle 13"/>
          <p:cNvSpPr/>
          <p:nvPr/>
        </p:nvSpPr>
        <p:spPr>
          <a:xfrm>
            <a:off x="640080" y="4334256"/>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34840"/>
            <a:ext cx="4206240" cy="320040"/>
          </a:xfrm>
          <a:prstGeom prst="rect">
            <a:avLst/>
          </a:prstGeom>
          <a:noFill/>
        </p:spPr>
        <p:txBody>
          <a:bodyPr wrap="square">
            <a:spAutoFit/>
          </a:bodyPr>
          <a:lstStyle/>
          <a:p>
            <a:r>
              <a:rPr sz="1300" b="1">
                <a:solidFill>
                  <a:srgbClr val="E0A458"/>
                </a:solidFill>
                <a:latin typeface="Calibri"/>
              </a:rPr>
              <a:t>context_sok_master_workbook.xlsx</a:t>
            </a:r>
          </a:p>
        </p:txBody>
      </p:sp>
      <p:sp>
        <p:nvSpPr>
          <p:cNvPr id="16" name="TextBox 15"/>
          <p:cNvSpPr txBox="1"/>
          <p:nvPr/>
        </p:nvSpPr>
        <p:spPr>
          <a:xfrm>
            <a:off x="5212080" y="4434840"/>
            <a:ext cx="6035040" cy="320040"/>
          </a:xfrm>
          <a:prstGeom prst="rect">
            <a:avLst/>
          </a:prstGeom>
          <a:noFill/>
        </p:spPr>
        <p:txBody>
          <a:bodyPr wrap="square">
            <a:spAutoFit/>
          </a:bodyPr>
          <a:lstStyle/>
          <a:p>
            <a:r>
              <a:rPr sz="1250" b="0">
                <a:solidFill>
                  <a:srgbClr val="CADCFC"/>
                </a:solidFill>
                <a:latin typeface="Calibri"/>
              </a:rPr>
              <a:t>papers, mechanisms, defenses, pairs, gaps</a:t>
            </a:r>
          </a:p>
        </p:txBody>
      </p:sp>
      <p:sp>
        <p:nvSpPr>
          <p:cNvPr id="17" name="Rounded Rectangle 16"/>
          <p:cNvSpPr/>
          <p:nvPr/>
        </p:nvSpPr>
        <p:spPr>
          <a:xfrm>
            <a:off x="640080" y="4956048"/>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56632"/>
            <a:ext cx="4206240" cy="320040"/>
          </a:xfrm>
          <a:prstGeom prst="rect">
            <a:avLst/>
          </a:prstGeom>
          <a:noFill/>
        </p:spPr>
        <p:txBody>
          <a:bodyPr wrap="square">
            <a:spAutoFit/>
          </a:bodyPr>
          <a:lstStyle/>
          <a:p>
            <a:r>
              <a:rPr sz="1300" b="1">
                <a:solidFill>
                  <a:srgbClr val="E0A458"/>
                </a:solidFill>
                <a:latin typeface="Calibri"/>
              </a:rPr>
              <a:t>mcp_server/</a:t>
            </a:r>
          </a:p>
        </p:txBody>
      </p:sp>
      <p:sp>
        <p:nvSpPr>
          <p:cNvPr id="19" name="TextBox 18"/>
          <p:cNvSpPr txBox="1"/>
          <p:nvPr/>
        </p:nvSpPr>
        <p:spPr>
          <a:xfrm>
            <a:off x="5212080" y="5056632"/>
            <a:ext cx="6035040" cy="320040"/>
          </a:xfrm>
          <a:prstGeom prst="rect">
            <a:avLst/>
          </a:prstGeom>
          <a:noFill/>
        </p:spPr>
        <p:txBody>
          <a:bodyPr wrap="square">
            <a:spAutoFit/>
          </a:bodyPr>
          <a:lstStyle/>
          <a:p>
            <a:r>
              <a:rPr sz="1250" b="0">
                <a:solidFill>
                  <a:srgbClr val="CADCFC"/>
                </a:solidFill>
                <a:latin typeface="Calibri"/>
              </a:rPr>
              <a:t>the same data, queryable conversationally</a:t>
            </a:r>
          </a:p>
        </p:txBody>
      </p:sp>
      <p:sp>
        <p:nvSpPr>
          <p:cNvPr id="20" name="Rounded Rectangle 19"/>
          <p:cNvSpPr/>
          <p:nvPr/>
        </p:nvSpPr>
        <p:spPr>
          <a:xfrm>
            <a:off x="640080" y="5577840"/>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78424"/>
            <a:ext cx="4206240" cy="320040"/>
          </a:xfrm>
          <a:prstGeom prst="rect">
            <a:avLst/>
          </a:prstGeom>
          <a:noFill/>
        </p:spPr>
        <p:txBody>
          <a:bodyPr wrap="square">
            <a:spAutoFit/>
          </a:bodyPr>
          <a:lstStyle/>
          <a:p>
            <a:r>
              <a:rPr sz="1300" b="1">
                <a:solidFill>
                  <a:srgbClr val="E0A458"/>
                </a:solidFill>
                <a:latin typeface="Calibri"/>
              </a:rPr>
              <a:t>data/paper_explorer.db</a:t>
            </a:r>
          </a:p>
        </p:txBody>
      </p:sp>
      <p:sp>
        <p:nvSpPr>
          <p:cNvPr id="22" name="TextBox 21"/>
          <p:cNvSpPr txBox="1"/>
          <p:nvPr/>
        </p:nvSpPr>
        <p:spPr>
          <a:xfrm>
            <a:off x="5212080" y="5678424"/>
            <a:ext cx="6035040" cy="320040"/>
          </a:xfrm>
          <a:prstGeom prst="rect">
            <a:avLst/>
          </a:prstGeom>
          <a:noFill/>
        </p:spPr>
        <p:txBody>
          <a:bodyPr wrap="square">
            <a:spAutoFit/>
          </a:bodyPr>
          <a:lstStyle/>
          <a:p>
            <a:r>
              <a:rPr sz="1250" b="0">
                <a:solidFill>
                  <a:srgbClr val="CADCFC"/>
                </a:solidFill>
                <a:latin typeface="Calibri"/>
              </a:rPr>
              <a:t>coverage and transfer figures, one source</a:t>
            </a:r>
          </a:p>
        </p:txBody>
      </p:sp>
      <p:sp>
        <p:nvSpPr>
          <p:cNvPr id="23" name="Rounded Rectangle 22"/>
          <p:cNvSpPr/>
          <p:nvPr/>
        </p:nvSpPr>
        <p:spPr>
          <a:xfrm>
            <a:off x="640080" y="6199632"/>
            <a:ext cx="10881360" cy="512064"/>
          </a:xfrm>
          <a:prstGeom prst="roundRect">
            <a:avLst/>
          </a:prstGeom>
          <a:solidFill>
            <a:srgbClr val="1B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300216"/>
            <a:ext cx="4206240" cy="320040"/>
          </a:xfrm>
          <a:prstGeom prst="rect">
            <a:avLst/>
          </a:prstGeom>
          <a:noFill/>
        </p:spPr>
        <p:txBody>
          <a:bodyPr wrap="square">
            <a:spAutoFit/>
          </a:bodyPr>
          <a:lstStyle/>
          <a:p>
            <a:r>
              <a:rPr sz="1300" b="1">
                <a:solidFill>
                  <a:srgbClr val="E0A458"/>
                </a:solidFill>
                <a:latin typeface="Calibri"/>
              </a:rPr>
              <a:t>scripts/build_presentation.py</a:t>
            </a:r>
          </a:p>
        </p:txBody>
      </p:sp>
      <p:sp>
        <p:nvSpPr>
          <p:cNvPr id="25" name="TextBox 24"/>
          <p:cNvSpPr txBox="1"/>
          <p:nvPr/>
        </p:nvSpPr>
        <p:spPr>
          <a:xfrm>
            <a:off x="5212080" y="6300216"/>
            <a:ext cx="6035040" cy="320040"/>
          </a:xfrm>
          <a:prstGeom prst="rect">
            <a:avLst/>
          </a:prstGeom>
          <a:noFill/>
        </p:spPr>
        <p:txBody>
          <a:bodyPr wrap="square">
            <a:spAutoFit/>
          </a:bodyPr>
          <a:lstStyle/>
          <a:p>
            <a:r>
              <a:rPr sz="1250" b="0">
                <a:solidFill>
                  <a:srgbClr val="CADCFC"/>
                </a:solidFill>
                <a:latin typeface="Calibri"/>
              </a:rPr>
              <a:t>this deck, built from the live data</a:t>
            </a:r>
          </a:p>
        </p:txBody>
      </p:sp>
      <p:sp>
        <p:nvSpPr>
          <p:cNvPr id="26" name="TextBox 25"/>
          <p:cNvSpPr txBox="1"/>
          <p:nvPr/>
        </p:nvSpPr>
        <p:spPr>
          <a:xfrm>
            <a:off x="640080" y="6309360"/>
            <a:ext cx="10881360" cy="365760"/>
          </a:xfrm>
          <a:prstGeom prst="rect">
            <a:avLst/>
          </a:prstGeom>
          <a:noFill/>
        </p:spPr>
        <p:txBody>
          <a:bodyPr wrap="square">
            <a:spAutoFit/>
          </a:bodyPr>
          <a:lstStyle/>
          <a:p>
            <a:r>
              <a:rPr sz="1200" b="0">
                <a:solidFill>
                  <a:srgbClr val="CFE8EF"/>
                </a:solidFill>
                <a:latin typeface="Calibri"/>
              </a:rPr>
              <a:t>We run each defense from its released code or weights. We never use the figures a paper reports about itself.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253C"/>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r>
              <a:rPr sz="1250" b="1">
                <a:solidFill>
                  <a:srgbClr val="E0A458"/>
                </a:solidFill>
                <a:latin typeface="Calibri"/>
              </a:rPr>
              <a:t>WHAT'S NEXT</a:t>
            </a:r>
          </a:p>
        </p:txBody>
      </p:sp>
      <p:sp>
        <p:nvSpPr>
          <p:cNvPr id="3" name="TextBox 2"/>
          <p:cNvSpPr txBox="1"/>
          <p:nvPr/>
        </p:nvSpPr>
        <p:spPr>
          <a:xfrm>
            <a:off x="640080" y="1371600"/>
            <a:ext cx="10607040" cy="1371600"/>
          </a:xfrm>
          <a:prstGeom prst="rect">
            <a:avLst/>
          </a:prstGeom>
          <a:noFill/>
        </p:spPr>
        <p:txBody>
          <a:bodyPr wrap="square">
            <a:spAutoFit/>
          </a:bodyPr>
          <a:lstStyle/>
          <a:p>
            <a:pPr>
              <a:spcAft>
                <a:spcPts val="200"/>
              </a:spcAft>
            </a:pPr>
            <a:r>
              <a:rPr sz="3000" b="1">
                <a:solidFill>
                  <a:srgbClr val="FFFFFF"/>
                </a:solidFill>
                <a:latin typeface="Cambria"/>
              </a:rPr>
              <a:t>From findings to manuscript</a:t>
            </a:r>
          </a:p>
        </p:txBody>
      </p:sp>
      <p:sp>
        <p:nvSpPr>
          <p:cNvPr id="4" name="TextBox 3"/>
          <p:cNvSpPr txBox="1"/>
          <p:nvPr/>
        </p:nvSpPr>
        <p:spPr>
          <a:xfrm>
            <a:off x="11521440" y="6510528"/>
            <a:ext cx="548640" cy="274320"/>
          </a:xfrm>
          <a:prstGeom prst="rect">
            <a:avLst/>
          </a:prstGeom>
          <a:noFill/>
        </p:spPr>
        <p:txBody>
          <a:bodyPr wrap="square">
            <a:spAutoFit/>
          </a:bodyPr>
          <a:lstStyle/>
          <a:p>
            <a:r>
              <a:rPr sz="1000" b="0">
                <a:solidFill>
                  <a:srgbClr val="CADCFC"/>
                </a:solidFill>
                <a:latin typeface="Calibri"/>
              </a:rPr>
              <a:t>25</a:t>
            </a:r>
          </a:p>
        </p:txBody>
      </p:sp>
      <p:sp>
        <p:nvSpPr>
          <p:cNvPr id="5" name="TextBox 4"/>
          <p:cNvSpPr txBox="1"/>
          <p:nvPr/>
        </p:nvSpPr>
        <p:spPr>
          <a:xfrm>
            <a:off x="640080" y="2331720"/>
            <a:ext cx="4114800" cy="365760"/>
          </a:xfrm>
          <a:prstGeom prst="rect">
            <a:avLst/>
          </a:prstGeom>
          <a:noFill/>
        </p:spPr>
        <p:txBody>
          <a:bodyPr wrap="square">
            <a:spAutoFit/>
          </a:bodyPr>
          <a:lstStyle/>
          <a:p>
            <a:r>
              <a:rPr sz="1450" b="1">
                <a:solidFill>
                  <a:srgbClr val="E0A458"/>
                </a:solidFill>
                <a:latin typeface="Cambria"/>
              </a:rPr>
              <a:t>Finish the model control</a:t>
            </a:r>
          </a:p>
        </p:txBody>
      </p:sp>
      <p:sp>
        <p:nvSpPr>
          <p:cNvPr id="6" name="TextBox 5"/>
          <p:cNvSpPr txBox="1"/>
          <p:nvPr/>
        </p:nvSpPr>
        <p:spPr>
          <a:xfrm>
            <a:off x="4846320" y="2359151"/>
            <a:ext cx="6675120" cy="685800"/>
          </a:xfrm>
          <a:prstGeom prst="rect">
            <a:avLst/>
          </a:prstGeom>
          <a:noFill/>
        </p:spPr>
        <p:txBody>
          <a:bodyPr wrap="square">
            <a:spAutoFit/>
          </a:bodyPr>
          <a:lstStyle/>
          <a:p>
            <a:pPr>
              <a:spcAft>
                <a:spcPts val="100"/>
              </a:spcAft>
            </a:pPr>
            <a:r>
              <a:rPr sz="1250" b="0">
                <a:solidFill>
                  <a:srgbClr val="CADCFC"/>
                </a:solidFill>
                <a:latin typeface="Calibri"/>
              </a:rPr>
              <a:t>run the second aggregation version on the other family's model; the first half shows the protection does not repeat</a:t>
            </a:r>
          </a:p>
        </p:txBody>
      </p:sp>
      <p:sp>
        <p:nvSpPr>
          <p:cNvPr id="7" name="TextBox 6"/>
          <p:cNvSpPr txBox="1"/>
          <p:nvPr/>
        </p:nvSpPr>
        <p:spPr>
          <a:xfrm>
            <a:off x="640080" y="3154679"/>
            <a:ext cx="4114800" cy="365760"/>
          </a:xfrm>
          <a:prstGeom prst="rect">
            <a:avLst/>
          </a:prstGeom>
          <a:noFill/>
        </p:spPr>
        <p:txBody>
          <a:bodyPr wrap="square">
            <a:spAutoFit/>
          </a:bodyPr>
          <a:lstStyle/>
          <a:p>
            <a:r>
              <a:rPr sz="1450" b="1">
                <a:solidFill>
                  <a:srgbClr val="E0A458"/>
                </a:solidFill>
                <a:latin typeface="Cambria"/>
              </a:rPr>
              <a:t>Add a third attack</a:t>
            </a:r>
          </a:p>
        </p:txBody>
      </p:sp>
      <p:sp>
        <p:nvSpPr>
          <p:cNvPr id="8" name="TextBox 7"/>
          <p:cNvSpPr txBox="1"/>
          <p:nvPr/>
        </p:nvSpPr>
        <p:spPr>
          <a:xfrm>
            <a:off x="4846320" y="3182111"/>
            <a:ext cx="6675120" cy="685800"/>
          </a:xfrm>
          <a:prstGeom prst="rect">
            <a:avLst/>
          </a:prstGeom>
          <a:noFill/>
        </p:spPr>
        <p:txBody>
          <a:bodyPr wrap="square">
            <a:spAutoFit/>
          </a:bodyPr>
          <a:lstStyle/>
          <a:p>
            <a:pPr>
              <a:spcAft>
                <a:spcPts val="100"/>
              </a:spcAft>
            </a:pPr>
            <a:r>
              <a:rPr sz="1250" b="0">
                <a:solidFill>
                  <a:srgbClr val="CADCFC"/>
                </a:solidFill>
                <a:latin typeface="Calibri"/>
              </a:rPr>
              <a:t>AGGD, so the matrix does not rest on four attack mechanisms</a:t>
            </a:r>
          </a:p>
        </p:txBody>
      </p:sp>
      <p:sp>
        <p:nvSpPr>
          <p:cNvPr id="9" name="TextBox 8"/>
          <p:cNvSpPr txBox="1"/>
          <p:nvPr/>
        </p:nvSpPr>
        <p:spPr>
          <a:xfrm>
            <a:off x="640080" y="3977639"/>
            <a:ext cx="4114800" cy="365760"/>
          </a:xfrm>
          <a:prstGeom prst="rect">
            <a:avLst/>
          </a:prstGeom>
          <a:noFill/>
        </p:spPr>
        <p:txBody>
          <a:bodyPr wrap="square">
            <a:spAutoFit/>
          </a:bodyPr>
          <a:lstStyle/>
          <a:p>
            <a:r>
              <a:rPr sz="1450" b="1">
                <a:solidFill>
                  <a:srgbClr val="E0A458"/>
                </a:solidFill>
                <a:latin typeface="Cambria"/>
              </a:rPr>
              <a:t>Find an outside defense</a:t>
            </a:r>
          </a:p>
        </p:txBody>
      </p:sp>
      <p:sp>
        <p:nvSpPr>
          <p:cNvPr id="10" name="TextBox 9"/>
          <p:cNvSpPr txBox="1"/>
          <p:nvPr/>
        </p:nvSpPr>
        <p:spPr>
          <a:xfrm>
            <a:off x="4846320" y="4005072"/>
            <a:ext cx="6675120" cy="685800"/>
          </a:xfrm>
          <a:prstGeom prst="rect">
            <a:avLst/>
          </a:prstGeom>
          <a:noFill/>
        </p:spPr>
        <p:txBody>
          <a:bodyPr wrap="square">
            <a:spAutoFit/>
          </a:bodyPr>
          <a:lstStyle/>
          <a:p>
            <a:pPr>
              <a:spcAft>
                <a:spcPts val="100"/>
              </a:spcAft>
            </a:pPr>
            <a:r>
              <a:rPr sz="1250" b="0">
                <a:solidFill>
                  <a:srgbClr val="CADCFC"/>
                </a:solidFill>
                <a:latin typeface="Calibri"/>
              </a:rPr>
              <a:t>the aggregation family comes from one repository; a second group's code would test the rule</a:t>
            </a:r>
          </a:p>
        </p:txBody>
      </p:sp>
      <p:sp>
        <p:nvSpPr>
          <p:cNvPr id="11" name="TextBox 10"/>
          <p:cNvSpPr txBox="1"/>
          <p:nvPr/>
        </p:nvSpPr>
        <p:spPr>
          <a:xfrm>
            <a:off x="640080" y="4800600"/>
            <a:ext cx="4114800" cy="365760"/>
          </a:xfrm>
          <a:prstGeom prst="rect">
            <a:avLst/>
          </a:prstGeom>
          <a:noFill/>
        </p:spPr>
        <p:txBody>
          <a:bodyPr wrap="square">
            <a:spAutoFit/>
          </a:bodyPr>
          <a:lstStyle/>
          <a:p>
            <a:r>
              <a:rPr sz="1450" b="1">
                <a:solidFill>
                  <a:srgbClr val="E0A458"/>
                </a:solidFill>
                <a:latin typeface="Cambria"/>
              </a:rPr>
              <a:t>Close the 99 near-misses</a:t>
            </a:r>
          </a:p>
        </p:txBody>
      </p:sp>
      <p:sp>
        <p:nvSpPr>
          <p:cNvPr id="12" name="TextBox 11"/>
          <p:cNvSpPr txBox="1"/>
          <p:nvPr/>
        </p:nvSpPr>
        <p:spPr>
          <a:xfrm>
            <a:off x="4846320" y="4828032"/>
            <a:ext cx="6675120" cy="685800"/>
          </a:xfrm>
          <a:prstGeom prst="rect">
            <a:avLst/>
          </a:prstGeom>
          <a:noFill/>
        </p:spPr>
        <p:txBody>
          <a:bodyPr wrap="square">
            <a:spAutoFit/>
          </a:bodyPr>
          <a:lstStyle/>
          <a:p>
            <a:pPr>
              <a:spcAft>
                <a:spcPts val="100"/>
              </a:spcAft>
            </a:pPr>
            <a:r>
              <a:rPr sz="1250" b="0">
                <a:solidFill>
                  <a:srgbClr val="CADCFC"/>
                </a:solidFill>
                <a:latin typeface="Calibri"/>
              </a:rPr>
              <a:t>defense papers that name an attack in our registry but never test it</a:t>
            </a:r>
          </a:p>
        </p:txBody>
      </p:sp>
      <p:sp>
        <p:nvSpPr>
          <p:cNvPr id="13" name="TextBox 12"/>
          <p:cNvSpPr txBox="1"/>
          <p:nvPr/>
        </p:nvSpPr>
        <p:spPr>
          <a:xfrm>
            <a:off x="640080" y="5623560"/>
            <a:ext cx="4114800" cy="365760"/>
          </a:xfrm>
          <a:prstGeom prst="rect">
            <a:avLst/>
          </a:prstGeom>
          <a:noFill/>
        </p:spPr>
        <p:txBody>
          <a:bodyPr wrap="square">
            <a:spAutoFit/>
          </a:bodyPr>
          <a:lstStyle/>
          <a:p>
            <a:r>
              <a:rPr sz="1450" b="1">
                <a:solidFill>
                  <a:srgbClr val="E0A458"/>
                </a:solidFill>
                <a:latin typeface="Cambria"/>
              </a:rPr>
              <a:t>Manuscript draft</a:t>
            </a:r>
          </a:p>
        </p:txBody>
      </p:sp>
      <p:sp>
        <p:nvSpPr>
          <p:cNvPr id="14" name="TextBox 13"/>
          <p:cNvSpPr txBox="1"/>
          <p:nvPr/>
        </p:nvSpPr>
        <p:spPr>
          <a:xfrm>
            <a:off x="4846320" y="5650992"/>
            <a:ext cx="6675120" cy="685800"/>
          </a:xfrm>
          <a:prstGeom prst="rect">
            <a:avLst/>
          </a:prstGeom>
          <a:noFill/>
        </p:spPr>
        <p:txBody>
          <a:bodyPr wrap="square">
            <a:spAutoFit/>
          </a:bodyPr>
          <a:lstStyle/>
          <a:p>
            <a:pPr>
              <a:spcAft>
                <a:spcPts val="100"/>
              </a:spcAft>
            </a:pPr>
            <a:r>
              <a:rPr sz="1250" b="0">
                <a:solidFill>
                  <a:srgbClr val="CADCFC"/>
                </a:solidFill>
                <a:latin typeface="Calibri"/>
              </a:rPr>
              <a:t>RQ1 to RQ7 are complete. The threats to validity are written.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