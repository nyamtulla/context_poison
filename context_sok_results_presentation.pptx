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822960" y="1234440"/>
            <a:ext cx="7315200" cy="320040"/>
          </a:xfrm>
          <a:prstGeom prst="rect">
            <a:avLst/>
          </a:prstGeom>
          <a:noFill/>
        </p:spPr>
        <p:txBody>
          <a:bodyPr wrap="square">
            <a:spAutoFit/>
          </a:bodyPr>
          <a:lstStyle/>
          <a:p>
            <a:r>
              <a:rPr sz="1250" b="1">
                <a:solidFill>
                  <a:srgbClr val="E0A458"/>
                </a:solidFill>
                <a:latin typeface="Calibri"/>
              </a:rPr>
              <a:t>CONTEXT INTEGRITY SOK  ·  RESULTS REVIEW</a:t>
            </a:r>
          </a:p>
        </p:txBody>
      </p:sp>
      <p:sp>
        <p:nvSpPr>
          <p:cNvPr id="3" name="TextBox 2"/>
          <p:cNvSpPr txBox="1"/>
          <p:nvPr/>
        </p:nvSpPr>
        <p:spPr>
          <a:xfrm>
            <a:off x="822960" y="1691640"/>
            <a:ext cx="8778240" cy="2103120"/>
          </a:xfrm>
          <a:prstGeom prst="rect">
            <a:avLst/>
          </a:prstGeom>
          <a:noFill/>
        </p:spPr>
        <p:txBody>
          <a:bodyPr wrap="square">
            <a:spAutoFit/>
          </a:bodyPr>
          <a:lstStyle/>
          <a:p>
            <a:pPr>
              <a:spcAft>
                <a:spcPts val="200"/>
              </a:spcAft>
            </a:pPr>
            <a:r>
              <a:rPr sz="4000" b="1">
                <a:solidFill>
                  <a:srgbClr val="FFFFFF"/>
                </a:solidFill>
                <a:latin typeface="Cambria"/>
              </a:rPr>
              <a:t>Reuniting Adversarial and</a:t>
            </a:r>
          </a:p>
          <a:p>
            <a:pPr>
              <a:spcAft>
                <a:spcPts val="200"/>
              </a:spcAft>
            </a:pPr>
            <a:r>
              <a:rPr sz="4000" b="1">
                <a:solidFill>
                  <a:srgbClr val="FFFFFF"/>
                </a:solidFill>
                <a:latin typeface="Cambria"/>
              </a:rPr>
              <a:t>Incidental Poisoning of LLM</a:t>
            </a:r>
          </a:p>
          <a:p>
            <a:pPr>
              <a:spcAft>
                <a:spcPts val="200"/>
              </a:spcAft>
            </a:pPr>
            <a:r>
              <a:rPr sz="4000" b="1">
                <a:solidFill>
                  <a:srgbClr val="FFFFFF"/>
                </a:solidFill>
                <a:latin typeface="Cambria"/>
              </a:rPr>
              <a:t>Agent Context Windows</a:t>
            </a:r>
          </a:p>
        </p:txBody>
      </p:sp>
      <p:sp>
        <p:nvSpPr>
          <p:cNvPr id="4" name="TextBox 3"/>
          <p:cNvSpPr txBox="1"/>
          <p:nvPr/>
        </p:nvSpPr>
        <p:spPr>
          <a:xfrm>
            <a:off x="822960" y="3703320"/>
            <a:ext cx="7772400" cy="548640"/>
          </a:xfrm>
          <a:prstGeom prst="rect">
            <a:avLst/>
          </a:prstGeom>
          <a:noFill/>
        </p:spPr>
        <p:txBody>
          <a:bodyPr wrap="square">
            <a:spAutoFit/>
          </a:bodyPr>
          <a:lstStyle/>
          <a:p>
            <a:r>
              <a:rPr sz="1600" b="0">
                <a:solidFill>
                  <a:srgbClr val="CADCFC"/>
                </a:solidFill>
                <a:latin typeface="Calibri"/>
              </a:rPr>
              <a:t>A Systematization of Knowledge. RQ1 to RQ7 are complete.</a:t>
            </a:r>
          </a:p>
        </p:txBody>
      </p:sp>
      <p:sp>
        <p:nvSpPr>
          <p:cNvPr id="5" name="TextBox 4"/>
          <p:cNvSpPr txBox="1"/>
          <p:nvPr/>
        </p:nvSpPr>
        <p:spPr>
          <a:xfrm>
            <a:off x="822960" y="5989320"/>
            <a:ext cx="8229600" cy="365760"/>
          </a:xfrm>
          <a:prstGeom prst="rect">
            <a:avLst/>
          </a:prstGeom>
          <a:noFill/>
        </p:spPr>
        <p:txBody>
          <a:bodyPr wrap="square">
            <a:spAutoFit/>
          </a:bodyPr>
          <a:lstStyle/>
          <a:p>
            <a:r>
              <a:rPr sz="1300" b="0">
                <a:solidFill>
                  <a:srgbClr val="CFE8EF"/>
                </a:solidFill>
                <a:latin typeface="Calibri"/>
              </a:rPr>
              <a:t>1,158 papers screened · 1,026 included · 237 mechanisms · 534 defenses · 16 cells we ran ourselves</a:t>
            </a:r>
          </a:p>
        </p:txBody>
      </p:sp>
      <p:sp>
        <p:nvSpPr>
          <p:cNvPr id="6" name="TextBox 5"/>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THE PROBLEM</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An agent believes its context window</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a:t>
            </a:r>
          </a:p>
        </p:txBody>
      </p:sp>
      <p:sp>
        <p:nvSpPr>
          <p:cNvPr id="5" name="TextBox 4"/>
          <p:cNvSpPr txBox="1"/>
          <p:nvPr/>
        </p:nvSpPr>
        <p:spPr>
          <a:xfrm>
            <a:off x="640080" y="2148840"/>
            <a:ext cx="10881360" cy="1828800"/>
          </a:xfrm>
          <a:prstGeom prst="rect">
            <a:avLst/>
          </a:prstGeom>
          <a:noFill/>
        </p:spPr>
        <p:txBody>
          <a:bodyPr wrap="square">
            <a:spAutoFit/>
          </a:bodyPr>
          <a:lstStyle/>
          <a:p>
            <a:pPr>
              <a:spcAft>
                <a:spcPts val="700"/>
              </a:spcAft>
            </a:pPr>
            <a:r>
              <a:rPr sz="1500" b="1">
                <a:solidFill>
                  <a:srgbClr val="FFFFFF"/>
                </a:solidFill>
                <a:latin typeface="Calibri"/>
              </a:rPr>
              <a:t>An LLM agent reads one block of text and then acts. We call this block the context window.</a:t>
            </a:r>
          </a:p>
          <a:p>
            <a:pPr>
              <a:spcAft>
                <a:spcPts val="700"/>
              </a:spcAft>
            </a:pPr>
            <a:r>
              <a:rPr sz="1400" b="0">
                <a:solidFill>
                  <a:srgbClr val="CADCFC"/>
                </a:solidFill>
                <a:latin typeface="Calibri"/>
              </a:rPr>
              <a:t>The block holds many things at once. It holds the user's question. It holds pages that a tool returned. It holds documents that a search step found. It holds notes from an earlier session.</a:t>
            </a:r>
          </a:p>
          <a:p>
            <a:pPr>
              <a:spcAft>
                <a:spcPts val="700"/>
              </a:spcAft>
            </a:pPr>
            <a:r>
              <a:rPr sz="1500" b="1">
                <a:solidFill>
                  <a:srgbClr val="E0A458"/>
                </a:solidFill>
                <a:latin typeface="Calibri"/>
              </a:rPr>
              <a:t>The model cannot tell these apart. Everything in the block looks the same to it.</a:t>
            </a:r>
          </a:p>
          <a:p>
            <a:pPr>
              <a:spcAft>
                <a:spcPts val="700"/>
              </a:spcAft>
            </a:pPr>
            <a:r>
              <a:rPr sz="1400" b="0">
                <a:solidFill>
                  <a:srgbClr val="CADCFC"/>
                </a:solidFill>
                <a:latin typeface="Calibri"/>
              </a:rPr>
              <a:t>So any text that reaches the block can change what the agent does. The text does not need to come from the user. It only needs to arrive.</a:t>
            </a:r>
          </a:p>
        </p:txBody>
      </p:sp>
      <p:sp>
        <p:nvSpPr>
          <p:cNvPr id="6" name="Rectangle 5"/>
          <p:cNvSpPr/>
          <p:nvPr/>
        </p:nvSpPr>
        <p:spPr>
          <a:xfrm>
            <a:off x="640080" y="4343400"/>
            <a:ext cx="10881360" cy="141732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553712"/>
            <a:ext cx="10241280" cy="1097280"/>
          </a:xfrm>
          <a:prstGeom prst="rect">
            <a:avLst/>
          </a:prstGeom>
          <a:noFill/>
        </p:spPr>
        <p:txBody>
          <a:bodyPr wrap="square">
            <a:spAutoFit/>
          </a:bodyPr>
          <a:lstStyle/>
          <a:p>
            <a:pPr>
              <a:spcAft>
                <a:spcPts val="400"/>
              </a:spcAft>
            </a:pPr>
            <a:r>
              <a:rPr sz="1500" b="1">
                <a:solidFill>
                  <a:srgbClr val="E0A458"/>
                </a:solidFill>
                <a:latin typeface="Calibri"/>
              </a:rPr>
              <a:t>The guiding picture: the context window is a pond.</a:t>
            </a:r>
          </a:p>
          <a:p>
            <a:pPr>
              <a:spcAft>
                <a:spcPts val="400"/>
              </a:spcAft>
            </a:pPr>
            <a:r>
              <a:rPr sz="1300" b="0">
                <a:solidFill>
                  <a:srgbClr val="FFFFFF"/>
                </a:solidFill>
                <a:latin typeface="Calibri"/>
              </a:rPr>
              <a:t>Water comes in through a fixed set of streams. Clean water and dirty water mix in the same pond. Everything downstream drinks the mixture.</a:t>
            </a:r>
          </a:p>
          <a:p>
            <a:pPr>
              <a:spcAft>
                <a:spcPts val="400"/>
              </a:spcAft>
            </a:pPr>
            <a:r>
              <a:rPr sz="1300" b="0">
                <a:solidFill>
                  <a:srgbClr val="FFFFFF"/>
                </a:solidFill>
                <a:latin typeface="Calibri"/>
              </a:rPr>
              <a:t>We ask two questions. How many streams are there? What guards the mouth of each one?</a:t>
            </a:r>
          </a:p>
        </p:txBody>
      </p:sp>
      <p:sp>
        <p:nvSpPr>
          <p:cNvPr id="8" name="TextBox 7"/>
          <p:cNvSpPr txBox="1"/>
          <p:nvPr/>
        </p:nvSpPr>
        <p:spPr>
          <a:xfrm>
            <a:off x="640080" y="5897880"/>
            <a:ext cx="10881360" cy="457200"/>
          </a:xfrm>
          <a:prstGeom prst="rect">
            <a:avLst/>
          </a:prstGeom>
          <a:noFill/>
        </p:spPr>
        <p:txBody>
          <a:bodyPr wrap="square">
            <a:spAutoFit/>
          </a:bodyPr>
          <a:lstStyle/>
          <a:p>
            <a:r>
              <a:rPr sz="1250" b="0">
                <a:solidFill>
                  <a:srgbClr val="CFE8EF"/>
                </a:solidFill>
                <a:latin typeface="Calibri"/>
              </a:rPr>
              <a:t>We do not study training data. We study what enters the context at run time.</a:t>
            </a:r>
          </a:p>
        </p:txBody>
      </p:sp>
      <p:sp>
        <p:nvSpPr>
          <p:cNvPr id="9" name="TextBox 8"/>
          <p:cNvSpPr txBox="1"/>
          <p:nvPr/>
        </p:nvSpPr>
        <p:spPr>
          <a:xfrm>
            <a:off x="640080" y="6419088"/>
            <a:ext cx="10789920" cy="402336"/>
          </a:xfrm>
          <a:prstGeom prst="rect">
            <a:avLst/>
          </a:prstGeom>
          <a:noFill/>
        </p:spPr>
        <p:txBody>
          <a:bodyPr wrap="square">
            <a:spAutoFit/>
          </a:bodyPr>
          <a:lstStyle/>
          <a:p>
            <a:r>
              <a:rPr sz="850" b="0">
                <a:solidFill>
                  <a:srgbClr val="5B6B79"/>
                </a:solidFill>
                <a:latin typeface="Calibri"/>
              </a:rPr>
              <a:t>Sources:  Context text acts on the agent: Greshake et al., AISec@CCS 2023, arXiv:2302.12173   ·   Long context degrades use: Liu et al., TACL 2023, arXiv:2307.03172   ·   Pond framing: this 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THE TAXONOMY</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We describe every case with three questions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3</a:t>
            </a:r>
          </a:p>
        </p:txBody>
      </p:sp>
      <p:sp>
        <p:nvSpPr>
          <p:cNvPr id="5" name="Rectangle 4"/>
          <p:cNvSpPr/>
          <p:nvPr/>
        </p:nvSpPr>
        <p:spPr>
          <a:xfrm>
            <a:off x="640080" y="2331720"/>
            <a:ext cx="3520440" cy="28803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542032"/>
            <a:ext cx="3017520" cy="365760"/>
          </a:xfrm>
          <a:prstGeom prst="rect">
            <a:avLst/>
          </a:prstGeom>
          <a:noFill/>
        </p:spPr>
        <p:txBody>
          <a:bodyPr wrap="square">
            <a:spAutoFit/>
          </a:bodyPr>
          <a:lstStyle/>
          <a:p>
            <a:r>
              <a:rPr sz="1600" b="1">
                <a:solidFill>
                  <a:srgbClr val="E0A458"/>
                </a:solidFill>
                <a:latin typeface="Cambria"/>
              </a:rPr>
              <a:t>CHANNEL</a:t>
            </a:r>
          </a:p>
        </p:txBody>
      </p:sp>
      <p:sp>
        <p:nvSpPr>
          <p:cNvPr id="7" name="TextBox 6"/>
          <p:cNvSpPr txBox="1"/>
          <p:nvPr/>
        </p:nvSpPr>
        <p:spPr>
          <a:xfrm>
            <a:off x="896112" y="2944368"/>
            <a:ext cx="3017520" cy="365760"/>
          </a:xfrm>
          <a:prstGeom prst="rect">
            <a:avLst/>
          </a:prstGeom>
          <a:noFill/>
        </p:spPr>
        <p:txBody>
          <a:bodyPr wrap="square">
            <a:spAutoFit/>
          </a:bodyPr>
          <a:lstStyle/>
          <a:p>
            <a:r>
              <a:rPr sz="1400" b="1">
                <a:solidFill>
                  <a:srgbClr val="FFFFFF"/>
                </a:solidFill>
                <a:latin typeface="Calibri"/>
              </a:rPr>
              <a:t>How did it get in?</a:t>
            </a:r>
          </a:p>
        </p:txBody>
      </p:sp>
      <p:sp>
        <p:nvSpPr>
          <p:cNvPr id="8" name="TextBox 7"/>
          <p:cNvSpPr txBox="1"/>
          <p:nvPr/>
        </p:nvSpPr>
        <p:spPr>
          <a:xfrm>
            <a:off x="896112" y="3383280"/>
            <a:ext cx="3108960" cy="1463040"/>
          </a:xfrm>
          <a:prstGeom prst="rect">
            <a:avLst/>
          </a:prstGeom>
          <a:noFill/>
        </p:spPr>
        <p:txBody>
          <a:bodyPr wrap="square">
            <a:spAutoFit/>
          </a:bodyPr>
          <a:lstStyle/>
          <a:p>
            <a:pPr>
              <a:spcAft>
                <a:spcPts val="100"/>
              </a:spcAft>
            </a:pPr>
            <a:r>
              <a:rPr sz="1250" b="0">
                <a:solidFill>
                  <a:srgbClr val="CADCFC"/>
                </a:solidFill>
                <a:latin typeface="Calibri"/>
              </a:rPr>
              <a:t>The stream it came through.</a:t>
            </a:r>
          </a:p>
          <a:p>
            <a:pPr>
              <a:spcAft>
                <a:spcPts val="100"/>
              </a:spcAft>
            </a:pPr>
            <a:r>
              <a:rPr sz="1250" b="0">
                <a:solidFill>
                  <a:srgbClr val="CADCFC"/>
                </a:solidFill>
                <a:latin typeface="Calibri"/>
              </a:rPr>
              <a:t>An email that a tool read is</a:t>
            </a:r>
          </a:p>
          <a:p>
            <a:pPr>
              <a:spcAft>
                <a:spcPts val="100"/>
              </a:spcAft>
            </a:pPr>
            <a:r>
              <a:rPr sz="1250" b="0">
                <a:solidFill>
                  <a:srgbClr val="CADCFC"/>
                </a:solidFill>
                <a:latin typeface="Calibri"/>
              </a:rPr>
              <a:t>one channel. A document that</a:t>
            </a:r>
          </a:p>
          <a:p>
            <a:pPr>
              <a:spcAft>
                <a:spcPts val="100"/>
              </a:spcAft>
            </a:pPr>
            <a:r>
              <a:rPr sz="1250" b="0">
                <a:solidFill>
                  <a:srgbClr val="CADCFC"/>
                </a:solidFill>
                <a:latin typeface="Calibri"/>
              </a:rPr>
              <a:t>a search returned is another.</a:t>
            </a:r>
          </a:p>
        </p:txBody>
      </p:sp>
      <p:sp>
        <p:nvSpPr>
          <p:cNvPr id="9" name="TextBox 8"/>
          <p:cNvSpPr txBox="1"/>
          <p:nvPr/>
        </p:nvSpPr>
        <p:spPr>
          <a:xfrm>
            <a:off x="896112" y="4828032"/>
            <a:ext cx="3017520" cy="274320"/>
          </a:xfrm>
          <a:prstGeom prst="rect">
            <a:avLst/>
          </a:prstGeom>
          <a:noFill/>
        </p:spPr>
        <p:txBody>
          <a:bodyPr wrap="square">
            <a:spAutoFit/>
          </a:bodyPr>
          <a:lstStyle/>
          <a:p>
            <a:r>
              <a:rPr sz="1200" b="0">
                <a:solidFill>
                  <a:srgbClr val="CFE8EF"/>
                </a:solidFill>
                <a:latin typeface="Calibri"/>
              </a:rPr>
              <a:t>9 values</a:t>
            </a:r>
          </a:p>
        </p:txBody>
      </p:sp>
      <p:sp>
        <p:nvSpPr>
          <p:cNvPr id="10" name="Rectangle 9"/>
          <p:cNvSpPr/>
          <p:nvPr/>
        </p:nvSpPr>
        <p:spPr>
          <a:xfrm>
            <a:off x="4352544" y="2331720"/>
            <a:ext cx="3520440" cy="28803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8576" y="2542032"/>
            <a:ext cx="3017520" cy="365760"/>
          </a:xfrm>
          <a:prstGeom prst="rect">
            <a:avLst/>
          </a:prstGeom>
          <a:noFill/>
        </p:spPr>
        <p:txBody>
          <a:bodyPr wrap="square">
            <a:spAutoFit/>
          </a:bodyPr>
          <a:lstStyle/>
          <a:p>
            <a:r>
              <a:rPr sz="1600" b="1">
                <a:solidFill>
                  <a:srgbClr val="E0A458"/>
                </a:solidFill>
                <a:latin typeface="Cambria"/>
              </a:rPr>
              <a:t>INTENT</a:t>
            </a:r>
          </a:p>
        </p:txBody>
      </p:sp>
      <p:sp>
        <p:nvSpPr>
          <p:cNvPr id="12" name="TextBox 11"/>
          <p:cNvSpPr txBox="1"/>
          <p:nvPr/>
        </p:nvSpPr>
        <p:spPr>
          <a:xfrm>
            <a:off x="4608576" y="2944368"/>
            <a:ext cx="3017520" cy="365760"/>
          </a:xfrm>
          <a:prstGeom prst="rect">
            <a:avLst/>
          </a:prstGeom>
          <a:noFill/>
        </p:spPr>
        <p:txBody>
          <a:bodyPr wrap="square">
            <a:spAutoFit/>
          </a:bodyPr>
          <a:lstStyle/>
          <a:p>
            <a:r>
              <a:rPr sz="1400" b="1">
                <a:solidFill>
                  <a:srgbClr val="FFFFFF"/>
                </a:solidFill>
                <a:latin typeface="Calibri"/>
              </a:rPr>
              <a:t>Did someone mean it?</a:t>
            </a:r>
          </a:p>
        </p:txBody>
      </p:sp>
      <p:sp>
        <p:nvSpPr>
          <p:cNvPr id="13" name="TextBox 12"/>
          <p:cNvSpPr txBox="1"/>
          <p:nvPr/>
        </p:nvSpPr>
        <p:spPr>
          <a:xfrm>
            <a:off x="4608576" y="3383280"/>
            <a:ext cx="3108960" cy="1463040"/>
          </a:xfrm>
          <a:prstGeom prst="rect">
            <a:avLst/>
          </a:prstGeom>
          <a:noFill/>
        </p:spPr>
        <p:txBody>
          <a:bodyPr wrap="square">
            <a:spAutoFit/>
          </a:bodyPr>
          <a:lstStyle/>
          <a:p>
            <a:pPr>
              <a:spcAft>
                <a:spcPts val="100"/>
              </a:spcAft>
            </a:pPr>
            <a:r>
              <a:rPr sz="1250" b="0">
                <a:solidFill>
                  <a:srgbClr val="CADCFC"/>
                </a:solidFill>
                <a:latin typeface="Calibri"/>
              </a:rPr>
              <a:t>Adversarial means a person put</a:t>
            </a:r>
          </a:p>
          <a:p>
            <a:pPr>
              <a:spcAft>
                <a:spcPts val="100"/>
              </a:spcAft>
            </a:pPr>
            <a:r>
              <a:rPr sz="1250" b="0">
                <a:solidFill>
                  <a:srgbClr val="CADCFC"/>
                </a:solidFill>
                <a:latin typeface="Calibri"/>
              </a:rPr>
              <a:t>it there to cause the effect.</a:t>
            </a:r>
          </a:p>
          <a:p>
            <a:pPr>
              <a:spcAft>
                <a:spcPts val="100"/>
              </a:spcAft>
            </a:pPr>
            <a:r>
              <a:rPr sz="1250" b="0">
                <a:solidFill>
                  <a:srgbClr val="CADCFC"/>
                </a:solidFill>
                <a:latin typeface="Calibri"/>
              </a:rPr>
              <a:t>Incidental means no one did.</a:t>
            </a:r>
          </a:p>
          <a:p>
            <a:pPr>
              <a:spcAft>
                <a:spcPts val="100"/>
              </a:spcAft>
            </a:pPr>
            <a:r>
              <a:rPr sz="1250" b="0">
                <a:solidFill>
                  <a:srgbClr val="CADCFC"/>
                </a:solidFill>
                <a:latin typeface="Calibri"/>
              </a:rPr>
              <a:t>The text is just long or stale.</a:t>
            </a:r>
          </a:p>
        </p:txBody>
      </p:sp>
      <p:sp>
        <p:nvSpPr>
          <p:cNvPr id="14" name="TextBox 13"/>
          <p:cNvSpPr txBox="1"/>
          <p:nvPr/>
        </p:nvSpPr>
        <p:spPr>
          <a:xfrm>
            <a:off x="4608576" y="4828032"/>
            <a:ext cx="3017520" cy="274320"/>
          </a:xfrm>
          <a:prstGeom prst="rect">
            <a:avLst/>
          </a:prstGeom>
          <a:noFill/>
        </p:spPr>
        <p:txBody>
          <a:bodyPr wrap="square">
            <a:spAutoFit/>
          </a:bodyPr>
          <a:lstStyle/>
          <a:p>
            <a:r>
              <a:rPr sz="1200" b="0">
                <a:solidFill>
                  <a:srgbClr val="CFE8EF"/>
                </a:solidFill>
                <a:latin typeface="Calibri"/>
              </a:rPr>
              <a:t>3 values</a:t>
            </a:r>
          </a:p>
        </p:txBody>
      </p:sp>
      <p:sp>
        <p:nvSpPr>
          <p:cNvPr id="15" name="Rectangle 14"/>
          <p:cNvSpPr/>
          <p:nvPr/>
        </p:nvSpPr>
        <p:spPr>
          <a:xfrm>
            <a:off x="8065007" y="2331720"/>
            <a:ext cx="3520440" cy="28803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21039" y="2542032"/>
            <a:ext cx="3017520" cy="365760"/>
          </a:xfrm>
          <a:prstGeom prst="rect">
            <a:avLst/>
          </a:prstGeom>
          <a:noFill/>
        </p:spPr>
        <p:txBody>
          <a:bodyPr wrap="square">
            <a:spAutoFit/>
          </a:bodyPr>
          <a:lstStyle/>
          <a:p>
            <a:r>
              <a:rPr sz="1600" b="1">
                <a:solidFill>
                  <a:srgbClr val="E0A458"/>
                </a:solidFill>
                <a:latin typeface="Cambria"/>
              </a:rPr>
              <a:t>CONSEQUENCE</a:t>
            </a:r>
          </a:p>
        </p:txBody>
      </p:sp>
      <p:sp>
        <p:nvSpPr>
          <p:cNvPr id="17" name="TextBox 16"/>
          <p:cNvSpPr txBox="1"/>
          <p:nvPr/>
        </p:nvSpPr>
        <p:spPr>
          <a:xfrm>
            <a:off x="8321039" y="2944368"/>
            <a:ext cx="3017520" cy="365760"/>
          </a:xfrm>
          <a:prstGeom prst="rect">
            <a:avLst/>
          </a:prstGeom>
          <a:noFill/>
        </p:spPr>
        <p:txBody>
          <a:bodyPr wrap="square">
            <a:spAutoFit/>
          </a:bodyPr>
          <a:lstStyle/>
          <a:p>
            <a:r>
              <a:rPr sz="1400" b="1">
                <a:solidFill>
                  <a:srgbClr val="FFFFFF"/>
                </a:solidFill>
                <a:latin typeface="Calibri"/>
              </a:rPr>
              <a:t>What went wrong?</a:t>
            </a:r>
          </a:p>
        </p:txBody>
      </p:sp>
      <p:sp>
        <p:nvSpPr>
          <p:cNvPr id="18" name="TextBox 17"/>
          <p:cNvSpPr txBox="1"/>
          <p:nvPr/>
        </p:nvSpPr>
        <p:spPr>
          <a:xfrm>
            <a:off x="8321039" y="3383280"/>
            <a:ext cx="3108960" cy="1463040"/>
          </a:xfrm>
          <a:prstGeom prst="rect">
            <a:avLst/>
          </a:prstGeom>
          <a:noFill/>
        </p:spPr>
        <p:txBody>
          <a:bodyPr wrap="square">
            <a:spAutoFit/>
          </a:bodyPr>
          <a:lstStyle/>
          <a:p>
            <a:pPr>
              <a:spcAft>
                <a:spcPts val="100"/>
              </a:spcAft>
            </a:pPr>
            <a:r>
              <a:rPr sz="1250" b="0">
                <a:solidFill>
                  <a:srgbClr val="CADCFC"/>
                </a:solidFill>
                <a:latin typeface="Calibri"/>
              </a:rPr>
              <a:t>The effect on the agent after</a:t>
            </a:r>
          </a:p>
          <a:p>
            <a:pPr>
              <a:spcAft>
                <a:spcPts val="100"/>
              </a:spcAft>
            </a:pPr>
            <a:r>
              <a:rPr sz="1250" b="0">
                <a:solidFill>
                  <a:srgbClr val="CADCFC"/>
                </a:solidFill>
                <a:latin typeface="Calibri"/>
              </a:rPr>
              <a:t>the text is in the window.</a:t>
            </a:r>
          </a:p>
          <a:p>
            <a:pPr>
              <a:spcAft>
                <a:spcPts val="100"/>
              </a:spcAft>
            </a:pPr>
            <a:r>
              <a:rPr sz="1250" b="0">
                <a:solidFill>
                  <a:srgbClr val="CADCFC"/>
                </a:solidFill>
                <a:latin typeface="Calibri"/>
              </a:rPr>
              <a:t>A wrong answer and a stolen</a:t>
            </a:r>
          </a:p>
          <a:p>
            <a:pPr>
              <a:spcAft>
                <a:spcPts val="100"/>
              </a:spcAft>
            </a:pPr>
            <a:r>
              <a:rPr sz="1250" b="0">
                <a:solidFill>
                  <a:srgbClr val="CADCFC"/>
                </a:solidFill>
                <a:latin typeface="Calibri"/>
              </a:rPr>
              <a:t>file are different effects.</a:t>
            </a:r>
          </a:p>
        </p:txBody>
      </p:sp>
      <p:sp>
        <p:nvSpPr>
          <p:cNvPr id="19" name="TextBox 18"/>
          <p:cNvSpPr txBox="1"/>
          <p:nvPr/>
        </p:nvSpPr>
        <p:spPr>
          <a:xfrm>
            <a:off x="8321039" y="4828032"/>
            <a:ext cx="3017520" cy="274320"/>
          </a:xfrm>
          <a:prstGeom prst="rect">
            <a:avLst/>
          </a:prstGeom>
          <a:noFill/>
        </p:spPr>
        <p:txBody>
          <a:bodyPr wrap="square">
            <a:spAutoFit/>
          </a:bodyPr>
          <a:lstStyle/>
          <a:p>
            <a:r>
              <a:rPr sz="1200" b="0">
                <a:solidFill>
                  <a:srgbClr val="CFE8EF"/>
                </a:solidFill>
                <a:latin typeface="Calibri"/>
              </a:rPr>
              <a:t>6 values</a:t>
            </a:r>
          </a:p>
        </p:txBody>
      </p:sp>
      <p:sp>
        <p:nvSpPr>
          <p:cNvPr id="20" name="TextBox 19"/>
          <p:cNvSpPr txBox="1"/>
          <p:nvPr/>
        </p:nvSpPr>
        <p:spPr>
          <a:xfrm>
            <a:off x="640080" y="5486400"/>
            <a:ext cx="10881360" cy="1097280"/>
          </a:xfrm>
          <a:prstGeom prst="rect">
            <a:avLst/>
          </a:prstGeom>
          <a:noFill/>
        </p:spPr>
        <p:txBody>
          <a:bodyPr wrap="square">
            <a:spAutoFit/>
          </a:bodyPr>
          <a:lstStyle/>
          <a:p>
            <a:pPr>
              <a:spcAft>
                <a:spcPts val="400"/>
              </a:spcAft>
            </a:pPr>
            <a:r>
              <a:rPr sz="1500" b="1">
                <a:solidFill>
                  <a:srgbClr val="FFFFFF"/>
                </a:solidFill>
                <a:latin typeface="Calibri"/>
              </a:rPr>
              <a:t>9 channels x 3 intents x 6 consequences = 162 cells. We call this the cube.</a:t>
            </a:r>
          </a:p>
          <a:p>
            <a:pPr>
              <a:spcAft>
                <a:spcPts val="400"/>
              </a:spcAft>
            </a:pPr>
            <a:r>
              <a:rPr sz="1300" b="0">
                <a:solidFill>
                  <a:srgbClr val="CADCFC"/>
                </a:solidFill>
                <a:latin typeface="Calibri"/>
              </a:rPr>
              <a:t>One paper can fill more than one cell. An empty cell means that nobody has studied that combination.</a:t>
            </a:r>
          </a:p>
          <a:p>
            <a:pPr>
              <a:spcAft>
                <a:spcPts val="400"/>
              </a:spcAft>
            </a:pPr>
            <a:r>
              <a:rPr sz="1300" b="1">
                <a:solidFill>
                  <a:srgbClr val="E0A458"/>
                </a:solidFill>
                <a:latin typeface="Calibri"/>
              </a:rPr>
              <a:t>The cube is the spine of the paper. It shows what the field knows and what it has never looked at.</a:t>
            </a:r>
          </a:p>
        </p:txBody>
      </p:sp>
      <p:sp>
        <p:nvSpPr>
          <p:cNvPr id="21" name="TextBox 20"/>
          <p:cNvSpPr txBox="1"/>
          <p:nvPr/>
        </p:nvSpPr>
        <p:spPr>
          <a:xfrm>
            <a:off x="640080" y="6419088"/>
            <a:ext cx="10789920" cy="402336"/>
          </a:xfrm>
          <a:prstGeom prst="rect">
            <a:avLst/>
          </a:prstGeom>
          <a:noFill/>
        </p:spPr>
        <p:txBody>
          <a:bodyPr wrap="square">
            <a:spAutoFit/>
          </a:bodyPr>
          <a:lstStyle/>
          <a:p>
            <a:r>
              <a:rPr sz="850" b="0">
                <a:solidFill>
                  <a:srgbClr val="5B6B79"/>
                </a:solidFill>
                <a:latin typeface="Calibri"/>
              </a:rPr>
              <a:t>Sources:  Axes and cube: this work   ·   Adversarial end: Greshake et al., AISec@CCS 2023, arXiv:2302.12173   ·   Incidental end: Liu et al., TACL 2023, arXiv:2307.03172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AXIS 1  ·  CHANNEL</a:t>
            </a:r>
          </a:p>
        </p:txBody>
      </p:sp>
      <p:sp>
        <p:nvSpPr>
          <p:cNvPr id="3" name="TextBox 2"/>
          <p:cNvSpPr txBox="1"/>
          <p:nvPr/>
        </p:nvSpPr>
        <p:spPr>
          <a:xfrm>
            <a:off x="640080" y="1170432"/>
            <a:ext cx="10607040" cy="1371600"/>
          </a:xfrm>
          <a:prstGeom prst="rect">
            <a:avLst/>
          </a:prstGeom>
          <a:noFill/>
        </p:spPr>
        <p:txBody>
          <a:bodyPr wrap="square">
            <a:spAutoFit/>
          </a:bodyPr>
          <a:lstStyle/>
          <a:p>
            <a:pPr>
              <a:spcAft>
                <a:spcPts val="200"/>
              </a:spcAft>
            </a:pPr>
            <a:r>
              <a:rPr sz="2800" b="1">
                <a:solidFill>
                  <a:srgbClr val="FFFFFF"/>
                </a:solidFill>
                <a:latin typeface="Cambria"/>
              </a:rPr>
              <a:t>The nine ways text reaches the window</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4</a:t>
            </a:r>
          </a:p>
        </p:txBody>
      </p:sp>
      <p:sp>
        <p:nvSpPr>
          <p:cNvPr id="5" name="TextBox 4"/>
          <p:cNvSpPr txBox="1"/>
          <p:nvPr/>
        </p:nvSpPr>
        <p:spPr>
          <a:xfrm>
            <a:off x="868680" y="1993392"/>
            <a:ext cx="2103120" cy="274320"/>
          </a:xfrm>
          <a:prstGeom prst="rect">
            <a:avLst/>
          </a:prstGeom>
          <a:noFill/>
        </p:spPr>
        <p:txBody>
          <a:bodyPr wrap="square">
            <a:spAutoFit/>
          </a:bodyPr>
          <a:lstStyle/>
          <a:p>
            <a:r>
              <a:rPr sz="1150" b="1">
                <a:solidFill>
                  <a:srgbClr val="E0A458"/>
                </a:solidFill>
                <a:latin typeface="Calibri"/>
              </a:rPr>
              <a:t>CHANNEL</a:t>
            </a:r>
          </a:p>
        </p:txBody>
      </p:sp>
      <p:sp>
        <p:nvSpPr>
          <p:cNvPr id="6" name="TextBox 5"/>
          <p:cNvSpPr txBox="1"/>
          <p:nvPr/>
        </p:nvSpPr>
        <p:spPr>
          <a:xfrm>
            <a:off x="3108960" y="1993392"/>
            <a:ext cx="6949440" cy="274320"/>
          </a:xfrm>
          <a:prstGeom prst="rect">
            <a:avLst/>
          </a:prstGeom>
          <a:noFill/>
        </p:spPr>
        <p:txBody>
          <a:bodyPr wrap="square">
            <a:spAutoFit/>
          </a:bodyPr>
          <a:lstStyle/>
          <a:p>
            <a:r>
              <a:rPr sz="1150" b="1">
                <a:solidFill>
                  <a:srgbClr val="E0A458"/>
                </a:solidFill>
                <a:latin typeface="Calibri"/>
              </a:rPr>
              <a:t>WHAT IT MEANS</a:t>
            </a:r>
          </a:p>
        </p:txBody>
      </p:sp>
      <p:sp>
        <p:nvSpPr>
          <p:cNvPr id="7" name="TextBox 6"/>
          <p:cNvSpPr txBox="1"/>
          <p:nvPr/>
        </p:nvSpPr>
        <p:spPr>
          <a:xfrm>
            <a:off x="10607040" y="1993392"/>
            <a:ext cx="914400" cy="274320"/>
          </a:xfrm>
          <a:prstGeom prst="rect">
            <a:avLst/>
          </a:prstGeom>
          <a:noFill/>
        </p:spPr>
        <p:txBody>
          <a:bodyPr wrap="square">
            <a:spAutoFit/>
          </a:bodyPr>
          <a:lstStyle/>
          <a:p>
            <a:r>
              <a:rPr sz="1150" b="1">
                <a:solidFill>
                  <a:srgbClr val="E0A458"/>
                </a:solidFill>
                <a:latin typeface="Calibri"/>
              </a:rPr>
              <a:t>ATTACKS</a:t>
            </a:r>
          </a:p>
        </p:txBody>
      </p:sp>
      <p:sp>
        <p:nvSpPr>
          <p:cNvPr id="8" name="Rectangle 7"/>
          <p:cNvSpPr/>
          <p:nvPr/>
        </p:nvSpPr>
        <p:spPr>
          <a:xfrm>
            <a:off x="640080" y="2267712"/>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322576"/>
            <a:ext cx="2103120" cy="274320"/>
          </a:xfrm>
          <a:prstGeom prst="rect">
            <a:avLst/>
          </a:prstGeom>
          <a:noFill/>
        </p:spPr>
        <p:txBody>
          <a:bodyPr wrap="square">
            <a:spAutoFit/>
          </a:bodyPr>
          <a:lstStyle/>
          <a:p>
            <a:r>
              <a:rPr sz="1200" b="1">
                <a:solidFill>
                  <a:srgbClr val="FFFFFF"/>
                </a:solidFill>
                <a:latin typeface="Calibri"/>
              </a:rPr>
              <a:t>tool-output</a:t>
            </a:r>
          </a:p>
        </p:txBody>
      </p:sp>
      <p:sp>
        <p:nvSpPr>
          <p:cNvPr id="10" name="TextBox 9"/>
          <p:cNvSpPr txBox="1"/>
          <p:nvPr/>
        </p:nvSpPr>
        <p:spPr>
          <a:xfrm>
            <a:off x="3108960" y="2322576"/>
            <a:ext cx="7315200" cy="274320"/>
          </a:xfrm>
          <a:prstGeom prst="rect">
            <a:avLst/>
          </a:prstGeom>
          <a:noFill/>
        </p:spPr>
        <p:txBody>
          <a:bodyPr wrap="square">
            <a:spAutoFit/>
          </a:bodyPr>
          <a:lstStyle/>
          <a:p>
            <a:r>
              <a:rPr sz="1200" b="0">
                <a:solidFill>
                  <a:srgbClr val="CADCFC"/>
                </a:solidFill>
                <a:latin typeface="Calibri"/>
              </a:rPr>
              <a:t>What a tool gives back: a web page, an email, a file the agent opened.</a:t>
            </a:r>
          </a:p>
        </p:txBody>
      </p:sp>
      <p:sp>
        <p:nvSpPr>
          <p:cNvPr id="11" name="TextBox 10"/>
          <p:cNvSpPr txBox="1"/>
          <p:nvPr/>
        </p:nvSpPr>
        <p:spPr>
          <a:xfrm>
            <a:off x="10607040" y="2322576"/>
            <a:ext cx="914400" cy="274320"/>
          </a:xfrm>
          <a:prstGeom prst="rect">
            <a:avLst/>
          </a:prstGeom>
          <a:noFill/>
        </p:spPr>
        <p:txBody>
          <a:bodyPr wrap="square">
            <a:spAutoFit/>
          </a:bodyPr>
          <a:lstStyle/>
          <a:p>
            <a:r>
              <a:rPr sz="1200" b="1">
                <a:solidFill>
                  <a:srgbClr val="E0A458"/>
                </a:solidFill>
                <a:latin typeface="Calibri"/>
              </a:rPr>
              <a:t>66</a:t>
            </a:r>
          </a:p>
        </p:txBody>
      </p:sp>
      <p:sp>
        <p:nvSpPr>
          <p:cNvPr id="12" name="Rectangle 11"/>
          <p:cNvSpPr/>
          <p:nvPr/>
        </p:nvSpPr>
        <p:spPr>
          <a:xfrm>
            <a:off x="640080" y="2670048"/>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724912"/>
            <a:ext cx="2103120" cy="274320"/>
          </a:xfrm>
          <a:prstGeom prst="rect">
            <a:avLst/>
          </a:prstGeom>
          <a:noFill/>
        </p:spPr>
        <p:txBody>
          <a:bodyPr wrap="square">
            <a:spAutoFit/>
          </a:bodyPr>
          <a:lstStyle/>
          <a:p>
            <a:r>
              <a:rPr sz="1200" b="1">
                <a:solidFill>
                  <a:srgbClr val="FFFFFF"/>
                </a:solidFill>
                <a:latin typeface="Calibri"/>
              </a:rPr>
              <a:t>direct-input</a:t>
            </a:r>
          </a:p>
        </p:txBody>
      </p:sp>
      <p:sp>
        <p:nvSpPr>
          <p:cNvPr id="14" name="TextBox 13"/>
          <p:cNvSpPr txBox="1"/>
          <p:nvPr/>
        </p:nvSpPr>
        <p:spPr>
          <a:xfrm>
            <a:off x="3108960" y="2724912"/>
            <a:ext cx="7315200" cy="274320"/>
          </a:xfrm>
          <a:prstGeom prst="rect">
            <a:avLst/>
          </a:prstGeom>
          <a:noFill/>
        </p:spPr>
        <p:txBody>
          <a:bodyPr wrap="square">
            <a:spAutoFit/>
          </a:bodyPr>
          <a:lstStyle/>
          <a:p>
            <a:r>
              <a:rPr sz="1200" b="0">
                <a:solidFill>
                  <a:srgbClr val="CADCFC"/>
                </a:solidFill>
                <a:latin typeface="Calibri"/>
              </a:rPr>
              <a:t>The prompt itself. The user's text, or the system prompt above it.</a:t>
            </a:r>
          </a:p>
        </p:txBody>
      </p:sp>
      <p:sp>
        <p:nvSpPr>
          <p:cNvPr id="15" name="TextBox 14"/>
          <p:cNvSpPr txBox="1"/>
          <p:nvPr/>
        </p:nvSpPr>
        <p:spPr>
          <a:xfrm>
            <a:off x="10607040" y="2724912"/>
            <a:ext cx="914400" cy="274320"/>
          </a:xfrm>
          <a:prstGeom prst="rect">
            <a:avLst/>
          </a:prstGeom>
          <a:noFill/>
        </p:spPr>
        <p:txBody>
          <a:bodyPr wrap="square">
            <a:spAutoFit/>
          </a:bodyPr>
          <a:lstStyle/>
          <a:p>
            <a:r>
              <a:rPr sz="1200" b="1">
                <a:solidFill>
                  <a:srgbClr val="E0A458"/>
                </a:solidFill>
                <a:latin typeface="Calibri"/>
              </a:rPr>
              <a:t>66</a:t>
            </a:r>
          </a:p>
        </p:txBody>
      </p:sp>
      <p:sp>
        <p:nvSpPr>
          <p:cNvPr id="16" name="Rectangle 15"/>
          <p:cNvSpPr/>
          <p:nvPr/>
        </p:nvSpPr>
        <p:spPr>
          <a:xfrm>
            <a:off x="640080" y="3072384"/>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127248"/>
            <a:ext cx="2103120" cy="274320"/>
          </a:xfrm>
          <a:prstGeom prst="rect">
            <a:avLst/>
          </a:prstGeom>
          <a:noFill/>
        </p:spPr>
        <p:txBody>
          <a:bodyPr wrap="square">
            <a:spAutoFit/>
          </a:bodyPr>
          <a:lstStyle/>
          <a:p>
            <a:r>
              <a:rPr sz="1200" b="1">
                <a:solidFill>
                  <a:srgbClr val="FFFFFF"/>
                </a:solidFill>
                <a:latin typeface="Calibri"/>
              </a:rPr>
              <a:t>RAG</a:t>
            </a:r>
          </a:p>
        </p:txBody>
      </p:sp>
      <p:sp>
        <p:nvSpPr>
          <p:cNvPr id="18" name="TextBox 17"/>
          <p:cNvSpPr txBox="1"/>
          <p:nvPr/>
        </p:nvSpPr>
        <p:spPr>
          <a:xfrm>
            <a:off x="3108960" y="3127248"/>
            <a:ext cx="7315200" cy="274320"/>
          </a:xfrm>
          <a:prstGeom prst="rect">
            <a:avLst/>
          </a:prstGeom>
          <a:noFill/>
        </p:spPr>
        <p:txBody>
          <a:bodyPr wrap="square">
            <a:spAutoFit/>
          </a:bodyPr>
          <a:lstStyle/>
          <a:p>
            <a:r>
              <a:rPr sz="1200" b="0">
                <a:solidFill>
                  <a:srgbClr val="CADCFC"/>
                </a:solidFill>
                <a:latin typeface="Calibri"/>
              </a:rPr>
              <a:t>A document that a search step pulled out of a corpus.</a:t>
            </a:r>
          </a:p>
        </p:txBody>
      </p:sp>
      <p:sp>
        <p:nvSpPr>
          <p:cNvPr id="19" name="TextBox 18"/>
          <p:cNvSpPr txBox="1"/>
          <p:nvPr/>
        </p:nvSpPr>
        <p:spPr>
          <a:xfrm>
            <a:off x="10607040" y="3127248"/>
            <a:ext cx="914400" cy="274320"/>
          </a:xfrm>
          <a:prstGeom prst="rect">
            <a:avLst/>
          </a:prstGeom>
          <a:noFill/>
        </p:spPr>
        <p:txBody>
          <a:bodyPr wrap="square">
            <a:spAutoFit/>
          </a:bodyPr>
          <a:lstStyle/>
          <a:p>
            <a:r>
              <a:rPr sz="1200" b="1">
                <a:solidFill>
                  <a:srgbClr val="E0A458"/>
                </a:solidFill>
                <a:latin typeface="Calibri"/>
              </a:rPr>
              <a:t>28</a:t>
            </a:r>
          </a:p>
        </p:txBody>
      </p:sp>
      <p:sp>
        <p:nvSpPr>
          <p:cNvPr id="20" name="Rectangle 19"/>
          <p:cNvSpPr/>
          <p:nvPr/>
        </p:nvSpPr>
        <p:spPr>
          <a:xfrm>
            <a:off x="640080" y="3474720"/>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3529584"/>
            <a:ext cx="2103120" cy="274320"/>
          </a:xfrm>
          <a:prstGeom prst="rect">
            <a:avLst/>
          </a:prstGeom>
          <a:noFill/>
        </p:spPr>
        <p:txBody>
          <a:bodyPr wrap="square">
            <a:spAutoFit/>
          </a:bodyPr>
          <a:lstStyle/>
          <a:p>
            <a:r>
              <a:rPr sz="1200" b="1">
                <a:solidFill>
                  <a:srgbClr val="FFFFFF"/>
                </a:solidFill>
                <a:latin typeface="Calibri"/>
              </a:rPr>
              <a:t>cross-modal</a:t>
            </a:r>
          </a:p>
        </p:txBody>
      </p:sp>
      <p:sp>
        <p:nvSpPr>
          <p:cNvPr id="22" name="TextBox 21"/>
          <p:cNvSpPr txBox="1"/>
          <p:nvPr/>
        </p:nvSpPr>
        <p:spPr>
          <a:xfrm>
            <a:off x="3108960" y="3529584"/>
            <a:ext cx="7315200" cy="274320"/>
          </a:xfrm>
          <a:prstGeom prst="rect">
            <a:avLst/>
          </a:prstGeom>
          <a:noFill/>
        </p:spPr>
        <p:txBody>
          <a:bodyPr wrap="square">
            <a:spAutoFit/>
          </a:bodyPr>
          <a:lstStyle/>
          <a:p>
            <a:r>
              <a:rPr sz="1200" b="0">
                <a:solidFill>
                  <a:srgbClr val="CADCFC"/>
                </a:solidFill>
                <a:latin typeface="Calibri"/>
              </a:rPr>
              <a:t>Text carried inside an image, audio or video, not in a text field.</a:t>
            </a:r>
          </a:p>
        </p:txBody>
      </p:sp>
      <p:sp>
        <p:nvSpPr>
          <p:cNvPr id="23" name="TextBox 22"/>
          <p:cNvSpPr txBox="1"/>
          <p:nvPr/>
        </p:nvSpPr>
        <p:spPr>
          <a:xfrm>
            <a:off x="10607040" y="3529584"/>
            <a:ext cx="914400" cy="274320"/>
          </a:xfrm>
          <a:prstGeom prst="rect">
            <a:avLst/>
          </a:prstGeom>
          <a:noFill/>
        </p:spPr>
        <p:txBody>
          <a:bodyPr wrap="square">
            <a:spAutoFit/>
          </a:bodyPr>
          <a:lstStyle/>
          <a:p>
            <a:r>
              <a:rPr sz="1200" b="1">
                <a:solidFill>
                  <a:srgbClr val="E0A458"/>
                </a:solidFill>
                <a:latin typeface="Calibri"/>
              </a:rPr>
              <a:t>18</a:t>
            </a:r>
          </a:p>
        </p:txBody>
      </p:sp>
      <p:sp>
        <p:nvSpPr>
          <p:cNvPr id="24" name="Rectangle 23"/>
          <p:cNvSpPr/>
          <p:nvPr/>
        </p:nvSpPr>
        <p:spPr>
          <a:xfrm>
            <a:off x="640080" y="3877056"/>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931920"/>
            <a:ext cx="2103120" cy="274320"/>
          </a:xfrm>
          <a:prstGeom prst="rect">
            <a:avLst/>
          </a:prstGeom>
          <a:noFill/>
        </p:spPr>
        <p:txBody>
          <a:bodyPr wrap="square">
            <a:spAutoFit/>
          </a:bodyPr>
          <a:lstStyle/>
          <a:p>
            <a:r>
              <a:rPr sz="1200" b="1">
                <a:solidFill>
                  <a:srgbClr val="FFFFFF"/>
                </a:solidFill>
                <a:latin typeface="Calibri"/>
              </a:rPr>
              <a:t>memory</a:t>
            </a:r>
          </a:p>
        </p:txBody>
      </p:sp>
      <p:sp>
        <p:nvSpPr>
          <p:cNvPr id="26" name="TextBox 25"/>
          <p:cNvSpPr txBox="1"/>
          <p:nvPr/>
        </p:nvSpPr>
        <p:spPr>
          <a:xfrm>
            <a:off x="3108960" y="3931920"/>
            <a:ext cx="7315200" cy="274320"/>
          </a:xfrm>
          <a:prstGeom prst="rect">
            <a:avLst/>
          </a:prstGeom>
          <a:noFill/>
        </p:spPr>
        <p:txBody>
          <a:bodyPr wrap="square">
            <a:spAutoFit/>
          </a:bodyPr>
          <a:lstStyle/>
          <a:p>
            <a:r>
              <a:rPr sz="1200" b="0">
                <a:solidFill>
                  <a:srgbClr val="CADCFC"/>
                </a:solidFill>
                <a:latin typeface="Calibri"/>
              </a:rPr>
              <a:t>Something the agent stored on an earlier run and reads again now.</a:t>
            </a:r>
          </a:p>
        </p:txBody>
      </p:sp>
      <p:sp>
        <p:nvSpPr>
          <p:cNvPr id="27" name="TextBox 26"/>
          <p:cNvSpPr txBox="1"/>
          <p:nvPr/>
        </p:nvSpPr>
        <p:spPr>
          <a:xfrm>
            <a:off x="10607040" y="3931920"/>
            <a:ext cx="914400" cy="274320"/>
          </a:xfrm>
          <a:prstGeom prst="rect">
            <a:avLst/>
          </a:prstGeom>
          <a:noFill/>
        </p:spPr>
        <p:txBody>
          <a:bodyPr wrap="square">
            <a:spAutoFit/>
          </a:bodyPr>
          <a:lstStyle/>
          <a:p>
            <a:r>
              <a:rPr sz="1200" b="1">
                <a:solidFill>
                  <a:srgbClr val="E0A458"/>
                </a:solidFill>
                <a:latin typeface="Calibri"/>
              </a:rPr>
              <a:t>14</a:t>
            </a:r>
          </a:p>
        </p:txBody>
      </p:sp>
      <p:sp>
        <p:nvSpPr>
          <p:cNvPr id="28" name="Rectangle 27"/>
          <p:cNvSpPr/>
          <p:nvPr/>
        </p:nvSpPr>
        <p:spPr>
          <a:xfrm>
            <a:off x="640080" y="4279392"/>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4334255"/>
            <a:ext cx="2103120" cy="274320"/>
          </a:xfrm>
          <a:prstGeom prst="rect">
            <a:avLst/>
          </a:prstGeom>
          <a:noFill/>
        </p:spPr>
        <p:txBody>
          <a:bodyPr wrap="square">
            <a:spAutoFit/>
          </a:bodyPr>
          <a:lstStyle/>
          <a:p>
            <a:r>
              <a:rPr sz="1200" b="1">
                <a:solidFill>
                  <a:srgbClr val="FFFFFF"/>
                </a:solidFill>
                <a:latin typeface="Calibri"/>
              </a:rPr>
              <a:t>tool-metadata</a:t>
            </a:r>
          </a:p>
        </p:txBody>
      </p:sp>
      <p:sp>
        <p:nvSpPr>
          <p:cNvPr id="30" name="TextBox 29"/>
          <p:cNvSpPr txBox="1"/>
          <p:nvPr/>
        </p:nvSpPr>
        <p:spPr>
          <a:xfrm>
            <a:off x="3108960" y="4334255"/>
            <a:ext cx="7315200" cy="274320"/>
          </a:xfrm>
          <a:prstGeom prst="rect">
            <a:avLst/>
          </a:prstGeom>
          <a:noFill/>
        </p:spPr>
        <p:txBody>
          <a:bodyPr wrap="square">
            <a:spAutoFit/>
          </a:bodyPr>
          <a:lstStyle/>
          <a:p>
            <a:r>
              <a:rPr sz="1200" b="0">
                <a:solidFill>
                  <a:srgbClr val="CADCFC"/>
                </a:solidFill>
                <a:latin typeface="Calibri"/>
              </a:rPr>
              <a:t>The description of a tool, not its output. The text that says what the tool does.</a:t>
            </a:r>
          </a:p>
        </p:txBody>
      </p:sp>
      <p:sp>
        <p:nvSpPr>
          <p:cNvPr id="31" name="TextBox 30"/>
          <p:cNvSpPr txBox="1"/>
          <p:nvPr/>
        </p:nvSpPr>
        <p:spPr>
          <a:xfrm>
            <a:off x="10607040" y="4334255"/>
            <a:ext cx="914400" cy="274320"/>
          </a:xfrm>
          <a:prstGeom prst="rect">
            <a:avLst/>
          </a:prstGeom>
          <a:noFill/>
        </p:spPr>
        <p:txBody>
          <a:bodyPr wrap="square">
            <a:spAutoFit/>
          </a:bodyPr>
          <a:lstStyle/>
          <a:p>
            <a:r>
              <a:rPr sz="1200" b="1">
                <a:solidFill>
                  <a:srgbClr val="E0A458"/>
                </a:solidFill>
                <a:latin typeface="Calibri"/>
              </a:rPr>
              <a:t>12</a:t>
            </a:r>
          </a:p>
        </p:txBody>
      </p:sp>
      <p:sp>
        <p:nvSpPr>
          <p:cNvPr id="32" name="Rectangle 31"/>
          <p:cNvSpPr/>
          <p:nvPr/>
        </p:nvSpPr>
        <p:spPr>
          <a:xfrm>
            <a:off x="640080" y="4681728"/>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8680" y="4736592"/>
            <a:ext cx="2103120" cy="274320"/>
          </a:xfrm>
          <a:prstGeom prst="rect">
            <a:avLst/>
          </a:prstGeom>
          <a:noFill/>
        </p:spPr>
        <p:txBody>
          <a:bodyPr wrap="square">
            <a:spAutoFit/>
          </a:bodyPr>
          <a:lstStyle/>
          <a:p>
            <a:r>
              <a:rPr sz="1200" b="1">
                <a:solidFill>
                  <a:srgbClr val="FFFFFF"/>
                </a:solidFill>
                <a:latin typeface="Calibri"/>
              </a:rPr>
              <a:t>multi-agent</a:t>
            </a:r>
          </a:p>
        </p:txBody>
      </p:sp>
      <p:sp>
        <p:nvSpPr>
          <p:cNvPr id="34" name="TextBox 33"/>
          <p:cNvSpPr txBox="1"/>
          <p:nvPr/>
        </p:nvSpPr>
        <p:spPr>
          <a:xfrm>
            <a:off x="3108960" y="4736592"/>
            <a:ext cx="7315200" cy="274320"/>
          </a:xfrm>
          <a:prstGeom prst="rect">
            <a:avLst/>
          </a:prstGeom>
          <a:noFill/>
        </p:spPr>
        <p:txBody>
          <a:bodyPr wrap="square">
            <a:spAutoFit/>
          </a:bodyPr>
          <a:lstStyle/>
          <a:p>
            <a:r>
              <a:rPr sz="1200" b="0">
                <a:solidFill>
                  <a:srgbClr val="CADCFC"/>
                </a:solidFill>
                <a:latin typeface="Calibri"/>
              </a:rPr>
              <a:t>A message from another agent in the same system.</a:t>
            </a:r>
          </a:p>
        </p:txBody>
      </p:sp>
      <p:sp>
        <p:nvSpPr>
          <p:cNvPr id="35" name="TextBox 34"/>
          <p:cNvSpPr txBox="1"/>
          <p:nvPr/>
        </p:nvSpPr>
        <p:spPr>
          <a:xfrm>
            <a:off x="10607040" y="4736592"/>
            <a:ext cx="914400" cy="274320"/>
          </a:xfrm>
          <a:prstGeom prst="rect">
            <a:avLst/>
          </a:prstGeom>
          <a:noFill/>
        </p:spPr>
        <p:txBody>
          <a:bodyPr wrap="square">
            <a:spAutoFit/>
          </a:bodyPr>
          <a:lstStyle/>
          <a:p>
            <a:r>
              <a:rPr sz="1200" b="1">
                <a:solidFill>
                  <a:srgbClr val="E0A458"/>
                </a:solidFill>
                <a:latin typeface="Calibri"/>
              </a:rPr>
              <a:t>9</a:t>
            </a:r>
          </a:p>
        </p:txBody>
      </p:sp>
      <p:sp>
        <p:nvSpPr>
          <p:cNvPr id="36" name="Rectangle 35"/>
          <p:cNvSpPr/>
          <p:nvPr/>
        </p:nvSpPr>
        <p:spPr>
          <a:xfrm>
            <a:off x="640080" y="5084064"/>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5138928"/>
            <a:ext cx="2103120" cy="274320"/>
          </a:xfrm>
          <a:prstGeom prst="rect">
            <a:avLst/>
          </a:prstGeom>
          <a:noFill/>
        </p:spPr>
        <p:txBody>
          <a:bodyPr wrap="square">
            <a:spAutoFit/>
          </a:bodyPr>
          <a:lstStyle/>
          <a:p>
            <a:r>
              <a:rPr sz="1200" b="1">
                <a:solidFill>
                  <a:srgbClr val="FFFFFF"/>
                </a:solidFill>
                <a:latin typeface="Calibri"/>
              </a:rPr>
              <a:t>supply-chain</a:t>
            </a:r>
          </a:p>
        </p:txBody>
      </p:sp>
      <p:sp>
        <p:nvSpPr>
          <p:cNvPr id="38" name="TextBox 37"/>
          <p:cNvSpPr txBox="1"/>
          <p:nvPr/>
        </p:nvSpPr>
        <p:spPr>
          <a:xfrm>
            <a:off x="3108960" y="5138928"/>
            <a:ext cx="7315200" cy="274320"/>
          </a:xfrm>
          <a:prstGeom prst="rect">
            <a:avLst/>
          </a:prstGeom>
          <a:noFill/>
        </p:spPr>
        <p:txBody>
          <a:bodyPr wrap="square">
            <a:spAutoFit/>
          </a:bodyPr>
          <a:lstStyle/>
          <a:p>
            <a:r>
              <a:rPr sz="1200" b="0">
                <a:solidFill>
                  <a:srgbClr val="CADCFC"/>
                </a:solidFill>
                <a:latin typeface="Calibri"/>
              </a:rPr>
              <a:t>A package, template or prompt file the agent inherits before it starts.</a:t>
            </a:r>
          </a:p>
        </p:txBody>
      </p:sp>
      <p:sp>
        <p:nvSpPr>
          <p:cNvPr id="39" name="TextBox 38"/>
          <p:cNvSpPr txBox="1"/>
          <p:nvPr/>
        </p:nvSpPr>
        <p:spPr>
          <a:xfrm>
            <a:off x="10607040" y="5138928"/>
            <a:ext cx="914400" cy="274320"/>
          </a:xfrm>
          <a:prstGeom prst="rect">
            <a:avLst/>
          </a:prstGeom>
          <a:noFill/>
        </p:spPr>
        <p:txBody>
          <a:bodyPr wrap="square">
            <a:spAutoFit/>
          </a:bodyPr>
          <a:lstStyle/>
          <a:p>
            <a:r>
              <a:rPr sz="1200" b="1">
                <a:solidFill>
                  <a:srgbClr val="E0A458"/>
                </a:solidFill>
                <a:latin typeface="Calibri"/>
              </a:rPr>
              <a:t>6</a:t>
            </a:r>
          </a:p>
        </p:txBody>
      </p:sp>
      <p:sp>
        <p:nvSpPr>
          <p:cNvPr id="40" name="Rectangle 39"/>
          <p:cNvSpPr/>
          <p:nvPr/>
        </p:nvSpPr>
        <p:spPr>
          <a:xfrm>
            <a:off x="640080" y="5486400"/>
            <a:ext cx="10881360" cy="3657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8680" y="5541264"/>
            <a:ext cx="2103120" cy="274320"/>
          </a:xfrm>
          <a:prstGeom prst="rect">
            <a:avLst/>
          </a:prstGeom>
          <a:noFill/>
        </p:spPr>
        <p:txBody>
          <a:bodyPr wrap="square">
            <a:spAutoFit/>
          </a:bodyPr>
          <a:lstStyle/>
          <a:p>
            <a:r>
              <a:rPr sz="1200" b="1">
                <a:solidFill>
                  <a:srgbClr val="FFFFFF"/>
                </a:solidFill>
                <a:latin typeface="Calibri"/>
              </a:rPr>
              <a:t>skill</a:t>
            </a:r>
          </a:p>
        </p:txBody>
      </p:sp>
      <p:sp>
        <p:nvSpPr>
          <p:cNvPr id="42" name="TextBox 41"/>
          <p:cNvSpPr txBox="1"/>
          <p:nvPr/>
        </p:nvSpPr>
        <p:spPr>
          <a:xfrm>
            <a:off x="3108960" y="5541264"/>
            <a:ext cx="7315200" cy="274320"/>
          </a:xfrm>
          <a:prstGeom prst="rect">
            <a:avLst/>
          </a:prstGeom>
          <a:noFill/>
        </p:spPr>
        <p:txBody>
          <a:bodyPr wrap="square">
            <a:spAutoFit/>
          </a:bodyPr>
          <a:lstStyle/>
          <a:p>
            <a:r>
              <a:rPr sz="1200" b="0">
                <a:solidFill>
                  <a:srgbClr val="CADCFC"/>
                </a:solidFill>
                <a:latin typeface="Calibri"/>
              </a:rPr>
              <a:t>A stored procedure the agent loads and follows.</a:t>
            </a:r>
          </a:p>
        </p:txBody>
      </p:sp>
      <p:sp>
        <p:nvSpPr>
          <p:cNvPr id="43" name="TextBox 42"/>
          <p:cNvSpPr txBox="1"/>
          <p:nvPr/>
        </p:nvSpPr>
        <p:spPr>
          <a:xfrm>
            <a:off x="10607040" y="5541264"/>
            <a:ext cx="914400" cy="274320"/>
          </a:xfrm>
          <a:prstGeom prst="rect">
            <a:avLst/>
          </a:prstGeom>
          <a:noFill/>
        </p:spPr>
        <p:txBody>
          <a:bodyPr wrap="square">
            <a:spAutoFit/>
          </a:bodyPr>
          <a:lstStyle/>
          <a:p>
            <a:r>
              <a:rPr sz="1200" b="1">
                <a:solidFill>
                  <a:srgbClr val="E0A458"/>
                </a:solidFill>
                <a:latin typeface="Calibri"/>
              </a:rPr>
              <a:t>4</a:t>
            </a:r>
          </a:p>
        </p:txBody>
      </p:sp>
      <p:sp>
        <p:nvSpPr>
          <p:cNvPr id="44" name="TextBox 43"/>
          <p:cNvSpPr txBox="1"/>
          <p:nvPr/>
        </p:nvSpPr>
        <p:spPr>
          <a:xfrm>
            <a:off x="640080" y="5925312"/>
            <a:ext cx="10881360" cy="365760"/>
          </a:xfrm>
          <a:prstGeom prst="rect">
            <a:avLst/>
          </a:prstGeom>
          <a:noFill/>
        </p:spPr>
        <p:txBody>
          <a:bodyPr wrap="square">
            <a:spAutoFit/>
          </a:bodyPr>
          <a:lstStyle/>
          <a:p>
            <a:r>
              <a:rPr sz="1200" b="0">
                <a:solidFill>
                  <a:srgbClr val="CFE8EF"/>
                </a:solidFill>
                <a:latin typeface="Calibri"/>
              </a:rPr>
              <a:t>The right column counts the named attacks we found for that channel. A defense sits on a channel too.</a:t>
            </a:r>
          </a:p>
        </p:txBody>
      </p:sp>
      <p:sp>
        <p:nvSpPr>
          <p:cNvPr id="45" name="TextBox 44"/>
          <p:cNvSpPr txBox="1"/>
          <p:nvPr/>
        </p:nvSpPr>
        <p:spPr>
          <a:xfrm>
            <a:off x="640080" y="6236208"/>
            <a:ext cx="10789920" cy="566928"/>
          </a:xfrm>
          <a:prstGeom prst="rect">
            <a:avLst/>
          </a:prstGeom>
          <a:noFill/>
        </p:spPr>
        <p:txBody>
          <a:bodyPr wrap="square">
            <a:spAutoFit/>
          </a:bodyPr>
          <a:lstStyle/>
          <a:p>
            <a:pPr>
              <a:spcAft>
                <a:spcPts val="0"/>
              </a:spcAft>
            </a:pPr>
            <a:r>
              <a:rPr sz="750" b="0">
                <a:solidFill>
                  <a:srgbClr val="5B6B79"/>
                </a:solidFill>
                <a:latin typeface="Calibri"/>
              </a:rPr>
              <a:t>Sources:  tool-output Greshake et al., AISec@CCS 2023, arXiv:2302.12173   ·   direct-input Liu et al., 2023, arXiv:2306.05499   ·   RAG Zou et al., USENIX Security 2024, arXiv:2402.07867</a:t>
            </a:r>
          </a:p>
          <a:p>
            <a:pPr>
              <a:spcAft>
                <a:spcPts val="0"/>
              </a:spcAft>
            </a:pPr>
            <a:r>
              <a:rPr sz="750" b="0">
                <a:solidFill>
                  <a:srgbClr val="5B6B79"/>
                </a:solidFill>
                <a:latin typeface="Calibri"/>
              </a:rPr>
              <a:t>              memory Chen et al., NeurIPS 2024, arXiv:2407.12784   ·   cross-modal Wang et al., EMNLP 2025, arXiv:2505.11717   ·   tool-metadata Wang et al., AAAI 2026, arXiv:2508.14925</a:t>
            </a:r>
          </a:p>
          <a:p>
            <a:pPr>
              <a:spcAft>
                <a:spcPts val="0"/>
              </a:spcAft>
            </a:pPr>
            <a:r>
              <a:rPr sz="750" b="0">
                <a:solidFill>
                  <a:srgbClr val="5B6B79"/>
                </a:solidFill>
                <a:latin typeface="Calibri"/>
              </a:rPr>
              <a:t>              multi-agent Lee et al., ESORICS 2025, arXiv:2410.07283   ·   supply-chain Qu et al., 2026, arXiv:2604.03081   ·   skill Jia et al., 2026, arXiv:2602.14211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AXIS 3  ·  CONSEQUENCE</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The six ways the agent then fails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5</a:t>
            </a:r>
          </a:p>
        </p:txBody>
      </p:sp>
      <p:sp>
        <p:nvSpPr>
          <p:cNvPr id="5" name="TextBox 4"/>
          <p:cNvSpPr txBox="1"/>
          <p:nvPr/>
        </p:nvSpPr>
        <p:spPr>
          <a:xfrm>
            <a:off x="868680" y="2240280"/>
            <a:ext cx="2651760" cy="274320"/>
          </a:xfrm>
          <a:prstGeom prst="rect">
            <a:avLst/>
          </a:prstGeom>
          <a:noFill/>
        </p:spPr>
        <p:txBody>
          <a:bodyPr wrap="square">
            <a:spAutoFit/>
          </a:bodyPr>
          <a:lstStyle/>
          <a:p>
            <a:r>
              <a:rPr sz="1150" b="1">
                <a:solidFill>
                  <a:srgbClr val="E0A458"/>
                </a:solidFill>
                <a:latin typeface="Calibri"/>
              </a:rPr>
              <a:t>CONSEQUENCE</a:t>
            </a:r>
          </a:p>
        </p:txBody>
      </p:sp>
      <p:sp>
        <p:nvSpPr>
          <p:cNvPr id="6" name="TextBox 5"/>
          <p:cNvSpPr txBox="1"/>
          <p:nvPr/>
        </p:nvSpPr>
        <p:spPr>
          <a:xfrm>
            <a:off x="3703320" y="2240280"/>
            <a:ext cx="6400800" cy="274320"/>
          </a:xfrm>
          <a:prstGeom prst="rect">
            <a:avLst/>
          </a:prstGeom>
          <a:noFill/>
        </p:spPr>
        <p:txBody>
          <a:bodyPr wrap="square">
            <a:spAutoFit/>
          </a:bodyPr>
          <a:lstStyle/>
          <a:p>
            <a:r>
              <a:rPr sz="1150" b="1">
                <a:solidFill>
                  <a:srgbClr val="E0A458"/>
                </a:solidFill>
                <a:latin typeface="Calibri"/>
              </a:rPr>
              <a:t>WHAT IT MEANS</a:t>
            </a:r>
          </a:p>
        </p:txBody>
      </p:sp>
      <p:sp>
        <p:nvSpPr>
          <p:cNvPr id="7" name="TextBox 6"/>
          <p:cNvSpPr txBox="1"/>
          <p:nvPr/>
        </p:nvSpPr>
        <p:spPr>
          <a:xfrm>
            <a:off x="10607040" y="2240280"/>
            <a:ext cx="914400" cy="274320"/>
          </a:xfrm>
          <a:prstGeom prst="rect">
            <a:avLst/>
          </a:prstGeom>
          <a:noFill/>
        </p:spPr>
        <p:txBody>
          <a:bodyPr wrap="square">
            <a:spAutoFit/>
          </a:bodyPr>
          <a:lstStyle/>
          <a:p>
            <a:r>
              <a:rPr sz="1150" b="1">
                <a:solidFill>
                  <a:srgbClr val="E0A458"/>
                </a:solidFill>
                <a:latin typeface="Calibri"/>
              </a:rPr>
              <a:t>ATTACKS</a:t>
            </a:r>
          </a:p>
        </p:txBody>
      </p:sp>
      <p:sp>
        <p:nvSpPr>
          <p:cNvPr id="8" name="Rectangle 7"/>
          <p:cNvSpPr/>
          <p:nvPr/>
        </p:nvSpPr>
        <p:spPr>
          <a:xfrm>
            <a:off x="640080" y="2523744"/>
            <a:ext cx="10881360" cy="53035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651760"/>
            <a:ext cx="2651760" cy="274320"/>
          </a:xfrm>
          <a:prstGeom prst="rect">
            <a:avLst/>
          </a:prstGeom>
          <a:noFill/>
        </p:spPr>
        <p:txBody>
          <a:bodyPr wrap="square">
            <a:spAutoFit/>
          </a:bodyPr>
          <a:lstStyle/>
          <a:p>
            <a:r>
              <a:rPr sz="1200" b="1">
                <a:solidFill>
                  <a:srgbClr val="FFFFFF"/>
                </a:solidFill>
                <a:latin typeface="Calibri"/>
              </a:rPr>
              <a:t>goal-hijack</a:t>
            </a:r>
          </a:p>
        </p:txBody>
      </p:sp>
      <p:sp>
        <p:nvSpPr>
          <p:cNvPr id="10" name="TextBox 9"/>
          <p:cNvSpPr txBox="1"/>
          <p:nvPr/>
        </p:nvSpPr>
        <p:spPr>
          <a:xfrm>
            <a:off x="3703320" y="2560320"/>
            <a:ext cx="6766560" cy="475488"/>
          </a:xfrm>
          <a:prstGeom prst="rect">
            <a:avLst/>
          </a:prstGeom>
          <a:noFill/>
        </p:spPr>
        <p:txBody>
          <a:bodyPr wrap="square">
            <a:spAutoFit/>
          </a:bodyPr>
          <a:lstStyle/>
          <a:p>
            <a:pPr>
              <a:spcAft>
                <a:spcPts val="0"/>
              </a:spcAft>
            </a:pPr>
            <a:r>
              <a:rPr sz="1150" b="0">
                <a:solidFill>
                  <a:srgbClr val="CADCFC"/>
                </a:solidFill>
                <a:latin typeface="Calibri"/>
              </a:rPr>
              <a:t>The agent does another person's task instead of yours. Text in the window gives an order and the agent obeys.</a:t>
            </a:r>
          </a:p>
        </p:txBody>
      </p:sp>
      <p:sp>
        <p:nvSpPr>
          <p:cNvPr id="11" name="TextBox 10"/>
          <p:cNvSpPr txBox="1"/>
          <p:nvPr/>
        </p:nvSpPr>
        <p:spPr>
          <a:xfrm>
            <a:off x="10607040" y="2651760"/>
            <a:ext cx="914400" cy="274320"/>
          </a:xfrm>
          <a:prstGeom prst="rect">
            <a:avLst/>
          </a:prstGeom>
          <a:noFill/>
        </p:spPr>
        <p:txBody>
          <a:bodyPr wrap="square">
            <a:spAutoFit/>
          </a:bodyPr>
          <a:lstStyle/>
          <a:p>
            <a:r>
              <a:rPr sz="1200" b="1">
                <a:solidFill>
                  <a:srgbClr val="E0A458"/>
                </a:solidFill>
                <a:latin typeface="Calibri"/>
              </a:rPr>
              <a:t>126</a:t>
            </a:r>
          </a:p>
        </p:txBody>
      </p:sp>
      <p:sp>
        <p:nvSpPr>
          <p:cNvPr id="12" name="Rectangle 11"/>
          <p:cNvSpPr/>
          <p:nvPr/>
        </p:nvSpPr>
        <p:spPr>
          <a:xfrm>
            <a:off x="640080" y="3099815"/>
            <a:ext cx="10881360" cy="53035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227832"/>
            <a:ext cx="2651760" cy="274320"/>
          </a:xfrm>
          <a:prstGeom prst="rect">
            <a:avLst/>
          </a:prstGeom>
          <a:noFill/>
        </p:spPr>
        <p:txBody>
          <a:bodyPr wrap="square">
            <a:spAutoFit/>
          </a:bodyPr>
          <a:lstStyle/>
          <a:p>
            <a:r>
              <a:rPr sz="1200" b="1">
                <a:solidFill>
                  <a:srgbClr val="FFFFFF"/>
                </a:solidFill>
                <a:latin typeface="Calibri"/>
              </a:rPr>
              <a:t>reasoning-corruption</a:t>
            </a:r>
          </a:p>
        </p:txBody>
      </p:sp>
      <p:sp>
        <p:nvSpPr>
          <p:cNvPr id="14" name="TextBox 13"/>
          <p:cNvSpPr txBox="1"/>
          <p:nvPr/>
        </p:nvSpPr>
        <p:spPr>
          <a:xfrm>
            <a:off x="3703320" y="3136391"/>
            <a:ext cx="6766560" cy="475488"/>
          </a:xfrm>
          <a:prstGeom prst="rect">
            <a:avLst/>
          </a:prstGeom>
          <a:noFill/>
        </p:spPr>
        <p:txBody>
          <a:bodyPr wrap="square">
            <a:spAutoFit/>
          </a:bodyPr>
          <a:lstStyle/>
          <a:p>
            <a:pPr>
              <a:spcAft>
                <a:spcPts val="0"/>
              </a:spcAft>
            </a:pPr>
            <a:r>
              <a:rPr sz="1150" b="0">
                <a:solidFill>
                  <a:srgbClr val="CADCFC"/>
                </a:solidFill>
                <a:latin typeface="Calibri"/>
              </a:rPr>
              <a:t>Every word in the window is true. The window is too long or too cluttered, and the model stops using it well.</a:t>
            </a:r>
          </a:p>
        </p:txBody>
      </p:sp>
      <p:sp>
        <p:nvSpPr>
          <p:cNvPr id="15" name="TextBox 14"/>
          <p:cNvSpPr txBox="1"/>
          <p:nvPr/>
        </p:nvSpPr>
        <p:spPr>
          <a:xfrm>
            <a:off x="10607040" y="3227832"/>
            <a:ext cx="914400" cy="274320"/>
          </a:xfrm>
          <a:prstGeom prst="rect">
            <a:avLst/>
          </a:prstGeom>
          <a:noFill/>
        </p:spPr>
        <p:txBody>
          <a:bodyPr wrap="square">
            <a:spAutoFit/>
          </a:bodyPr>
          <a:lstStyle/>
          <a:p>
            <a:r>
              <a:rPr sz="1200" b="1">
                <a:solidFill>
                  <a:srgbClr val="E0A458"/>
                </a:solidFill>
                <a:latin typeface="Calibri"/>
              </a:rPr>
              <a:t>46</a:t>
            </a:r>
          </a:p>
        </p:txBody>
      </p:sp>
      <p:sp>
        <p:nvSpPr>
          <p:cNvPr id="16" name="Rectangle 15"/>
          <p:cNvSpPr/>
          <p:nvPr/>
        </p:nvSpPr>
        <p:spPr>
          <a:xfrm>
            <a:off x="640080" y="3675887"/>
            <a:ext cx="10881360" cy="53035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803903"/>
            <a:ext cx="2651760" cy="274320"/>
          </a:xfrm>
          <a:prstGeom prst="rect">
            <a:avLst/>
          </a:prstGeom>
          <a:noFill/>
        </p:spPr>
        <p:txBody>
          <a:bodyPr wrap="square">
            <a:spAutoFit/>
          </a:bodyPr>
          <a:lstStyle/>
          <a:p>
            <a:r>
              <a:rPr sz="1200" b="1">
                <a:solidFill>
                  <a:srgbClr val="FFFFFF"/>
                </a:solidFill>
                <a:latin typeface="Calibri"/>
              </a:rPr>
              <a:t>silent-corruption</a:t>
            </a:r>
          </a:p>
        </p:txBody>
      </p:sp>
      <p:sp>
        <p:nvSpPr>
          <p:cNvPr id="18" name="TextBox 17"/>
          <p:cNvSpPr txBox="1"/>
          <p:nvPr/>
        </p:nvSpPr>
        <p:spPr>
          <a:xfrm>
            <a:off x="3703320" y="3712463"/>
            <a:ext cx="6766560" cy="475488"/>
          </a:xfrm>
          <a:prstGeom prst="rect">
            <a:avLst/>
          </a:prstGeom>
          <a:noFill/>
        </p:spPr>
        <p:txBody>
          <a:bodyPr wrap="square">
            <a:spAutoFit/>
          </a:bodyPr>
          <a:lstStyle/>
          <a:p>
            <a:pPr>
              <a:spcAft>
                <a:spcPts val="0"/>
              </a:spcAft>
            </a:pPr>
            <a:r>
              <a:rPr sz="1150" b="0">
                <a:solidFill>
                  <a:srgbClr val="CADCFC"/>
                </a:solidFill>
                <a:latin typeface="Calibri"/>
              </a:rPr>
              <a:t>The agent answers from false or stale content. Nobody gave it a new task. It simply believes a wrong thing.</a:t>
            </a:r>
          </a:p>
        </p:txBody>
      </p:sp>
      <p:sp>
        <p:nvSpPr>
          <p:cNvPr id="19" name="TextBox 18"/>
          <p:cNvSpPr txBox="1"/>
          <p:nvPr/>
        </p:nvSpPr>
        <p:spPr>
          <a:xfrm>
            <a:off x="10607040" y="3803903"/>
            <a:ext cx="914400" cy="274320"/>
          </a:xfrm>
          <a:prstGeom prst="rect">
            <a:avLst/>
          </a:prstGeom>
          <a:noFill/>
        </p:spPr>
        <p:txBody>
          <a:bodyPr wrap="square">
            <a:spAutoFit/>
          </a:bodyPr>
          <a:lstStyle/>
          <a:p>
            <a:r>
              <a:rPr sz="1200" b="1">
                <a:solidFill>
                  <a:srgbClr val="E0A458"/>
                </a:solidFill>
                <a:latin typeface="Calibri"/>
              </a:rPr>
              <a:t>21</a:t>
            </a:r>
          </a:p>
        </p:txBody>
      </p:sp>
      <p:sp>
        <p:nvSpPr>
          <p:cNvPr id="20" name="Rectangle 19"/>
          <p:cNvSpPr/>
          <p:nvPr/>
        </p:nvSpPr>
        <p:spPr>
          <a:xfrm>
            <a:off x="640080" y="4251960"/>
            <a:ext cx="10881360" cy="53035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4379976"/>
            <a:ext cx="2651760" cy="274320"/>
          </a:xfrm>
          <a:prstGeom prst="rect">
            <a:avLst/>
          </a:prstGeom>
          <a:noFill/>
        </p:spPr>
        <p:txBody>
          <a:bodyPr wrap="square">
            <a:spAutoFit/>
          </a:bodyPr>
          <a:lstStyle/>
          <a:p>
            <a:r>
              <a:rPr sz="1200" b="1">
                <a:solidFill>
                  <a:srgbClr val="FFFFFF"/>
                </a:solidFill>
                <a:latin typeface="Calibri"/>
              </a:rPr>
              <a:t>persistence-backdoor</a:t>
            </a:r>
          </a:p>
        </p:txBody>
      </p:sp>
      <p:sp>
        <p:nvSpPr>
          <p:cNvPr id="22" name="TextBox 21"/>
          <p:cNvSpPr txBox="1"/>
          <p:nvPr/>
        </p:nvSpPr>
        <p:spPr>
          <a:xfrm>
            <a:off x="3703320" y="4288536"/>
            <a:ext cx="6766560" cy="475488"/>
          </a:xfrm>
          <a:prstGeom prst="rect">
            <a:avLst/>
          </a:prstGeom>
          <a:noFill/>
        </p:spPr>
        <p:txBody>
          <a:bodyPr wrap="square">
            <a:spAutoFit/>
          </a:bodyPr>
          <a:lstStyle/>
          <a:p>
            <a:pPr>
              <a:spcAft>
                <a:spcPts val="0"/>
              </a:spcAft>
            </a:pPr>
            <a:r>
              <a:rPr sz="1150" b="0">
                <a:solidFill>
                  <a:srgbClr val="CADCFC"/>
                </a:solidFill>
                <a:latin typeface="Calibri"/>
              </a:rPr>
              <a:t>The bad content is written to memory or to a store. It fires on a later run, maybe for another user.</a:t>
            </a:r>
          </a:p>
        </p:txBody>
      </p:sp>
      <p:sp>
        <p:nvSpPr>
          <p:cNvPr id="23" name="TextBox 22"/>
          <p:cNvSpPr txBox="1"/>
          <p:nvPr/>
        </p:nvSpPr>
        <p:spPr>
          <a:xfrm>
            <a:off x="10607040" y="4379976"/>
            <a:ext cx="914400" cy="274320"/>
          </a:xfrm>
          <a:prstGeom prst="rect">
            <a:avLst/>
          </a:prstGeom>
          <a:noFill/>
        </p:spPr>
        <p:txBody>
          <a:bodyPr wrap="square">
            <a:spAutoFit/>
          </a:bodyPr>
          <a:lstStyle/>
          <a:p>
            <a:r>
              <a:rPr sz="1200" b="1">
                <a:solidFill>
                  <a:srgbClr val="E0A458"/>
                </a:solidFill>
                <a:latin typeface="Calibri"/>
              </a:rPr>
              <a:t>14</a:t>
            </a:r>
          </a:p>
        </p:txBody>
      </p:sp>
      <p:sp>
        <p:nvSpPr>
          <p:cNvPr id="24" name="Rectangle 23"/>
          <p:cNvSpPr/>
          <p:nvPr/>
        </p:nvSpPr>
        <p:spPr>
          <a:xfrm>
            <a:off x="640080" y="4828031"/>
            <a:ext cx="10881360" cy="53035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4956047"/>
            <a:ext cx="2651760" cy="274320"/>
          </a:xfrm>
          <a:prstGeom prst="rect">
            <a:avLst/>
          </a:prstGeom>
          <a:noFill/>
        </p:spPr>
        <p:txBody>
          <a:bodyPr wrap="square">
            <a:spAutoFit/>
          </a:bodyPr>
          <a:lstStyle/>
          <a:p>
            <a:r>
              <a:rPr sz="1200" b="1">
                <a:solidFill>
                  <a:srgbClr val="FFFFFF"/>
                </a:solidFill>
                <a:latin typeface="Calibri"/>
              </a:rPr>
              <a:t>data-exfiltration</a:t>
            </a:r>
          </a:p>
        </p:txBody>
      </p:sp>
      <p:sp>
        <p:nvSpPr>
          <p:cNvPr id="26" name="TextBox 25"/>
          <p:cNvSpPr txBox="1"/>
          <p:nvPr/>
        </p:nvSpPr>
        <p:spPr>
          <a:xfrm>
            <a:off x="3703320" y="4864607"/>
            <a:ext cx="6766560" cy="475488"/>
          </a:xfrm>
          <a:prstGeom prst="rect">
            <a:avLst/>
          </a:prstGeom>
          <a:noFill/>
        </p:spPr>
        <p:txBody>
          <a:bodyPr wrap="square">
            <a:spAutoFit/>
          </a:bodyPr>
          <a:lstStyle/>
          <a:p>
            <a:pPr>
              <a:spcAft>
                <a:spcPts val="0"/>
              </a:spcAft>
            </a:pPr>
            <a:r>
              <a:rPr sz="1150" b="0">
                <a:solidFill>
                  <a:srgbClr val="CADCFC"/>
                </a:solidFill>
                <a:latin typeface="Calibri"/>
              </a:rPr>
              <a:t>The agent sends out what it can read. It uses a tool call, a link or a message to move the data.</a:t>
            </a:r>
          </a:p>
        </p:txBody>
      </p:sp>
      <p:sp>
        <p:nvSpPr>
          <p:cNvPr id="27" name="TextBox 26"/>
          <p:cNvSpPr txBox="1"/>
          <p:nvPr/>
        </p:nvSpPr>
        <p:spPr>
          <a:xfrm>
            <a:off x="10607040" y="4956047"/>
            <a:ext cx="914400" cy="274320"/>
          </a:xfrm>
          <a:prstGeom prst="rect">
            <a:avLst/>
          </a:prstGeom>
          <a:noFill/>
        </p:spPr>
        <p:txBody>
          <a:bodyPr wrap="square">
            <a:spAutoFit/>
          </a:bodyPr>
          <a:lstStyle/>
          <a:p>
            <a:r>
              <a:rPr sz="1200" b="1">
                <a:solidFill>
                  <a:srgbClr val="E0A458"/>
                </a:solidFill>
                <a:latin typeface="Calibri"/>
              </a:rPr>
              <a:t>13</a:t>
            </a:r>
          </a:p>
        </p:txBody>
      </p:sp>
      <p:sp>
        <p:nvSpPr>
          <p:cNvPr id="28" name="Rectangle 27"/>
          <p:cNvSpPr/>
          <p:nvPr/>
        </p:nvSpPr>
        <p:spPr>
          <a:xfrm>
            <a:off x="640080" y="5404104"/>
            <a:ext cx="10881360" cy="53035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5532120"/>
            <a:ext cx="2651760" cy="274320"/>
          </a:xfrm>
          <a:prstGeom prst="rect">
            <a:avLst/>
          </a:prstGeom>
          <a:noFill/>
        </p:spPr>
        <p:txBody>
          <a:bodyPr wrap="square">
            <a:spAutoFit/>
          </a:bodyPr>
          <a:lstStyle/>
          <a:p>
            <a:r>
              <a:rPr sz="1200" b="1">
                <a:solidFill>
                  <a:srgbClr val="FFFFFF"/>
                </a:solidFill>
                <a:latin typeface="Calibri"/>
              </a:rPr>
              <a:t>resource-abuse</a:t>
            </a:r>
          </a:p>
        </p:txBody>
      </p:sp>
      <p:sp>
        <p:nvSpPr>
          <p:cNvPr id="30" name="TextBox 29"/>
          <p:cNvSpPr txBox="1"/>
          <p:nvPr/>
        </p:nvSpPr>
        <p:spPr>
          <a:xfrm>
            <a:off x="3703320" y="5440680"/>
            <a:ext cx="6766560" cy="475488"/>
          </a:xfrm>
          <a:prstGeom prst="rect">
            <a:avLst/>
          </a:prstGeom>
          <a:noFill/>
        </p:spPr>
        <p:txBody>
          <a:bodyPr wrap="square">
            <a:spAutoFit/>
          </a:bodyPr>
          <a:lstStyle/>
          <a:p>
            <a:pPr>
              <a:spcAft>
                <a:spcPts val="0"/>
              </a:spcAft>
            </a:pPr>
            <a:r>
              <a:rPr sz="1150" b="0">
                <a:solidFill>
                  <a:srgbClr val="CADCFC"/>
                </a:solidFill>
                <a:latin typeface="Calibri"/>
              </a:rPr>
              <a:t>No data moves and no goal changes. The agent burns time or refuses to answer at all.</a:t>
            </a:r>
          </a:p>
        </p:txBody>
      </p:sp>
      <p:sp>
        <p:nvSpPr>
          <p:cNvPr id="31" name="TextBox 30"/>
          <p:cNvSpPr txBox="1"/>
          <p:nvPr/>
        </p:nvSpPr>
        <p:spPr>
          <a:xfrm>
            <a:off x="10607040" y="5532120"/>
            <a:ext cx="914400" cy="274320"/>
          </a:xfrm>
          <a:prstGeom prst="rect">
            <a:avLst/>
          </a:prstGeom>
          <a:noFill/>
        </p:spPr>
        <p:txBody>
          <a:bodyPr wrap="square">
            <a:spAutoFit/>
          </a:bodyPr>
          <a:lstStyle/>
          <a:p>
            <a:r>
              <a:rPr sz="1200" b="1">
                <a:solidFill>
                  <a:srgbClr val="E0A458"/>
                </a:solidFill>
                <a:latin typeface="Calibri"/>
              </a:rPr>
              <a:t>3</a:t>
            </a:r>
          </a:p>
        </p:txBody>
      </p:sp>
      <p:sp>
        <p:nvSpPr>
          <p:cNvPr id="32" name="TextBox 31"/>
          <p:cNvSpPr txBox="1"/>
          <p:nvPr/>
        </p:nvSpPr>
        <p:spPr>
          <a:xfrm>
            <a:off x="640080" y="6016752"/>
            <a:ext cx="10881360" cy="411480"/>
          </a:xfrm>
          <a:prstGeom prst="rect">
            <a:avLst/>
          </a:prstGeom>
          <a:noFill/>
        </p:spPr>
        <p:txBody>
          <a:bodyPr wrap="square">
            <a:spAutoFit/>
          </a:bodyPr>
          <a:lstStyle/>
          <a:p>
            <a:pPr>
              <a:spcAft>
                <a:spcPts val="400"/>
              </a:spcAft>
            </a:pPr>
            <a:r>
              <a:rPr sz="1250" b="0">
                <a:solidFill>
                  <a:srgbClr val="CFE8EF"/>
                </a:solidFill>
                <a:latin typeface="Calibri"/>
              </a:rPr>
              <a:t>The second row is the ML/AI track. The other five are mostly the security track. That split is the point of the paper.</a:t>
            </a:r>
          </a:p>
        </p:txBody>
      </p:sp>
      <p:sp>
        <p:nvSpPr>
          <p:cNvPr id="33" name="TextBox 32"/>
          <p:cNvSpPr txBox="1"/>
          <p:nvPr/>
        </p:nvSpPr>
        <p:spPr>
          <a:xfrm>
            <a:off x="640080" y="6327648"/>
            <a:ext cx="10789920" cy="493776"/>
          </a:xfrm>
          <a:prstGeom prst="rect">
            <a:avLst/>
          </a:prstGeom>
          <a:noFill/>
        </p:spPr>
        <p:txBody>
          <a:bodyPr wrap="square">
            <a:spAutoFit/>
          </a:bodyPr>
          <a:lstStyle/>
          <a:p>
            <a:r>
              <a:rPr sz="750" b="0">
                <a:solidFill>
                  <a:srgbClr val="5B6B79"/>
                </a:solidFill>
                <a:latin typeface="Calibri"/>
              </a:rPr>
              <a:t>Sources:  goal-hijack Greshake et al., AISec@CCS 2023, arXiv:2302.12173   ·   reasoning-corruption Liu et al., TACL 2023, arXiv:2307.03172; Shi et al., ICML 2023, arXiv:2302.00093   ·   silent-corruption Xie et al., ICLR 2023   ·   persistence-backdoor Chen et al., NeurIPS 2024, arXiv:2407.12784   ·   data-exfiltration Qi et al., ICLR 2024   ·   resource-abuse Xue et al., 2024, arXiv:2406.00083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AXIS 2  ·  INTENT</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And where a defense can stand</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6</a:t>
            </a:r>
          </a:p>
        </p:txBody>
      </p:sp>
      <p:sp>
        <p:nvSpPr>
          <p:cNvPr id="5" name="TextBox 4"/>
          <p:cNvSpPr txBox="1"/>
          <p:nvPr/>
        </p:nvSpPr>
        <p:spPr>
          <a:xfrm>
            <a:off x="640080" y="2148840"/>
            <a:ext cx="5257800" cy="274320"/>
          </a:xfrm>
          <a:prstGeom prst="rect">
            <a:avLst/>
          </a:prstGeom>
          <a:noFill/>
        </p:spPr>
        <p:txBody>
          <a:bodyPr wrap="square">
            <a:spAutoFit/>
          </a:bodyPr>
          <a:lstStyle/>
          <a:p>
            <a:r>
              <a:rPr sz="1200" b="1">
                <a:solidFill>
                  <a:srgbClr val="E0A458"/>
                </a:solidFill>
                <a:latin typeface="Calibri"/>
              </a:rPr>
              <a:t>INTENT: DID SOMEONE MEAN IT?</a:t>
            </a:r>
          </a:p>
        </p:txBody>
      </p:sp>
      <p:sp>
        <p:nvSpPr>
          <p:cNvPr id="6" name="Rectangle 5"/>
          <p:cNvSpPr/>
          <p:nvPr/>
        </p:nvSpPr>
        <p:spPr>
          <a:xfrm>
            <a:off x="640080" y="2487168"/>
            <a:ext cx="5257800" cy="8412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596896"/>
            <a:ext cx="4754880" cy="274320"/>
          </a:xfrm>
          <a:prstGeom prst="rect">
            <a:avLst/>
          </a:prstGeom>
          <a:noFill/>
        </p:spPr>
        <p:txBody>
          <a:bodyPr wrap="square">
            <a:spAutoFit/>
          </a:bodyPr>
          <a:lstStyle/>
          <a:p>
            <a:r>
              <a:rPr sz="1300" b="1">
                <a:solidFill>
                  <a:srgbClr val="FFFFFF"/>
                </a:solidFill>
                <a:latin typeface="Calibri"/>
              </a:rPr>
              <a:t>adversarial</a:t>
            </a:r>
          </a:p>
        </p:txBody>
      </p:sp>
      <p:sp>
        <p:nvSpPr>
          <p:cNvPr id="8" name="TextBox 7"/>
          <p:cNvSpPr txBox="1"/>
          <p:nvPr/>
        </p:nvSpPr>
        <p:spPr>
          <a:xfrm>
            <a:off x="914400" y="2871216"/>
            <a:ext cx="4754880" cy="411480"/>
          </a:xfrm>
          <a:prstGeom prst="rect">
            <a:avLst/>
          </a:prstGeom>
          <a:noFill/>
        </p:spPr>
        <p:txBody>
          <a:bodyPr wrap="square">
            <a:spAutoFit/>
          </a:bodyPr>
          <a:lstStyle/>
          <a:p>
            <a:pPr>
              <a:spcAft>
                <a:spcPts val="0"/>
              </a:spcAft>
            </a:pPr>
            <a:r>
              <a:rPr sz="1150" b="0">
                <a:solidFill>
                  <a:srgbClr val="CADCFC"/>
                </a:solidFill>
                <a:latin typeface="Calibri"/>
              </a:rPr>
              <a:t>A person placed the text to get this effect. This is the security track.</a:t>
            </a:r>
          </a:p>
        </p:txBody>
      </p:sp>
      <p:sp>
        <p:nvSpPr>
          <p:cNvPr id="9" name="Rectangle 8"/>
          <p:cNvSpPr/>
          <p:nvPr/>
        </p:nvSpPr>
        <p:spPr>
          <a:xfrm>
            <a:off x="640080" y="3419856"/>
            <a:ext cx="5257800" cy="8412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29584"/>
            <a:ext cx="4754880" cy="274320"/>
          </a:xfrm>
          <a:prstGeom prst="rect">
            <a:avLst/>
          </a:prstGeom>
          <a:noFill/>
        </p:spPr>
        <p:txBody>
          <a:bodyPr wrap="square">
            <a:spAutoFit/>
          </a:bodyPr>
          <a:lstStyle/>
          <a:p>
            <a:r>
              <a:rPr sz="1300" b="1">
                <a:solidFill>
                  <a:srgbClr val="FFFFFF"/>
                </a:solidFill>
                <a:latin typeface="Calibri"/>
              </a:rPr>
              <a:t>incidental</a:t>
            </a:r>
          </a:p>
        </p:txBody>
      </p:sp>
      <p:sp>
        <p:nvSpPr>
          <p:cNvPr id="11" name="TextBox 10"/>
          <p:cNvSpPr txBox="1"/>
          <p:nvPr/>
        </p:nvSpPr>
        <p:spPr>
          <a:xfrm>
            <a:off x="914400" y="3803904"/>
            <a:ext cx="4754880" cy="411480"/>
          </a:xfrm>
          <a:prstGeom prst="rect">
            <a:avLst/>
          </a:prstGeom>
          <a:noFill/>
        </p:spPr>
        <p:txBody>
          <a:bodyPr wrap="square">
            <a:spAutoFit/>
          </a:bodyPr>
          <a:lstStyle/>
          <a:p>
            <a:pPr>
              <a:spcAft>
                <a:spcPts val="0"/>
              </a:spcAft>
            </a:pPr>
            <a:r>
              <a:rPr sz="1150" b="0">
                <a:solidFill>
                  <a:srgbClr val="CADCFC"/>
                </a:solidFill>
                <a:latin typeface="Calibri"/>
              </a:rPr>
              <a:t>Nobody placed it. The window is long, stale or badly ordered. This is the ML/AI track.</a:t>
            </a:r>
          </a:p>
        </p:txBody>
      </p:sp>
      <p:sp>
        <p:nvSpPr>
          <p:cNvPr id="12" name="Rectangle 11"/>
          <p:cNvSpPr/>
          <p:nvPr/>
        </p:nvSpPr>
        <p:spPr>
          <a:xfrm>
            <a:off x="640080" y="4352544"/>
            <a:ext cx="5257800" cy="8412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462272"/>
            <a:ext cx="4754880" cy="274320"/>
          </a:xfrm>
          <a:prstGeom prst="rect">
            <a:avLst/>
          </a:prstGeom>
          <a:noFill/>
        </p:spPr>
        <p:txBody>
          <a:bodyPr wrap="square">
            <a:spAutoFit/>
          </a:bodyPr>
          <a:lstStyle/>
          <a:p>
            <a:r>
              <a:rPr sz="1300" b="1">
                <a:solidFill>
                  <a:srgbClr val="FFFFFF"/>
                </a:solidFill>
                <a:latin typeface="Calibri"/>
              </a:rPr>
              <a:t>both</a:t>
            </a:r>
          </a:p>
        </p:txBody>
      </p:sp>
      <p:sp>
        <p:nvSpPr>
          <p:cNvPr id="14" name="TextBox 13"/>
          <p:cNvSpPr txBox="1"/>
          <p:nvPr/>
        </p:nvSpPr>
        <p:spPr>
          <a:xfrm>
            <a:off x="914400" y="4736592"/>
            <a:ext cx="4754880" cy="411480"/>
          </a:xfrm>
          <a:prstGeom prst="rect">
            <a:avLst/>
          </a:prstGeom>
          <a:noFill/>
        </p:spPr>
        <p:txBody>
          <a:bodyPr wrap="square">
            <a:spAutoFit/>
          </a:bodyPr>
          <a:lstStyle/>
          <a:p>
            <a:pPr>
              <a:spcAft>
                <a:spcPts val="0"/>
              </a:spcAft>
            </a:pPr>
            <a:r>
              <a:rPr sz="1150" b="0">
                <a:solidFill>
                  <a:srgbClr val="CADCFC"/>
                </a:solidFill>
                <a:latin typeface="Calibri"/>
              </a:rPr>
              <a:t>The paper treats the case in both ways.</a:t>
            </a:r>
          </a:p>
        </p:txBody>
      </p:sp>
      <p:sp>
        <p:nvSpPr>
          <p:cNvPr id="15" name="TextBox 14"/>
          <p:cNvSpPr txBox="1"/>
          <p:nvPr/>
        </p:nvSpPr>
        <p:spPr>
          <a:xfrm>
            <a:off x="6263640" y="2148840"/>
            <a:ext cx="5257800" cy="274320"/>
          </a:xfrm>
          <a:prstGeom prst="rect">
            <a:avLst/>
          </a:prstGeom>
          <a:noFill/>
        </p:spPr>
        <p:txBody>
          <a:bodyPr wrap="square">
            <a:spAutoFit/>
          </a:bodyPr>
          <a:lstStyle/>
          <a:p>
            <a:r>
              <a:rPr sz="1200" b="1">
                <a:solidFill>
                  <a:srgbClr val="E0A458"/>
                </a:solidFill>
                <a:latin typeface="Calibri"/>
              </a:rPr>
              <a:t>INTERVENTION POINT: WHERE THE DEFENSE ACTS</a:t>
            </a:r>
          </a:p>
        </p:txBody>
      </p:sp>
      <p:sp>
        <p:nvSpPr>
          <p:cNvPr id="16" name="Rectangle 15"/>
          <p:cNvSpPr/>
          <p:nvPr/>
        </p:nvSpPr>
        <p:spPr>
          <a:xfrm>
            <a:off x="6263640" y="2487168"/>
            <a:ext cx="5257800" cy="8412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2596896"/>
            <a:ext cx="3657600" cy="274320"/>
          </a:xfrm>
          <a:prstGeom prst="rect">
            <a:avLst/>
          </a:prstGeom>
          <a:noFill/>
        </p:spPr>
        <p:txBody>
          <a:bodyPr wrap="square">
            <a:spAutoFit/>
          </a:bodyPr>
          <a:lstStyle/>
          <a:p>
            <a:r>
              <a:rPr sz="1300" b="1">
                <a:solidFill>
                  <a:srgbClr val="FFFFFF"/>
                </a:solidFill>
                <a:latin typeface="Calibri"/>
              </a:rPr>
              <a:t>ingestion</a:t>
            </a:r>
          </a:p>
        </p:txBody>
      </p:sp>
      <p:sp>
        <p:nvSpPr>
          <p:cNvPr id="18" name="TextBox 17"/>
          <p:cNvSpPr txBox="1"/>
          <p:nvPr/>
        </p:nvSpPr>
        <p:spPr>
          <a:xfrm>
            <a:off x="10332720" y="2596896"/>
            <a:ext cx="1005840" cy="274320"/>
          </a:xfrm>
          <a:prstGeom prst="rect">
            <a:avLst/>
          </a:prstGeom>
          <a:noFill/>
        </p:spPr>
        <p:txBody>
          <a:bodyPr wrap="square">
            <a:spAutoFit/>
          </a:bodyPr>
          <a:lstStyle/>
          <a:p>
            <a:r>
              <a:rPr sz="1300" b="1">
                <a:solidFill>
                  <a:srgbClr val="E0A458"/>
                </a:solidFill>
                <a:latin typeface="Calibri"/>
              </a:rPr>
              <a:t>155</a:t>
            </a:r>
          </a:p>
        </p:txBody>
      </p:sp>
      <p:sp>
        <p:nvSpPr>
          <p:cNvPr id="19" name="TextBox 18"/>
          <p:cNvSpPr txBox="1"/>
          <p:nvPr/>
        </p:nvSpPr>
        <p:spPr>
          <a:xfrm>
            <a:off x="6537960" y="2871216"/>
            <a:ext cx="4754880" cy="411480"/>
          </a:xfrm>
          <a:prstGeom prst="rect">
            <a:avLst/>
          </a:prstGeom>
          <a:noFill/>
        </p:spPr>
        <p:txBody>
          <a:bodyPr wrap="square">
            <a:spAutoFit/>
          </a:bodyPr>
          <a:lstStyle/>
          <a:p>
            <a:pPr>
              <a:spcAft>
                <a:spcPts val="0"/>
              </a:spcAft>
            </a:pPr>
            <a:r>
              <a:rPr sz="1150" b="0">
                <a:solidFill>
                  <a:srgbClr val="CADCFC"/>
                </a:solidFill>
                <a:latin typeface="Calibri"/>
              </a:rPr>
              <a:t>It checks the text as it arrives, before the model reads it.</a:t>
            </a:r>
          </a:p>
        </p:txBody>
      </p:sp>
      <p:sp>
        <p:nvSpPr>
          <p:cNvPr id="20" name="Rectangle 19"/>
          <p:cNvSpPr/>
          <p:nvPr/>
        </p:nvSpPr>
        <p:spPr>
          <a:xfrm>
            <a:off x="6263640" y="3419856"/>
            <a:ext cx="5257800" cy="8412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60" y="3529584"/>
            <a:ext cx="3657600" cy="274320"/>
          </a:xfrm>
          <a:prstGeom prst="rect">
            <a:avLst/>
          </a:prstGeom>
          <a:noFill/>
        </p:spPr>
        <p:txBody>
          <a:bodyPr wrap="square">
            <a:spAutoFit/>
          </a:bodyPr>
          <a:lstStyle/>
          <a:p>
            <a:r>
              <a:rPr sz="1300" b="1">
                <a:solidFill>
                  <a:srgbClr val="FFFFFF"/>
                </a:solidFill>
                <a:latin typeface="Calibri"/>
              </a:rPr>
              <a:t>reasoning</a:t>
            </a:r>
          </a:p>
        </p:txBody>
      </p:sp>
      <p:sp>
        <p:nvSpPr>
          <p:cNvPr id="22" name="TextBox 21"/>
          <p:cNvSpPr txBox="1"/>
          <p:nvPr/>
        </p:nvSpPr>
        <p:spPr>
          <a:xfrm>
            <a:off x="10332720" y="3529584"/>
            <a:ext cx="1005840" cy="274320"/>
          </a:xfrm>
          <a:prstGeom prst="rect">
            <a:avLst/>
          </a:prstGeom>
          <a:noFill/>
        </p:spPr>
        <p:txBody>
          <a:bodyPr wrap="square">
            <a:spAutoFit/>
          </a:bodyPr>
          <a:lstStyle/>
          <a:p>
            <a:r>
              <a:rPr sz="1300" b="1">
                <a:solidFill>
                  <a:srgbClr val="E0A458"/>
                </a:solidFill>
                <a:latin typeface="Calibri"/>
              </a:rPr>
              <a:t>205</a:t>
            </a:r>
          </a:p>
        </p:txBody>
      </p:sp>
      <p:sp>
        <p:nvSpPr>
          <p:cNvPr id="23" name="TextBox 22"/>
          <p:cNvSpPr txBox="1"/>
          <p:nvPr/>
        </p:nvSpPr>
        <p:spPr>
          <a:xfrm>
            <a:off x="6537960" y="3803904"/>
            <a:ext cx="4754880" cy="411480"/>
          </a:xfrm>
          <a:prstGeom prst="rect">
            <a:avLst/>
          </a:prstGeom>
          <a:noFill/>
        </p:spPr>
        <p:txBody>
          <a:bodyPr wrap="square">
            <a:spAutoFit/>
          </a:bodyPr>
          <a:lstStyle/>
          <a:p>
            <a:pPr>
              <a:spcAft>
                <a:spcPts val="0"/>
              </a:spcAft>
            </a:pPr>
            <a:r>
              <a:rPr sz="1150" b="0">
                <a:solidFill>
                  <a:srgbClr val="CADCFC"/>
                </a:solidFill>
                <a:latin typeface="Calibri"/>
              </a:rPr>
              <a:t>It changes how the model uses text that is already in the window.</a:t>
            </a:r>
          </a:p>
        </p:txBody>
      </p:sp>
      <p:sp>
        <p:nvSpPr>
          <p:cNvPr id="24" name="Rectangle 23"/>
          <p:cNvSpPr/>
          <p:nvPr/>
        </p:nvSpPr>
        <p:spPr>
          <a:xfrm>
            <a:off x="6263640" y="4352544"/>
            <a:ext cx="5257800" cy="8412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37960" y="4462272"/>
            <a:ext cx="3657600" cy="274320"/>
          </a:xfrm>
          <a:prstGeom prst="rect">
            <a:avLst/>
          </a:prstGeom>
          <a:noFill/>
        </p:spPr>
        <p:txBody>
          <a:bodyPr wrap="square">
            <a:spAutoFit/>
          </a:bodyPr>
          <a:lstStyle/>
          <a:p>
            <a:r>
              <a:rPr sz="1300" b="1">
                <a:solidFill>
                  <a:srgbClr val="FFFFFF"/>
                </a:solidFill>
                <a:latin typeface="Calibri"/>
              </a:rPr>
              <a:t>execution</a:t>
            </a:r>
          </a:p>
        </p:txBody>
      </p:sp>
      <p:sp>
        <p:nvSpPr>
          <p:cNvPr id="26" name="TextBox 25"/>
          <p:cNvSpPr txBox="1"/>
          <p:nvPr/>
        </p:nvSpPr>
        <p:spPr>
          <a:xfrm>
            <a:off x="10332720" y="4462272"/>
            <a:ext cx="1005840" cy="274320"/>
          </a:xfrm>
          <a:prstGeom prst="rect">
            <a:avLst/>
          </a:prstGeom>
          <a:noFill/>
        </p:spPr>
        <p:txBody>
          <a:bodyPr wrap="square">
            <a:spAutoFit/>
          </a:bodyPr>
          <a:lstStyle/>
          <a:p>
            <a:r>
              <a:rPr sz="1300" b="1">
                <a:solidFill>
                  <a:srgbClr val="E0A458"/>
                </a:solidFill>
                <a:latin typeface="Calibri"/>
              </a:rPr>
              <a:t>74</a:t>
            </a:r>
          </a:p>
        </p:txBody>
      </p:sp>
      <p:sp>
        <p:nvSpPr>
          <p:cNvPr id="27" name="TextBox 26"/>
          <p:cNvSpPr txBox="1"/>
          <p:nvPr/>
        </p:nvSpPr>
        <p:spPr>
          <a:xfrm>
            <a:off x="6537960" y="4736592"/>
            <a:ext cx="4754880" cy="411480"/>
          </a:xfrm>
          <a:prstGeom prst="rect">
            <a:avLst/>
          </a:prstGeom>
          <a:noFill/>
        </p:spPr>
        <p:txBody>
          <a:bodyPr wrap="square">
            <a:spAutoFit/>
          </a:bodyPr>
          <a:lstStyle/>
          <a:p>
            <a:pPr>
              <a:spcAft>
                <a:spcPts val="0"/>
              </a:spcAft>
            </a:pPr>
            <a:r>
              <a:rPr sz="1150" b="0">
                <a:solidFill>
                  <a:srgbClr val="CADCFC"/>
                </a:solidFill>
                <a:latin typeface="Calibri"/>
              </a:rPr>
              <a:t>It checks the action the agent wants to take, after the model decides.</a:t>
            </a:r>
          </a:p>
        </p:txBody>
      </p:sp>
      <p:sp>
        <p:nvSpPr>
          <p:cNvPr id="28" name="TextBox 27"/>
          <p:cNvSpPr txBox="1"/>
          <p:nvPr/>
        </p:nvSpPr>
        <p:spPr>
          <a:xfrm>
            <a:off x="640080" y="5440680"/>
            <a:ext cx="10881360" cy="1097280"/>
          </a:xfrm>
          <a:prstGeom prst="rect">
            <a:avLst/>
          </a:prstGeom>
          <a:noFill/>
        </p:spPr>
        <p:txBody>
          <a:bodyPr wrap="square">
            <a:spAutoFit/>
          </a:bodyPr>
          <a:lstStyle/>
          <a:p>
            <a:pPr>
              <a:spcAft>
                <a:spcPts val="400"/>
              </a:spcAft>
            </a:pPr>
            <a:r>
              <a:rPr sz="1400" b="1">
                <a:solidFill>
                  <a:srgbClr val="FFFFFF"/>
                </a:solidFill>
                <a:latin typeface="Calibri"/>
              </a:rPr>
              <a:t>Intent is the axis that splits the two literatures. The same failure gets two names and two sets of defenses.</a:t>
            </a:r>
          </a:p>
          <a:p>
            <a:pPr>
              <a:spcAft>
                <a:spcPts val="400"/>
              </a:spcAft>
            </a:pPr>
            <a:r>
              <a:rPr sz="1250" b="0">
                <a:solidFill>
                  <a:srgbClr val="CADCFC"/>
                </a:solidFill>
                <a:latin typeface="Calibri"/>
              </a:rPr>
              <a:t>A tool returns a page with a hidden order. A tool returns a page that is simply ten times too long. Both reach the window through the same channel. One has an author. One does not.</a:t>
            </a:r>
          </a:p>
          <a:p>
            <a:pPr>
              <a:spcAft>
                <a:spcPts val="400"/>
              </a:spcAft>
            </a:pPr>
            <a:r>
              <a:rPr sz="1250" b="0">
                <a:solidFill>
                  <a:srgbClr val="CFE8EF"/>
                </a:solidFill>
                <a:latin typeface="Calibri"/>
              </a:rPr>
              <a:t>The counts on the right are defenses, not attacks. 100 more defenses carry no intervention point: they act after the event, such as forensics, or we never coded them.</a:t>
            </a:r>
          </a:p>
        </p:txBody>
      </p:sp>
      <p:sp>
        <p:nvSpPr>
          <p:cNvPr id="29" name="TextBox 28"/>
          <p:cNvSpPr txBox="1"/>
          <p:nvPr/>
        </p:nvSpPr>
        <p:spPr>
          <a:xfrm>
            <a:off x="640080" y="6419088"/>
            <a:ext cx="10789920" cy="402336"/>
          </a:xfrm>
          <a:prstGeom prst="rect">
            <a:avLst/>
          </a:prstGeom>
          <a:noFill/>
        </p:spPr>
        <p:txBody>
          <a:bodyPr wrap="square">
            <a:spAutoFit/>
          </a:bodyPr>
          <a:lstStyle/>
          <a:p>
            <a:r>
              <a:rPr sz="850" b="0">
                <a:solidFill>
                  <a:srgbClr val="5B6B79"/>
                </a:solidFill>
                <a:latin typeface="Calibri"/>
              </a:rPr>
              <a:t>Sources:  adversarial track Greshake et al., AISec@CCS 2023, arXiv:2302.12173   ·   incidental track Liu et al., TACL 2023, arXiv:2307.03172   ·   knowledge conflict Xu et al., EMNLP 2024, arXiv:2403.08319   ·   intervention points: this 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THE ROADMAP</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Seven questions, then the experiments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7</a:t>
            </a:r>
          </a:p>
        </p:txBody>
      </p:sp>
      <p:sp>
        <p:nvSpPr>
          <p:cNvPr id="5" name="Rectangle 4"/>
          <p:cNvSpPr/>
          <p:nvPr/>
        </p:nvSpPr>
        <p:spPr>
          <a:xfrm>
            <a:off x="640080" y="2029968"/>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103120"/>
            <a:ext cx="1005840" cy="320040"/>
          </a:xfrm>
          <a:prstGeom prst="rect">
            <a:avLst/>
          </a:prstGeom>
          <a:noFill/>
        </p:spPr>
        <p:txBody>
          <a:bodyPr wrap="square">
            <a:spAutoFit/>
          </a:bodyPr>
          <a:lstStyle/>
          <a:p>
            <a:r>
              <a:rPr sz="1400" b="1">
                <a:solidFill>
                  <a:srgbClr val="E0A458"/>
                </a:solidFill>
                <a:latin typeface="Cambria"/>
              </a:rPr>
              <a:t>BASE</a:t>
            </a:r>
          </a:p>
        </p:txBody>
      </p:sp>
      <p:sp>
        <p:nvSpPr>
          <p:cNvPr id="7" name="TextBox 6"/>
          <p:cNvSpPr txBox="1"/>
          <p:nvPr/>
        </p:nvSpPr>
        <p:spPr>
          <a:xfrm>
            <a:off x="1874519" y="2112264"/>
            <a:ext cx="3108960" cy="320040"/>
          </a:xfrm>
          <a:prstGeom prst="rect">
            <a:avLst/>
          </a:prstGeom>
          <a:noFill/>
        </p:spPr>
        <p:txBody>
          <a:bodyPr wrap="square">
            <a:spAutoFit/>
          </a:bodyPr>
          <a:lstStyle/>
          <a:p>
            <a:r>
              <a:rPr sz="1350" b="1">
                <a:solidFill>
                  <a:srgbClr val="FFFFFF"/>
                </a:solidFill>
                <a:latin typeface="Calibri"/>
              </a:rPr>
              <a:t>What we measure</a:t>
            </a:r>
          </a:p>
        </p:txBody>
      </p:sp>
      <p:sp>
        <p:nvSpPr>
          <p:cNvPr id="8" name="TextBox 7"/>
          <p:cNvSpPr txBox="1"/>
          <p:nvPr/>
        </p:nvSpPr>
        <p:spPr>
          <a:xfrm>
            <a:off x="5120640" y="2112264"/>
            <a:ext cx="6126480" cy="320040"/>
          </a:xfrm>
          <a:prstGeom prst="rect">
            <a:avLst/>
          </a:prstGeom>
          <a:noFill/>
        </p:spPr>
        <p:txBody>
          <a:bodyPr wrap="square">
            <a:spAutoFit/>
          </a:bodyPr>
          <a:lstStyle/>
          <a:p>
            <a:r>
              <a:rPr sz="1300" b="0">
                <a:solidFill>
                  <a:srgbClr val="CADCFC"/>
                </a:solidFill>
                <a:latin typeface="Calibri"/>
              </a:rPr>
              <a:t>3 axes: channel, intent, consequence</a:t>
            </a:r>
          </a:p>
        </p:txBody>
      </p:sp>
      <p:sp>
        <p:nvSpPr>
          <p:cNvPr id="9" name="Rectangle 8"/>
          <p:cNvSpPr/>
          <p:nvPr/>
        </p:nvSpPr>
        <p:spPr>
          <a:xfrm>
            <a:off x="640080" y="2528316"/>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601468"/>
            <a:ext cx="1005840" cy="320040"/>
          </a:xfrm>
          <a:prstGeom prst="rect">
            <a:avLst/>
          </a:prstGeom>
          <a:noFill/>
        </p:spPr>
        <p:txBody>
          <a:bodyPr wrap="square">
            <a:spAutoFit/>
          </a:bodyPr>
          <a:lstStyle/>
          <a:p>
            <a:r>
              <a:rPr sz="1400" b="1">
                <a:solidFill>
                  <a:srgbClr val="E0A458"/>
                </a:solidFill>
                <a:latin typeface="Cambria"/>
              </a:rPr>
              <a:t>RQ1</a:t>
            </a:r>
          </a:p>
        </p:txBody>
      </p:sp>
      <p:sp>
        <p:nvSpPr>
          <p:cNvPr id="11" name="TextBox 10"/>
          <p:cNvSpPr txBox="1"/>
          <p:nvPr/>
        </p:nvSpPr>
        <p:spPr>
          <a:xfrm>
            <a:off x="1874519" y="2610612"/>
            <a:ext cx="3108960" cy="320040"/>
          </a:xfrm>
          <a:prstGeom prst="rect">
            <a:avLst/>
          </a:prstGeom>
          <a:noFill/>
        </p:spPr>
        <p:txBody>
          <a:bodyPr wrap="square">
            <a:spAutoFit/>
          </a:bodyPr>
          <a:lstStyle/>
          <a:p>
            <a:r>
              <a:rPr sz="1350" b="1">
                <a:solidFill>
                  <a:srgbClr val="FFFFFF"/>
                </a:solidFill>
                <a:latin typeface="Calibri"/>
              </a:rPr>
              <a:t>Taxonomy</a:t>
            </a:r>
          </a:p>
        </p:txBody>
      </p:sp>
      <p:sp>
        <p:nvSpPr>
          <p:cNvPr id="12" name="TextBox 11"/>
          <p:cNvSpPr txBox="1"/>
          <p:nvPr/>
        </p:nvSpPr>
        <p:spPr>
          <a:xfrm>
            <a:off x="5120640" y="2610612"/>
            <a:ext cx="6126480" cy="320040"/>
          </a:xfrm>
          <a:prstGeom prst="rect">
            <a:avLst/>
          </a:prstGeom>
          <a:noFill/>
        </p:spPr>
        <p:txBody>
          <a:bodyPr wrap="square">
            <a:spAutoFit/>
          </a:bodyPr>
          <a:lstStyle/>
          <a:p>
            <a:r>
              <a:rPr sz="1300" b="0">
                <a:solidFill>
                  <a:srgbClr val="CADCFC"/>
                </a:solidFill>
                <a:latin typeface="Calibri"/>
              </a:rPr>
              <a:t>60.5% of the cube is empty</a:t>
            </a:r>
          </a:p>
        </p:txBody>
      </p:sp>
      <p:sp>
        <p:nvSpPr>
          <p:cNvPr id="13" name="Rectangle 12"/>
          <p:cNvSpPr/>
          <p:nvPr/>
        </p:nvSpPr>
        <p:spPr>
          <a:xfrm>
            <a:off x="640080" y="3026664"/>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099816"/>
            <a:ext cx="1005840" cy="320040"/>
          </a:xfrm>
          <a:prstGeom prst="rect">
            <a:avLst/>
          </a:prstGeom>
          <a:noFill/>
        </p:spPr>
        <p:txBody>
          <a:bodyPr wrap="square">
            <a:spAutoFit/>
          </a:bodyPr>
          <a:lstStyle/>
          <a:p>
            <a:r>
              <a:rPr sz="1400" b="1">
                <a:solidFill>
                  <a:srgbClr val="E0A458"/>
                </a:solidFill>
                <a:latin typeface="Cambria"/>
              </a:rPr>
              <a:t>RQ2</a:t>
            </a:r>
          </a:p>
        </p:txBody>
      </p:sp>
      <p:sp>
        <p:nvSpPr>
          <p:cNvPr id="15" name="TextBox 14"/>
          <p:cNvSpPr txBox="1"/>
          <p:nvPr/>
        </p:nvSpPr>
        <p:spPr>
          <a:xfrm>
            <a:off x="1874519" y="3108960"/>
            <a:ext cx="3108960" cy="320040"/>
          </a:xfrm>
          <a:prstGeom prst="rect">
            <a:avLst/>
          </a:prstGeom>
          <a:noFill/>
        </p:spPr>
        <p:txBody>
          <a:bodyPr wrap="square">
            <a:spAutoFit/>
          </a:bodyPr>
          <a:lstStyle/>
          <a:p>
            <a:r>
              <a:rPr sz="1350" b="1">
                <a:solidFill>
                  <a:srgbClr val="FFFFFF"/>
                </a:solidFill>
                <a:latin typeface="Calibri"/>
              </a:rPr>
              <a:t>Cross-citation</a:t>
            </a:r>
          </a:p>
        </p:txBody>
      </p:sp>
      <p:sp>
        <p:nvSpPr>
          <p:cNvPr id="16" name="TextBox 15"/>
          <p:cNvSpPr txBox="1"/>
          <p:nvPr/>
        </p:nvSpPr>
        <p:spPr>
          <a:xfrm>
            <a:off x="5120640" y="3108960"/>
            <a:ext cx="6126480" cy="320040"/>
          </a:xfrm>
          <a:prstGeom prst="rect">
            <a:avLst/>
          </a:prstGeom>
          <a:noFill/>
        </p:spPr>
        <p:txBody>
          <a:bodyPr wrap="square">
            <a:spAutoFit/>
          </a:bodyPr>
          <a:lstStyle/>
          <a:p>
            <a:r>
              <a:rPr sz="1300" b="0">
                <a:solidFill>
                  <a:srgbClr val="CADCFC"/>
                </a:solidFill>
                <a:latin typeface="Calibri"/>
              </a:rPr>
              <a:t>11.7% / 9.1% between tracks</a:t>
            </a:r>
          </a:p>
        </p:txBody>
      </p:sp>
      <p:sp>
        <p:nvSpPr>
          <p:cNvPr id="17" name="Rectangle 16"/>
          <p:cNvSpPr/>
          <p:nvPr/>
        </p:nvSpPr>
        <p:spPr>
          <a:xfrm>
            <a:off x="640080" y="3525012"/>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598164"/>
            <a:ext cx="1005840" cy="320040"/>
          </a:xfrm>
          <a:prstGeom prst="rect">
            <a:avLst/>
          </a:prstGeom>
          <a:noFill/>
        </p:spPr>
        <p:txBody>
          <a:bodyPr wrap="square">
            <a:spAutoFit/>
          </a:bodyPr>
          <a:lstStyle/>
          <a:p>
            <a:r>
              <a:rPr sz="1400" b="1">
                <a:solidFill>
                  <a:srgbClr val="E0A458"/>
                </a:solidFill>
                <a:latin typeface="Cambria"/>
              </a:rPr>
              <a:t>RQ3</a:t>
            </a:r>
          </a:p>
        </p:txBody>
      </p:sp>
      <p:sp>
        <p:nvSpPr>
          <p:cNvPr id="19" name="TextBox 18"/>
          <p:cNvSpPr txBox="1"/>
          <p:nvPr/>
        </p:nvSpPr>
        <p:spPr>
          <a:xfrm>
            <a:off x="1874519" y="3607308"/>
            <a:ext cx="3108960" cy="320040"/>
          </a:xfrm>
          <a:prstGeom prst="rect">
            <a:avLst/>
          </a:prstGeom>
          <a:noFill/>
        </p:spPr>
        <p:txBody>
          <a:bodyPr wrap="square">
            <a:spAutoFit/>
          </a:bodyPr>
          <a:lstStyle/>
          <a:p>
            <a:r>
              <a:rPr sz="1350" b="1">
                <a:solidFill>
                  <a:srgbClr val="FFFFFF"/>
                </a:solidFill>
                <a:latin typeface="Calibri"/>
              </a:rPr>
              <a:t>Pollution census</a:t>
            </a:r>
          </a:p>
        </p:txBody>
      </p:sp>
      <p:sp>
        <p:nvSpPr>
          <p:cNvPr id="20" name="TextBox 19"/>
          <p:cNvSpPr txBox="1"/>
          <p:nvPr/>
        </p:nvSpPr>
        <p:spPr>
          <a:xfrm>
            <a:off x="5120640" y="3607308"/>
            <a:ext cx="6126480" cy="320040"/>
          </a:xfrm>
          <a:prstGeom prst="rect">
            <a:avLst/>
          </a:prstGeom>
          <a:noFill/>
        </p:spPr>
        <p:txBody>
          <a:bodyPr wrap="square">
            <a:spAutoFit/>
          </a:bodyPr>
          <a:lstStyle/>
          <a:p>
            <a:r>
              <a:rPr sz="1300" b="0">
                <a:solidFill>
                  <a:srgbClr val="CADCFC"/>
                </a:solidFill>
                <a:latin typeface="Calibri"/>
              </a:rPr>
              <a:t>223 named mechanisms</a:t>
            </a:r>
          </a:p>
        </p:txBody>
      </p:sp>
      <p:sp>
        <p:nvSpPr>
          <p:cNvPr id="21" name="Rectangle 20"/>
          <p:cNvSpPr/>
          <p:nvPr/>
        </p:nvSpPr>
        <p:spPr>
          <a:xfrm>
            <a:off x="640080" y="4023360"/>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096512"/>
            <a:ext cx="1005840" cy="320040"/>
          </a:xfrm>
          <a:prstGeom prst="rect">
            <a:avLst/>
          </a:prstGeom>
          <a:noFill/>
        </p:spPr>
        <p:txBody>
          <a:bodyPr wrap="square">
            <a:spAutoFit/>
          </a:bodyPr>
          <a:lstStyle/>
          <a:p>
            <a:r>
              <a:rPr sz="1400" b="1">
                <a:solidFill>
                  <a:srgbClr val="E0A458"/>
                </a:solidFill>
                <a:latin typeface="Cambria"/>
              </a:rPr>
              <a:t>RQ4</a:t>
            </a:r>
          </a:p>
        </p:txBody>
      </p:sp>
      <p:sp>
        <p:nvSpPr>
          <p:cNvPr id="23" name="TextBox 22"/>
          <p:cNvSpPr txBox="1"/>
          <p:nvPr/>
        </p:nvSpPr>
        <p:spPr>
          <a:xfrm>
            <a:off x="1874519" y="4105656"/>
            <a:ext cx="3108960" cy="320040"/>
          </a:xfrm>
          <a:prstGeom prst="rect">
            <a:avLst/>
          </a:prstGeom>
          <a:noFill/>
        </p:spPr>
        <p:txBody>
          <a:bodyPr wrap="square">
            <a:spAutoFit/>
          </a:bodyPr>
          <a:lstStyle/>
          <a:p>
            <a:r>
              <a:rPr sz="1350" b="1">
                <a:solidFill>
                  <a:srgbClr val="FFFFFF"/>
                </a:solidFill>
                <a:latin typeface="Calibri"/>
              </a:rPr>
              <a:t>Defense census</a:t>
            </a:r>
          </a:p>
        </p:txBody>
      </p:sp>
      <p:sp>
        <p:nvSpPr>
          <p:cNvPr id="24" name="TextBox 23"/>
          <p:cNvSpPr txBox="1"/>
          <p:nvPr/>
        </p:nvSpPr>
        <p:spPr>
          <a:xfrm>
            <a:off x="5120640" y="4105656"/>
            <a:ext cx="6126480" cy="320040"/>
          </a:xfrm>
          <a:prstGeom prst="rect">
            <a:avLst/>
          </a:prstGeom>
          <a:noFill/>
        </p:spPr>
        <p:txBody>
          <a:bodyPr wrap="square">
            <a:spAutoFit/>
          </a:bodyPr>
          <a:lstStyle/>
          <a:p>
            <a:r>
              <a:rPr sz="1300" b="0">
                <a:solidFill>
                  <a:srgbClr val="CADCFC"/>
                </a:solidFill>
                <a:latin typeface="Calibri"/>
              </a:rPr>
              <a:t>534 named defenses</a:t>
            </a:r>
          </a:p>
        </p:txBody>
      </p:sp>
      <p:sp>
        <p:nvSpPr>
          <p:cNvPr id="25" name="Rectangle 24"/>
          <p:cNvSpPr/>
          <p:nvPr/>
        </p:nvSpPr>
        <p:spPr>
          <a:xfrm>
            <a:off x="640080" y="4521708"/>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4594860"/>
            <a:ext cx="1005840" cy="320040"/>
          </a:xfrm>
          <a:prstGeom prst="rect">
            <a:avLst/>
          </a:prstGeom>
          <a:noFill/>
        </p:spPr>
        <p:txBody>
          <a:bodyPr wrap="square">
            <a:spAutoFit/>
          </a:bodyPr>
          <a:lstStyle/>
          <a:p>
            <a:r>
              <a:rPr sz="1400" b="1">
                <a:solidFill>
                  <a:srgbClr val="E0A458"/>
                </a:solidFill>
                <a:latin typeface="Cambria"/>
              </a:rPr>
              <a:t>RQ5</a:t>
            </a:r>
          </a:p>
        </p:txBody>
      </p:sp>
      <p:sp>
        <p:nvSpPr>
          <p:cNvPr id="27" name="TextBox 26"/>
          <p:cNvSpPr txBox="1"/>
          <p:nvPr/>
        </p:nvSpPr>
        <p:spPr>
          <a:xfrm>
            <a:off x="1874519" y="4604004"/>
            <a:ext cx="3108960" cy="320040"/>
          </a:xfrm>
          <a:prstGeom prst="rect">
            <a:avLst/>
          </a:prstGeom>
          <a:noFill/>
        </p:spPr>
        <p:txBody>
          <a:bodyPr wrap="square">
            <a:spAutoFit/>
          </a:bodyPr>
          <a:lstStyle/>
          <a:p>
            <a:r>
              <a:rPr sz="1350" b="1">
                <a:solidFill>
                  <a:srgbClr val="FFFFFF"/>
                </a:solidFill>
                <a:latin typeface="Calibri"/>
              </a:rPr>
              <a:t>Coverage matrix</a:t>
            </a:r>
          </a:p>
        </p:txBody>
      </p:sp>
      <p:sp>
        <p:nvSpPr>
          <p:cNvPr id="28" name="TextBox 27"/>
          <p:cNvSpPr txBox="1"/>
          <p:nvPr/>
        </p:nvSpPr>
        <p:spPr>
          <a:xfrm>
            <a:off x="5120640" y="4604004"/>
            <a:ext cx="6126480" cy="320040"/>
          </a:xfrm>
          <a:prstGeom prst="rect">
            <a:avLst/>
          </a:prstGeom>
          <a:noFill/>
        </p:spPr>
        <p:txBody>
          <a:bodyPr wrap="square">
            <a:spAutoFit/>
          </a:bodyPr>
          <a:lstStyle/>
          <a:p>
            <a:r>
              <a:rPr sz="1300" b="0">
                <a:solidFill>
                  <a:srgbClr val="CADCFC"/>
                </a:solidFill>
                <a:latin typeface="Calibri"/>
              </a:rPr>
              <a:t>119 mechanisms never defended</a:t>
            </a:r>
          </a:p>
        </p:txBody>
      </p:sp>
      <p:sp>
        <p:nvSpPr>
          <p:cNvPr id="29" name="Rectangle 28"/>
          <p:cNvSpPr/>
          <p:nvPr/>
        </p:nvSpPr>
        <p:spPr>
          <a:xfrm>
            <a:off x="640080" y="5020056"/>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5093208"/>
            <a:ext cx="1005840" cy="320040"/>
          </a:xfrm>
          <a:prstGeom prst="rect">
            <a:avLst/>
          </a:prstGeom>
          <a:noFill/>
        </p:spPr>
        <p:txBody>
          <a:bodyPr wrap="square">
            <a:spAutoFit/>
          </a:bodyPr>
          <a:lstStyle/>
          <a:p>
            <a:r>
              <a:rPr sz="1400" b="1">
                <a:solidFill>
                  <a:srgbClr val="E0A458"/>
                </a:solidFill>
                <a:latin typeface="Cambria"/>
              </a:rPr>
              <a:t>RQ6</a:t>
            </a:r>
          </a:p>
        </p:txBody>
      </p:sp>
      <p:sp>
        <p:nvSpPr>
          <p:cNvPr id="31" name="TextBox 30"/>
          <p:cNvSpPr txBox="1"/>
          <p:nvPr/>
        </p:nvSpPr>
        <p:spPr>
          <a:xfrm>
            <a:off x="1874519" y="5102352"/>
            <a:ext cx="3108960" cy="320040"/>
          </a:xfrm>
          <a:prstGeom prst="rect">
            <a:avLst/>
          </a:prstGeom>
          <a:noFill/>
        </p:spPr>
        <p:txBody>
          <a:bodyPr wrap="square">
            <a:spAutoFit/>
          </a:bodyPr>
          <a:lstStyle/>
          <a:p>
            <a:r>
              <a:rPr sz="1350" b="1">
                <a:solidFill>
                  <a:srgbClr val="FFFFFF"/>
                </a:solidFill>
                <a:latin typeface="Calibri"/>
              </a:rPr>
              <a:t>Generalization</a:t>
            </a:r>
          </a:p>
        </p:txBody>
      </p:sp>
      <p:sp>
        <p:nvSpPr>
          <p:cNvPr id="32" name="TextBox 31"/>
          <p:cNvSpPr txBox="1"/>
          <p:nvPr/>
        </p:nvSpPr>
        <p:spPr>
          <a:xfrm>
            <a:off x="5120640" y="5102352"/>
            <a:ext cx="6126480" cy="320040"/>
          </a:xfrm>
          <a:prstGeom prst="rect">
            <a:avLst/>
          </a:prstGeom>
          <a:noFill/>
        </p:spPr>
        <p:txBody>
          <a:bodyPr wrap="square">
            <a:spAutoFit/>
          </a:bodyPr>
          <a:lstStyle/>
          <a:p>
            <a:r>
              <a:rPr sz="1300" b="0">
                <a:solidFill>
                  <a:srgbClr val="CADCFC"/>
                </a:solidFill>
                <a:latin typeface="Calibri"/>
              </a:rPr>
              <a:t>9 reconstructed case studies</a:t>
            </a:r>
          </a:p>
        </p:txBody>
      </p:sp>
      <p:sp>
        <p:nvSpPr>
          <p:cNvPr id="33" name="Rectangle 32"/>
          <p:cNvSpPr/>
          <p:nvPr/>
        </p:nvSpPr>
        <p:spPr>
          <a:xfrm>
            <a:off x="640080" y="5518404"/>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8680" y="5591556"/>
            <a:ext cx="1005840" cy="320040"/>
          </a:xfrm>
          <a:prstGeom prst="rect">
            <a:avLst/>
          </a:prstGeom>
          <a:noFill/>
        </p:spPr>
        <p:txBody>
          <a:bodyPr wrap="square">
            <a:spAutoFit/>
          </a:bodyPr>
          <a:lstStyle/>
          <a:p>
            <a:r>
              <a:rPr sz="1400" b="1">
                <a:solidFill>
                  <a:srgbClr val="E0A458"/>
                </a:solidFill>
                <a:latin typeface="Cambria"/>
              </a:rPr>
              <a:t>RQ7</a:t>
            </a:r>
          </a:p>
        </p:txBody>
      </p:sp>
      <p:sp>
        <p:nvSpPr>
          <p:cNvPr id="35" name="TextBox 34"/>
          <p:cNvSpPr txBox="1"/>
          <p:nvPr/>
        </p:nvSpPr>
        <p:spPr>
          <a:xfrm>
            <a:off x="1874519" y="5600700"/>
            <a:ext cx="3108960" cy="320040"/>
          </a:xfrm>
          <a:prstGeom prst="rect">
            <a:avLst/>
          </a:prstGeom>
          <a:noFill/>
        </p:spPr>
        <p:txBody>
          <a:bodyPr wrap="square">
            <a:spAutoFit/>
          </a:bodyPr>
          <a:lstStyle/>
          <a:p>
            <a:r>
              <a:rPr sz="1350" b="1">
                <a:solidFill>
                  <a:srgbClr val="FFFFFF"/>
                </a:solidFill>
                <a:latin typeface="Calibri"/>
              </a:rPr>
              <a:t>Open problems</a:t>
            </a:r>
          </a:p>
        </p:txBody>
      </p:sp>
      <p:sp>
        <p:nvSpPr>
          <p:cNvPr id="36" name="TextBox 35"/>
          <p:cNvSpPr txBox="1"/>
          <p:nvPr/>
        </p:nvSpPr>
        <p:spPr>
          <a:xfrm>
            <a:off x="5120640" y="5600700"/>
            <a:ext cx="6126480" cy="320040"/>
          </a:xfrm>
          <a:prstGeom prst="rect">
            <a:avLst/>
          </a:prstGeom>
          <a:noFill/>
        </p:spPr>
        <p:txBody>
          <a:bodyPr wrap="square">
            <a:spAutoFit/>
          </a:bodyPr>
          <a:lstStyle/>
          <a:p>
            <a:r>
              <a:rPr sz="1300" b="0">
                <a:solidFill>
                  <a:srgbClr val="CADCFC"/>
                </a:solidFill>
                <a:latin typeface="Calibri"/>
              </a:rPr>
              <a:t>7 ranked, falsifiable</a:t>
            </a:r>
          </a:p>
        </p:txBody>
      </p:sp>
      <p:sp>
        <p:nvSpPr>
          <p:cNvPr id="37" name="Rectangle 36"/>
          <p:cNvSpPr/>
          <p:nvPr/>
        </p:nvSpPr>
        <p:spPr>
          <a:xfrm>
            <a:off x="640080" y="6016752"/>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68680" y="6089904"/>
            <a:ext cx="1005840" cy="320040"/>
          </a:xfrm>
          <a:prstGeom prst="rect">
            <a:avLst/>
          </a:prstGeom>
          <a:noFill/>
        </p:spPr>
        <p:txBody>
          <a:bodyPr wrap="square">
            <a:spAutoFit/>
          </a:bodyPr>
          <a:lstStyle/>
          <a:p>
            <a:r>
              <a:rPr sz="1400" b="1">
                <a:solidFill>
                  <a:srgbClr val="E0A458"/>
                </a:solidFill>
                <a:latin typeface="Cambria"/>
              </a:rPr>
              <a:t>NEW</a:t>
            </a:r>
          </a:p>
        </p:txBody>
      </p:sp>
      <p:sp>
        <p:nvSpPr>
          <p:cNvPr id="39" name="TextBox 38"/>
          <p:cNvSpPr txBox="1"/>
          <p:nvPr/>
        </p:nvSpPr>
        <p:spPr>
          <a:xfrm>
            <a:off x="1874519" y="6099048"/>
            <a:ext cx="3108960" cy="320040"/>
          </a:xfrm>
          <a:prstGeom prst="rect">
            <a:avLst/>
          </a:prstGeom>
          <a:noFill/>
        </p:spPr>
        <p:txBody>
          <a:bodyPr wrap="square">
            <a:spAutoFit/>
          </a:bodyPr>
          <a:lstStyle/>
          <a:p>
            <a:r>
              <a:rPr sz="1350" b="1">
                <a:solidFill>
                  <a:srgbClr val="FFFFFF"/>
                </a:solidFill>
                <a:latin typeface="Calibri"/>
              </a:rPr>
              <a:t>Transfer matrix</a:t>
            </a:r>
          </a:p>
        </p:txBody>
      </p:sp>
      <p:sp>
        <p:nvSpPr>
          <p:cNvPr id="40" name="TextBox 39"/>
          <p:cNvSpPr txBox="1"/>
          <p:nvPr/>
        </p:nvSpPr>
        <p:spPr>
          <a:xfrm>
            <a:off x="5120640" y="6099048"/>
            <a:ext cx="6126480" cy="320040"/>
          </a:xfrm>
          <a:prstGeom prst="rect">
            <a:avLst/>
          </a:prstGeom>
          <a:noFill/>
        </p:spPr>
        <p:txBody>
          <a:bodyPr wrap="square">
            <a:spAutoFit/>
          </a:bodyPr>
          <a:lstStyle/>
          <a:p>
            <a:r>
              <a:rPr sz="1300" b="0">
                <a:solidFill>
                  <a:srgbClr val="CADCFC"/>
                </a:solidFill>
                <a:latin typeface="Calibri"/>
              </a:rPr>
              <a:t>16 cells that no paper reports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METHODOLOGY</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We follow a standard review protocol,</a:t>
            </a:r>
          </a:p>
          <a:p>
            <a:pPr>
              <a:spcAft>
                <a:spcPts val="200"/>
              </a:spcAft>
            </a:pPr>
            <a:r>
              <a:rPr sz="3000" b="1">
                <a:solidFill>
                  <a:srgbClr val="FFFFFF"/>
                </a:solidFill>
                <a:latin typeface="Cambria"/>
              </a:rPr>
              <a:t>and we run it across two literatures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8</a:t>
            </a:r>
          </a:p>
        </p:txBody>
      </p:sp>
      <p:sp>
        <p:nvSpPr>
          <p:cNvPr id="5" name="Rectangle 4"/>
          <p:cNvSpPr/>
          <p:nvPr/>
        </p:nvSpPr>
        <p:spPr>
          <a:xfrm>
            <a:off x="640080" y="2743200"/>
            <a:ext cx="2606040" cy="269748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971800"/>
            <a:ext cx="2194560" cy="365760"/>
          </a:xfrm>
          <a:prstGeom prst="rect">
            <a:avLst/>
          </a:prstGeom>
          <a:noFill/>
        </p:spPr>
        <p:txBody>
          <a:bodyPr wrap="square">
            <a:spAutoFit/>
          </a:bodyPr>
          <a:lstStyle/>
          <a:p>
            <a:r>
              <a:rPr sz="1700" b="1">
                <a:solidFill>
                  <a:srgbClr val="E0A458"/>
                </a:solidFill>
                <a:latin typeface="Cambria"/>
              </a:rPr>
              <a:t>Search</a:t>
            </a:r>
          </a:p>
        </p:txBody>
      </p:sp>
      <p:sp>
        <p:nvSpPr>
          <p:cNvPr id="7" name="TextBox 6"/>
          <p:cNvSpPr txBox="1"/>
          <p:nvPr/>
        </p:nvSpPr>
        <p:spPr>
          <a:xfrm>
            <a:off x="868680" y="3429000"/>
            <a:ext cx="2194560" cy="1920240"/>
          </a:xfrm>
          <a:prstGeom prst="rect">
            <a:avLst/>
          </a:prstGeom>
          <a:noFill/>
        </p:spPr>
        <p:txBody>
          <a:bodyPr wrap="square">
            <a:spAutoFit/>
          </a:bodyPr>
          <a:lstStyle/>
          <a:p>
            <a:pPr>
              <a:spcAft>
                <a:spcPts val="100"/>
              </a:spcAft>
            </a:pPr>
            <a:r>
              <a:rPr sz="1150" b="0">
                <a:solidFill>
                  <a:srgbClr val="CADCFC"/>
                </a:solidFill>
                <a:latin typeface="Calibri"/>
              </a:rPr>
              <a:t>We searched two tracks at</a:t>
            </a:r>
          </a:p>
          <a:p>
            <a:pPr>
              <a:spcAft>
                <a:spcPts val="100"/>
              </a:spcAft>
            </a:pPr>
            <a:r>
              <a:rPr sz="1150" b="0">
                <a:solidFill>
                  <a:srgbClr val="CADCFC"/>
                </a:solidFill>
                <a:latin typeface="Calibri"/>
              </a:rPr>
              <a:t>the same time. One track is</a:t>
            </a:r>
          </a:p>
          <a:p>
            <a:pPr>
              <a:spcAft>
                <a:spcPts val="100"/>
              </a:spcAft>
            </a:pPr>
            <a:r>
              <a:rPr sz="1150" b="0">
                <a:solidFill>
                  <a:srgbClr val="CADCFC"/>
                </a:solidFill>
                <a:latin typeface="Calibri"/>
              </a:rPr>
              <a:t>adversarial. One track is</a:t>
            </a:r>
          </a:p>
          <a:p>
            <a:pPr>
              <a:spcAft>
                <a:spcPts val="100"/>
              </a:spcAft>
            </a:pPr>
            <a:r>
              <a:rPr sz="1150" b="0">
                <a:solidFill>
                  <a:srgbClr val="CADCFC"/>
                </a:solidFill>
                <a:latin typeface="Calibri"/>
              </a:rPr>
              <a:t>incidental. We found</a:t>
            </a:r>
          </a:p>
          <a:p>
            <a:pPr>
              <a:spcAft>
                <a:spcPts val="100"/>
              </a:spcAft>
            </a:pPr>
            <a:r>
              <a:rPr sz="1150" b="0">
                <a:solidFill>
                  <a:srgbClr val="CADCFC"/>
                </a:solidFill>
                <a:latin typeface="Calibri"/>
              </a:rPr>
              <a:t>25,922 records.</a:t>
            </a:r>
          </a:p>
        </p:txBody>
      </p:sp>
      <p:sp>
        <p:nvSpPr>
          <p:cNvPr id="8" name="Rectangle 7"/>
          <p:cNvSpPr/>
          <p:nvPr/>
        </p:nvSpPr>
        <p:spPr>
          <a:xfrm>
            <a:off x="3429000" y="2743200"/>
            <a:ext cx="2606040" cy="269748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0" y="2971800"/>
            <a:ext cx="2194560" cy="365760"/>
          </a:xfrm>
          <a:prstGeom prst="rect">
            <a:avLst/>
          </a:prstGeom>
          <a:noFill/>
        </p:spPr>
        <p:txBody>
          <a:bodyPr wrap="square">
            <a:spAutoFit/>
          </a:bodyPr>
          <a:lstStyle/>
          <a:p>
            <a:r>
              <a:rPr sz="1700" b="1">
                <a:solidFill>
                  <a:srgbClr val="E0A458"/>
                </a:solidFill>
                <a:latin typeface="Cambria"/>
              </a:rPr>
              <a:t>Screen</a:t>
            </a:r>
          </a:p>
        </p:txBody>
      </p:sp>
      <p:sp>
        <p:nvSpPr>
          <p:cNvPr id="10" name="TextBox 9"/>
          <p:cNvSpPr txBox="1"/>
          <p:nvPr/>
        </p:nvSpPr>
        <p:spPr>
          <a:xfrm>
            <a:off x="3657600" y="3429000"/>
            <a:ext cx="2194560" cy="1920240"/>
          </a:xfrm>
          <a:prstGeom prst="rect">
            <a:avLst/>
          </a:prstGeom>
          <a:noFill/>
        </p:spPr>
        <p:txBody>
          <a:bodyPr wrap="square">
            <a:spAutoFit/>
          </a:bodyPr>
          <a:lstStyle/>
          <a:p>
            <a:pPr>
              <a:spcAft>
                <a:spcPts val="100"/>
              </a:spcAft>
            </a:pPr>
            <a:r>
              <a:rPr sz="1150" b="0">
                <a:solidFill>
                  <a:srgbClr val="CADCFC"/>
                </a:solidFill>
                <a:latin typeface="Calibri"/>
              </a:rPr>
              <a:t>Fixed rules decide in or out.</a:t>
            </a:r>
          </a:p>
          <a:p>
            <a:pPr>
              <a:spcAft>
                <a:spcPts val="100"/>
              </a:spcAft>
            </a:pPr>
            <a:r>
              <a:rPr sz="1150" b="0">
                <a:solidFill>
                  <a:srgbClr val="CADCFC"/>
                </a:solidFill>
                <a:latin typeface="Calibri"/>
              </a:rPr>
              <a:t>A program applies them to</a:t>
            </a:r>
          </a:p>
          <a:p>
            <a:pPr>
              <a:spcAft>
                <a:spcPts val="100"/>
              </a:spcAft>
            </a:pPr>
            <a:r>
              <a:rPr sz="1150" b="0">
                <a:solidFill>
                  <a:srgbClr val="CADCFC"/>
                </a:solidFill>
                <a:latin typeface="Calibri"/>
              </a:rPr>
              <a:t>the title and abstract.</a:t>
            </a:r>
          </a:p>
          <a:p>
            <a:pPr>
              <a:spcAft>
                <a:spcPts val="100"/>
              </a:spcAft>
            </a:pPr>
            <a:r>
              <a:rPr sz="1150" b="0">
                <a:solidFill>
                  <a:srgbClr val="CADCFC"/>
                </a:solidFill>
                <a:latin typeface="Calibri"/>
              </a:rPr>
              <a:t>A person reads every</a:t>
            </a:r>
          </a:p>
          <a:p>
            <a:pPr>
              <a:spcAft>
                <a:spcPts val="100"/>
              </a:spcAft>
            </a:pPr>
            <a:r>
              <a:rPr sz="1150" b="0">
                <a:solidFill>
                  <a:srgbClr val="CADCFC"/>
                </a:solidFill>
                <a:latin typeface="Calibri"/>
              </a:rPr>
              <a:t>unclear case. Next slide.</a:t>
            </a:r>
          </a:p>
        </p:txBody>
      </p:sp>
      <p:sp>
        <p:nvSpPr>
          <p:cNvPr id="11" name="Rectangle 10"/>
          <p:cNvSpPr/>
          <p:nvPr/>
        </p:nvSpPr>
        <p:spPr>
          <a:xfrm>
            <a:off x="6217920" y="2743200"/>
            <a:ext cx="2606040" cy="269748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971800"/>
            <a:ext cx="2194560" cy="365760"/>
          </a:xfrm>
          <a:prstGeom prst="rect">
            <a:avLst/>
          </a:prstGeom>
          <a:noFill/>
        </p:spPr>
        <p:txBody>
          <a:bodyPr wrap="square">
            <a:spAutoFit/>
          </a:bodyPr>
          <a:lstStyle/>
          <a:p>
            <a:r>
              <a:rPr sz="1700" b="1">
                <a:solidFill>
                  <a:srgbClr val="E0A458"/>
                </a:solidFill>
                <a:latin typeface="Cambria"/>
              </a:rPr>
              <a:t>Extract</a:t>
            </a:r>
          </a:p>
        </p:txBody>
      </p:sp>
      <p:sp>
        <p:nvSpPr>
          <p:cNvPr id="13" name="TextBox 12"/>
          <p:cNvSpPr txBox="1"/>
          <p:nvPr/>
        </p:nvSpPr>
        <p:spPr>
          <a:xfrm>
            <a:off x="6446520" y="3429000"/>
            <a:ext cx="2194560" cy="1920240"/>
          </a:xfrm>
          <a:prstGeom prst="rect">
            <a:avLst/>
          </a:prstGeom>
          <a:noFill/>
        </p:spPr>
        <p:txBody>
          <a:bodyPr wrap="square">
            <a:spAutoFit/>
          </a:bodyPr>
          <a:lstStyle/>
          <a:p>
            <a:pPr>
              <a:spcAft>
                <a:spcPts val="100"/>
              </a:spcAft>
            </a:pPr>
            <a:r>
              <a:rPr sz="1150" b="0">
                <a:solidFill>
                  <a:srgbClr val="CADCFC"/>
                </a:solidFill>
                <a:latin typeface="Calibri"/>
              </a:rPr>
              <a:t>We read the full text of</a:t>
            </a:r>
          </a:p>
          <a:p>
            <a:pPr>
              <a:spcAft>
                <a:spcPts val="100"/>
              </a:spcAft>
            </a:pPr>
            <a:r>
              <a:rPr sz="1150" b="0">
                <a:solidFill>
                  <a:srgbClr val="CADCFC"/>
                </a:solidFill>
                <a:latin typeface="Calibri"/>
              </a:rPr>
              <a:t>1,097 papers. We code 32</a:t>
            </a:r>
          </a:p>
          <a:p>
            <a:pPr>
              <a:spcAft>
                <a:spcPts val="100"/>
              </a:spcAft>
            </a:pPr>
            <a:r>
              <a:rPr sz="1150" b="0">
                <a:solidFill>
                  <a:srgbClr val="CADCFC"/>
                </a:solidFill>
                <a:latin typeface="Calibri"/>
              </a:rPr>
              <a:t>fields for each paper.</a:t>
            </a:r>
          </a:p>
          <a:p>
            <a:pPr>
              <a:spcAft>
                <a:spcPts val="100"/>
              </a:spcAft>
            </a:pPr>
            <a:r>
              <a:rPr sz="1150" b="0">
                <a:solidFill>
                  <a:srgbClr val="CADCFC"/>
                </a:solidFill>
                <a:latin typeface="Calibri"/>
              </a:rPr>
              <a:t>Channel and consequence</a:t>
            </a:r>
          </a:p>
          <a:p>
            <a:pPr>
              <a:spcAft>
                <a:spcPts val="100"/>
              </a:spcAft>
            </a:pPr>
            <a:r>
              <a:rPr sz="1150" b="0">
                <a:solidFill>
                  <a:srgbClr val="CADCFC"/>
                </a:solidFill>
                <a:latin typeface="Calibri"/>
              </a:rPr>
              <a:t>use closed lists.</a:t>
            </a:r>
          </a:p>
        </p:txBody>
      </p:sp>
      <p:sp>
        <p:nvSpPr>
          <p:cNvPr id="14" name="Rectangle 13"/>
          <p:cNvSpPr/>
          <p:nvPr/>
        </p:nvSpPr>
        <p:spPr>
          <a:xfrm>
            <a:off x="9006839" y="2743200"/>
            <a:ext cx="2606040" cy="269748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39" y="2971800"/>
            <a:ext cx="2194560" cy="365760"/>
          </a:xfrm>
          <a:prstGeom prst="rect">
            <a:avLst/>
          </a:prstGeom>
          <a:noFill/>
        </p:spPr>
        <p:txBody>
          <a:bodyPr wrap="square">
            <a:spAutoFit/>
          </a:bodyPr>
          <a:lstStyle/>
          <a:p>
            <a:r>
              <a:rPr sz="1700" b="1">
                <a:solidFill>
                  <a:srgbClr val="E0A458"/>
                </a:solidFill>
                <a:latin typeface="Cambria"/>
              </a:rPr>
              <a:t>Synthesize</a:t>
            </a:r>
          </a:p>
        </p:txBody>
      </p:sp>
      <p:sp>
        <p:nvSpPr>
          <p:cNvPr id="16" name="TextBox 15"/>
          <p:cNvSpPr txBox="1"/>
          <p:nvPr/>
        </p:nvSpPr>
        <p:spPr>
          <a:xfrm>
            <a:off x="9235439" y="3429000"/>
            <a:ext cx="2194560" cy="1920240"/>
          </a:xfrm>
          <a:prstGeom prst="rect">
            <a:avLst/>
          </a:prstGeom>
          <a:noFill/>
        </p:spPr>
        <p:txBody>
          <a:bodyPr wrap="square">
            <a:spAutoFit/>
          </a:bodyPr>
          <a:lstStyle/>
          <a:p>
            <a:pPr>
              <a:spcAft>
                <a:spcPts val="100"/>
              </a:spcAft>
            </a:pPr>
            <a:r>
              <a:rPr sz="1150" b="0">
                <a:solidFill>
                  <a:srgbClr val="CADCFC"/>
                </a:solidFill>
                <a:latin typeface="Calibri"/>
              </a:rPr>
              <a:t>We join the registries into</a:t>
            </a:r>
          </a:p>
          <a:p>
            <a:pPr>
              <a:spcAft>
                <a:spcPts val="100"/>
              </a:spcAft>
            </a:pPr>
            <a:r>
              <a:rPr sz="1150" b="0">
                <a:solidFill>
                  <a:srgbClr val="CADCFC"/>
                </a:solidFill>
                <a:latin typeface="Calibri"/>
              </a:rPr>
              <a:t>the coverage matrix. It</a:t>
            </a:r>
          </a:p>
          <a:p>
            <a:pPr>
              <a:spcAft>
                <a:spcPts val="100"/>
              </a:spcAft>
            </a:pPr>
            <a:r>
              <a:rPr sz="1150" b="0">
                <a:solidFill>
                  <a:srgbClr val="CADCFC"/>
                </a:solidFill>
                <a:latin typeface="Calibri"/>
              </a:rPr>
              <a:t>shows which defense met</a:t>
            </a:r>
          </a:p>
          <a:p>
            <a:pPr>
              <a:spcAft>
                <a:spcPts val="100"/>
              </a:spcAft>
            </a:pPr>
            <a:r>
              <a:rPr sz="1150" b="0">
                <a:solidFill>
                  <a:srgbClr val="CADCFC"/>
                </a:solidFill>
                <a:latin typeface="Calibri"/>
              </a:rPr>
              <a:t>which attack. Then we run</a:t>
            </a:r>
          </a:p>
          <a:p>
            <a:pPr>
              <a:spcAft>
                <a:spcPts val="100"/>
              </a:spcAft>
            </a:pPr>
            <a:r>
              <a:rPr sz="1150" b="0">
                <a:solidFill>
                  <a:srgbClr val="CADCFC"/>
                </a:solidFill>
                <a:latin typeface="Calibri"/>
              </a:rPr>
              <a:t>the code ourselves.</a:t>
            </a:r>
          </a:p>
        </p:txBody>
      </p:sp>
      <p:sp>
        <p:nvSpPr>
          <p:cNvPr id="17" name="TextBox 16"/>
          <p:cNvSpPr txBox="1"/>
          <p:nvPr/>
        </p:nvSpPr>
        <p:spPr>
          <a:xfrm>
            <a:off x="640080" y="6419088"/>
            <a:ext cx="10789920" cy="402336"/>
          </a:xfrm>
          <a:prstGeom prst="rect">
            <a:avLst/>
          </a:prstGeom>
          <a:noFill/>
        </p:spPr>
        <p:txBody>
          <a:bodyPr wrap="square">
            <a:spAutoFit/>
          </a:bodyPr>
          <a:lstStyle/>
          <a:p>
            <a:r>
              <a:rPr sz="850" b="0">
                <a:solidFill>
                  <a:srgbClr val="5B6B79"/>
                </a:solidFill>
                <a:latin typeface="Calibri"/>
              </a:rPr>
              <a:t>Sources:  Review protocol: Kitchenham &amp; Charters, EBSE-2007-01   ·   Reporting: PRISMA 2020, Page et al., BMJ 2021;372:n71   ·   Both adapted, not followed to the letter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SCREENING</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The rules that put a paper in or out</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9</a:t>
            </a:r>
          </a:p>
        </p:txBody>
      </p:sp>
      <p:sp>
        <p:nvSpPr>
          <p:cNvPr id="5" name="Rectangle 4"/>
          <p:cNvSpPr/>
          <p:nvPr/>
        </p:nvSpPr>
        <p:spPr>
          <a:xfrm>
            <a:off x="640080" y="2148840"/>
            <a:ext cx="5257800" cy="233172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340864"/>
            <a:ext cx="4754880" cy="274320"/>
          </a:xfrm>
          <a:prstGeom prst="rect">
            <a:avLst/>
          </a:prstGeom>
          <a:noFill/>
        </p:spPr>
        <p:txBody>
          <a:bodyPr wrap="square">
            <a:spAutoFit/>
          </a:bodyPr>
          <a:lstStyle/>
          <a:p>
            <a:r>
              <a:rPr sz="1200" b="1">
                <a:solidFill>
                  <a:srgbClr val="1C7293"/>
                </a:solidFill>
                <a:latin typeface="Calibri"/>
              </a:rPr>
              <a:t>A PAPER GOES IN IF ALL THREE HOLD</a:t>
            </a:r>
          </a:p>
        </p:txBody>
      </p:sp>
      <p:sp>
        <p:nvSpPr>
          <p:cNvPr id="7" name="TextBox 6"/>
          <p:cNvSpPr txBox="1"/>
          <p:nvPr/>
        </p:nvSpPr>
        <p:spPr>
          <a:xfrm>
            <a:off x="914400" y="2670048"/>
            <a:ext cx="4754880" cy="1737360"/>
          </a:xfrm>
          <a:prstGeom prst="rect">
            <a:avLst/>
          </a:prstGeom>
          <a:noFill/>
        </p:spPr>
        <p:txBody>
          <a:bodyPr wrap="square">
            <a:spAutoFit/>
          </a:bodyPr>
          <a:lstStyle/>
          <a:p>
            <a:pPr>
              <a:spcAft>
                <a:spcPts val="600"/>
              </a:spcAft>
            </a:pPr>
            <a:r>
              <a:rPr sz="1200" b="0">
                <a:solidFill>
                  <a:srgbClr val="CADCFC"/>
                </a:solidFill>
                <a:latin typeface="Calibri"/>
              </a:rPr>
              <a:t>1.  It is peer reviewed, or it is an arXiv preprint from 2023 to 2026.</a:t>
            </a:r>
          </a:p>
          <a:p>
            <a:pPr>
              <a:spcAft>
                <a:spcPts val="600"/>
              </a:spcAft>
            </a:pPr>
            <a:r>
              <a:rPr sz="1200" b="0">
                <a:solidFill>
                  <a:srgbClr val="CADCFC"/>
                </a:solidFill>
                <a:latin typeface="Calibri"/>
              </a:rPr>
              <a:t>2.  It is about LLM agents. The agent uses tools, or retrieval, or memory, or several steps.</a:t>
            </a:r>
          </a:p>
          <a:p>
            <a:pPr>
              <a:spcAft>
                <a:spcPts val="600"/>
              </a:spcAft>
            </a:pPr>
            <a:r>
              <a:rPr sz="1200" b="0">
                <a:solidFill>
                  <a:srgbClr val="CADCFC"/>
                </a:solidFill>
                <a:latin typeface="Calibri"/>
              </a:rPr>
              <a:t>3.  It gives an attack, a defense, a benchmark, or a measurement. The subject is context contamination, or loss of quality as the context grows.</a:t>
            </a:r>
          </a:p>
        </p:txBody>
      </p:sp>
      <p:sp>
        <p:nvSpPr>
          <p:cNvPr id="8" name="Rectangle 7"/>
          <p:cNvSpPr/>
          <p:nvPr/>
        </p:nvSpPr>
        <p:spPr>
          <a:xfrm>
            <a:off x="6263640" y="2148840"/>
            <a:ext cx="5257800" cy="233172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2340864"/>
            <a:ext cx="4754880" cy="274320"/>
          </a:xfrm>
          <a:prstGeom prst="rect">
            <a:avLst/>
          </a:prstGeom>
          <a:noFill/>
        </p:spPr>
        <p:txBody>
          <a:bodyPr wrap="square">
            <a:spAutoFit/>
          </a:bodyPr>
          <a:lstStyle/>
          <a:p>
            <a:r>
              <a:rPr sz="1200" b="1">
                <a:solidFill>
                  <a:srgbClr val="B54A3F"/>
                </a:solidFill>
                <a:latin typeface="Calibri"/>
              </a:rPr>
              <a:t>A PAPER GOES OUT IF ANY ONE HOLDS</a:t>
            </a:r>
          </a:p>
        </p:txBody>
      </p:sp>
      <p:sp>
        <p:nvSpPr>
          <p:cNvPr id="10" name="TextBox 9"/>
          <p:cNvSpPr txBox="1"/>
          <p:nvPr/>
        </p:nvSpPr>
        <p:spPr>
          <a:xfrm>
            <a:off x="6537960" y="2670048"/>
            <a:ext cx="4754880" cy="1737360"/>
          </a:xfrm>
          <a:prstGeom prst="rect">
            <a:avLst/>
          </a:prstGeom>
          <a:noFill/>
        </p:spPr>
        <p:txBody>
          <a:bodyPr wrap="square">
            <a:spAutoFit/>
          </a:bodyPr>
          <a:lstStyle/>
          <a:p>
            <a:pPr>
              <a:spcAft>
                <a:spcPts val="600"/>
              </a:spcAft>
            </a:pPr>
            <a:r>
              <a:rPr sz="1200" b="0">
                <a:solidFill>
                  <a:srgbClr val="CADCFC"/>
                </a:solidFill>
                <a:latin typeface="Calibri"/>
              </a:rPr>
              <a:t>1.  It is only about jailbreaks. There is no agent and no tool.</a:t>
            </a:r>
          </a:p>
          <a:p>
            <a:pPr>
              <a:spcAft>
                <a:spcPts val="600"/>
              </a:spcAft>
            </a:pPr>
            <a:r>
              <a:rPr sz="1200" b="0">
                <a:solidFill>
                  <a:srgbClr val="CADCFC"/>
                </a:solidFill>
                <a:latin typeface="Calibri"/>
              </a:rPr>
              <a:t>2.  It poisons training data only. We study the context at run time, not the training set.</a:t>
            </a:r>
          </a:p>
          <a:p>
            <a:pPr>
              <a:spcAft>
                <a:spcPts val="600"/>
              </a:spcAft>
            </a:pPr>
            <a:r>
              <a:rPr sz="1200" b="0">
                <a:solidFill>
                  <a:srgbClr val="CADCFC"/>
                </a:solidFill>
                <a:latin typeface="Calibri"/>
              </a:rPr>
              <a:t>3.  The system is not an LLM.</a:t>
            </a:r>
          </a:p>
        </p:txBody>
      </p:sp>
      <p:sp>
        <p:nvSpPr>
          <p:cNvPr id="11" name="TextBox 10"/>
          <p:cNvSpPr txBox="1"/>
          <p:nvPr/>
        </p:nvSpPr>
        <p:spPr>
          <a:xfrm>
            <a:off x="640080" y="4663440"/>
            <a:ext cx="10881360" cy="1737360"/>
          </a:xfrm>
          <a:prstGeom prst="rect">
            <a:avLst/>
          </a:prstGeom>
          <a:noFill/>
        </p:spPr>
        <p:txBody>
          <a:bodyPr wrap="square">
            <a:spAutoFit/>
          </a:bodyPr>
          <a:lstStyle/>
          <a:p>
            <a:pPr>
              <a:spcAft>
                <a:spcPts val="500"/>
              </a:spcAft>
            </a:pPr>
            <a:r>
              <a:rPr sz="1400" b="1">
                <a:solidFill>
                  <a:srgbClr val="FFFFFF"/>
                </a:solidFill>
                <a:latin typeface="Calibri"/>
              </a:rPr>
              <a:t>A program applies these rules to the title and the abstract. It looks for words from fixed lists.</a:t>
            </a:r>
          </a:p>
          <a:p>
            <a:pPr>
              <a:spcAft>
                <a:spcPts val="500"/>
              </a:spcAft>
            </a:pPr>
            <a:r>
              <a:rPr sz="1250" b="0">
                <a:solidFill>
                  <a:srgbClr val="CADCFC"/>
                </a:solidFill>
                <a:latin typeface="Calibri"/>
              </a:rPr>
              <a:t>The agent list holds words such as agent, tool use, RAG, memory, multi-step, context window.</a:t>
            </a:r>
          </a:p>
          <a:p>
            <a:pPr>
              <a:spcAft>
                <a:spcPts val="500"/>
              </a:spcAft>
            </a:pPr>
            <a:r>
              <a:rPr sz="1250" b="0">
                <a:solidFill>
                  <a:srgbClr val="CADCFC"/>
                </a:solidFill>
                <a:latin typeface="Calibri"/>
              </a:rPr>
              <a:t>The threat list holds prompt injection, context poisoning, knowledge conflict, retrieval poisoning. A threat word counts only with an action word next to it, such as attack, poison, detect or mitigate.</a:t>
            </a:r>
          </a:p>
          <a:p>
            <a:pPr>
              <a:spcAft>
                <a:spcPts val="500"/>
              </a:spcAft>
            </a:pPr>
            <a:r>
              <a:rPr sz="1250" b="1">
                <a:solidFill>
                  <a:srgbClr val="E0A458"/>
                </a:solidFill>
                <a:latin typeface="Calibri"/>
              </a:rPr>
              <a:t>A person reads every paper that the program cannot decide. The program never removes a paper on its own.</a:t>
            </a:r>
          </a:p>
          <a:p>
            <a:pPr>
              <a:spcAft>
                <a:spcPts val="500"/>
              </a:spcAft>
            </a:pPr>
            <a:r>
              <a:rPr sz="1350" b="1">
                <a:solidFill>
                  <a:srgbClr val="FFFFFF"/>
                </a:solidFill>
                <a:latin typeface="Calibri"/>
              </a:rPr>
              <a:t>Result: 1,158 papers screened. 1,026 in. 132 out, each with a written reason.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THE CORPUS</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What the numbers are computed over</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10</a:t>
            </a:r>
          </a:p>
        </p:txBody>
      </p:sp>
      <p:sp>
        <p:nvSpPr>
          <p:cNvPr id="5" name="TextBox 4"/>
          <p:cNvSpPr txBox="1"/>
          <p:nvPr/>
        </p:nvSpPr>
        <p:spPr>
          <a:xfrm>
            <a:off x="868680" y="2743200"/>
            <a:ext cx="3017520" cy="868680"/>
          </a:xfrm>
          <a:prstGeom prst="rect">
            <a:avLst/>
          </a:prstGeom>
          <a:noFill/>
        </p:spPr>
        <p:txBody>
          <a:bodyPr wrap="square">
            <a:spAutoFit/>
          </a:bodyPr>
          <a:lstStyle/>
          <a:p>
            <a:r>
              <a:rPr sz="5000" b="1">
                <a:solidFill>
                  <a:srgbClr val="E0A458"/>
                </a:solidFill>
                <a:latin typeface="Cambria"/>
              </a:rPr>
              <a:t>1,026</a:t>
            </a:r>
          </a:p>
        </p:txBody>
      </p:sp>
      <p:sp>
        <p:nvSpPr>
          <p:cNvPr id="6" name="TextBox 5"/>
          <p:cNvSpPr txBox="1"/>
          <p:nvPr/>
        </p:nvSpPr>
        <p:spPr>
          <a:xfrm>
            <a:off x="868680" y="3639312"/>
            <a:ext cx="3017520" cy="685800"/>
          </a:xfrm>
          <a:prstGeom prst="rect">
            <a:avLst/>
          </a:prstGeom>
          <a:noFill/>
        </p:spPr>
        <p:txBody>
          <a:bodyPr wrap="square">
            <a:spAutoFit/>
          </a:bodyPr>
          <a:lstStyle/>
          <a:p>
            <a:pPr>
              <a:spcAft>
                <a:spcPts val="0"/>
              </a:spcAft>
            </a:pPr>
            <a:r>
              <a:rPr sz="1300" b="0">
                <a:solidFill>
                  <a:srgbClr val="CADCFC"/>
                </a:solidFill>
                <a:latin typeface="Calibri"/>
              </a:rPr>
              <a:t>papers included</a:t>
            </a:r>
          </a:p>
        </p:txBody>
      </p:sp>
      <p:sp>
        <p:nvSpPr>
          <p:cNvPr id="7" name="TextBox 6"/>
          <p:cNvSpPr txBox="1"/>
          <p:nvPr/>
        </p:nvSpPr>
        <p:spPr>
          <a:xfrm>
            <a:off x="4754880" y="2788920"/>
            <a:ext cx="6675120" cy="2926080"/>
          </a:xfrm>
          <a:prstGeom prst="rect">
            <a:avLst/>
          </a:prstGeom>
          <a:noFill/>
        </p:spPr>
        <p:txBody>
          <a:bodyPr wrap="square">
            <a:spAutoFit/>
          </a:bodyPr>
          <a:lstStyle/>
          <a:p>
            <a:pPr>
              <a:spcAft>
                <a:spcPts val="200"/>
              </a:spcAft>
            </a:pPr>
            <a:r>
              <a:rPr sz="1400" b="1">
                <a:solidFill>
                  <a:srgbClr val="FFFFFF"/>
                </a:solidFill>
                <a:latin typeface="Calibri"/>
              </a:rPr>
              <a:t>1,158 rows screened; 132 excluded with cause</a:t>
            </a:r>
          </a:p>
          <a:p>
            <a:pPr>
              <a:spcAft>
                <a:spcPts val="200"/>
              </a:spcAft>
            </a:pPr>
            <a:r>
              <a:rPr sz="600" b="0">
                <a:solidFill>
                  <a:srgbClr val="CADCFC"/>
                </a:solidFill>
                <a:latin typeface="Calibri"/>
              </a:rPr>
              <a:t/>
            </a:r>
          </a:p>
          <a:p>
            <a:pPr>
              <a:spcAft>
                <a:spcPts val="200"/>
              </a:spcAft>
            </a:pPr>
            <a:r>
              <a:rPr sz="1250" b="0">
                <a:solidFill>
                  <a:srgbClr val="CADCFC"/>
                </a:solidFill>
                <a:latin typeface="Calibri"/>
              </a:rPr>
              <a:t>rescreening_log.md records each exclusion.</a:t>
            </a:r>
          </a:p>
          <a:p>
            <a:pPr>
              <a:spcAft>
                <a:spcPts val="200"/>
              </a:spcAft>
            </a:pPr>
            <a:r>
              <a:rPr sz="1250" b="0">
                <a:solidFill>
                  <a:srgbClr val="CADCFC"/>
                </a:solidFill>
                <a:latin typeface="Calibri"/>
              </a:rPr>
              <a:t>It gives a reason for each one.</a:t>
            </a:r>
          </a:p>
          <a:p>
            <a:pPr>
              <a:spcAft>
                <a:spcPts val="200"/>
              </a:spcAft>
            </a:pPr>
            <a:r>
              <a:rPr sz="800" b="0">
                <a:solidFill>
                  <a:srgbClr val="CADCFC"/>
                </a:solidFill>
                <a:latin typeface="Calibri"/>
              </a:rPr>
              <a:t/>
            </a:r>
          </a:p>
          <a:p>
            <a:pPr>
              <a:spcAft>
                <a:spcPts val="200"/>
              </a:spcAft>
            </a:pPr>
            <a:r>
              <a:rPr sz="1250" b="0">
                <a:solidFill>
                  <a:srgbClr val="CFE8EF"/>
                </a:solidFill>
                <a:latin typeface="Calibri"/>
              </a:rPr>
              <a:t>In September 2026 we found a defect in the rules.</a:t>
            </a:r>
          </a:p>
          <a:p>
            <a:pPr>
              <a:spcAft>
                <a:spcPts val="200"/>
              </a:spcAft>
            </a:pPr>
            <a:r>
              <a:rPr sz="1250" b="0">
                <a:solidFill>
                  <a:srgbClr val="CFE8EF"/>
                </a:solidFill>
                <a:latin typeface="Calibri"/>
              </a:rPr>
              <a:t>The rules looked for the word "agent". The first</a:t>
            </a:r>
          </a:p>
          <a:p>
            <a:pPr>
              <a:spcAft>
                <a:spcPts val="200"/>
              </a:spcAft>
            </a:pPr>
            <a:r>
              <a:rPr sz="1250" b="0">
                <a:solidFill>
                  <a:srgbClr val="CFE8EF"/>
                </a:solidFill>
                <a:latin typeface="Calibri"/>
              </a:rPr>
              <a:t>papers in this field do not use it. They say</a:t>
            </a:r>
          </a:p>
          <a:p>
            <a:pPr>
              <a:spcAft>
                <a:spcPts val="200"/>
              </a:spcAft>
            </a:pPr>
            <a:r>
              <a:rPr sz="1250" b="0">
                <a:solidFill>
                  <a:srgbClr val="CFE8EF"/>
                </a:solidFill>
                <a:latin typeface="Calibri"/>
              </a:rPr>
              <a:t>"LLM-integrated application". The rules dropped</a:t>
            </a:r>
          </a:p>
          <a:p>
            <a:pPr>
              <a:spcAft>
                <a:spcPts val="200"/>
              </a:spcAft>
            </a:pPr>
            <a:r>
              <a:rPr sz="1250" b="0">
                <a:solidFill>
                  <a:srgbClr val="CFE8EF"/>
                </a:solidFill>
                <a:latin typeface="Calibri"/>
              </a:rPr>
              <a:t>them. The corpus went from 1,008 to 1,158.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RQ1  ·  TAXONOMY</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Which combinations of channel, intent,</a:t>
            </a:r>
          </a:p>
          <a:p>
            <a:pPr>
              <a:spcAft>
                <a:spcPts val="200"/>
              </a:spcAft>
            </a:pPr>
            <a:r>
              <a:rPr sz="3000" b="1">
                <a:solidFill>
                  <a:srgbClr val="FFFFFF"/>
                </a:solidFill>
                <a:latin typeface="Cambria"/>
              </a:rPr>
              <a:t>and consequence have been studied at all?</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11</a:t>
            </a:r>
          </a:p>
        </p:txBody>
      </p:sp>
      <p:sp>
        <p:nvSpPr>
          <p:cNvPr id="5" name="TextBox 4"/>
          <p:cNvSpPr txBox="1"/>
          <p:nvPr/>
        </p:nvSpPr>
        <p:spPr>
          <a:xfrm>
            <a:off x="1645920" y="2788920"/>
            <a:ext cx="3291840" cy="868680"/>
          </a:xfrm>
          <a:prstGeom prst="rect">
            <a:avLst/>
          </a:prstGeom>
          <a:noFill/>
        </p:spPr>
        <p:txBody>
          <a:bodyPr wrap="square">
            <a:spAutoFit/>
          </a:bodyPr>
          <a:lstStyle/>
          <a:p>
            <a:r>
              <a:rPr sz="5000" b="1">
                <a:solidFill>
                  <a:srgbClr val="E0A458"/>
                </a:solidFill>
                <a:latin typeface="Cambria"/>
              </a:rPr>
              <a:t>60.5%</a:t>
            </a:r>
          </a:p>
        </p:txBody>
      </p:sp>
      <p:sp>
        <p:nvSpPr>
          <p:cNvPr id="6" name="TextBox 5"/>
          <p:cNvSpPr txBox="1"/>
          <p:nvPr/>
        </p:nvSpPr>
        <p:spPr>
          <a:xfrm>
            <a:off x="1645920" y="3685032"/>
            <a:ext cx="3291840" cy="685800"/>
          </a:xfrm>
          <a:prstGeom prst="rect">
            <a:avLst/>
          </a:prstGeom>
          <a:noFill/>
        </p:spPr>
        <p:txBody>
          <a:bodyPr wrap="square">
            <a:spAutoFit/>
          </a:bodyPr>
          <a:lstStyle/>
          <a:p>
            <a:pPr>
              <a:spcAft>
                <a:spcPts val="0"/>
              </a:spcAft>
            </a:pPr>
            <a:r>
              <a:rPr sz="1300" b="0">
                <a:solidFill>
                  <a:srgbClr val="CADCFC"/>
                </a:solidFill>
                <a:latin typeface="Calibri"/>
              </a:rPr>
              <a:t>of the cube is empty</a:t>
            </a:r>
          </a:p>
        </p:txBody>
      </p:sp>
      <p:sp>
        <p:nvSpPr>
          <p:cNvPr id="7" name="TextBox 6"/>
          <p:cNvSpPr txBox="1"/>
          <p:nvPr/>
        </p:nvSpPr>
        <p:spPr>
          <a:xfrm>
            <a:off x="6675120" y="3017520"/>
            <a:ext cx="4846320" cy="2743200"/>
          </a:xfrm>
          <a:prstGeom prst="rect">
            <a:avLst/>
          </a:prstGeom>
          <a:noFill/>
        </p:spPr>
        <p:txBody>
          <a:bodyPr wrap="square">
            <a:spAutoFit/>
          </a:bodyPr>
          <a:lstStyle/>
          <a:p>
            <a:pPr>
              <a:spcAft>
                <a:spcPts val="400"/>
              </a:spcAft>
            </a:pPr>
            <a:r>
              <a:rPr sz="1800" b="1">
                <a:solidFill>
                  <a:srgbClr val="FFFFFF"/>
                </a:solidFill>
                <a:latin typeface="Calibri"/>
              </a:rPr>
              <a:t>98 of 162 cells</a:t>
            </a:r>
          </a:p>
          <a:p>
            <a:pPr>
              <a:spcAft>
                <a:spcPts val="400"/>
              </a:spcAft>
            </a:pPr>
            <a:r>
              <a:rPr sz="1250" b="0">
                <a:solidFill>
                  <a:srgbClr val="CFE8EF"/>
                </a:solidFill>
                <a:latin typeface="Calibri"/>
              </a:rPr>
              <a:t>9 channels × 3 intents × 6 consequences</a:t>
            </a:r>
          </a:p>
          <a:p>
            <a:pPr>
              <a:spcAft>
                <a:spcPts val="400"/>
              </a:spcAft>
            </a:pPr>
            <a:r>
              <a:rPr sz="800" b="0">
                <a:solidFill>
                  <a:srgbClr val="CADCFC"/>
                </a:solidFill>
                <a:latin typeface="Calibri"/>
              </a:rPr>
              <a:t/>
            </a:r>
          </a:p>
          <a:p>
            <a:pPr>
              <a:spcAft>
                <a:spcPts val="400"/>
              </a:spcAft>
            </a:pPr>
            <a:r>
              <a:rPr sz="1250" b="0">
                <a:solidFill>
                  <a:srgbClr val="CADCFC"/>
                </a:solidFill>
                <a:latin typeface="Calibri"/>
              </a:rPr>
              <a:t>Before the fix, 63.6% was empty.</a:t>
            </a:r>
          </a:p>
          <a:p>
            <a:pPr>
              <a:spcAft>
                <a:spcPts val="400"/>
              </a:spcAft>
            </a:pPr>
            <a:r>
              <a:rPr sz="1250" b="0">
                <a:solidFill>
                  <a:srgbClr val="CADCFC"/>
                </a:solidFill>
                <a:latin typeface="Calibri"/>
              </a:rPr>
              <a:t>The 150 new papers filled five cells.</a:t>
            </a:r>
          </a:p>
          <a:p>
            <a:pPr>
              <a:spcAft>
                <a:spcPts val="400"/>
              </a:spcAft>
            </a:pPr>
            <a:r>
              <a:rPr sz="1250" b="0">
                <a:solidFill>
                  <a:srgbClr val="CADCFC"/>
                </a:solidFill>
                <a:latin typeface="Calibri"/>
              </a:rPr>
              <a:t>They left 98 cells empty.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RQ1  ·  TAXONOMY</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Where the work actually sits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12</a:t>
            </a:r>
          </a:p>
        </p:txBody>
      </p:sp>
      <p:sp>
        <p:nvSpPr>
          <p:cNvPr id="5" name="TextBox 4"/>
          <p:cNvSpPr txBox="1"/>
          <p:nvPr/>
        </p:nvSpPr>
        <p:spPr>
          <a:xfrm>
            <a:off x="640080" y="2432304"/>
            <a:ext cx="2834640" cy="274320"/>
          </a:xfrm>
          <a:prstGeom prst="rect">
            <a:avLst/>
          </a:prstGeom>
          <a:noFill/>
        </p:spPr>
        <p:txBody>
          <a:bodyPr wrap="square">
            <a:spAutoFit/>
          </a:bodyPr>
          <a:lstStyle/>
          <a:p>
            <a:r>
              <a:rPr sz="1200" b="0">
                <a:solidFill>
                  <a:srgbClr val="CADCFC"/>
                </a:solidFill>
                <a:latin typeface="Calibri"/>
              </a:rPr>
              <a:t>tool-output</a:t>
            </a:r>
          </a:p>
        </p:txBody>
      </p:sp>
      <p:sp>
        <p:nvSpPr>
          <p:cNvPr id="6" name="Rectangle 5"/>
          <p:cNvSpPr/>
          <p:nvPr/>
        </p:nvSpPr>
        <p:spPr>
          <a:xfrm>
            <a:off x="3474720" y="2468880"/>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74720" y="2468880"/>
            <a:ext cx="7132320" cy="201168"/>
          </a:xfrm>
          <a:prstGeom prst="rect">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80192" y="2432304"/>
            <a:ext cx="914400" cy="274320"/>
          </a:xfrm>
          <a:prstGeom prst="rect">
            <a:avLst/>
          </a:prstGeom>
          <a:noFill/>
        </p:spPr>
        <p:txBody>
          <a:bodyPr wrap="square">
            <a:spAutoFit/>
          </a:bodyPr>
          <a:lstStyle/>
          <a:p>
            <a:r>
              <a:rPr sz="1200" b="1">
                <a:solidFill>
                  <a:srgbClr val="FFFFFF"/>
                </a:solidFill>
                <a:latin typeface="Calibri"/>
              </a:rPr>
              <a:t>66</a:t>
            </a:r>
          </a:p>
        </p:txBody>
      </p:sp>
      <p:sp>
        <p:nvSpPr>
          <p:cNvPr id="9" name="TextBox 8"/>
          <p:cNvSpPr txBox="1"/>
          <p:nvPr/>
        </p:nvSpPr>
        <p:spPr>
          <a:xfrm>
            <a:off x="640080" y="2862072"/>
            <a:ext cx="2834640" cy="274320"/>
          </a:xfrm>
          <a:prstGeom prst="rect">
            <a:avLst/>
          </a:prstGeom>
          <a:noFill/>
        </p:spPr>
        <p:txBody>
          <a:bodyPr wrap="square">
            <a:spAutoFit/>
          </a:bodyPr>
          <a:lstStyle/>
          <a:p>
            <a:r>
              <a:rPr sz="1200" b="0">
                <a:solidFill>
                  <a:srgbClr val="CADCFC"/>
                </a:solidFill>
                <a:latin typeface="Calibri"/>
              </a:rPr>
              <a:t>direct-input</a:t>
            </a:r>
          </a:p>
        </p:txBody>
      </p:sp>
      <p:sp>
        <p:nvSpPr>
          <p:cNvPr id="10" name="Rectangle 9"/>
          <p:cNvSpPr/>
          <p:nvPr/>
        </p:nvSpPr>
        <p:spPr>
          <a:xfrm>
            <a:off x="3474720" y="2898648"/>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74720" y="2898648"/>
            <a:ext cx="7132320" cy="201168"/>
          </a:xfrm>
          <a:prstGeom prst="rect">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80192" y="2862072"/>
            <a:ext cx="914400" cy="274320"/>
          </a:xfrm>
          <a:prstGeom prst="rect">
            <a:avLst/>
          </a:prstGeom>
          <a:noFill/>
        </p:spPr>
        <p:txBody>
          <a:bodyPr wrap="square">
            <a:spAutoFit/>
          </a:bodyPr>
          <a:lstStyle/>
          <a:p>
            <a:r>
              <a:rPr sz="1200" b="1">
                <a:solidFill>
                  <a:srgbClr val="FFFFFF"/>
                </a:solidFill>
                <a:latin typeface="Calibri"/>
              </a:rPr>
              <a:t>66</a:t>
            </a:r>
          </a:p>
        </p:txBody>
      </p:sp>
      <p:sp>
        <p:nvSpPr>
          <p:cNvPr id="13" name="TextBox 12"/>
          <p:cNvSpPr txBox="1"/>
          <p:nvPr/>
        </p:nvSpPr>
        <p:spPr>
          <a:xfrm>
            <a:off x="640080" y="3291840"/>
            <a:ext cx="2834640" cy="274320"/>
          </a:xfrm>
          <a:prstGeom prst="rect">
            <a:avLst/>
          </a:prstGeom>
          <a:noFill/>
        </p:spPr>
        <p:txBody>
          <a:bodyPr wrap="square">
            <a:spAutoFit/>
          </a:bodyPr>
          <a:lstStyle/>
          <a:p>
            <a:r>
              <a:rPr sz="1200" b="0">
                <a:solidFill>
                  <a:srgbClr val="CADCFC"/>
                </a:solidFill>
                <a:latin typeface="Calibri"/>
              </a:rPr>
              <a:t>RAG</a:t>
            </a:r>
          </a:p>
        </p:txBody>
      </p:sp>
      <p:sp>
        <p:nvSpPr>
          <p:cNvPr id="14" name="Rectangle 13"/>
          <p:cNvSpPr/>
          <p:nvPr/>
        </p:nvSpPr>
        <p:spPr>
          <a:xfrm>
            <a:off x="3474720" y="3328416"/>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74720" y="3328416"/>
            <a:ext cx="3025832"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80192" y="3291840"/>
            <a:ext cx="914400" cy="274320"/>
          </a:xfrm>
          <a:prstGeom prst="rect">
            <a:avLst/>
          </a:prstGeom>
          <a:noFill/>
        </p:spPr>
        <p:txBody>
          <a:bodyPr wrap="square">
            <a:spAutoFit/>
          </a:bodyPr>
          <a:lstStyle/>
          <a:p>
            <a:r>
              <a:rPr sz="1200" b="1">
                <a:solidFill>
                  <a:srgbClr val="FFFFFF"/>
                </a:solidFill>
                <a:latin typeface="Calibri"/>
              </a:rPr>
              <a:t>28</a:t>
            </a:r>
          </a:p>
        </p:txBody>
      </p:sp>
      <p:sp>
        <p:nvSpPr>
          <p:cNvPr id="17" name="TextBox 16"/>
          <p:cNvSpPr txBox="1"/>
          <p:nvPr/>
        </p:nvSpPr>
        <p:spPr>
          <a:xfrm>
            <a:off x="640080" y="3721608"/>
            <a:ext cx="2834640" cy="274320"/>
          </a:xfrm>
          <a:prstGeom prst="rect">
            <a:avLst/>
          </a:prstGeom>
          <a:noFill/>
        </p:spPr>
        <p:txBody>
          <a:bodyPr wrap="square">
            <a:spAutoFit/>
          </a:bodyPr>
          <a:lstStyle/>
          <a:p>
            <a:r>
              <a:rPr sz="1200" b="0">
                <a:solidFill>
                  <a:srgbClr val="CADCFC"/>
                </a:solidFill>
                <a:latin typeface="Calibri"/>
              </a:rPr>
              <a:t>cross-modal</a:t>
            </a:r>
          </a:p>
        </p:txBody>
      </p:sp>
      <p:sp>
        <p:nvSpPr>
          <p:cNvPr id="18" name="Rectangle 17"/>
          <p:cNvSpPr/>
          <p:nvPr/>
        </p:nvSpPr>
        <p:spPr>
          <a:xfrm>
            <a:off x="3474720" y="3758184"/>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474720" y="3758184"/>
            <a:ext cx="1945178"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80192" y="3721608"/>
            <a:ext cx="914400" cy="274320"/>
          </a:xfrm>
          <a:prstGeom prst="rect">
            <a:avLst/>
          </a:prstGeom>
          <a:noFill/>
        </p:spPr>
        <p:txBody>
          <a:bodyPr wrap="square">
            <a:spAutoFit/>
          </a:bodyPr>
          <a:lstStyle/>
          <a:p>
            <a:r>
              <a:rPr sz="1200" b="1">
                <a:solidFill>
                  <a:srgbClr val="FFFFFF"/>
                </a:solidFill>
                <a:latin typeface="Calibri"/>
              </a:rPr>
              <a:t>18</a:t>
            </a:r>
          </a:p>
        </p:txBody>
      </p:sp>
      <p:sp>
        <p:nvSpPr>
          <p:cNvPr id="21" name="TextBox 20"/>
          <p:cNvSpPr txBox="1"/>
          <p:nvPr/>
        </p:nvSpPr>
        <p:spPr>
          <a:xfrm>
            <a:off x="640080" y="4151376"/>
            <a:ext cx="2834640" cy="274320"/>
          </a:xfrm>
          <a:prstGeom prst="rect">
            <a:avLst/>
          </a:prstGeom>
          <a:noFill/>
        </p:spPr>
        <p:txBody>
          <a:bodyPr wrap="square">
            <a:spAutoFit/>
          </a:bodyPr>
          <a:lstStyle/>
          <a:p>
            <a:r>
              <a:rPr sz="1200" b="0">
                <a:solidFill>
                  <a:srgbClr val="CADCFC"/>
                </a:solidFill>
                <a:latin typeface="Calibri"/>
              </a:rPr>
              <a:t>memory</a:t>
            </a:r>
          </a:p>
        </p:txBody>
      </p:sp>
      <p:sp>
        <p:nvSpPr>
          <p:cNvPr id="22" name="Rectangle 21"/>
          <p:cNvSpPr/>
          <p:nvPr/>
        </p:nvSpPr>
        <p:spPr>
          <a:xfrm>
            <a:off x="3474720" y="4187952"/>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474720" y="4187952"/>
            <a:ext cx="1512916"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80192" y="4151376"/>
            <a:ext cx="914400" cy="274320"/>
          </a:xfrm>
          <a:prstGeom prst="rect">
            <a:avLst/>
          </a:prstGeom>
          <a:noFill/>
        </p:spPr>
        <p:txBody>
          <a:bodyPr wrap="square">
            <a:spAutoFit/>
          </a:bodyPr>
          <a:lstStyle/>
          <a:p>
            <a:r>
              <a:rPr sz="1200" b="1">
                <a:solidFill>
                  <a:srgbClr val="FFFFFF"/>
                </a:solidFill>
                <a:latin typeface="Calibri"/>
              </a:rPr>
              <a:t>14</a:t>
            </a:r>
          </a:p>
        </p:txBody>
      </p:sp>
      <p:sp>
        <p:nvSpPr>
          <p:cNvPr id="25" name="TextBox 24"/>
          <p:cNvSpPr txBox="1"/>
          <p:nvPr/>
        </p:nvSpPr>
        <p:spPr>
          <a:xfrm>
            <a:off x="640080" y="4581144"/>
            <a:ext cx="2834640" cy="274320"/>
          </a:xfrm>
          <a:prstGeom prst="rect">
            <a:avLst/>
          </a:prstGeom>
          <a:noFill/>
        </p:spPr>
        <p:txBody>
          <a:bodyPr wrap="square">
            <a:spAutoFit/>
          </a:bodyPr>
          <a:lstStyle/>
          <a:p>
            <a:r>
              <a:rPr sz="1200" b="0">
                <a:solidFill>
                  <a:srgbClr val="CADCFC"/>
                </a:solidFill>
                <a:latin typeface="Calibri"/>
              </a:rPr>
              <a:t>tool-metadata</a:t>
            </a:r>
          </a:p>
        </p:txBody>
      </p:sp>
      <p:sp>
        <p:nvSpPr>
          <p:cNvPr id="26" name="Rectangle 25"/>
          <p:cNvSpPr/>
          <p:nvPr/>
        </p:nvSpPr>
        <p:spPr>
          <a:xfrm>
            <a:off x="3474720" y="4617720"/>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474720" y="4617720"/>
            <a:ext cx="1296785"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80192" y="4581144"/>
            <a:ext cx="914400" cy="274320"/>
          </a:xfrm>
          <a:prstGeom prst="rect">
            <a:avLst/>
          </a:prstGeom>
          <a:noFill/>
        </p:spPr>
        <p:txBody>
          <a:bodyPr wrap="square">
            <a:spAutoFit/>
          </a:bodyPr>
          <a:lstStyle/>
          <a:p>
            <a:r>
              <a:rPr sz="1200" b="1">
                <a:solidFill>
                  <a:srgbClr val="FFFFFF"/>
                </a:solidFill>
                <a:latin typeface="Calibri"/>
              </a:rPr>
              <a:t>12</a:t>
            </a:r>
          </a:p>
        </p:txBody>
      </p:sp>
      <p:sp>
        <p:nvSpPr>
          <p:cNvPr id="29" name="TextBox 28"/>
          <p:cNvSpPr txBox="1"/>
          <p:nvPr/>
        </p:nvSpPr>
        <p:spPr>
          <a:xfrm>
            <a:off x="640080" y="5010912"/>
            <a:ext cx="2834640" cy="274320"/>
          </a:xfrm>
          <a:prstGeom prst="rect">
            <a:avLst/>
          </a:prstGeom>
          <a:noFill/>
        </p:spPr>
        <p:txBody>
          <a:bodyPr wrap="square">
            <a:spAutoFit/>
          </a:bodyPr>
          <a:lstStyle/>
          <a:p>
            <a:r>
              <a:rPr sz="1200" b="0">
                <a:solidFill>
                  <a:srgbClr val="CADCFC"/>
                </a:solidFill>
                <a:latin typeface="Calibri"/>
              </a:rPr>
              <a:t>multi-agent</a:t>
            </a:r>
          </a:p>
        </p:txBody>
      </p:sp>
      <p:sp>
        <p:nvSpPr>
          <p:cNvPr id="30" name="Rectangle 29"/>
          <p:cNvSpPr/>
          <p:nvPr/>
        </p:nvSpPr>
        <p:spPr>
          <a:xfrm>
            <a:off x="3474720" y="5047488"/>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474720" y="5047488"/>
            <a:ext cx="972589"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80192" y="5010912"/>
            <a:ext cx="914400" cy="274320"/>
          </a:xfrm>
          <a:prstGeom prst="rect">
            <a:avLst/>
          </a:prstGeom>
          <a:noFill/>
        </p:spPr>
        <p:txBody>
          <a:bodyPr wrap="square">
            <a:spAutoFit/>
          </a:bodyPr>
          <a:lstStyle/>
          <a:p>
            <a:r>
              <a:rPr sz="1200" b="1">
                <a:solidFill>
                  <a:srgbClr val="FFFFFF"/>
                </a:solidFill>
                <a:latin typeface="Calibri"/>
              </a:rPr>
              <a:t>9</a:t>
            </a:r>
          </a:p>
        </p:txBody>
      </p:sp>
      <p:sp>
        <p:nvSpPr>
          <p:cNvPr id="33" name="TextBox 32"/>
          <p:cNvSpPr txBox="1"/>
          <p:nvPr/>
        </p:nvSpPr>
        <p:spPr>
          <a:xfrm>
            <a:off x="640080" y="5440680"/>
            <a:ext cx="2834640" cy="274320"/>
          </a:xfrm>
          <a:prstGeom prst="rect">
            <a:avLst/>
          </a:prstGeom>
          <a:noFill/>
        </p:spPr>
        <p:txBody>
          <a:bodyPr wrap="square">
            <a:spAutoFit/>
          </a:bodyPr>
          <a:lstStyle/>
          <a:p>
            <a:r>
              <a:rPr sz="1200" b="0">
                <a:solidFill>
                  <a:srgbClr val="CADCFC"/>
                </a:solidFill>
                <a:latin typeface="Calibri"/>
              </a:rPr>
              <a:t>supply-chain</a:t>
            </a:r>
          </a:p>
        </p:txBody>
      </p:sp>
      <p:sp>
        <p:nvSpPr>
          <p:cNvPr id="34" name="Rectangle 33"/>
          <p:cNvSpPr/>
          <p:nvPr/>
        </p:nvSpPr>
        <p:spPr>
          <a:xfrm>
            <a:off x="3474720" y="5477256"/>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474720" y="5477256"/>
            <a:ext cx="648392"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680192" y="5440680"/>
            <a:ext cx="914400" cy="274320"/>
          </a:xfrm>
          <a:prstGeom prst="rect">
            <a:avLst/>
          </a:prstGeom>
          <a:noFill/>
        </p:spPr>
        <p:txBody>
          <a:bodyPr wrap="square">
            <a:spAutoFit/>
          </a:bodyPr>
          <a:lstStyle/>
          <a:p>
            <a:r>
              <a:rPr sz="1200" b="1">
                <a:solidFill>
                  <a:srgbClr val="FFFFFF"/>
                </a:solidFill>
                <a:latin typeface="Calibri"/>
              </a:rPr>
              <a:t>6</a:t>
            </a:r>
          </a:p>
        </p:txBody>
      </p:sp>
      <p:sp>
        <p:nvSpPr>
          <p:cNvPr id="37" name="TextBox 36"/>
          <p:cNvSpPr txBox="1"/>
          <p:nvPr/>
        </p:nvSpPr>
        <p:spPr>
          <a:xfrm>
            <a:off x="640080" y="5870448"/>
            <a:ext cx="2834640" cy="274320"/>
          </a:xfrm>
          <a:prstGeom prst="rect">
            <a:avLst/>
          </a:prstGeom>
          <a:noFill/>
        </p:spPr>
        <p:txBody>
          <a:bodyPr wrap="square">
            <a:spAutoFit/>
          </a:bodyPr>
          <a:lstStyle/>
          <a:p>
            <a:r>
              <a:rPr sz="1200" b="0">
                <a:solidFill>
                  <a:srgbClr val="CADCFC"/>
                </a:solidFill>
                <a:latin typeface="Calibri"/>
              </a:rPr>
              <a:t>skill</a:t>
            </a:r>
          </a:p>
        </p:txBody>
      </p:sp>
      <p:sp>
        <p:nvSpPr>
          <p:cNvPr id="38" name="Rectangle 37"/>
          <p:cNvSpPr/>
          <p:nvPr/>
        </p:nvSpPr>
        <p:spPr>
          <a:xfrm>
            <a:off x="3474720" y="5907024"/>
            <a:ext cx="71323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474720" y="5907024"/>
            <a:ext cx="432261"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680192" y="5870448"/>
            <a:ext cx="914400" cy="274320"/>
          </a:xfrm>
          <a:prstGeom prst="rect">
            <a:avLst/>
          </a:prstGeom>
          <a:noFill/>
        </p:spPr>
        <p:txBody>
          <a:bodyPr wrap="square">
            <a:spAutoFit/>
          </a:bodyPr>
          <a:lstStyle/>
          <a:p>
            <a:r>
              <a:rPr sz="1200" b="1">
                <a:solidFill>
                  <a:srgbClr val="FFFFFF"/>
                </a:solidFill>
                <a:latin typeface="Calibri"/>
              </a:rPr>
              <a:t>4</a:t>
            </a:r>
          </a:p>
        </p:txBody>
      </p:sp>
      <p:sp>
        <p:nvSpPr>
          <p:cNvPr id="41" name="TextBox 40"/>
          <p:cNvSpPr txBox="1"/>
          <p:nvPr/>
        </p:nvSpPr>
        <p:spPr>
          <a:xfrm>
            <a:off x="640080" y="6263640"/>
            <a:ext cx="10881360" cy="365760"/>
          </a:xfrm>
          <a:prstGeom prst="rect">
            <a:avLst/>
          </a:prstGeom>
          <a:noFill/>
        </p:spPr>
        <p:txBody>
          <a:bodyPr wrap="square">
            <a:spAutoFit/>
          </a:bodyPr>
          <a:lstStyle/>
          <a:p>
            <a:r>
              <a:rPr sz="1200" b="0">
                <a:solidFill>
                  <a:srgbClr val="CFE8EF"/>
                </a:solidFill>
                <a:latin typeface="Calibri"/>
              </a:rPr>
              <a:t>Named mechanisms for each channel. direct-input and tool-output are equal.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RQ2  ·  CITATION NETWORK</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Two literatures. Do they read each other?</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13</a:t>
            </a:r>
          </a:p>
        </p:txBody>
      </p:sp>
      <p:sp>
        <p:nvSpPr>
          <p:cNvPr id="5" name="Rectangle 4"/>
          <p:cNvSpPr/>
          <p:nvPr/>
        </p:nvSpPr>
        <p:spPr>
          <a:xfrm>
            <a:off x="640080" y="2560320"/>
            <a:ext cx="10881360" cy="11430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724912"/>
            <a:ext cx="4206240" cy="411480"/>
          </a:xfrm>
          <a:prstGeom prst="rect">
            <a:avLst/>
          </a:prstGeom>
          <a:noFill/>
        </p:spPr>
        <p:txBody>
          <a:bodyPr wrap="square">
            <a:spAutoFit/>
          </a:bodyPr>
          <a:lstStyle/>
          <a:p>
            <a:r>
              <a:rPr sz="1500" b="1">
                <a:solidFill>
                  <a:srgbClr val="FFFFFF"/>
                </a:solidFill>
                <a:latin typeface="Calibri"/>
              </a:rPr>
              <a:t>Security → cites ML/AI</a:t>
            </a:r>
          </a:p>
        </p:txBody>
      </p:sp>
      <p:sp>
        <p:nvSpPr>
          <p:cNvPr id="7" name="TextBox 6"/>
          <p:cNvSpPr txBox="1"/>
          <p:nvPr/>
        </p:nvSpPr>
        <p:spPr>
          <a:xfrm>
            <a:off x="914400" y="3163824"/>
            <a:ext cx="4937760" cy="365760"/>
          </a:xfrm>
          <a:prstGeom prst="rect">
            <a:avLst/>
          </a:prstGeom>
          <a:noFill/>
        </p:spPr>
        <p:txBody>
          <a:bodyPr wrap="square">
            <a:spAutoFit/>
          </a:bodyPr>
          <a:lstStyle/>
          <a:p>
            <a:r>
              <a:rPr sz="1250" b="0">
                <a:solidFill>
                  <a:srgbClr val="CFE8EF"/>
                </a:solidFill>
                <a:latin typeface="Calibri"/>
              </a:rPr>
              <a:t>70 of 599 papers</a:t>
            </a:r>
          </a:p>
        </p:txBody>
      </p:sp>
      <p:sp>
        <p:nvSpPr>
          <p:cNvPr id="8" name="TextBox 7"/>
          <p:cNvSpPr txBox="1"/>
          <p:nvPr/>
        </p:nvSpPr>
        <p:spPr>
          <a:xfrm>
            <a:off x="9052560" y="2816352"/>
            <a:ext cx="2194560" cy="731520"/>
          </a:xfrm>
          <a:prstGeom prst="rect">
            <a:avLst/>
          </a:prstGeom>
          <a:noFill/>
        </p:spPr>
        <p:txBody>
          <a:bodyPr wrap="square">
            <a:spAutoFit/>
          </a:bodyPr>
          <a:lstStyle/>
          <a:p>
            <a:pPr algn="r"/>
            <a:r>
              <a:rPr sz="4000" b="1">
                <a:solidFill>
                  <a:srgbClr val="E0A458"/>
                </a:solidFill>
                <a:latin typeface="Cambria"/>
              </a:rPr>
              <a:t>11.7%</a:t>
            </a:r>
          </a:p>
        </p:txBody>
      </p:sp>
      <p:sp>
        <p:nvSpPr>
          <p:cNvPr id="9" name="Rectangle 8"/>
          <p:cNvSpPr/>
          <p:nvPr/>
        </p:nvSpPr>
        <p:spPr>
          <a:xfrm>
            <a:off x="640080" y="3977639"/>
            <a:ext cx="10881360" cy="11430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142231"/>
            <a:ext cx="4206240" cy="411480"/>
          </a:xfrm>
          <a:prstGeom prst="rect">
            <a:avLst/>
          </a:prstGeom>
          <a:noFill/>
        </p:spPr>
        <p:txBody>
          <a:bodyPr wrap="square">
            <a:spAutoFit/>
          </a:bodyPr>
          <a:lstStyle/>
          <a:p>
            <a:r>
              <a:rPr sz="1500" b="1">
                <a:solidFill>
                  <a:srgbClr val="FFFFFF"/>
                </a:solidFill>
                <a:latin typeface="Calibri"/>
              </a:rPr>
              <a:t>ML/AI → cites Security</a:t>
            </a:r>
          </a:p>
        </p:txBody>
      </p:sp>
      <p:sp>
        <p:nvSpPr>
          <p:cNvPr id="11" name="TextBox 10"/>
          <p:cNvSpPr txBox="1"/>
          <p:nvPr/>
        </p:nvSpPr>
        <p:spPr>
          <a:xfrm>
            <a:off x="914400" y="4581144"/>
            <a:ext cx="4937760" cy="365760"/>
          </a:xfrm>
          <a:prstGeom prst="rect">
            <a:avLst/>
          </a:prstGeom>
          <a:noFill/>
        </p:spPr>
        <p:txBody>
          <a:bodyPr wrap="square">
            <a:spAutoFit/>
          </a:bodyPr>
          <a:lstStyle/>
          <a:p>
            <a:r>
              <a:rPr sz="1250" b="0">
                <a:solidFill>
                  <a:srgbClr val="CFE8EF"/>
                </a:solidFill>
                <a:latin typeface="Calibri"/>
              </a:rPr>
              <a:t>37 of 407 papers</a:t>
            </a:r>
          </a:p>
        </p:txBody>
      </p:sp>
      <p:sp>
        <p:nvSpPr>
          <p:cNvPr id="12" name="TextBox 11"/>
          <p:cNvSpPr txBox="1"/>
          <p:nvPr/>
        </p:nvSpPr>
        <p:spPr>
          <a:xfrm>
            <a:off x="9052560" y="4233672"/>
            <a:ext cx="2194560" cy="731520"/>
          </a:xfrm>
          <a:prstGeom prst="rect">
            <a:avLst/>
          </a:prstGeom>
          <a:noFill/>
        </p:spPr>
        <p:txBody>
          <a:bodyPr wrap="square">
            <a:spAutoFit/>
          </a:bodyPr>
          <a:lstStyle/>
          <a:p>
            <a:pPr algn="r"/>
            <a:r>
              <a:rPr sz="4000" b="1">
                <a:solidFill>
                  <a:srgbClr val="1C7293"/>
                </a:solidFill>
                <a:latin typeface="Cambria"/>
              </a:rPr>
              <a:t>9.1%</a:t>
            </a:r>
          </a:p>
        </p:txBody>
      </p:sp>
      <p:sp>
        <p:nvSpPr>
          <p:cNvPr id="13" name="TextBox 12"/>
          <p:cNvSpPr txBox="1"/>
          <p:nvPr/>
        </p:nvSpPr>
        <p:spPr>
          <a:xfrm>
            <a:off x="640080" y="5577840"/>
            <a:ext cx="10881360" cy="914400"/>
          </a:xfrm>
          <a:prstGeom prst="rect">
            <a:avLst/>
          </a:prstGeom>
          <a:noFill/>
        </p:spPr>
        <p:txBody>
          <a:bodyPr wrap="square">
            <a:spAutoFit/>
          </a:bodyPr>
          <a:lstStyle/>
          <a:p>
            <a:pPr>
              <a:spcAft>
                <a:spcPts val="400"/>
              </a:spcAft>
            </a:pPr>
            <a:r>
              <a:rPr sz="1400" b="1">
                <a:solidFill>
                  <a:srgbClr val="FFFFFF"/>
                </a:solidFill>
                <a:latin typeface="Calibri"/>
              </a:rPr>
              <a:t>Nine of ten papers do not cite the other track.</a:t>
            </a:r>
          </a:p>
          <a:p>
            <a:pPr>
              <a:spcAft>
                <a:spcPts val="400"/>
              </a:spcAft>
            </a:pPr>
            <a:r>
              <a:rPr sz="1250" b="0">
                <a:solidFill>
                  <a:srgbClr val="CFE8EF"/>
                </a:solidFill>
                <a:latin typeface="Calibri"/>
              </a:rPr>
              <a:t>The corpus grew by 150 papers. The rates did not change. The split is structural.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RQ3  ·  POLLUTION CENSUS</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How many distinct ways can a context be poisoned?</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14</a:t>
            </a:r>
          </a:p>
        </p:txBody>
      </p:sp>
      <p:sp>
        <p:nvSpPr>
          <p:cNvPr id="5" name="TextBox 4"/>
          <p:cNvSpPr txBox="1"/>
          <p:nvPr/>
        </p:nvSpPr>
        <p:spPr>
          <a:xfrm>
            <a:off x="868680" y="2697479"/>
            <a:ext cx="2880360" cy="868680"/>
          </a:xfrm>
          <a:prstGeom prst="rect">
            <a:avLst/>
          </a:prstGeom>
          <a:noFill/>
        </p:spPr>
        <p:txBody>
          <a:bodyPr wrap="square">
            <a:spAutoFit/>
          </a:bodyPr>
          <a:lstStyle/>
          <a:p>
            <a:r>
              <a:rPr sz="5000" b="1">
                <a:solidFill>
                  <a:srgbClr val="E0A458"/>
                </a:solidFill>
                <a:latin typeface="Cambria"/>
              </a:rPr>
              <a:t>223</a:t>
            </a:r>
          </a:p>
        </p:txBody>
      </p:sp>
      <p:sp>
        <p:nvSpPr>
          <p:cNvPr id="6" name="TextBox 5"/>
          <p:cNvSpPr txBox="1"/>
          <p:nvPr/>
        </p:nvSpPr>
        <p:spPr>
          <a:xfrm>
            <a:off x="868680" y="3593591"/>
            <a:ext cx="2880360" cy="685800"/>
          </a:xfrm>
          <a:prstGeom prst="rect">
            <a:avLst/>
          </a:prstGeom>
          <a:noFill/>
        </p:spPr>
        <p:txBody>
          <a:bodyPr wrap="square">
            <a:spAutoFit/>
          </a:bodyPr>
          <a:lstStyle/>
          <a:p>
            <a:pPr>
              <a:spcAft>
                <a:spcPts val="0"/>
              </a:spcAft>
            </a:pPr>
            <a:r>
              <a:rPr sz="1300" b="0">
                <a:solidFill>
                  <a:srgbClr val="CADCFC"/>
                </a:solidFill>
                <a:latin typeface="Calibri"/>
              </a:rPr>
              <a:t>named mechanisms</a:t>
            </a:r>
          </a:p>
        </p:txBody>
      </p:sp>
      <p:sp>
        <p:nvSpPr>
          <p:cNvPr id="7" name="TextBox 6"/>
          <p:cNvSpPr txBox="1"/>
          <p:nvPr/>
        </p:nvSpPr>
        <p:spPr>
          <a:xfrm>
            <a:off x="4434840" y="2697480"/>
            <a:ext cx="6949440" cy="3108960"/>
          </a:xfrm>
          <a:prstGeom prst="rect">
            <a:avLst/>
          </a:prstGeom>
          <a:noFill/>
        </p:spPr>
        <p:txBody>
          <a:bodyPr wrap="square">
            <a:spAutoFit/>
          </a:bodyPr>
          <a:lstStyle/>
          <a:p>
            <a:pPr>
              <a:spcAft>
                <a:spcPts val="400"/>
              </a:spcAft>
            </a:pPr>
            <a:r>
              <a:rPr sz="1700" b="1">
                <a:solidFill>
                  <a:srgbClr val="FFFFFF"/>
                </a:solidFill>
                <a:latin typeface="Calibri"/>
              </a:rPr>
              <a:t>168 adversarial  ·  55 incidental</a:t>
            </a:r>
          </a:p>
          <a:p>
            <a:pPr>
              <a:spcAft>
                <a:spcPts val="400"/>
              </a:spcAft>
            </a:pPr>
            <a:r>
              <a:rPr sz="800" b="0">
                <a:solidFill>
                  <a:srgbClr val="CADCFC"/>
                </a:solidFill>
                <a:latin typeface="Calibri"/>
              </a:rPr>
              <a:t/>
            </a:r>
          </a:p>
          <a:p>
            <a:pPr>
              <a:spcAft>
                <a:spcPts val="400"/>
              </a:spcAft>
            </a:pPr>
            <a:r>
              <a:rPr sz="1250" b="0">
                <a:solidFill>
                  <a:srgbClr val="CADCFC"/>
                </a:solidFill>
                <a:latin typeface="Calibri"/>
              </a:rPr>
              <a:t>Before the fix we had 183. We added 41.</a:t>
            </a:r>
          </a:p>
          <a:p>
            <a:pPr>
              <a:spcAft>
                <a:spcPts val="400"/>
              </a:spcAft>
            </a:pPr>
            <a:r>
              <a:rPr sz="1250" b="0">
                <a:solidFill>
                  <a:srgbClr val="CADCFC"/>
                </a:solidFill>
                <a:latin typeface="Calibri"/>
              </a:rPr>
              <a:t>40 of the new ones are adversarial.</a:t>
            </a:r>
          </a:p>
          <a:p>
            <a:pPr>
              <a:spcAft>
                <a:spcPts val="400"/>
              </a:spcAft>
            </a:pPr>
            <a:r>
              <a:rPr sz="1250" b="0">
                <a:solidFill>
                  <a:srgbClr val="CADCFC"/>
                </a:solidFill>
                <a:latin typeface="Calibri"/>
              </a:rPr>
              <a:t>23 of them use the direct-input channel.</a:t>
            </a:r>
          </a:p>
          <a:p>
            <a:pPr>
              <a:spcAft>
                <a:spcPts val="400"/>
              </a:spcAft>
            </a:pPr>
            <a:r>
              <a:rPr sz="800" b="0">
                <a:solidFill>
                  <a:srgbClr val="CADCFC"/>
                </a:solidFill>
                <a:latin typeface="Calibri"/>
              </a:rPr>
              <a:t/>
            </a:r>
          </a:p>
          <a:p>
            <a:pPr>
              <a:spcAft>
                <a:spcPts val="400"/>
              </a:spcAft>
            </a:pPr>
            <a:r>
              <a:rPr sz="1300" b="1">
                <a:solidFill>
                  <a:srgbClr val="E0A458"/>
                </a:solidFill>
                <a:latin typeface="Calibri"/>
              </a:rPr>
              <a:t>This closed a channel gap that looked real.</a:t>
            </a:r>
          </a:p>
          <a:p>
            <a:pPr>
              <a:spcAft>
                <a:spcPts val="400"/>
              </a:spcAft>
            </a:pPr>
            <a:r>
              <a:rPr sz="1250" b="0">
                <a:solidFill>
                  <a:srgbClr val="CFE8EF"/>
                </a:solidFill>
                <a:latin typeface="Calibri"/>
              </a:rPr>
              <a:t>Our own screening made that gap.</a:t>
            </a:r>
          </a:p>
          <a:p>
            <a:pPr>
              <a:spcAft>
                <a:spcPts val="400"/>
              </a:spcAft>
            </a:pPr>
            <a:r>
              <a:rPr sz="1250" b="0">
                <a:solidFill>
                  <a:srgbClr val="CFE8EF"/>
                </a:solidFill>
                <a:latin typeface="Calibri"/>
              </a:rPr>
              <a:t>The field did not.</a:t>
            </a:r>
          </a:p>
        </p:txBody>
      </p:sp>
      <p:sp>
        <p:nvSpPr>
          <p:cNvPr id="8" name="TextBox 7"/>
          <p:cNvSpPr txBox="1"/>
          <p:nvPr/>
        </p:nvSpPr>
        <p:spPr>
          <a:xfrm>
            <a:off x="640080" y="5852160"/>
            <a:ext cx="10881360" cy="457200"/>
          </a:xfrm>
          <a:prstGeom prst="rect">
            <a:avLst/>
          </a:prstGeom>
          <a:noFill/>
        </p:spPr>
        <p:txBody>
          <a:bodyPr wrap="square">
            <a:spAutoFit/>
          </a:bodyPr>
          <a:lstStyle/>
          <a:p>
            <a:r>
              <a:rPr sz="1150" b="0">
                <a:solidFill>
                  <a:srgbClr val="CFE8EF"/>
                </a:solidFill>
                <a:latin typeface="Calibri"/>
              </a:rPr>
              <a:t>By consequence:  goal-hijack 126   ·   reasoning-corruption 46   ·   silent-corruption 21   ·   persistence-backdoor 14   ·   data-exfiltration 13   ·   resource-abuse 3</a:t>
            </a:r>
          </a:p>
        </p:txBody>
      </p:sp>
      <p:sp>
        <p:nvSpPr>
          <p:cNvPr id="9" name="TextBox 8"/>
          <p:cNvSpPr txBox="1"/>
          <p:nvPr/>
        </p:nvSpPr>
        <p:spPr>
          <a:xfrm>
            <a:off x="640080" y="6217920"/>
            <a:ext cx="10881360" cy="457200"/>
          </a:xfrm>
          <a:prstGeom prst="rect">
            <a:avLst/>
          </a:prstGeom>
          <a:noFill/>
        </p:spPr>
        <p:txBody>
          <a:bodyPr wrap="square">
            <a:spAutoFit/>
          </a:bodyPr>
          <a:lstStyle/>
          <a:p>
            <a:r>
              <a:rPr sz="1150" b="0">
                <a:solidFill>
                  <a:srgbClr val="E0A458"/>
                </a:solidFill>
                <a:latin typeface="Calibri"/>
              </a:rPr>
              <a:t>Two numbers appear in this deck. 223 mechanisms carry a name. 14 more are known only by the benchmark that holds them. 237 in total.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RQ4  ·  DEFENSE CENSUS</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And how many defenses answer them?</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15</a:t>
            </a:r>
          </a:p>
        </p:txBody>
      </p:sp>
      <p:sp>
        <p:nvSpPr>
          <p:cNvPr id="5" name="TextBox 4"/>
          <p:cNvSpPr txBox="1"/>
          <p:nvPr/>
        </p:nvSpPr>
        <p:spPr>
          <a:xfrm>
            <a:off x="868680" y="2606039"/>
            <a:ext cx="2880360" cy="868680"/>
          </a:xfrm>
          <a:prstGeom prst="rect">
            <a:avLst/>
          </a:prstGeom>
          <a:noFill/>
        </p:spPr>
        <p:txBody>
          <a:bodyPr wrap="square">
            <a:spAutoFit/>
          </a:bodyPr>
          <a:lstStyle/>
          <a:p>
            <a:r>
              <a:rPr sz="5000" b="1">
                <a:solidFill>
                  <a:srgbClr val="E0A458"/>
                </a:solidFill>
                <a:latin typeface="Cambria"/>
              </a:rPr>
              <a:t>534</a:t>
            </a:r>
          </a:p>
        </p:txBody>
      </p:sp>
      <p:sp>
        <p:nvSpPr>
          <p:cNvPr id="6" name="TextBox 5"/>
          <p:cNvSpPr txBox="1"/>
          <p:nvPr/>
        </p:nvSpPr>
        <p:spPr>
          <a:xfrm>
            <a:off x="868680" y="3502152"/>
            <a:ext cx="2880360" cy="685800"/>
          </a:xfrm>
          <a:prstGeom prst="rect">
            <a:avLst/>
          </a:prstGeom>
          <a:noFill/>
        </p:spPr>
        <p:txBody>
          <a:bodyPr wrap="square">
            <a:spAutoFit/>
          </a:bodyPr>
          <a:lstStyle/>
          <a:p>
            <a:pPr>
              <a:spcAft>
                <a:spcPts val="0"/>
              </a:spcAft>
            </a:pPr>
            <a:r>
              <a:rPr sz="1300" b="0">
                <a:solidFill>
                  <a:srgbClr val="CADCFC"/>
                </a:solidFill>
                <a:latin typeface="Calibri"/>
              </a:rPr>
              <a:t>named defenses</a:t>
            </a:r>
          </a:p>
        </p:txBody>
      </p:sp>
      <p:sp>
        <p:nvSpPr>
          <p:cNvPr id="7" name="TextBox 6"/>
          <p:cNvSpPr txBox="1"/>
          <p:nvPr/>
        </p:nvSpPr>
        <p:spPr>
          <a:xfrm>
            <a:off x="4160520" y="2606039"/>
            <a:ext cx="2880360" cy="868680"/>
          </a:xfrm>
          <a:prstGeom prst="rect">
            <a:avLst/>
          </a:prstGeom>
          <a:noFill/>
        </p:spPr>
        <p:txBody>
          <a:bodyPr wrap="square">
            <a:spAutoFit/>
          </a:bodyPr>
          <a:lstStyle/>
          <a:p>
            <a:r>
              <a:rPr sz="5000" b="1">
                <a:solidFill>
                  <a:srgbClr val="B54A3F"/>
                </a:solidFill>
                <a:latin typeface="Cambria"/>
              </a:rPr>
              <a:t>2.8%</a:t>
            </a:r>
          </a:p>
        </p:txBody>
      </p:sp>
      <p:sp>
        <p:nvSpPr>
          <p:cNvPr id="8" name="TextBox 7"/>
          <p:cNvSpPr txBox="1"/>
          <p:nvPr/>
        </p:nvSpPr>
        <p:spPr>
          <a:xfrm>
            <a:off x="4160520" y="3502152"/>
            <a:ext cx="2880360" cy="685800"/>
          </a:xfrm>
          <a:prstGeom prst="rect">
            <a:avLst/>
          </a:prstGeom>
          <a:noFill/>
        </p:spPr>
        <p:txBody>
          <a:bodyPr wrap="square">
            <a:spAutoFit/>
          </a:bodyPr>
          <a:lstStyle/>
          <a:p>
            <a:pPr>
              <a:spcAft>
                <a:spcPts val="0"/>
              </a:spcAft>
            </a:pPr>
            <a:r>
              <a:rPr sz="1300" b="0">
                <a:solidFill>
                  <a:srgbClr val="CADCFC"/>
                </a:solidFill>
                <a:latin typeface="Calibri"/>
              </a:rPr>
              <a:t>answer both</a:t>
            </a:r>
          </a:p>
          <a:p>
            <a:pPr>
              <a:spcAft>
                <a:spcPts val="0"/>
              </a:spcAft>
            </a:pPr>
            <a:r>
              <a:rPr sz="1300" b="0">
                <a:solidFill>
                  <a:srgbClr val="CADCFC"/>
                </a:solidFill>
                <a:latin typeface="Calibri"/>
              </a:rPr>
              <a:t>threat models</a:t>
            </a:r>
          </a:p>
        </p:txBody>
      </p:sp>
      <p:sp>
        <p:nvSpPr>
          <p:cNvPr id="9" name="TextBox 8"/>
          <p:cNvSpPr txBox="1"/>
          <p:nvPr/>
        </p:nvSpPr>
        <p:spPr>
          <a:xfrm>
            <a:off x="7635240" y="2697480"/>
            <a:ext cx="3931920" cy="2926080"/>
          </a:xfrm>
          <a:prstGeom prst="rect">
            <a:avLst/>
          </a:prstGeom>
          <a:noFill/>
        </p:spPr>
        <p:txBody>
          <a:bodyPr wrap="square">
            <a:spAutoFit/>
          </a:bodyPr>
          <a:lstStyle/>
          <a:p>
            <a:pPr>
              <a:spcAft>
                <a:spcPts val="400"/>
              </a:spcAft>
            </a:pPr>
            <a:r>
              <a:rPr sz="1500" b="1">
                <a:solidFill>
                  <a:srgbClr val="FFFFFF"/>
                </a:solidFill>
                <a:latin typeface="Calibri"/>
              </a:rPr>
              <a:t>Only 15 of 534 defenses</a:t>
            </a:r>
          </a:p>
          <a:p>
            <a:pPr>
              <a:spcAft>
                <a:spcPts val="400"/>
              </a:spcAft>
            </a:pPr>
            <a:r>
              <a:rPr sz="1500" b="1">
                <a:solidFill>
                  <a:srgbClr val="FFFFFF"/>
                </a:solidFill>
                <a:latin typeface="Calibri"/>
              </a:rPr>
              <a:t>answer both threat models:</a:t>
            </a:r>
          </a:p>
          <a:p>
            <a:pPr>
              <a:spcAft>
                <a:spcPts val="400"/>
              </a:spcAft>
            </a:pPr>
            <a:r>
              <a:rPr sz="1500" b="1">
                <a:solidFill>
                  <a:srgbClr val="FFFFFF"/>
                </a:solidFill>
                <a:latin typeface="Calibri"/>
              </a:rPr>
              <a:t>adversarial corruption and</a:t>
            </a:r>
          </a:p>
          <a:p>
            <a:pPr>
              <a:spcAft>
                <a:spcPts val="400"/>
              </a:spcAft>
            </a:pPr>
            <a:r>
              <a:rPr sz="1500" b="1">
                <a:solidFill>
                  <a:srgbClr val="FFFFFF"/>
                </a:solidFill>
                <a:latin typeface="Calibri"/>
              </a:rPr>
              <a:t>incidental corruption.</a:t>
            </a:r>
          </a:p>
          <a:p>
            <a:pPr>
              <a:spcAft>
                <a:spcPts val="400"/>
              </a:spcAft>
            </a:pPr>
            <a:r>
              <a:rPr sz="1000" b="0">
                <a:solidFill>
                  <a:srgbClr val="CADCFC"/>
                </a:solidFill>
                <a:latin typeface="Calibri"/>
              </a:rPr>
              <a:t/>
            </a:r>
          </a:p>
          <a:p>
            <a:pPr>
              <a:spcAft>
                <a:spcPts val="400"/>
              </a:spcAft>
            </a:pPr>
            <a:r>
              <a:rPr sz="1250" b="0">
                <a:solidFill>
                  <a:srgbClr val="E0A458"/>
                </a:solidFill>
                <a:latin typeface="Calibri"/>
              </a:rPr>
              <a:t>We added 55 defenses. These</a:t>
            </a:r>
          </a:p>
          <a:p>
            <a:pPr>
              <a:spcAft>
                <a:spcPts val="400"/>
              </a:spcAft>
            </a:pPr>
            <a:r>
              <a:rPr sz="1250" b="0">
                <a:solidFill>
                  <a:srgbClr val="E0A458"/>
                </a:solidFill>
                <a:latin typeface="Calibri"/>
              </a:rPr>
              <a:t>include StruQ, SecAlign,</a:t>
            </a:r>
          </a:p>
          <a:p>
            <a:pPr>
              <a:spcAft>
                <a:spcPts val="400"/>
              </a:spcAft>
            </a:pPr>
            <a:r>
              <a:rPr sz="1250" b="0">
                <a:solidFill>
                  <a:srgbClr val="E0A458"/>
                </a:solidFill>
                <a:latin typeface="Calibri"/>
              </a:rPr>
              <a:t>Spotlighting and the</a:t>
            </a:r>
          </a:p>
          <a:p>
            <a:pPr>
              <a:spcAft>
                <a:spcPts val="400"/>
              </a:spcAft>
            </a:pPr>
            <a:r>
              <a:rPr sz="1250" b="0">
                <a:solidFill>
                  <a:srgbClr val="E0A458"/>
                </a:solidFill>
                <a:latin typeface="Calibri"/>
              </a:rPr>
              <a:t>Instruction Hierarchy.</a:t>
            </a:r>
          </a:p>
          <a:p>
            <a:pPr>
              <a:spcAft>
                <a:spcPts val="400"/>
              </a:spcAft>
            </a:pPr>
            <a:r>
              <a:rPr sz="1250" b="0">
                <a:solidFill>
                  <a:srgbClr val="E0A458"/>
                </a:solidFill>
                <a:latin typeface="Calibri"/>
              </a:rPr>
              <a:t>The number did not move.</a:t>
            </a:r>
          </a:p>
          <a:p>
            <a:pPr>
              <a:spcAft>
                <a:spcPts val="400"/>
              </a:spcAft>
            </a:pPr>
            <a:r>
              <a:rPr sz="800" b="0">
                <a:solidFill>
                  <a:srgbClr val="CADCFC"/>
                </a:solidFill>
                <a:latin typeface="Calibri"/>
              </a:rPr>
              <a:t/>
            </a:r>
          </a:p>
          <a:p>
            <a:pPr>
              <a:spcAft>
                <a:spcPts val="400"/>
              </a:spcAft>
            </a:pPr>
            <a:r>
              <a:rPr sz="1300" b="1">
                <a:solidFill>
                  <a:srgbClr val="FFFFFF"/>
                </a:solidFill>
                <a:latin typeface="Calibri"/>
              </a:rPr>
              <a:t>2.9% → 2.8%.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RQ5  ·  COVERAGE MATRIX</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Which defenses were ever tested</a:t>
            </a:r>
          </a:p>
          <a:p>
            <a:pPr>
              <a:spcAft>
                <a:spcPts val="200"/>
              </a:spcAft>
            </a:pPr>
            <a:r>
              <a:rPr sz="3000" b="1">
                <a:solidFill>
                  <a:srgbClr val="FFFFFF"/>
                </a:solidFill>
                <a:latin typeface="Cambria"/>
              </a:rPr>
              <a:t>against which attacks?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16</a:t>
            </a:r>
          </a:p>
        </p:txBody>
      </p:sp>
      <p:sp>
        <p:nvSpPr>
          <p:cNvPr id="5" name="TextBox 4"/>
          <p:cNvSpPr txBox="1"/>
          <p:nvPr/>
        </p:nvSpPr>
        <p:spPr>
          <a:xfrm>
            <a:off x="868680" y="2834639"/>
            <a:ext cx="2788920" cy="868680"/>
          </a:xfrm>
          <a:prstGeom prst="rect">
            <a:avLst/>
          </a:prstGeom>
          <a:noFill/>
        </p:spPr>
        <p:txBody>
          <a:bodyPr wrap="square">
            <a:spAutoFit/>
          </a:bodyPr>
          <a:lstStyle/>
          <a:p>
            <a:r>
              <a:rPr sz="5000" b="1">
                <a:solidFill>
                  <a:srgbClr val="E0A458"/>
                </a:solidFill>
                <a:latin typeface="Cambria"/>
              </a:rPr>
              <a:t>40%</a:t>
            </a:r>
          </a:p>
        </p:txBody>
      </p:sp>
      <p:sp>
        <p:nvSpPr>
          <p:cNvPr id="6" name="TextBox 5"/>
          <p:cNvSpPr txBox="1"/>
          <p:nvPr/>
        </p:nvSpPr>
        <p:spPr>
          <a:xfrm>
            <a:off x="868680" y="3730752"/>
            <a:ext cx="2788920" cy="685800"/>
          </a:xfrm>
          <a:prstGeom prst="rect">
            <a:avLst/>
          </a:prstGeom>
          <a:noFill/>
        </p:spPr>
        <p:txBody>
          <a:bodyPr wrap="square">
            <a:spAutoFit/>
          </a:bodyPr>
          <a:lstStyle/>
          <a:p>
            <a:pPr>
              <a:spcAft>
                <a:spcPts val="0"/>
              </a:spcAft>
            </a:pPr>
            <a:r>
              <a:rPr sz="1300" b="0">
                <a:solidFill>
                  <a:srgbClr val="CADCFC"/>
                </a:solidFill>
                <a:latin typeface="Calibri"/>
              </a:rPr>
              <a:t>of defenses have</a:t>
            </a:r>
          </a:p>
          <a:p>
            <a:pPr>
              <a:spcAft>
                <a:spcPts val="0"/>
              </a:spcAft>
            </a:pPr>
            <a:r>
              <a:rPr sz="1300" b="0">
                <a:solidFill>
                  <a:srgbClr val="CADCFC"/>
                </a:solidFill>
                <a:latin typeface="Calibri"/>
              </a:rPr>
              <a:t>one test or more</a:t>
            </a:r>
          </a:p>
        </p:txBody>
      </p:sp>
      <p:sp>
        <p:nvSpPr>
          <p:cNvPr id="7" name="TextBox 6"/>
          <p:cNvSpPr txBox="1"/>
          <p:nvPr/>
        </p:nvSpPr>
        <p:spPr>
          <a:xfrm>
            <a:off x="4069080" y="2834639"/>
            <a:ext cx="2788920" cy="868680"/>
          </a:xfrm>
          <a:prstGeom prst="rect">
            <a:avLst/>
          </a:prstGeom>
          <a:noFill/>
        </p:spPr>
        <p:txBody>
          <a:bodyPr wrap="square">
            <a:spAutoFit/>
          </a:bodyPr>
          <a:lstStyle/>
          <a:p>
            <a:r>
              <a:rPr sz="5000" b="1">
                <a:solidFill>
                  <a:srgbClr val="B54A3F"/>
                </a:solidFill>
                <a:latin typeface="Cambria"/>
              </a:rPr>
              <a:t>119</a:t>
            </a:r>
          </a:p>
        </p:txBody>
      </p:sp>
      <p:sp>
        <p:nvSpPr>
          <p:cNvPr id="8" name="TextBox 7"/>
          <p:cNvSpPr txBox="1"/>
          <p:nvPr/>
        </p:nvSpPr>
        <p:spPr>
          <a:xfrm>
            <a:off x="4069080" y="3730752"/>
            <a:ext cx="2788920" cy="685800"/>
          </a:xfrm>
          <a:prstGeom prst="rect">
            <a:avLst/>
          </a:prstGeom>
          <a:noFill/>
        </p:spPr>
        <p:txBody>
          <a:bodyPr wrap="square">
            <a:spAutoFit/>
          </a:bodyPr>
          <a:lstStyle/>
          <a:p>
            <a:pPr>
              <a:spcAft>
                <a:spcPts val="0"/>
              </a:spcAft>
            </a:pPr>
            <a:r>
              <a:rPr sz="1300" b="0">
                <a:solidFill>
                  <a:srgbClr val="CADCFC"/>
                </a:solidFill>
                <a:latin typeface="Calibri"/>
              </a:rPr>
              <a:t>mechanisms never</a:t>
            </a:r>
          </a:p>
          <a:p>
            <a:pPr>
              <a:spcAft>
                <a:spcPts val="0"/>
              </a:spcAft>
            </a:pPr>
            <a:r>
              <a:rPr sz="1300" b="0">
                <a:solidFill>
                  <a:srgbClr val="CADCFC"/>
                </a:solidFill>
                <a:latin typeface="Calibri"/>
              </a:rPr>
              <a:t>defended</a:t>
            </a:r>
          </a:p>
        </p:txBody>
      </p:sp>
      <p:sp>
        <p:nvSpPr>
          <p:cNvPr id="9" name="TextBox 8"/>
          <p:cNvSpPr txBox="1"/>
          <p:nvPr/>
        </p:nvSpPr>
        <p:spPr>
          <a:xfrm>
            <a:off x="7498079" y="2880360"/>
            <a:ext cx="4023360" cy="2926080"/>
          </a:xfrm>
          <a:prstGeom prst="rect">
            <a:avLst/>
          </a:prstGeom>
          <a:noFill/>
        </p:spPr>
        <p:txBody>
          <a:bodyPr wrap="square">
            <a:spAutoFit/>
          </a:bodyPr>
          <a:lstStyle/>
          <a:p>
            <a:pPr>
              <a:spcAft>
                <a:spcPts val="400"/>
              </a:spcAft>
            </a:pPr>
            <a:r>
              <a:rPr sz="1700" b="1">
                <a:solidFill>
                  <a:srgbClr val="FFFFFF"/>
                </a:solidFill>
                <a:latin typeface="Calibri"/>
              </a:rPr>
              <a:t>349 confirmed pairs</a:t>
            </a:r>
          </a:p>
          <a:p>
            <a:pPr>
              <a:spcAft>
                <a:spcPts val="400"/>
              </a:spcAft>
            </a:pPr>
            <a:r>
              <a:rPr sz="1250" b="0">
                <a:solidFill>
                  <a:srgbClr val="CADCFC"/>
                </a:solidFill>
                <a:latin typeface="Calibri"/>
              </a:rPr>
              <a:t>213 of 534 defenses matched</a:t>
            </a:r>
          </a:p>
          <a:p>
            <a:pPr>
              <a:spcAft>
                <a:spcPts val="400"/>
              </a:spcAft>
            </a:pPr>
            <a:r>
              <a:rPr sz="1250" b="0">
                <a:solidFill>
                  <a:srgbClr val="CADCFC"/>
                </a:solidFill>
                <a:latin typeface="Calibri"/>
              </a:rPr>
              <a:t>118 of 237 mechanisms covered</a:t>
            </a:r>
          </a:p>
          <a:p>
            <a:pPr>
              <a:spcAft>
                <a:spcPts val="400"/>
              </a:spcAft>
            </a:pPr>
            <a:r>
              <a:rPr sz="1000" b="0">
                <a:solidFill>
                  <a:srgbClr val="CADCFC"/>
                </a:solidFill>
                <a:latin typeface="Calibri"/>
              </a:rPr>
              <a:t/>
            </a:r>
          </a:p>
          <a:p>
            <a:pPr>
              <a:spcAft>
                <a:spcPts val="400"/>
              </a:spcAft>
            </a:pPr>
            <a:r>
              <a:rPr sz="1250" b="0">
                <a:solidFill>
                  <a:srgbClr val="CFE8EF"/>
                </a:solidFill>
                <a:latin typeface="Calibri"/>
              </a:rPr>
              <a:t>163 of them have one test only.</a:t>
            </a:r>
          </a:p>
          <a:p>
            <a:pPr>
              <a:spcAft>
                <a:spcPts val="400"/>
              </a:spcAft>
            </a:pPr>
            <a:r>
              <a:rPr sz="800" b="0">
                <a:solidFill>
                  <a:srgbClr val="CADCFC"/>
                </a:solidFill>
                <a:latin typeface="Calibri"/>
              </a:rPr>
              <a:t/>
            </a:r>
          </a:p>
          <a:p>
            <a:pPr>
              <a:spcAft>
                <a:spcPts val="400"/>
              </a:spcAft>
            </a:pPr>
            <a:r>
              <a:rPr sz="1300" b="1">
                <a:solidFill>
                  <a:srgbClr val="E0A458"/>
                </a:solidFill>
                <a:latin typeface="Calibri"/>
              </a:rPr>
              <a:t>There are almost no</a:t>
            </a:r>
          </a:p>
          <a:p>
            <a:pPr>
              <a:spcAft>
                <a:spcPts val="400"/>
              </a:spcAft>
            </a:pPr>
            <a:r>
              <a:rPr sz="1300" b="1">
                <a:solidFill>
                  <a:srgbClr val="E0A458"/>
                </a:solidFill>
                <a:latin typeface="Calibri"/>
              </a:rPr>
              <a:t>general defenses.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RQ5  ·  COVERAGE MATRIX</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600" b="1">
                <a:solidFill>
                  <a:srgbClr val="FFFFFF"/>
                </a:solidFill>
                <a:latin typeface="Cambria"/>
              </a:rPr>
              <a:t>Testing effort concentrates on a handful of targets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17</a:t>
            </a:r>
          </a:p>
        </p:txBody>
      </p:sp>
      <p:sp>
        <p:nvSpPr>
          <p:cNvPr id="5" name="TextBox 4"/>
          <p:cNvSpPr txBox="1"/>
          <p:nvPr/>
        </p:nvSpPr>
        <p:spPr>
          <a:xfrm>
            <a:off x="640080" y="2478024"/>
            <a:ext cx="4434840" cy="274320"/>
          </a:xfrm>
          <a:prstGeom prst="rect">
            <a:avLst/>
          </a:prstGeom>
          <a:noFill/>
        </p:spPr>
        <p:txBody>
          <a:bodyPr wrap="square">
            <a:spAutoFit/>
          </a:bodyPr>
          <a:lstStyle/>
          <a:p>
            <a:r>
              <a:rPr sz="1200" b="0">
                <a:solidFill>
                  <a:srgbClr val="CADCFC"/>
                </a:solidFill>
                <a:latin typeface="Calibri"/>
              </a:rPr>
              <a:t>Indirect Prompt Injection (IPI)</a:t>
            </a:r>
          </a:p>
        </p:txBody>
      </p:sp>
      <p:sp>
        <p:nvSpPr>
          <p:cNvPr id="6" name="Rectangle 5"/>
          <p:cNvSpPr/>
          <p:nvPr/>
        </p:nvSpPr>
        <p:spPr>
          <a:xfrm>
            <a:off x="5074920" y="2514600"/>
            <a:ext cx="55321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74920" y="2514600"/>
            <a:ext cx="5532120" cy="201168"/>
          </a:xfrm>
          <a:prstGeom prst="rect">
            <a:avLst/>
          </a:prstGeom>
          <a:solidFill>
            <a:srgbClr val="E0A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80192" y="2478024"/>
            <a:ext cx="914400" cy="274320"/>
          </a:xfrm>
          <a:prstGeom prst="rect">
            <a:avLst/>
          </a:prstGeom>
          <a:noFill/>
        </p:spPr>
        <p:txBody>
          <a:bodyPr wrap="square">
            <a:spAutoFit/>
          </a:bodyPr>
          <a:lstStyle/>
          <a:p>
            <a:r>
              <a:rPr sz="1200" b="1">
                <a:solidFill>
                  <a:srgbClr val="FFFFFF"/>
                </a:solidFill>
                <a:latin typeface="Calibri"/>
              </a:rPr>
              <a:t>76</a:t>
            </a:r>
          </a:p>
        </p:txBody>
      </p:sp>
      <p:sp>
        <p:nvSpPr>
          <p:cNvPr id="9" name="TextBox 8"/>
          <p:cNvSpPr txBox="1"/>
          <p:nvPr/>
        </p:nvSpPr>
        <p:spPr>
          <a:xfrm>
            <a:off x="640080" y="2980944"/>
            <a:ext cx="4434840" cy="274320"/>
          </a:xfrm>
          <a:prstGeom prst="rect">
            <a:avLst/>
          </a:prstGeom>
          <a:noFill/>
        </p:spPr>
        <p:txBody>
          <a:bodyPr wrap="square">
            <a:spAutoFit/>
          </a:bodyPr>
          <a:lstStyle/>
          <a:p>
            <a:r>
              <a:rPr sz="1200" b="0">
                <a:solidFill>
                  <a:srgbClr val="CADCFC"/>
                </a:solidFill>
                <a:latin typeface="Calibri"/>
              </a:rPr>
              <a:t>AgentDojo: important-instructions injection</a:t>
            </a:r>
          </a:p>
        </p:txBody>
      </p:sp>
      <p:sp>
        <p:nvSpPr>
          <p:cNvPr id="10" name="Rectangle 9"/>
          <p:cNvSpPr/>
          <p:nvPr/>
        </p:nvSpPr>
        <p:spPr>
          <a:xfrm>
            <a:off x="5074920" y="3017520"/>
            <a:ext cx="55321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74920" y="3017520"/>
            <a:ext cx="1091865"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80192" y="2980944"/>
            <a:ext cx="914400" cy="274320"/>
          </a:xfrm>
          <a:prstGeom prst="rect">
            <a:avLst/>
          </a:prstGeom>
          <a:noFill/>
        </p:spPr>
        <p:txBody>
          <a:bodyPr wrap="square">
            <a:spAutoFit/>
          </a:bodyPr>
          <a:lstStyle/>
          <a:p>
            <a:r>
              <a:rPr sz="1200" b="1">
                <a:solidFill>
                  <a:srgbClr val="FFFFFF"/>
                </a:solidFill>
                <a:latin typeface="Calibri"/>
              </a:rPr>
              <a:t>15</a:t>
            </a:r>
          </a:p>
        </p:txBody>
      </p:sp>
      <p:sp>
        <p:nvSpPr>
          <p:cNvPr id="13" name="TextBox 12"/>
          <p:cNvSpPr txBox="1"/>
          <p:nvPr/>
        </p:nvSpPr>
        <p:spPr>
          <a:xfrm>
            <a:off x="640080" y="3483864"/>
            <a:ext cx="4434840" cy="274320"/>
          </a:xfrm>
          <a:prstGeom prst="rect">
            <a:avLst/>
          </a:prstGeom>
          <a:noFill/>
        </p:spPr>
        <p:txBody>
          <a:bodyPr wrap="square">
            <a:spAutoFit/>
          </a:bodyPr>
          <a:lstStyle/>
          <a:p>
            <a:r>
              <a:rPr sz="1200" b="0">
                <a:solidFill>
                  <a:srgbClr val="CADCFC"/>
                </a:solidFill>
                <a:latin typeface="Calibri"/>
              </a:rPr>
              <a:t>lost in the middle</a:t>
            </a:r>
          </a:p>
        </p:txBody>
      </p:sp>
      <p:sp>
        <p:nvSpPr>
          <p:cNvPr id="14" name="Rectangle 13"/>
          <p:cNvSpPr/>
          <p:nvPr/>
        </p:nvSpPr>
        <p:spPr>
          <a:xfrm>
            <a:off x="5074920" y="3520440"/>
            <a:ext cx="55321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74920" y="3520440"/>
            <a:ext cx="946283"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80192" y="3483864"/>
            <a:ext cx="914400" cy="274320"/>
          </a:xfrm>
          <a:prstGeom prst="rect">
            <a:avLst/>
          </a:prstGeom>
          <a:noFill/>
        </p:spPr>
        <p:txBody>
          <a:bodyPr wrap="square">
            <a:spAutoFit/>
          </a:bodyPr>
          <a:lstStyle/>
          <a:p>
            <a:r>
              <a:rPr sz="1200" b="1">
                <a:solidFill>
                  <a:srgbClr val="FFFFFF"/>
                </a:solidFill>
                <a:latin typeface="Calibri"/>
              </a:rPr>
              <a:t>13</a:t>
            </a:r>
          </a:p>
        </p:txBody>
      </p:sp>
      <p:sp>
        <p:nvSpPr>
          <p:cNvPr id="17" name="TextBox 16"/>
          <p:cNvSpPr txBox="1"/>
          <p:nvPr/>
        </p:nvSpPr>
        <p:spPr>
          <a:xfrm>
            <a:off x="640080" y="3986784"/>
            <a:ext cx="4434840" cy="274320"/>
          </a:xfrm>
          <a:prstGeom prst="rect">
            <a:avLst/>
          </a:prstGeom>
          <a:noFill/>
        </p:spPr>
        <p:txBody>
          <a:bodyPr wrap="square">
            <a:spAutoFit/>
          </a:bodyPr>
          <a:lstStyle/>
          <a:p>
            <a:r>
              <a:rPr sz="1200" b="0">
                <a:solidFill>
                  <a:srgbClr val="CADCFC"/>
                </a:solidFill>
                <a:latin typeface="Calibri"/>
              </a:rPr>
              <a:t>Combined Attack (Open-Prompt-Injection)</a:t>
            </a:r>
          </a:p>
        </p:txBody>
      </p:sp>
      <p:sp>
        <p:nvSpPr>
          <p:cNvPr id="18" name="Rectangle 17"/>
          <p:cNvSpPr/>
          <p:nvPr/>
        </p:nvSpPr>
        <p:spPr>
          <a:xfrm>
            <a:off x="5074920" y="4023360"/>
            <a:ext cx="55321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74920" y="4023360"/>
            <a:ext cx="946283"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80192" y="3986784"/>
            <a:ext cx="914400" cy="274320"/>
          </a:xfrm>
          <a:prstGeom prst="rect">
            <a:avLst/>
          </a:prstGeom>
          <a:noFill/>
        </p:spPr>
        <p:txBody>
          <a:bodyPr wrap="square">
            <a:spAutoFit/>
          </a:bodyPr>
          <a:lstStyle/>
          <a:p>
            <a:r>
              <a:rPr sz="1200" b="1">
                <a:solidFill>
                  <a:srgbClr val="FFFFFF"/>
                </a:solidFill>
                <a:latin typeface="Calibri"/>
              </a:rPr>
              <a:t>13</a:t>
            </a:r>
          </a:p>
        </p:txBody>
      </p:sp>
      <p:sp>
        <p:nvSpPr>
          <p:cNvPr id="21" name="TextBox 20"/>
          <p:cNvSpPr txBox="1"/>
          <p:nvPr/>
        </p:nvSpPr>
        <p:spPr>
          <a:xfrm>
            <a:off x="640080" y="4489704"/>
            <a:ext cx="4434840" cy="274320"/>
          </a:xfrm>
          <a:prstGeom prst="rect">
            <a:avLst/>
          </a:prstGeom>
          <a:noFill/>
        </p:spPr>
        <p:txBody>
          <a:bodyPr wrap="square">
            <a:spAutoFit/>
          </a:bodyPr>
          <a:lstStyle/>
          <a:p>
            <a:r>
              <a:rPr sz="1200" b="0">
                <a:solidFill>
                  <a:srgbClr val="CADCFC"/>
                </a:solidFill>
                <a:latin typeface="Calibri"/>
              </a:rPr>
              <a:t>BIPIA benchmark attack set</a:t>
            </a:r>
          </a:p>
        </p:txBody>
      </p:sp>
      <p:sp>
        <p:nvSpPr>
          <p:cNvPr id="22" name="Rectangle 21"/>
          <p:cNvSpPr/>
          <p:nvPr/>
        </p:nvSpPr>
        <p:spPr>
          <a:xfrm>
            <a:off x="5074920" y="4526280"/>
            <a:ext cx="55321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74920" y="4526280"/>
            <a:ext cx="946283"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80192" y="4489704"/>
            <a:ext cx="914400" cy="274320"/>
          </a:xfrm>
          <a:prstGeom prst="rect">
            <a:avLst/>
          </a:prstGeom>
          <a:noFill/>
        </p:spPr>
        <p:txBody>
          <a:bodyPr wrap="square">
            <a:spAutoFit/>
          </a:bodyPr>
          <a:lstStyle/>
          <a:p>
            <a:r>
              <a:rPr sz="1200" b="1">
                <a:solidFill>
                  <a:srgbClr val="FFFFFF"/>
                </a:solidFill>
                <a:latin typeface="Calibri"/>
              </a:rPr>
              <a:t>13</a:t>
            </a:r>
          </a:p>
        </p:txBody>
      </p:sp>
      <p:sp>
        <p:nvSpPr>
          <p:cNvPr id="25" name="TextBox 24"/>
          <p:cNvSpPr txBox="1"/>
          <p:nvPr/>
        </p:nvSpPr>
        <p:spPr>
          <a:xfrm>
            <a:off x="640080" y="4992624"/>
            <a:ext cx="4434840" cy="274320"/>
          </a:xfrm>
          <a:prstGeom prst="rect">
            <a:avLst/>
          </a:prstGeom>
          <a:noFill/>
        </p:spPr>
        <p:txBody>
          <a:bodyPr wrap="square">
            <a:spAutoFit/>
          </a:bodyPr>
          <a:lstStyle/>
          <a:p>
            <a:r>
              <a:rPr sz="1200" b="0">
                <a:solidFill>
                  <a:srgbClr val="CADCFC"/>
                </a:solidFill>
                <a:latin typeface="Calibri"/>
              </a:rPr>
              <a:t>AgentDojo: ignore-previous injection</a:t>
            </a:r>
          </a:p>
        </p:txBody>
      </p:sp>
      <p:sp>
        <p:nvSpPr>
          <p:cNvPr id="26" name="Rectangle 25"/>
          <p:cNvSpPr/>
          <p:nvPr/>
        </p:nvSpPr>
        <p:spPr>
          <a:xfrm>
            <a:off x="5074920" y="5029200"/>
            <a:ext cx="5532120" cy="20116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74920" y="5029200"/>
            <a:ext cx="946283" cy="20116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80192" y="4992624"/>
            <a:ext cx="914400" cy="274320"/>
          </a:xfrm>
          <a:prstGeom prst="rect">
            <a:avLst/>
          </a:prstGeom>
          <a:noFill/>
        </p:spPr>
        <p:txBody>
          <a:bodyPr wrap="square">
            <a:spAutoFit/>
          </a:bodyPr>
          <a:lstStyle/>
          <a:p>
            <a:r>
              <a:rPr sz="1200" b="1">
                <a:solidFill>
                  <a:srgbClr val="FFFFFF"/>
                </a:solidFill>
                <a:latin typeface="Calibri"/>
              </a:rPr>
              <a:t>13</a:t>
            </a:r>
          </a:p>
        </p:txBody>
      </p:sp>
      <p:sp>
        <p:nvSpPr>
          <p:cNvPr id="29" name="TextBox 28"/>
          <p:cNvSpPr txBox="1"/>
          <p:nvPr/>
        </p:nvSpPr>
        <p:spPr>
          <a:xfrm>
            <a:off x="640080" y="5715000"/>
            <a:ext cx="10881360" cy="822960"/>
          </a:xfrm>
          <a:prstGeom prst="rect">
            <a:avLst/>
          </a:prstGeom>
          <a:noFill/>
        </p:spPr>
        <p:txBody>
          <a:bodyPr wrap="square">
            <a:spAutoFit/>
          </a:bodyPr>
          <a:lstStyle/>
          <a:p>
            <a:pPr>
              <a:spcAft>
                <a:spcPts val="400"/>
              </a:spcAft>
            </a:pPr>
            <a:r>
              <a:rPr sz="1400" b="1">
                <a:solidFill>
                  <a:srgbClr val="FFFFFF"/>
                </a:solidFill>
                <a:latin typeface="Calibri"/>
              </a:rPr>
              <a:t>One mechanism takes 22.9% of all pairs. These six take 43.1%.</a:t>
            </a:r>
          </a:p>
          <a:p>
            <a:pPr>
              <a:spcAft>
                <a:spcPts val="400"/>
              </a:spcAft>
            </a:pPr>
            <a:r>
              <a:rPr sz="1250" b="0">
                <a:solidFill>
                  <a:srgbClr val="CFE8EF"/>
                </a:solidFill>
                <a:latin typeface="Calibri"/>
              </a:rPr>
              <a:t>The other 119 mechanisms get no test at all.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RQ5  ·  THE TEST THAT FAILED</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We predicted the gap would close.</a:t>
            </a:r>
          </a:p>
          <a:p>
            <a:pPr>
              <a:spcAft>
                <a:spcPts val="200"/>
              </a:spcAft>
            </a:pPr>
            <a:r>
              <a:rPr sz="2800" b="1">
                <a:solidFill>
                  <a:srgbClr val="FFFFFF"/>
                </a:solidFill>
                <a:latin typeface="Cambria"/>
              </a:rPr>
              <a:t>It did not — and that is the result.</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18</a:t>
            </a:r>
          </a:p>
        </p:txBody>
      </p:sp>
      <p:sp>
        <p:nvSpPr>
          <p:cNvPr id="5" name="Rectangle 4"/>
          <p:cNvSpPr/>
          <p:nvPr/>
        </p:nvSpPr>
        <p:spPr>
          <a:xfrm>
            <a:off x="640080" y="2697480"/>
            <a:ext cx="5257800" cy="28803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926080"/>
            <a:ext cx="4754880" cy="2468880"/>
          </a:xfrm>
          <a:prstGeom prst="rect">
            <a:avLst/>
          </a:prstGeom>
          <a:noFill/>
        </p:spPr>
        <p:txBody>
          <a:bodyPr wrap="square">
            <a:spAutoFit/>
          </a:bodyPr>
          <a:lstStyle/>
          <a:p>
            <a:pPr>
              <a:spcAft>
                <a:spcPts val="400"/>
              </a:spcAft>
            </a:pPr>
            <a:r>
              <a:rPr sz="1500" b="1">
                <a:solidFill>
                  <a:srgbClr val="E0A458"/>
                </a:solidFill>
                <a:latin typeface="Calibri"/>
              </a:rPr>
              <a:t>The prediction</a:t>
            </a:r>
          </a:p>
          <a:p>
            <a:pPr>
              <a:spcAft>
                <a:spcPts val="400"/>
              </a:spcAft>
            </a:pPr>
            <a:r>
              <a:rPr sz="600" b="0">
                <a:solidFill>
                  <a:srgbClr val="CADCFC"/>
                </a:solidFill>
                <a:latin typeface="Calibri"/>
              </a:rPr>
              <a:t/>
            </a:r>
          </a:p>
          <a:p>
            <a:pPr>
              <a:spcAft>
                <a:spcPts val="400"/>
              </a:spcAft>
            </a:pPr>
            <a:r>
              <a:rPr sz="1250" b="0">
                <a:solidFill>
                  <a:srgbClr val="CADCFC"/>
                </a:solidFill>
                <a:latin typeface="Calibri"/>
              </a:rPr>
              <a:t>We predicted this. The first</a:t>
            </a:r>
          </a:p>
          <a:p>
            <a:pPr>
              <a:spcAft>
                <a:spcPts val="400"/>
              </a:spcAft>
            </a:pPr>
            <a:r>
              <a:rPr sz="1250" b="0">
                <a:solidFill>
                  <a:srgbClr val="CADCFC"/>
                </a:solidFill>
                <a:latin typeface="Calibri"/>
              </a:rPr>
              <a:t>defenses of the field will cover the</a:t>
            </a:r>
          </a:p>
          <a:p>
            <a:pPr>
              <a:spcAft>
                <a:spcPts val="400"/>
              </a:spcAft>
            </a:pPr>
            <a:r>
              <a:rPr sz="1250" b="0">
                <a:solidFill>
                  <a:srgbClr val="CADCFC"/>
                </a:solidFill>
                <a:latin typeface="Calibri"/>
              </a:rPr>
              <a:t>mechanisms that look open. StruQ,</a:t>
            </a:r>
          </a:p>
          <a:p>
            <a:pPr>
              <a:spcAft>
                <a:spcPts val="400"/>
              </a:spcAft>
            </a:pPr>
            <a:r>
              <a:rPr sz="1250" b="0">
                <a:solidFill>
                  <a:srgbClr val="CADCFC"/>
                </a:solidFill>
                <a:latin typeface="Calibri"/>
              </a:rPr>
              <a:t>SecAlign, Spotlighting, Attention</a:t>
            </a:r>
          </a:p>
          <a:p>
            <a:pPr>
              <a:spcAft>
                <a:spcPts val="400"/>
              </a:spcAft>
            </a:pPr>
            <a:r>
              <a:rPr sz="1250" b="0">
                <a:solidFill>
                  <a:srgbClr val="CADCFC"/>
                </a:solidFill>
                <a:latin typeface="Calibri"/>
              </a:rPr>
              <a:t>Tracker and the Liu baselines will</a:t>
            </a:r>
          </a:p>
          <a:p>
            <a:pPr>
              <a:spcAft>
                <a:spcPts val="400"/>
              </a:spcAft>
            </a:pPr>
            <a:r>
              <a:rPr sz="1250" b="0">
                <a:solidFill>
                  <a:srgbClr val="CADCFC"/>
                </a:solidFill>
                <a:latin typeface="Calibri"/>
              </a:rPr>
              <a:t>close the gap.</a:t>
            </a:r>
          </a:p>
        </p:txBody>
      </p:sp>
      <p:sp>
        <p:nvSpPr>
          <p:cNvPr id="7" name="Rectangle 6"/>
          <p:cNvSpPr/>
          <p:nvPr/>
        </p:nvSpPr>
        <p:spPr>
          <a:xfrm>
            <a:off x="6263640" y="2697480"/>
            <a:ext cx="5257800" cy="28803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2926080"/>
            <a:ext cx="4754880" cy="2468880"/>
          </a:xfrm>
          <a:prstGeom prst="rect">
            <a:avLst/>
          </a:prstGeom>
          <a:noFill/>
        </p:spPr>
        <p:txBody>
          <a:bodyPr wrap="square">
            <a:spAutoFit/>
          </a:bodyPr>
          <a:lstStyle/>
          <a:p>
            <a:pPr>
              <a:spcAft>
                <a:spcPts val="400"/>
              </a:spcAft>
            </a:pPr>
            <a:r>
              <a:rPr sz="1500" b="1">
                <a:solidFill>
                  <a:srgbClr val="B54A3F"/>
                </a:solidFill>
                <a:latin typeface="Calibri"/>
              </a:rPr>
              <a:t>What happened</a:t>
            </a:r>
          </a:p>
          <a:p>
            <a:pPr>
              <a:spcAft>
                <a:spcPts val="400"/>
              </a:spcAft>
            </a:pPr>
            <a:r>
              <a:rPr sz="600" b="0">
                <a:solidFill>
                  <a:srgbClr val="CADCFC"/>
                </a:solidFill>
                <a:latin typeface="Calibri"/>
              </a:rPr>
              <a:t/>
            </a:r>
          </a:p>
          <a:p>
            <a:pPr>
              <a:spcAft>
                <a:spcPts val="400"/>
              </a:spcAft>
            </a:pPr>
            <a:r>
              <a:rPr sz="1250" b="0">
                <a:solidFill>
                  <a:srgbClr val="CADCFC"/>
                </a:solidFill>
                <a:latin typeface="Calibri"/>
              </a:rPr>
              <a:t>We added 164 papers. We added 55</a:t>
            </a:r>
          </a:p>
          <a:p>
            <a:pPr>
              <a:spcAft>
                <a:spcPts val="400"/>
              </a:spcAft>
            </a:pPr>
            <a:r>
              <a:rPr sz="1250" b="0">
                <a:solidFill>
                  <a:srgbClr val="CADCFC"/>
                </a:solidFill>
                <a:latin typeface="Calibri"/>
              </a:rPr>
              <a:t>defenses and 41 mechanisms. We got</a:t>
            </a:r>
          </a:p>
          <a:p>
            <a:pPr>
              <a:spcAft>
                <a:spcPts val="400"/>
              </a:spcAft>
            </a:pPr>
            <a:r>
              <a:rPr sz="1250" b="0">
                <a:solidFill>
                  <a:srgbClr val="CADCFC"/>
                </a:solidFill>
                <a:latin typeface="Calibri"/>
              </a:rPr>
              <a:t>45 new pairs.</a:t>
            </a:r>
          </a:p>
          <a:p>
            <a:pPr>
              <a:spcAft>
                <a:spcPts val="400"/>
              </a:spcAft>
            </a:pPr>
            <a:r>
              <a:rPr sz="600" b="0">
                <a:solidFill>
                  <a:srgbClr val="CADCFC"/>
                </a:solidFill>
                <a:latin typeface="Calibri"/>
              </a:rPr>
              <a:t/>
            </a:r>
          </a:p>
          <a:p>
            <a:pPr>
              <a:spcAft>
                <a:spcPts val="400"/>
              </a:spcAft>
            </a:pPr>
            <a:r>
              <a:rPr sz="1250" b="1">
                <a:solidFill>
                  <a:srgbClr val="FFFFFF"/>
                </a:solidFill>
                <a:latin typeface="Calibri"/>
              </a:rPr>
              <a:t>Old mechanisms now covered:</a:t>
            </a:r>
          </a:p>
          <a:p>
            <a:pPr>
              <a:spcAft>
                <a:spcPts val="400"/>
              </a:spcAft>
            </a:pPr>
            <a:r>
              <a:rPr sz="2600" b="1">
                <a:solidFill>
                  <a:srgbClr val="B54A3F"/>
                </a:solidFill>
                <a:latin typeface="Calibri"/>
              </a:rPr>
              <a:t>zero.</a:t>
            </a:r>
          </a:p>
          <a:p>
            <a:pPr>
              <a:spcAft>
                <a:spcPts val="400"/>
              </a:spcAft>
            </a:pPr>
            <a:r>
              <a:rPr sz="1250" b="0">
                <a:solidFill>
                  <a:srgbClr val="CFE8EF"/>
                </a:solidFill>
                <a:latin typeface="Calibri"/>
              </a:rPr>
              <a:t>The first 196 mechanisms did not move.</a:t>
            </a:r>
          </a:p>
        </p:txBody>
      </p:sp>
      <p:sp>
        <p:nvSpPr>
          <p:cNvPr id="9" name="TextBox 8"/>
          <p:cNvSpPr txBox="1"/>
          <p:nvPr/>
        </p:nvSpPr>
        <p:spPr>
          <a:xfrm>
            <a:off x="640080" y="5806440"/>
            <a:ext cx="10881360" cy="822960"/>
          </a:xfrm>
          <a:prstGeom prst="rect">
            <a:avLst/>
          </a:prstGeom>
          <a:noFill/>
        </p:spPr>
        <p:txBody>
          <a:bodyPr wrap="square">
            <a:spAutoFit/>
          </a:bodyPr>
          <a:lstStyle/>
          <a:p>
            <a:pPr>
              <a:spcAft>
                <a:spcPts val="400"/>
              </a:spcAft>
            </a:pPr>
            <a:r>
              <a:rPr sz="1400" b="1">
                <a:solidFill>
                  <a:srgbClr val="FFFFFF"/>
                </a:solidFill>
                <a:latin typeface="Calibri"/>
              </a:rPr>
              <a:t>The new defenses and the new attacks cover each other. They cover nothing else.</a:t>
            </a:r>
          </a:p>
          <a:p>
            <a:pPr>
              <a:spcAft>
                <a:spcPts val="400"/>
              </a:spcAft>
            </a:pPr>
            <a:r>
              <a:rPr sz="1250" b="0">
                <a:solidFill>
                  <a:srgbClr val="E0A458"/>
                </a:solidFill>
                <a:latin typeface="Calibri"/>
              </a:rPr>
              <a:t>A reviewer can say that our corpus limits make the gap. We tested that claim. It is not correct.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RQ6  ·  DEFENSE GENERALIZATION</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Does a defense built for one threat model</a:t>
            </a:r>
          </a:p>
          <a:p>
            <a:pPr>
              <a:spcAft>
                <a:spcPts val="200"/>
              </a:spcAft>
            </a:pPr>
            <a:r>
              <a:rPr sz="2800" b="1">
                <a:solidFill>
                  <a:srgbClr val="FFFFFF"/>
                </a:solidFill>
                <a:latin typeface="Cambria"/>
              </a:rPr>
              <a:t>hold against the other?</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19</a:t>
            </a:r>
          </a:p>
        </p:txBody>
      </p:sp>
      <p:sp>
        <p:nvSpPr>
          <p:cNvPr id="5" name="Rectangle 4"/>
          <p:cNvSpPr/>
          <p:nvPr/>
        </p:nvSpPr>
        <p:spPr>
          <a:xfrm>
            <a:off x="640080" y="2606040"/>
            <a:ext cx="3520440" cy="22860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788920"/>
            <a:ext cx="3017520" cy="822960"/>
          </a:xfrm>
          <a:prstGeom prst="rect">
            <a:avLst/>
          </a:prstGeom>
          <a:noFill/>
        </p:spPr>
        <p:txBody>
          <a:bodyPr wrap="square">
            <a:spAutoFit/>
          </a:bodyPr>
          <a:lstStyle/>
          <a:p>
            <a:r>
              <a:rPr sz="4400" b="1">
                <a:solidFill>
                  <a:srgbClr val="1C7293"/>
                </a:solidFill>
                <a:latin typeface="Cambria"/>
              </a:rPr>
              <a:t>3</a:t>
            </a:r>
          </a:p>
        </p:txBody>
      </p:sp>
      <p:sp>
        <p:nvSpPr>
          <p:cNvPr id="7" name="TextBox 6"/>
          <p:cNvSpPr txBox="1"/>
          <p:nvPr/>
        </p:nvSpPr>
        <p:spPr>
          <a:xfrm>
            <a:off x="914400" y="3611880"/>
            <a:ext cx="3017520" cy="365760"/>
          </a:xfrm>
          <a:prstGeom prst="rect">
            <a:avLst/>
          </a:prstGeom>
          <a:noFill/>
        </p:spPr>
        <p:txBody>
          <a:bodyPr wrap="square">
            <a:spAutoFit/>
          </a:bodyPr>
          <a:lstStyle/>
          <a:p>
            <a:r>
              <a:rPr sz="1450" b="1">
                <a:solidFill>
                  <a:srgbClr val="FFFFFF"/>
                </a:solidFill>
                <a:latin typeface="Calibri"/>
              </a:rPr>
              <a:t>Full generalization</a:t>
            </a:r>
          </a:p>
        </p:txBody>
      </p:sp>
      <p:sp>
        <p:nvSpPr>
          <p:cNvPr id="8" name="TextBox 7"/>
          <p:cNvSpPr txBox="1"/>
          <p:nvPr/>
        </p:nvSpPr>
        <p:spPr>
          <a:xfrm>
            <a:off x="914400" y="4023360"/>
            <a:ext cx="3017520" cy="777240"/>
          </a:xfrm>
          <a:prstGeom prst="rect">
            <a:avLst/>
          </a:prstGeom>
          <a:noFill/>
        </p:spPr>
        <p:txBody>
          <a:bodyPr wrap="square">
            <a:spAutoFit/>
          </a:bodyPr>
          <a:lstStyle/>
          <a:p>
            <a:pPr>
              <a:spcAft>
                <a:spcPts val="100"/>
              </a:spcAft>
            </a:pPr>
            <a:r>
              <a:rPr sz="1200" b="0">
                <a:solidFill>
                  <a:srgbClr val="CFE8EF"/>
                </a:solidFill>
                <a:latin typeface="Calibri"/>
              </a:rPr>
              <a:t>holds against the untested threat model</a:t>
            </a:r>
          </a:p>
        </p:txBody>
      </p:sp>
      <p:sp>
        <p:nvSpPr>
          <p:cNvPr id="9" name="Rectangle 8"/>
          <p:cNvSpPr/>
          <p:nvPr/>
        </p:nvSpPr>
        <p:spPr>
          <a:xfrm>
            <a:off x="4352544" y="2606040"/>
            <a:ext cx="3520440" cy="22860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26864" y="2788920"/>
            <a:ext cx="3017520" cy="822960"/>
          </a:xfrm>
          <a:prstGeom prst="rect">
            <a:avLst/>
          </a:prstGeom>
          <a:noFill/>
        </p:spPr>
        <p:txBody>
          <a:bodyPr wrap="square">
            <a:spAutoFit/>
          </a:bodyPr>
          <a:lstStyle/>
          <a:p>
            <a:r>
              <a:rPr sz="4400" b="1">
                <a:solidFill>
                  <a:srgbClr val="B57E39"/>
                </a:solidFill>
                <a:latin typeface="Cambria"/>
              </a:rPr>
              <a:t>4</a:t>
            </a:r>
          </a:p>
        </p:txBody>
      </p:sp>
      <p:sp>
        <p:nvSpPr>
          <p:cNvPr id="11" name="TextBox 10"/>
          <p:cNvSpPr txBox="1"/>
          <p:nvPr/>
        </p:nvSpPr>
        <p:spPr>
          <a:xfrm>
            <a:off x="4626864" y="3611880"/>
            <a:ext cx="3017520" cy="365760"/>
          </a:xfrm>
          <a:prstGeom prst="rect">
            <a:avLst/>
          </a:prstGeom>
          <a:noFill/>
        </p:spPr>
        <p:txBody>
          <a:bodyPr wrap="square">
            <a:spAutoFit/>
          </a:bodyPr>
          <a:lstStyle/>
          <a:p>
            <a:r>
              <a:rPr sz="1450" b="1">
                <a:solidFill>
                  <a:srgbClr val="FFFFFF"/>
                </a:solidFill>
                <a:latin typeface="Calibri"/>
              </a:rPr>
              <a:t>Partial / degraded</a:t>
            </a:r>
          </a:p>
        </p:txBody>
      </p:sp>
      <p:sp>
        <p:nvSpPr>
          <p:cNvPr id="12" name="TextBox 11"/>
          <p:cNvSpPr txBox="1"/>
          <p:nvPr/>
        </p:nvSpPr>
        <p:spPr>
          <a:xfrm>
            <a:off x="4626864" y="4023360"/>
            <a:ext cx="3017520" cy="777240"/>
          </a:xfrm>
          <a:prstGeom prst="rect">
            <a:avLst/>
          </a:prstGeom>
          <a:noFill/>
        </p:spPr>
        <p:txBody>
          <a:bodyPr wrap="square">
            <a:spAutoFit/>
          </a:bodyPr>
          <a:lstStyle/>
          <a:p>
            <a:pPr>
              <a:spcAft>
                <a:spcPts val="100"/>
              </a:spcAft>
            </a:pPr>
            <a:r>
              <a:rPr sz="1200" b="0">
                <a:solidFill>
                  <a:srgbClr val="CFE8EF"/>
                </a:solidFill>
                <a:latin typeface="Calibri"/>
              </a:rPr>
              <a:t>measurable protection, materially weaker</a:t>
            </a:r>
          </a:p>
        </p:txBody>
      </p:sp>
      <p:sp>
        <p:nvSpPr>
          <p:cNvPr id="13" name="Rectangle 12"/>
          <p:cNvSpPr/>
          <p:nvPr/>
        </p:nvSpPr>
        <p:spPr>
          <a:xfrm>
            <a:off x="8065007" y="2606040"/>
            <a:ext cx="3520440" cy="22860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39327" y="2788920"/>
            <a:ext cx="3017520" cy="822960"/>
          </a:xfrm>
          <a:prstGeom prst="rect">
            <a:avLst/>
          </a:prstGeom>
          <a:noFill/>
        </p:spPr>
        <p:txBody>
          <a:bodyPr wrap="square">
            <a:spAutoFit/>
          </a:bodyPr>
          <a:lstStyle/>
          <a:p>
            <a:r>
              <a:rPr sz="4400" b="1">
                <a:solidFill>
                  <a:srgbClr val="B54A3F"/>
                </a:solidFill>
                <a:latin typeface="Cambria"/>
              </a:rPr>
              <a:t>2</a:t>
            </a:r>
          </a:p>
        </p:txBody>
      </p:sp>
      <p:sp>
        <p:nvSpPr>
          <p:cNvPr id="15" name="TextBox 14"/>
          <p:cNvSpPr txBox="1"/>
          <p:nvPr/>
        </p:nvSpPr>
        <p:spPr>
          <a:xfrm>
            <a:off x="8339327" y="3611880"/>
            <a:ext cx="3017520" cy="365760"/>
          </a:xfrm>
          <a:prstGeom prst="rect">
            <a:avLst/>
          </a:prstGeom>
          <a:noFill/>
        </p:spPr>
        <p:txBody>
          <a:bodyPr wrap="square">
            <a:spAutoFit/>
          </a:bodyPr>
          <a:lstStyle/>
          <a:p>
            <a:r>
              <a:rPr sz="1450" b="1">
                <a:solidFill>
                  <a:srgbClr val="FFFFFF"/>
                </a:solidFill>
                <a:latin typeface="Calibri"/>
              </a:rPr>
              <a:t>Inert</a:t>
            </a:r>
          </a:p>
        </p:txBody>
      </p:sp>
      <p:sp>
        <p:nvSpPr>
          <p:cNvPr id="16" name="TextBox 15"/>
          <p:cNvSpPr txBox="1"/>
          <p:nvPr/>
        </p:nvSpPr>
        <p:spPr>
          <a:xfrm>
            <a:off x="8339327" y="4023360"/>
            <a:ext cx="3017520" cy="777240"/>
          </a:xfrm>
          <a:prstGeom prst="rect">
            <a:avLst/>
          </a:prstGeom>
          <a:noFill/>
        </p:spPr>
        <p:txBody>
          <a:bodyPr wrap="square">
            <a:spAutoFit/>
          </a:bodyPr>
          <a:lstStyle/>
          <a:p>
            <a:pPr>
              <a:spcAft>
                <a:spcPts val="100"/>
              </a:spcAft>
            </a:pPr>
            <a:r>
              <a:rPr sz="1200" b="0">
                <a:solidFill>
                  <a:srgbClr val="CFE8EF"/>
                </a:solidFill>
                <a:latin typeface="Calibri"/>
              </a:rPr>
              <a:t>no measurable protection at all</a:t>
            </a:r>
          </a:p>
        </p:txBody>
      </p:sp>
      <p:sp>
        <p:nvSpPr>
          <p:cNvPr id="17" name="TextBox 16"/>
          <p:cNvSpPr txBox="1"/>
          <p:nvPr/>
        </p:nvSpPr>
        <p:spPr>
          <a:xfrm>
            <a:off x="640080" y="5212080"/>
            <a:ext cx="10881360" cy="1188720"/>
          </a:xfrm>
          <a:prstGeom prst="rect">
            <a:avLst/>
          </a:prstGeom>
          <a:noFill/>
        </p:spPr>
        <p:txBody>
          <a:bodyPr wrap="square">
            <a:spAutoFit/>
          </a:bodyPr>
          <a:lstStyle/>
          <a:p>
            <a:pPr>
              <a:spcAft>
                <a:spcPts val="400"/>
              </a:spcAft>
            </a:pPr>
            <a:r>
              <a:rPr sz="1350" b="1">
                <a:solidFill>
                  <a:srgbClr val="FFFFFF"/>
                </a:solidFill>
                <a:latin typeface="Calibri"/>
              </a:rPr>
              <a:t>We rebuilt 9 defenses from their released code or weights. We did not use the numbers in the papers.</a:t>
            </a:r>
          </a:p>
          <a:p>
            <a:pPr>
              <a:spcAft>
                <a:spcPts val="400"/>
              </a:spcAft>
            </a:pPr>
            <a:r>
              <a:rPr sz="1250" b="0">
                <a:solidFill>
                  <a:srgbClr val="CADCFC"/>
                </a:solidFill>
                <a:latin typeface="Calibri"/>
              </a:rPr>
              <a:t>The result follows the intervention point. Ingestion defenses usually hold. Execution defenses usually do not.</a:t>
            </a:r>
          </a:p>
          <a:p>
            <a:pPr>
              <a:spcAft>
                <a:spcPts val="400"/>
              </a:spcAft>
            </a:pPr>
            <a:r>
              <a:rPr sz="1200" b="0">
                <a:solidFill>
                  <a:srgbClr val="CFE8EF"/>
                </a:solidFill>
                <a:latin typeface="Calibri"/>
              </a:rPr>
              <a:t>A confound applies. The ingestion harness is a text classifier. The execution harness is an agent. We state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BENCHMARK STANDARDIZATION</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The field has no standard benchmark to test on</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20</a:t>
            </a:r>
          </a:p>
        </p:txBody>
      </p:sp>
      <p:sp>
        <p:nvSpPr>
          <p:cNvPr id="5" name="TextBox 4"/>
          <p:cNvSpPr txBox="1"/>
          <p:nvPr/>
        </p:nvSpPr>
        <p:spPr>
          <a:xfrm>
            <a:off x="868680" y="2743200"/>
            <a:ext cx="2834640" cy="868680"/>
          </a:xfrm>
          <a:prstGeom prst="rect">
            <a:avLst/>
          </a:prstGeom>
          <a:noFill/>
        </p:spPr>
        <p:txBody>
          <a:bodyPr wrap="square">
            <a:spAutoFit/>
          </a:bodyPr>
          <a:lstStyle/>
          <a:p>
            <a:r>
              <a:rPr sz="5000" b="1">
                <a:solidFill>
                  <a:srgbClr val="B54A3F"/>
                </a:solidFill>
                <a:latin typeface="Cambria"/>
              </a:rPr>
              <a:t>42.6%</a:t>
            </a:r>
          </a:p>
        </p:txBody>
      </p:sp>
      <p:sp>
        <p:nvSpPr>
          <p:cNvPr id="6" name="TextBox 5"/>
          <p:cNvSpPr txBox="1"/>
          <p:nvPr/>
        </p:nvSpPr>
        <p:spPr>
          <a:xfrm>
            <a:off x="868680" y="3639312"/>
            <a:ext cx="2834640" cy="685800"/>
          </a:xfrm>
          <a:prstGeom prst="rect">
            <a:avLst/>
          </a:prstGeom>
          <a:noFill/>
        </p:spPr>
        <p:txBody>
          <a:bodyPr wrap="square">
            <a:spAutoFit/>
          </a:bodyPr>
          <a:lstStyle/>
          <a:p>
            <a:pPr>
              <a:spcAft>
                <a:spcPts val="0"/>
              </a:spcAft>
            </a:pPr>
            <a:r>
              <a:rPr sz="1300" b="0">
                <a:solidFill>
                  <a:srgbClr val="CADCFC"/>
                </a:solidFill>
                <a:latin typeface="Calibri"/>
              </a:rPr>
              <a:t>of attacks use data</a:t>
            </a:r>
          </a:p>
          <a:p>
            <a:pPr>
              <a:spcAft>
                <a:spcPts val="0"/>
              </a:spcAft>
            </a:pPr>
            <a:r>
              <a:rPr sz="1300" b="0">
                <a:solidFill>
                  <a:srgbClr val="CADCFC"/>
                </a:solidFill>
                <a:latin typeface="Calibri"/>
              </a:rPr>
              <a:t>nobody else can reuse</a:t>
            </a:r>
          </a:p>
        </p:txBody>
      </p:sp>
      <p:sp>
        <p:nvSpPr>
          <p:cNvPr id="7" name="TextBox 6"/>
          <p:cNvSpPr txBox="1"/>
          <p:nvPr/>
        </p:nvSpPr>
        <p:spPr>
          <a:xfrm>
            <a:off x="4069080" y="2743200"/>
            <a:ext cx="2834640" cy="868680"/>
          </a:xfrm>
          <a:prstGeom prst="rect">
            <a:avLst/>
          </a:prstGeom>
          <a:noFill/>
        </p:spPr>
        <p:txBody>
          <a:bodyPr wrap="square">
            <a:spAutoFit/>
          </a:bodyPr>
          <a:lstStyle/>
          <a:p>
            <a:r>
              <a:rPr sz="5000" b="1">
                <a:solidFill>
                  <a:srgbClr val="E0A458"/>
                </a:solidFill>
                <a:latin typeface="Cambria"/>
              </a:rPr>
              <a:t>11.7%</a:t>
            </a:r>
          </a:p>
        </p:txBody>
      </p:sp>
      <p:sp>
        <p:nvSpPr>
          <p:cNvPr id="8" name="TextBox 7"/>
          <p:cNvSpPr txBox="1"/>
          <p:nvPr/>
        </p:nvSpPr>
        <p:spPr>
          <a:xfrm>
            <a:off x="4069080" y="3639312"/>
            <a:ext cx="2834640" cy="685800"/>
          </a:xfrm>
          <a:prstGeom prst="rect">
            <a:avLst/>
          </a:prstGeom>
          <a:noFill/>
        </p:spPr>
        <p:txBody>
          <a:bodyPr wrap="square">
            <a:spAutoFit/>
          </a:bodyPr>
          <a:lstStyle/>
          <a:p>
            <a:pPr>
              <a:spcAft>
                <a:spcPts val="0"/>
              </a:spcAft>
            </a:pPr>
            <a:r>
              <a:rPr sz="1300" b="0">
                <a:solidFill>
                  <a:srgbClr val="CADCFC"/>
                </a:solidFill>
                <a:latin typeface="Calibri"/>
              </a:rPr>
              <a:t>use the most common</a:t>
            </a:r>
          </a:p>
          <a:p>
            <a:pPr>
              <a:spcAft>
                <a:spcPts val="0"/>
              </a:spcAft>
            </a:pPr>
            <a:r>
              <a:rPr sz="1300" b="0">
                <a:solidFill>
                  <a:srgbClr val="CADCFC"/>
                </a:solidFill>
                <a:latin typeface="Calibri"/>
              </a:rPr>
              <a:t>benchmark</a:t>
            </a:r>
          </a:p>
        </p:txBody>
      </p:sp>
      <p:sp>
        <p:nvSpPr>
          <p:cNvPr id="9" name="TextBox 8"/>
          <p:cNvSpPr txBox="1"/>
          <p:nvPr/>
        </p:nvSpPr>
        <p:spPr>
          <a:xfrm>
            <a:off x="7498079" y="2788920"/>
            <a:ext cx="4023360" cy="2926080"/>
          </a:xfrm>
          <a:prstGeom prst="rect">
            <a:avLst/>
          </a:prstGeom>
          <a:noFill/>
        </p:spPr>
        <p:txBody>
          <a:bodyPr wrap="square">
            <a:spAutoFit/>
          </a:bodyPr>
          <a:lstStyle/>
          <a:p>
            <a:pPr>
              <a:spcAft>
                <a:spcPts val="400"/>
              </a:spcAft>
            </a:pPr>
            <a:r>
              <a:rPr sz="1700" b="1">
                <a:solidFill>
                  <a:srgbClr val="FFFFFF"/>
                </a:solidFill>
                <a:latin typeface="Calibri"/>
              </a:rPr>
              <a:t>255 distinct benchmarks</a:t>
            </a:r>
          </a:p>
          <a:p>
            <a:pPr>
              <a:spcAft>
                <a:spcPts val="400"/>
              </a:spcAft>
            </a:pPr>
            <a:r>
              <a:rPr sz="1300" b="0">
                <a:solidFill>
                  <a:srgbClr val="CADCFC"/>
                </a:solidFill>
                <a:latin typeface="Calibri"/>
              </a:rPr>
              <a:t>for 223 named attacks</a:t>
            </a:r>
          </a:p>
          <a:p>
            <a:pPr>
              <a:spcAft>
                <a:spcPts val="400"/>
              </a:spcAft>
            </a:pPr>
            <a:r>
              <a:rPr sz="800" b="0">
                <a:solidFill>
                  <a:srgbClr val="CADCFC"/>
                </a:solidFill>
                <a:latin typeface="Calibri"/>
              </a:rPr>
              <a:t/>
            </a:r>
          </a:p>
          <a:p>
            <a:pPr>
              <a:spcAft>
                <a:spcPts val="400"/>
              </a:spcAft>
            </a:pPr>
            <a:r>
              <a:rPr sz="1300" b="1">
                <a:solidFill>
                  <a:srgbClr val="E0A458"/>
                </a:solidFill>
                <a:latin typeface="Calibri"/>
              </a:rPr>
              <a:t>199 of them (78%)</a:t>
            </a:r>
          </a:p>
          <a:p>
            <a:pPr>
              <a:spcAft>
                <a:spcPts val="400"/>
              </a:spcAft>
            </a:pPr>
            <a:r>
              <a:rPr sz="1300" b="1">
                <a:solidFill>
                  <a:srgbClr val="E0A458"/>
                </a:solidFill>
                <a:latin typeface="Calibri"/>
              </a:rPr>
              <a:t>are used by exactly one paper.</a:t>
            </a:r>
          </a:p>
          <a:p>
            <a:pPr>
              <a:spcAft>
                <a:spcPts val="400"/>
              </a:spcAft>
            </a:pPr>
            <a:r>
              <a:rPr sz="800" b="0">
                <a:solidFill>
                  <a:srgbClr val="CADCFC"/>
                </a:solidFill>
                <a:latin typeface="Calibri"/>
              </a:rPr>
              <a:t/>
            </a:r>
          </a:p>
          <a:p>
            <a:pPr>
              <a:spcAft>
                <a:spcPts val="400"/>
              </a:spcAft>
            </a:pPr>
            <a:r>
              <a:rPr sz="1250" b="0">
                <a:solidFill>
                  <a:srgbClr val="CFE8EF"/>
                </a:solidFill>
                <a:latin typeface="Calibri"/>
              </a:rPr>
              <a:t>There are more benchmarks</a:t>
            </a:r>
          </a:p>
          <a:p>
            <a:pPr>
              <a:spcAft>
                <a:spcPts val="400"/>
              </a:spcAft>
            </a:pPr>
            <a:r>
              <a:rPr sz="1250" b="0">
                <a:solidFill>
                  <a:srgbClr val="CFE8EF"/>
                </a:solidFill>
                <a:latin typeface="Calibri"/>
              </a:rPr>
              <a:t>than attacks. Two papers can</a:t>
            </a:r>
          </a:p>
          <a:p>
            <a:pPr>
              <a:spcAft>
                <a:spcPts val="400"/>
              </a:spcAft>
            </a:pPr>
            <a:r>
              <a:rPr sz="1250" b="0">
                <a:solidFill>
                  <a:srgbClr val="CFE8EF"/>
                </a:solidFill>
                <a:latin typeface="Calibri"/>
              </a:rPr>
              <a:t>use one corpus and still</a:t>
            </a:r>
          </a:p>
          <a:p>
            <a:pPr>
              <a:spcAft>
                <a:spcPts val="400"/>
              </a:spcAft>
            </a:pPr>
            <a:r>
              <a:rPr sz="1250" b="0">
                <a:solidFill>
                  <a:srgbClr val="CFE8EF"/>
                </a:solidFill>
                <a:latin typeface="Calibri"/>
              </a:rPr>
              <a:t>not compare.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DEFENSE HALF-LIFE</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How long does a published defense survive?</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21</a:t>
            </a:r>
          </a:p>
        </p:txBody>
      </p:sp>
      <p:sp>
        <p:nvSpPr>
          <p:cNvPr id="5" name="TextBox 4"/>
          <p:cNvSpPr txBox="1"/>
          <p:nvPr/>
        </p:nvSpPr>
        <p:spPr>
          <a:xfrm>
            <a:off x="868680" y="2743200"/>
            <a:ext cx="3017520" cy="868680"/>
          </a:xfrm>
          <a:prstGeom prst="rect">
            <a:avLst/>
          </a:prstGeom>
          <a:noFill/>
        </p:spPr>
        <p:txBody>
          <a:bodyPr wrap="square">
            <a:spAutoFit/>
          </a:bodyPr>
          <a:lstStyle/>
          <a:p>
            <a:r>
              <a:rPr sz="5000" b="1">
                <a:solidFill>
                  <a:srgbClr val="B54A3F"/>
                </a:solidFill>
                <a:latin typeface="Cambria"/>
              </a:rPr>
              <a:t>96%</a:t>
            </a:r>
          </a:p>
        </p:txBody>
      </p:sp>
      <p:sp>
        <p:nvSpPr>
          <p:cNvPr id="6" name="TextBox 5"/>
          <p:cNvSpPr txBox="1"/>
          <p:nvPr/>
        </p:nvSpPr>
        <p:spPr>
          <a:xfrm>
            <a:off x="868680" y="3639312"/>
            <a:ext cx="3017520" cy="685800"/>
          </a:xfrm>
          <a:prstGeom prst="rect">
            <a:avLst/>
          </a:prstGeom>
          <a:noFill/>
        </p:spPr>
        <p:txBody>
          <a:bodyPr wrap="square">
            <a:spAutoFit/>
          </a:bodyPr>
          <a:lstStyle/>
          <a:p>
            <a:pPr>
              <a:spcAft>
                <a:spcPts val="0"/>
              </a:spcAft>
            </a:pPr>
            <a:r>
              <a:rPr sz="1300" b="0">
                <a:solidFill>
                  <a:srgbClr val="CADCFC"/>
                </a:solidFill>
                <a:latin typeface="Calibri"/>
              </a:rPr>
              <a:t>of published defeats</a:t>
            </a:r>
          </a:p>
          <a:p>
            <a:pPr>
              <a:spcAft>
                <a:spcPts val="0"/>
              </a:spcAft>
            </a:pPr>
            <a:r>
              <a:rPr sz="1300" b="0">
                <a:solidFill>
                  <a:srgbClr val="CADCFC"/>
                </a:solidFill>
                <a:latin typeface="Calibri"/>
              </a:rPr>
              <a:t>land within one year</a:t>
            </a:r>
          </a:p>
        </p:txBody>
      </p:sp>
      <p:sp>
        <p:nvSpPr>
          <p:cNvPr id="7" name="TextBox 6"/>
          <p:cNvSpPr txBox="1"/>
          <p:nvPr/>
        </p:nvSpPr>
        <p:spPr>
          <a:xfrm>
            <a:off x="4754880" y="2788920"/>
            <a:ext cx="6675120" cy="2926080"/>
          </a:xfrm>
          <a:prstGeom prst="rect">
            <a:avLst/>
          </a:prstGeom>
          <a:noFill/>
        </p:spPr>
        <p:txBody>
          <a:bodyPr wrap="square">
            <a:spAutoFit/>
          </a:bodyPr>
          <a:lstStyle/>
          <a:p>
            <a:pPr>
              <a:spcAft>
                <a:spcPts val="400"/>
              </a:spcAft>
            </a:pPr>
            <a:r>
              <a:rPr sz="1500" b="1">
                <a:solidFill>
                  <a:srgbClr val="FFFFFF"/>
                </a:solidFill>
                <a:latin typeface="Calibri"/>
              </a:rPr>
              <a:t>24 datable defeats, median gap 1 year, maximum 2.</a:t>
            </a:r>
          </a:p>
          <a:p>
            <a:pPr>
              <a:spcAft>
                <a:spcPts val="400"/>
              </a:spcAft>
            </a:pPr>
            <a:r>
              <a:rPr sz="800" b="0">
                <a:solidFill>
                  <a:srgbClr val="CADCFC"/>
                </a:solidFill>
                <a:latin typeface="Calibri"/>
              </a:rPr>
              <a:t/>
            </a:r>
          </a:p>
          <a:p>
            <a:pPr>
              <a:spcAft>
                <a:spcPts val="400"/>
              </a:spcAft>
            </a:pPr>
            <a:r>
              <a:rPr sz="1250" b="0">
                <a:solidFill>
                  <a:srgbClr val="CADCFC"/>
                </a:solidFill>
                <a:latin typeface="Calibri"/>
              </a:rPr>
              <a:t>Four teams defeated DataSentinel four separate times.</a:t>
            </a:r>
          </a:p>
          <a:p>
            <a:pPr>
              <a:spcAft>
                <a:spcPts val="400"/>
              </a:spcAft>
            </a:pPr>
            <a:r>
              <a:rPr sz="1250" b="0">
                <a:solidFill>
                  <a:srgbClr val="CADCFC"/>
                </a:solidFill>
                <a:latin typeface="Calibri"/>
              </a:rPr>
              <a:t>A defense does not stop after one defeat.</a:t>
            </a:r>
          </a:p>
          <a:p>
            <a:pPr>
              <a:spcAft>
                <a:spcPts val="400"/>
              </a:spcAft>
            </a:pPr>
            <a:r>
              <a:rPr sz="800" b="0">
                <a:solidFill>
                  <a:srgbClr val="CADCFC"/>
                </a:solidFill>
                <a:latin typeface="Calibri"/>
              </a:rPr>
              <a:t/>
            </a:r>
          </a:p>
          <a:p>
            <a:pPr>
              <a:spcAft>
                <a:spcPts val="400"/>
              </a:spcAft>
            </a:pPr>
            <a:r>
              <a:rPr sz="1300" b="1">
                <a:solidFill>
                  <a:srgbClr val="E0A458"/>
                </a:solidFill>
                <a:latin typeface="Calibri"/>
              </a:rPr>
              <a:t>Read this as an upper limit.</a:t>
            </a:r>
          </a:p>
          <a:p>
            <a:pPr>
              <a:spcAft>
                <a:spcPts val="400"/>
              </a:spcAft>
            </a:pPr>
            <a:r>
              <a:rPr sz="1250" b="0">
                <a:solidFill>
                  <a:srgbClr val="CFE8EF"/>
                </a:solidFill>
                <a:latin typeface="Calibri"/>
              </a:rPr>
              <a:t>Only 2.81% of the registry has a recorded</a:t>
            </a:r>
          </a:p>
          <a:p>
            <a:pPr>
              <a:spcAft>
                <a:spcPts val="400"/>
              </a:spcAft>
            </a:pPr>
            <a:r>
              <a:rPr sz="1250" b="0">
                <a:solidFill>
                  <a:srgbClr val="CFE8EF"/>
                </a:solidFill>
                <a:latin typeface="Calibri"/>
              </a:rPr>
              <a:t>outcome. The sample prefers defenses that are</a:t>
            </a:r>
          </a:p>
          <a:p>
            <a:pPr>
              <a:spcAft>
                <a:spcPts val="400"/>
              </a:spcAft>
            </a:pPr>
            <a:r>
              <a:rPr sz="1250" b="0">
                <a:solidFill>
                  <a:srgbClr val="CFE8EF"/>
                </a:solidFill>
                <a:latin typeface="Calibri"/>
              </a:rPr>
              <a:t>well known. Attack papers go after those first.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TRANSFER</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Detection depends on recognising the attack.</a:t>
            </a:r>
          </a:p>
          <a:p>
            <a:pPr>
              <a:spcAft>
                <a:spcPts val="200"/>
              </a:spcAft>
            </a:pPr>
            <a:r>
              <a:rPr sz="2800" b="1">
                <a:solidFill>
                  <a:srgbClr val="FFFFFF"/>
                </a:solidFill>
                <a:latin typeface="Cambria"/>
              </a:rPr>
              <a:t>Action-checking does not.</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22</a:t>
            </a:r>
          </a:p>
        </p:txBody>
      </p:sp>
      <p:sp>
        <p:nvSpPr>
          <p:cNvPr id="5" name="Rectangle 4"/>
          <p:cNvSpPr/>
          <p:nvPr/>
        </p:nvSpPr>
        <p:spPr>
          <a:xfrm>
            <a:off x="640080" y="2697480"/>
            <a:ext cx="5257800" cy="24231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926080"/>
            <a:ext cx="4754880" cy="2011680"/>
          </a:xfrm>
          <a:prstGeom prst="rect">
            <a:avLst/>
          </a:prstGeom>
          <a:noFill/>
        </p:spPr>
        <p:txBody>
          <a:bodyPr wrap="square">
            <a:spAutoFit/>
          </a:bodyPr>
          <a:lstStyle/>
          <a:p>
            <a:pPr>
              <a:spcAft>
                <a:spcPts val="400"/>
              </a:spcAft>
            </a:pPr>
            <a:r>
              <a:rPr sz="1500" b="1">
                <a:solidFill>
                  <a:srgbClr val="E0A458"/>
                </a:solidFill>
                <a:latin typeface="Calibri"/>
              </a:rPr>
              <a:t>Attack it was built against</a:t>
            </a:r>
          </a:p>
          <a:p>
            <a:pPr>
              <a:spcAft>
                <a:spcPts val="400"/>
              </a:spcAft>
            </a:pPr>
            <a:r>
              <a:rPr sz="600" b="0">
                <a:solidFill>
                  <a:srgbClr val="CADCFC"/>
                </a:solidFill>
                <a:latin typeface="Calibri"/>
              </a:rPr>
              <a:t/>
            </a:r>
          </a:p>
          <a:p>
            <a:pPr>
              <a:spcAft>
                <a:spcPts val="400"/>
              </a:spcAft>
            </a:pPr>
            <a:r>
              <a:rPr sz="1250" b="0">
                <a:solidFill>
                  <a:srgbClr val="CADCFC"/>
                </a:solidFill>
                <a:latin typeface="Calibri"/>
              </a:rPr>
              <a:t>Three of four ingestion detectors</a:t>
            </a:r>
          </a:p>
          <a:p>
            <a:pPr>
              <a:spcAft>
                <a:spcPts val="400"/>
              </a:spcAft>
            </a:pPr>
            <a:r>
              <a:rPr sz="1250" b="0">
                <a:solidFill>
                  <a:srgbClr val="CADCFC"/>
                </a:solidFill>
                <a:latin typeface="Calibri"/>
              </a:rPr>
              <a:t>stop it completely.</a:t>
            </a:r>
          </a:p>
          <a:p>
            <a:pPr>
              <a:spcAft>
                <a:spcPts val="400"/>
              </a:spcAft>
            </a:pPr>
            <a:r>
              <a:rPr sz="1250" b="0">
                <a:solidFill>
                  <a:srgbClr val="CFE8EF"/>
                </a:solidFill>
                <a:latin typeface="Calibri"/>
              </a:rPr>
              <a:t>The attack announces itself:</a:t>
            </a:r>
          </a:p>
          <a:p>
            <a:pPr>
              <a:spcAft>
                <a:spcPts val="400"/>
              </a:spcAft>
            </a:pPr>
            <a:r>
              <a:rPr sz="1250" b="0">
                <a:solidFill>
                  <a:srgbClr val="CFE8EF"/>
                </a:solidFill>
                <a:latin typeface="Calibri"/>
              </a:rPr>
              <a:t>"an important message from Emma".</a:t>
            </a:r>
          </a:p>
        </p:txBody>
      </p:sp>
      <p:sp>
        <p:nvSpPr>
          <p:cNvPr id="7" name="Rectangle 6"/>
          <p:cNvSpPr/>
          <p:nvPr/>
        </p:nvSpPr>
        <p:spPr>
          <a:xfrm>
            <a:off x="6263640" y="2697480"/>
            <a:ext cx="5257800" cy="24231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2926080"/>
            <a:ext cx="4754880" cy="2011680"/>
          </a:xfrm>
          <a:prstGeom prst="rect">
            <a:avLst/>
          </a:prstGeom>
          <a:noFill/>
        </p:spPr>
        <p:txBody>
          <a:bodyPr wrap="square">
            <a:spAutoFit/>
          </a:bodyPr>
          <a:lstStyle/>
          <a:p>
            <a:pPr>
              <a:spcAft>
                <a:spcPts val="400"/>
              </a:spcAft>
            </a:pPr>
            <a:r>
              <a:rPr sz="1500" b="1">
                <a:solidFill>
                  <a:srgbClr val="B54A3F"/>
                </a:solidFill>
                <a:latin typeface="Calibri"/>
              </a:rPr>
              <a:t>Same goal, different disguise</a:t>
            </a:r>
          </a:p>
          <a:p>
            <a:pPr>
              <a:spcAft>
                <a:spcPts val="400"/>
              </a:spcAft>
            </a:pPr>
            <a:r>
              <a:rPr sz="600" b="0">
                <a:solidFill>
                  <a:srgbClr val="CADCFC"/>
                </a:solidFill>
                <a:latin typeface="Calibri"/>
              </a:rPr>
              <a:t/>
            </a:r>
          </a:p>
          <a:p>
            <a:pPr>
              <a:spcAft>
                <a:spcPts val="400"/>
              </a:spcAft>
            </a:pPr>
            <a:r>
              <a:rPr sz="1250" b="0">
                <a:solidFill>
                  <a:srgbClr val="CADCFC"/>
                </a:solidFill>
                <a:latin typeface="Calibri"/>
              </a:rPr>
              <a:t>The same detectors stop working.</a:t>
            </a:r>
          </a:p>
          <a:p>
            <a:pPr>
              <a:spcAft>
                <a:spcPts val="400"/>
              </a:spcAft>
            </a:pPr>
            <a:r>
              <a:rPr sz="1250" b="0">
                <a:solidFill>
                  <a:srgbClr val="CADCFC"/>
                </a:solidFill>
                <a:latin typeface="Calibri"/>
              </a:rPr>
              <a:t>The payload forges a system turn,</a:t>
            </a:r>
          </a:p>
          <a:p>
            <a:pPr>
              <a:spcAft>
                <a:spcPts val="400"/>
              </a:spcAft>
            </a:pPr>
            <a:r>
              <a:rPr sz="1250" b="0">
                <a:solidFill>
                  <a:srgbClr val="CADCFC"/>
                </a:solidFill>
                <a:latin typeface="Calibri"/>
              </a:rPr>
              <a:t>so it reads as configuration,</a:t>
            </a:r>
          </a:p>
          <a:p>
            <a:pPr>
              <a:spcAft>
                <a:spcPts val="400"/>
              </a:spcAft>
            </a:pPr>
            <a:r>
              <a:rPr sz="1250" b="0">
                <a:solidFill>
                  <a:srgbClr val="CADCFC"/>
                </a:solidFill>
                <a:latin typeface="Calibri"/>
              </a:rPr>
              <a:t>not as an injected instruction.</a:t>
            </a:r>
          </a:p>
        </p:txBody>
      </p:sp>
      <p:sp>
        <p:nvSpPr>
          <p:cNvPr id="9" name="TextBox 8"/>
          <p:cNvSpPr txBox="1"/>
          <p:nvPr/>
        </p:nvSpPr>
        <p:spPr>
          <a:xfrm>
            <a:off x="640080" y="5349240"/>
            <a:ext cx="10881360" cy="1188720"/>
          </a:xfrm>
          <a:prstGeom prst="rect">
            <a:avLst/>
          </a:prstGeom>
          <a:noFill/>
        </p:spPr>
        <p:txBody>
          <a:bodyPr wrap="square">
            <a:spAutoFit/>
          </a:bodyPr>
          <a:lstStyle/>
          <a:p>
            <a:pPr>
              <a:spcAft>
                <a:spcPts val="400"/>
              </a:spcAft>
            </a:pPr>
            <a:r>
              <a:rPr sz="1450" b="1">
                <a:solidFill>
                  <a:srgbClr val="FFFFFF"/>
                </a:solidFill>
                <a:latin typeface="Calibri"/>
              </a:rPr>
              <a:t>The execution-stage technique blocked BOTH.</a:t>
            </a:r>
          </a:p>
          <a:p>
            <a:pPr>
              <a:spcAft>
                <a:spcPts val="400"/>
              </a:spcAft>
            </a:pPr>
            <a:r>
              <a:rPr sz="1250" b="0">
                <a:solidFill>
                  <a:srgbClr val="CADCFC"/>
                </a:solidFill>
                <a:latin typeface="Calibri"/>
              </a:rPr>
              <a:t>It never reads the payload — it asks whether the action serves the user's request,</a:t>
            </a:r>
          </a:p>
          <a:p>
            <a:pPr>
              <a:spcAft>
                <a:spcPts val="400"/>
              </a:spcAft>
            </a:pPr>
            <a:r>
              <a:rPr sz="1250" b="0">
                <a:solidFill>
                  <a:srgbClr val="CADCFC"/>
                </a:solidFill>
                <a:latin typeface="Calibri"/>
              </a:rPr>
              <a:t>which is invariant to how the instruction was dressed up.</a:t>
            </a:r>
          </a:p>
          <a:p>
            <a:pPr>
              <a:spcAft>
                <a:spcPts val="400"/>
              </a:spcAft>
            </a:pPr>
            <a:r>
              <a:rPr sz="1250" b="1">
                <a:solidFill>
                  <a:srgbClr val="E0A458"/>
                </a:solidFill>
                <a:latin typeface="Calibri"/>
              </a:rPr>
              <a:t>RQ6 concluded execution defenses generalize least. This says the opposite.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HOW WE READ A RESULT</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Three rules. We fixed them before the runs.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23</a:t>
            </a:r>
          </a:p>
        </p:txBody>
      </p:sp>
      <p:sp>
        <p:nvSpPr>
          <p:cNvPr id="5" name="Rectangle 4"/>
          <p:cNvSpPr/>
          <p:nvPr/>
        </p:nvSpPr>
        <p:spPr>
          <a:xfrm>
            <a:off x="640080" y="2103120"/>
            <a:ext cx="10881360" cy="129844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267712"/>
            <a:ext cx="10241280" cy="274320"/>
          </a:xfrm>
          <a:prstGeom prst="rect">
            <a:avLst/>
          </a:prstGeom>
          <a:noFill/>
        </p:spPr>
        <p:txBody>
          <a:bodyPr wrap="square">
            <a:spAutoFit/>
          </a:bodyPr>
          <a:lstStyle/>
          <a:p>
            <a:r>
              <a:rPr sz="1300" b="1">
                <a:solidFill>
                  <a:srgbClr val="E0A458"/>
                </a:solidFill>
                <a:latin typeface="Calibri"/>
              </a:rPr>
              <a:t>RULE 1.  THE CONTROL FIRES FIRST</a:t>
            </a:r>
          </a:p>
        </p:txBody>
      </p:sp>
      <p:sp>
        <p:nvSpPr>
          <p:cNvPr id="7" name="TextBox 6"/>
          <p:cNvSpPr txBox="1"/>
          <p:nvPr/>
        </p:nvSpPr>
        <p:spPr>
          <a:xfrm>
            <a:off x="960120" y="2560320"/>
            <a:ext cx="10241280" cy="777240"/>
          </a:xfrm>
          <a:prstGeom prst="rect">
            <a:avLst/>
          </a:prstGeom>
          <a:noFill/>
        </p:spPr>
        <p:txBody>
          <a:bodyPr wrap="square">
            <a:spAutoFit/>
          </a:bodyPr>
          <a:lstStyle/>
          <a:p>
            <a:pPr>
              <a:spcAft>
                <a:spcPts val="300"/>
              </a:spcAft>
            </a:pPr>
            <a:r>
              <a:rPr sz="1250" b="0">
                <a:solidFill>
                  <a:srgbClr val="CADCFC"/>
                </a:solidFill>
                <a:latin typeface="Calibri"/>
              </a:rPr>
              <a:t>A defense must first show its own benefit on its own task, with no attack present. If it cannot, we report no transfer result from it.</a:t>
            </a:r>
          </a:p>
          <a:p>
            <a:pPr>
              <a:spcAft>
                <a:spcPts val="300"/>
              </a:spcAft>
            </a:pPr>
            <a:r>
              <a:rPr sz="1250" b="0">
                <a:solidFill>
                  <a:srgbClr val="CFE8EF"/>
                </a:solidFill>
                <a:latin typeface="Calibri"/>
              </a:rPr>
              <a:t>CK-PLUG fails this test on our data. Its two arms differ by 22.6 points before any attack runs. So we do not read its accuracy column at all.</a:t>
            </a:r>
          </a:p>
        </p:txBody>
      </p:sp>
      <p:sp>
        <p:nvSpPr>
          <p:cNvPr id="8" name="Rectangle 7"/>
          <p:cNvSpPr/>
          <p:nvPr/>
        </p:nvSpPr>
        <p:spPr>
          <a:xfrm>
            <a:off x="640080" y="3529584"/>
            <a:ext cx="10881360" cy="146304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3694176"/>
            <a:ext cx="10241280" cy="274320"/>
          </a:xfrm>
          <a:prstGeom prst="rect">
            <a:avLst/>
          </a:prstGeom>
          <a:noFill/>
        </p:spPr>
        <p:txBody>
          <a:bodyPr wrap="square">
            <a:spAutoFit/>
          </a:bodyPr>
          <a:lstStyle/>
          <a:p>
            <a:r>
              <a:rPr sz="1300" b="1">
                <a:solidFill>
                  <a:srgbClr val="E0A458"/>
                </a:solidFill>
                <a:latin typeface="Calibri"/>
              </a:rPr>
              <a:t>RULE 2.  THE CHANGE MUST BE LARGE ENOUGH TO SEE</a:t>
            </a:r>
          </a:p>
        </p:txBody>
      </p:sp>
      <p:sp>
        <p:nvSpPr>
          <p:cNvPr id="10" name="TextBox 9"/>
          <p:cNvSpPr txBox="1"/>
          <p:nvPr/>
        </p:nvSpPr>
        <p:spPr>
          <a:xfrm>
            <a:off x="960120" y="3986784"/>
            <a:ext cx="10241280" cy="960120"/>
          </a:xfrm>
          <a:prstGeom prst="rect">
            <a:avLst/>
          </a:prstGeom>
          <a:noFill/>
        </p:spPr>
        <p:txBody>
          <a:bodyPr wrap="square">
            <a:spAutoFit/>
          </a:bodyPr>
          <a:lstStyle/>
          <a:p>
            <a:pPr>
              <a:spcAft>
                <a:spcPts val="300"/>
              </a:spcAft>
            </a:pPr>
            <a:r>
              <a:rPr sz="1250" b="0">
                <a:solidFill>
                  <a:srgbClr val="CADCFC"/>
                </a:solidFill>
                <a:latin typeface="Calibri"/>
              </a:rPr>
              <a:t>Before a run we compute the smallest change that the sample size can detect. We use a two-proportion power test, alpha 0.05, power 0.80.</a:t>
            </a:r>
          </a:p>
          <a:p>
            <a:pPr>
              <a:spcAft>
                <a:spcPts val="300"/>
              </a:spcAft>
            </a:pPr>
            <a:r>
              <a:rPr sz="1250" b="1">
                <a:solidFill>
                  <a:srgbClr val="FFFFFF"/>
                </a:solidFill>
                <a:latin typeface="Calibri"/>
              </a:rPr>
              <a:t>With 300 items that limit is 11.4 points. With 500 items it is 8.9 points.</a:t>
            </a:r>
          </a:p>
          <a:p>
            <a:pPr>
              <a:spcAft>
                <a:spcPts val="300"/>
              </a:spcAft>
            </a:pPr>
            <a:r>
              <a:rPr sz="1250" b="0">
                <a:solidFill>
                  <a:srgbClr val="CFE8EF"/>
                </a:solidFill>
                <a:latin typeface="Calibri"/>
              </a:rPr>
              <a:t>A change below the limit is not a result. We write "not resolvable". We do not write "no effect".</a:t>
            </a:r>
          </a:p>
        </p:txBody>
      </p:sp>
      <p:sp>
        <p:nvSpPr>
          <p:cNvPr id="11" name="Rectangle 10"/>
          <p:cNvSpPr/>
          <p:nvPr/>
        </p:nvSpPr>
        <p:spPr>
          <a:xfrm>
            <a:off x="640080" y="5120640"/>
            <a:ext cx="10881360" cy="118872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5285232"/>
            <a:ext cx="10241280" cy="274320"/>
          </a:xfrm>
          <a:prstGeom prst="rect">
            <a:avLst/>
          </a:prstGeom>
          <a:noFill/>
        </p:spPr>
        <p:txBody>
          <a:bodyPr wrap="square">
            <a:spAutoFit/>
          </a:bodyPr>
          <a:lstStyle/>
          <a:p>
            <a:r>
              <a:rPr sz="1300" b="1">
                <a:solidFill>
                  <a:srgbClr val="E0A458"/>
                </a:solidFill>
                <a:latin typeface="Calibri"/>
              </a:rPr>
              <a:t>RULE 3.  WE USE THE AUTHORS' OWN SCORING CODE</a:t>
            </a:r>
          </a:p>
        </p:txBody>
      </p:sp>
      <p:sp>
        <p:nvSpPr>
          <p:cNvPr id="13" name="TextBox 12"/>
          <p:cNvSpPr txBox="1"/>
          <p:nvPr/>
        </p:nvSpPr>
        <p:spPr>
          <a:xfrm>
            <a:off x="960120" y="5577840"/>
            <a:ext cx="10241280" cy="685800"/>
          </a:xfrm>
          <a:prstGeom prst="rect">
            <a:avLst/>
          </a:prstGeom>
          <a:noFill/>
        </p:spPr>
        <p:txBody>
          <a:bodyPr wrap="square">
            <a:spAutoFit/>
          </a:bodyPr>
          <a:lstStyle/>
          <a:p>
            <a:pPr>
              <a:spcAft>
                <a:spcPts val="300"/>
              </a:spcAft>
            </a:pPr>
            <a:r>
              <a:rPr sz="1250" b="0">
                <a:solidFill>
                  <a:srgbClr val="CADCFC"/>
                </a:solidFill>
                <a:latin typeface="Calibri"/>
              </a:rPr>
              <a:t>We import the scoring function from each paper and run it without edits. We may change the harness around it. We never change how a result is scored.</a:t>
            </a:r>
          </a:p>
          <a:p>
            <a:pPr>
              <a:spcAft>
                <a:spcPts val="300"/>
              </a:spcAft>
            </a:pPr>
            <a:r>
              <a:rPr sz="1250" b="0">
                <a:solidFill>
                  <a:srgbClr val="CFE8EF"/>
                </a:solidFill>
                <a:latin typeface="Calibri"/>
              </a:rPr>
              <a:t>We compared the scorers of two defenses line by line to confirm they match.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TRANSFER MATRIX</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We run the defense code against attacks</a:t>
            </a:r>
          </a:p>
          <a:p>
            <a:pPr>
              <a:spcAft>
                <a:spcPts val="200"/>
              </a:spcAft>
            </a:pPr>
            <a:r>
              <a:rPr sz="2800" b="1">
                <a:solidFill>
                  <a:srgbClr val="FFFFFF"/>
                </a:solidFill>
                <a:latin typeface="Cambria"/>
              </a:rPr>
              <a:t>that no paper has tested it on</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24</a:t>
            </a:r>
          </a:p>
        </p:txBody>
      </p:sp>
      <p:sp>
        <p:nvSpPr>
          <p:cNvPr id="5" name="TextBox 4"/>
          <p:cNvSpPr txBox="1"/>
          <p:nvPr/>
        </p:nvSpPr>
        <p:spPr>
          <a:xfrm>
            <a:off x="868680" y="2743200"/>
            <a:ext cx="2788920" cy="868680"/>
          </a:xfrm>
          <a:prstGeom prst="rect">
            <a:avLst/>
          </a:prstGeom>
          <a:noFill/>
        </p:spPr>
        <p:txBody>
          <a:bodyPr wrap="square">
            <a:spAutoFit/>
          </a:bodyPr>
          <a:lstStyle/>
          <a:p>
            <a:r>
              <a:rPr sz="5000" b="1">
                <a:solidFill>
                  <a:srgbClr val="E0A458"/>
                </a:solidFill>
                <a:latin typeface="Cambria"/>
              </a:rPr>
              <a:t>16</a:t>
            </a:r>
          </a:p>
        </p:txBody>
      </p:sp>
      <p:sp>
        <p:nvSpPr>
          <p:cNvPr id="6" name="TextBox 5"/>
          <p:cNvSpPr txBox="1"/>
          <p:nvPr/>
        </p:nvSpPr>
        <p:spPr>
          <a:xfrm>
            <a:off x="868680" y="3639312"/>
            <a:ext cx="2788920" cy="685800"/>
          </a:xfrm>
          <a:prstGeom prst="rect">
            <a:avLst/>
          </a:prstGeom>
          <a:noFill/>
        </p:spPr>
        <p:txBody>
          <a:bodyPr wrap="square">
            <a:spAutoFit/>
          </a:bodyPr>
          <a:lstStyle/>
          <a:p>
            <a:pPr>
              <a:spcAft>
                <a:spcPts val="0"/>
              </a:spcAft>
            </a:pPr>
            <a:r>
              <a:rPr sz="1300" b="0">
                <a:solidFill>
                  <a:srgbClr val="CADCFC"/>
                </a:solidFill>
                <a:latin typeface="Calibri"/>
              </a:rPr>
              <a:t>defense x attack</a:t>
            </a:r>
          </a:p>
          <a:p>
            <a:pPr>
              <a:spcAft>
                <a:spcPts val="0"/>
              </a:spcAft>
            </a:pPr>
            <a:r>
              <a:rPr sz="1300" b="0">
                <a:solidFill>
                  <a:srgbClr val="CADCFC"/>
                </a:solidFill>
                <a:latin typeface="Calibri"/>
              </a:rPr>
              <a:t>x model cells</a:t>
            </a:r>
          </a:p>
        </p:txBody>
      </p:sp>
      <p:sp>
        <p:nvSpPr>
          <p:cNvPr id="7" name="TextBox 6"/>
          <p:cNvSpPr txBox="1"/>
          <p:nvPr/>
        </p:nvSpPr>
        <p:spPr>
          <a:xfrm>
            <a:off x="4069080" y="2743200"/>
            <a:ext cx="2788920" cy="868680"/>
          </a:xfrm>
          <a:prstGeom prst="rect">
            <a:avLst/>
          </a:prstGeom>
          <a:noFill/>
        </p:spPr>
        <p:txBody>
          <a:bodyPr wrap="square">
            <a:spAutoFit/>
          </a:bodyPr>
          <a:lstStyle/>
          <a:p>
            <a:r>
              <a:rPr sz="5000" b="1">
                <a:solidFill>
                  <a:srgbClr val="E0A458"/>
                </a:solidFill>
                <a:latin typeface="Cambria"/>
              </a:rPr>
              <a:t>94</a:t>
            </a:r>
          </a:p>
        </p:txBody>
      </p:sp>
      <p:sp>
        <p:nvSpPr>
          <p:cNvPr id="8" name="TextBox 7"/>
          <p:cNvSpPr txBox="1"/>
          <p:nvPr/>
        </p:nvSpPr>
        <p:spPr>
          <a:xfrm>
            <a:off x="4069080" y="3639312"/>
            <a:ext cx="2788920" cy="685800"/>
          </a:xfrm>
          <a:prstGeom prst="rect">
            <a:avLst/>
          </a:prstGeom>
          <a:noFill/>
        </p:spPr>
        <p:txBody>
          <a:bodyPr wrap="square">
            <a:spAutoFit/>
          </a:bodyPr>
          <a:lstStyle/>
          <a:p>
            <a:pPr>
              <a:spcAft>
                <a:spcPts val="0"/>
              </a:spcAft>
            </a:pPr>
            <a:r>
              <a:rPr sz="1300" b="0">
                <a:solidFill>
                  <a:srgbClr val="CADCFC"/>
                </a:solidFill>
                <a:latin typeface="Calibri"/>
              </a:rPr>
              <a:t>measured</a:t>
            </a:r>
          </a:p>
          <a:p>
            <a:pPr>
              <a:spcAft>
                <a:spcPts val="0"/>
              </a:spcAft>
            </a:pPr>
            <a:r>
              <a:rPr sz="1300" b="0">
                <a:solidFill>
                  <a:srgbClr val="CADCFC"/>
                </a:solidFill>
                <a:latin typeface="Calibri"/>
              </a:rPr>
              <a:t>conditions</a:t>
            </a:r>
          </a:p>
        </p:txBody>
      </p:sp>
      <p:sp>
        <p:nvSpPr>
          <p:cNvPr id="9" name="TextBox 8"/>
          <p:cNvSpPr txBox="1"/>
          <p:nvPr/>
        </p:nvSpPr>
        <p:spPr>
          <a:xfrm>
            <a:off x="7498079" y="2743200"/>
            <a:ext cx="4023360" cy="3017520"/>
          </a:xfrm>
          <a:prstGeom prst="rect">
            <a:avLst/>
          </a:prstGeom>
          <a:noFill/>
        </p:spPr>
        <p:txBody>
          <a:bodyPr wrap="square">
            <a:spAutoFit/>
          </a:bodyPr>
          <a:lstStyle/>
          <a:p>
            <a:pPr>
              <a:spcAft>
                <a:spcPts val="400"/>
              </a:spcAft>
            </a:pPr>
            <a:r>
              <a:rPr sz="1400" b="1">
                <a:solidFill>
                  <a:srgbClr val="FFFFFF"/>
                </a:solidFill>
                <a:latin typeface="Calibri"/>
              </a:rPr>
              <a:t>No paper reports these pairs.</a:t>
            </a:r>
          </a:p>
          <a:p>
            <a:pPr>
              <a:spcAft>
                <a:spcPts val="400"/>
              </a:spcAft>
            </a:pPr>
            <a:r>
              <a:rPr sz="1400" b="1">
                <a:solidFill>
                  <a:srgbClr val="FFFFFF"/>
                </a:solidFill>
                <a:latin typeface="Calibri"/>
              </a:rPr>
              <a:t>That is why we chose them.</a:t>
            </a:r>
          </a:p>
          <a:p>
            <a:pPr>
              <a:spcAft>
                <a:spcPts val="400"/>
              </a:spcAft>
            </a:pPr>
            <a:r>
              <a:rPr sz="800" b="0">
                <a:solidFill>
                  <a:srgbClr val="CADCFC"/>
                </a:solidFill>
                <a:latin typeface="Calibri"/>
              </a:rPr>
              <a:t/>
            </a:r>
          </a:p>
          <a:p>
            <a:pPr>
              <a:spcAft>
                <a:spcPts val="400"/>
              </a:spcAft>
            </a:pPr>
            <a:r>
              <a:rPr sz="1250" b="0">
                <a:solidFill>
                  <a:srgbClr val="CADCFC"/>
                </a:solidFill>
                <a:latin typeface="Calibri"/>
              </a:rPr>
              <a:t>4 attacks. 5 defenses.</a:t>
            </a:r>
          </a:p>
          <a:p>
            <a:pPr>
              <a:spcAft>
                <a:spcPts val="400"/>
              </a:spcAft>
            </a:pPr>
            <a:r>
              <a:rPr sz="1250" b="0">
                <a:solidFill>
                  <a:srgbClr val="CADCFC"/>
                </a:solidFill>
                <a:latin typeface="Calibri"/>
              </a:rPr>
              <a:t>3 models. 2 defense families.</a:t>
            </a:r>
          </a:p>
          <a:p>
            <a:pPr>
              <a:spcAft>
                <a:spcPts val="400"/>
              </a:spcAft>
            </a:pPr>
            <a:r>
              <a:rPr sz="800" b="0">
                <a:solidFill>
                  <a:srgbClr val="CADCFC"/>
                </a:solidFill>
                <a:latin typeface="Calibri"/>
              </a:rPr>
              <a:t/>
            </a:r>
          </a:p>
          <a:p>
            <a:pPr>
              <a:spcAft>
                <a:spcPts val="400"/>
              </a:spcAft>
            </a:pPr>
            <a:r>
              <a:rPr sz="1250" b="0">
                <a:solidFill>
                  <a:srgbClr val="CFE8EF"/>
                </a:solidFill>
                <a:latin typeface="Calibri"/>
              </a:rPr>
              <a:t>We change the attack dose from</a:t>
            </a:r>
          </a:p>
          <a:p>
            <a:pPr>
              <a:spcAft>
                <a:spcPts val="400"/>
              </a:spcAft>
            </a:pPr>
            <a:r>
              <a:rPr sz="1250" b="0">
                <a:solidFill>
                  <a:srgbClr val="CFE8EF"/>
                </a:solidFill>
                <a:latin typeface="Calibri"/>
              </a:rPr>
              <a:t>0 to 10 bad passages of 10.</a:t>
            </a:r>
          </a:p>
          <a:p>
            <a:pPr>
              <a:spcAft>
                <a:spcPts val="400"/>
              </a:spcAft>
            </a:pPr>
            <a:r>
              <a:rPr sz="1250" b="0">
                <a:solidFill>
                  <a:srgbClr val="CFE8EF"/>
                </a:solidFill>
                <a:latin typeface="Calibri"/>
              </a:rPr>
              <a:t>Each cell is a curve.</a:t>
            </a:r>
          </a:p>
        </p:txBody>
      </p:sp>
      <p:sp>
        <p:nvSpPr>
          <p:cNvPr id="10" name="TextBox 9"/>
          <p:cNvSpPr txBox="1"/>
          <p:nvPr/>
        </p:nvSpPr>
        <p:spPr>
          <a:xfrm>
            <a:off x="640080" y="6419088"/>
            <a:ext cx="10789920" cy="402336"/>
          </a:xfrm>
          <a:prstGeom prst="rect">
            <a:avLst/>
          </a:prstGeom>
          <a:noFill/>
        </p:spPr>
        <p:txBody>
          <a:bodyPr wrap="square">
            <a:spAutoFit/>
          </a:bodyPr>
          <a:lstStyle/>
          <a:p>
            <a:r>
              <a:rPr sz="850" b="0">
                <a:solidFill>
                  <a:srgbClr val="5B6B79"/>
                </a:solidFill>
                <a:latin typeface="Calibri"/>
              </a:rPr>
              <a:t>Sources:  PoisonedRAG Zou et al., USENIX Security 2024, arXiv:2402.07867   ·   BadRAG Xue et al., 2024, arXiv:2406.00083   ·   RobustRAG Xiang et al., 2024, arXiv:2405.15556   ·   ParamMute Huang et al., NeurIPS 2025, arXiv:2502.15543</a:t>
            </a:r>
          </a:p>
        </p:txBody>
      </p:sp>
      <p:sp>
        <p:nvSpPr>
          <p:cNvPr id="11" name="TextBox 10"/>
          <p:cNvSpPr txBox="1"/>
          <p:nvPr/>
        </p:nvSpPr>
        <p:spPr>
          <a:xfrm>
            <a:off x="640080" y="5806440"/>
            <a:ext cx="10881360" cy="822960"/>
          </a:xfrm>
          <a:prstGeom prst="rect">
            <a:avLst/>
          </a:prstGeom>
          <a:noFill/>
        </p:spPr>
        <p:txBody>
          <a:bodyPr wrap="square">
            <a:spAutoFit/>
          </a:bodyPr>
          <a:lstStyle/>
          <a:p>
            <a:pPr>
              <a:spcAft>
                <a:spcPts val="400"/>
              </a:spcAft>
            </a:pPr>
            <a:r>
              <a:rPr sz="1350" b="1">
                <a:solidFill>
                  <a:srgbClr val="E0A458"/>
                </a:solidFill>
                <a:latin typeface="Calibri"/>
              </a:rPr>
              <a:t>Three rules control every result.</a:t>
            </a:r>
          </a:p>
          <a:p>
            <a:pPr>
              <a:spcAft>
                <a:spcPts val="400"/>
              </a:spcAft>
            </a:pPr>
            <a:r>
              <a:rPr sz="1250" b="0">
                <a:solidFill>
                  <a:srgbClr val="CFE8EF"/>
                </a:solidFill>
                <a:latin typeface="Calibri"/>
              </a:rPr>
              <a:t>The control must fire first. A change below the detection limit is not a result. We do not change the authors' scoring code.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RESULT 1</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At full attack dose, one defense family</a:t>
            </a:r>
          </a:p>
          <a:p>
            <a:pPr>
              <a:spcAft>
                <a:spcPts val="200"/>
              </a:spcAft>
            </a:pPr>
            <a:r>
              <a:rPr sz="2800" b="1">
                <a:solidFill>
                  <a:srgbClr val="FFFFFF"/>
                </a:solidFill>
                <a:latin typeface="Cambria"/>
              </a:rPr>
              <a:t>fails and the other does not</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25</a:t>
            </a:r>
          </a:p>
        </p:txBody>
      </p:sp>
      <p:sp>
        <p:nvSpPr>
          <p:cNvPr id="5" name="Rectangle 4"/>
          <p:cNvSpPr/>
          <p:nvPr/>
        </p:nvSpPr>
        <p:spPr>
          <a:xfrm>
            <a:off x="640080" y="2560320"/>
            <a:ext cx="5303520" cy="24231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743200"/>
            <a:ext cx="4754880" cy="365760"/>
          </a:xfrm>
          <a:prstGeom prst="rect">
            <a:avLst/>
          </a:prstGeom>
          <a:noFill/>
        </p:spPr>
        <p:txBody>
          <a:bodyPr wrap="square">
            <a:spAutoFit/>
          </a:bodyPr>
          <a:lstStyle/>
          <a:p>
            <a:r>
              <a:rPr sz="1550" b="1">
                <a:solidFill>
                  <a:srgbClr val="FFFFFF"/>
                </a:solidFill>
                <a:latin typeface="Calibri"/>
              </a:rPr>
              <a:t>Context-reliance</a:t>
            </a:r>
          </a:p>
        </p:txBody>
      </p:sp>
      <p:sp>
        <p:nvSpPr>
          <p:cNvPr id="7" name="TextBox 6"/>
          <p:cNvSpPr txBox="1"/>
          <p:nvPr/>
        </p:nvSpPr>
        <p:spPr>
          <a:xfrm>
            <a:off x="914400" y="3154680"/>
            <a:ext cx="4754880" cy="1005840"/>
          </a:xfrm>
          <a:prstGeom prst="rect">
            <a:avLst/>
          </a:prstGeom>
          <a:noFill/>
        </p:spPr>
        <p:txBody>
          <a:bodyPr wrap="square">
            <a:spAutoFit/>
          </a:bodyPr>
          <a:lstStyle/>
          <a:p>
            <a:pPr>
              <a:spcAft>
                <a:spcPts val="100"/>
              </a:spcAft>
            </a:pPr>
            <a:r>
              <a:rPr sz="1200" b="0">
                <a:solidFill>
                  <a:srgbClr val="CFE8EF"/>
                </a:solidFill>
                <a:latin typeface="Calibri"/>
              </a:rPr>
              <a:t>It holds down memory so the model</a:t>
            </a:r>
          </a:p>
          <a:p>
            <a:pPr>
              <a:spcAft>
                <a:spcPts val="100"/>
              </a:spcAft>
            </a:pPr>
            <a:r>
              <a:rPr sz="1200" b="0">
                <a:solidFill>
                  <a:srgbClr val="CFE8EF"/>
                </a:solidFill>
                <a:latin typeface="Calibri"/>
              </a:rPr>
              <a:t>follows the retrieved text.</a:t>
            </a:r>
          </a:p>
          <a:p>
            <a:pPr>
              <a:spcAft>
                <a:spcPts val="100"/>
              </a:spcAft>
            </a:pPr>
            <a:r>
              <a:rPr sz="1200" b="0">
                <a:solidFill>
                  <a:srgbClr val="CFE8EF"/>
                </a:solidFill>
                <a:latin typeface="Calibri"/>
              </a:rPr>
              <a:t>ParamMute, CK-PLUG, SpARE</a:t>
            </a:r>
          </a:p>
        </p:txBody>
      </p:sp>
      <p:sp>
        <p:nvSpPr>
          <p:cNvPr id="8" name="TextBox 7"/>
          <p:cNvSpPr txBox="1"/>
          <p:nvPr/>
        </p:nvSpPr>
        <p:spPr>
          <a:xfrm>
            <a:off x="914400" y="4224528"/>
            <a:ext cx="4754880" cy="640080"/>
          </a:xfrm>
          <a:prstGeom prst="rect">
            <a:avLst/>
          </a:prstGeom>
          <a:noFill/>
        </p:spPr>
        <p:txBody>
          <a:bodyPr wrap="square">
            <a:spAutoFit/>
          </a:bodyPr>
          <a:lstStyle/>
          <a:p>
            <a:r>
              <a:rPr sz="3000" b="1">
                <a:solidFill>
                  <a:srgbClr val="B54A3F"/>
                </a:solidFill>
                <a:latin typeface="Cambria"/>
              </a:rPr>
              <a:t>4 of 5</a:t>
            </a:r>
          </a:p>
        </p:txBody>
      </p:sp>
      <p:sp>
        <p:nvSpPr>
          <p:cNvPr id="9" name="TextBox 8"/>
          <p:cNvSpPr txBox="1"/>
          <p:nvPr/>
        </p:nvSpPr>
        <p:spPr>
          <a:xfrm>
            <a:off x="2834639" y="4370832"/>
            <a:ext cx="2926080" cy="457200"/>
          </a:xfrm>
          <a:prstGeom prst="rect">
            <a:avLst/>
          </a:prstGeom>
          <a:noFill/>
        </p:spPr>
        <p:txBody>
          <a:bodyPr wrap="square">
            <a:spAutoFit/>
          </a:bodyPr>
          <a:lstStyle/>
          <a:p>
            <a:pPr>
              <a:spcAft>
                <a:spcPts val="0"/>
              </a:spcAft>
            </a:pPr>
            <a:r>
              <a:rPr sz="1150" b="0">
                <a:solidFill>
                  <a:srgbClr val="CADCFC"/>
                </a:solidFill>
                <a:latin typeface="Calibri"/>
              </a:rPr>
              <a:t>usable cells lose</a:t>
            </a:r>
          </a:p>
          <a:p>
            <a:pPr>
              <a:spcAft>
                <a:spcPts val="0"/>
              </a:spcAft>
            </a:pPr>
            <a:r>
              <a:rPr sz="1150" b="0">
                <a:solidFill>
                  <a:srgbClr val="CADCFC"/>
                </a:solidFill>
                <a:latin typeface="Calibri"/>
              </a:rPr>
              <a:t>accuracy we can measure</a:t>
            </a:r>
          </a:p>
        </p:txBody>
      </p:sp>
      <p:sp>
        <p:nvSpPr>
          <p:cNvPr id="10" name="Rectangle 9"/>
          <p:cNvSpPr/>
          <p:nvPr/>
        </p:nvSpPr>
        <p:spPr>
          <a:xfrm>
            <a:off x="6217920" y="2560320"/>
            <a:ext cx="5303520" cy="242316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743200"/>
            <a:ext cx="4754880" cy="365760"/>
          </a:xfrm>
          <a:prstGeom prst="rect">
            <a:avLst/>
          </a:prstGeom>
          <a:noFill/>
        </p:spPr>
        <p:txBody>
          <a:bodyPr wrap="square">
            <a:spAutoFit/>
          </a:bodyPr>
          <a:lstStyle/>
          <a:p>
            <a:r>
              <a:rPr sz="1550" b="1">
                <a:solidFill>
                  <a:srgbClr val="FFFFFF"/>
                </a:solidFill>
                <a:latin typeface="Calibri"/>
              </a:rPr>
              <a:t>Isolate-then-aggregate</a:t>
            </a:r>
          </a:p>
        </p:txBody>
      </p:sp>
      <p:sp>
        <p:nvSpPr>
          <p:cNvPr id="12" name="TextBox 11"/>
          <p:cNvSpPr txBox="1"/>
          <p:nvPr/>
        </p:nvSpPr>
        <p:spPr>
          <a:xfrm>
            <a:off x="6492240" y="3154680"/>
            <a:ext cx="4754880" cy="1005840"/>
          </a:xfrm>
          <a:prstGeom prst="rect">
            <a:avLst/>
          </a:prstGeom>
          <a:noFill/>
        </p:spPr>
        <p:txBody>
          <a:bodyPr wrap="square">
            <a:spAutoFit/>
          </a:bodyPr>
          <a:lstStyle/>
          <a:p>
            <a:pPr>
              <a:spcAft>
                <a:spcPts val="100"/>
              </a:spcAft>
            </a:pPr>
            <a:r>
              <a:rPr sz="1200" b="0">
                <a:solidFill>
                  <a:srgbClr val="CFE8EF"/>
                </a:solidFill>
                <a:latin typeface="Calibri"/>
              </a:rPr>
              <a:t>It answers each passage alone,</a:t>
            </a:r>
          </a:p>
          <a:p>
            <a:pPr>
              <a:spcAft>
                <a:spcPts val="100"/>
              </a:spcAft>
            </a:pPr>
            <a:r>
              <a:rPr sz="1200" b="0">
                <a:solidFill>
                  <a:srgbClr val="CFE8EF"/>
                </a:solidFill>
                <a:latin typeface="Calibri"/>
              </a:rPr>
              <a:t>then joins the answers.</a:t>
            </a:r>
          </a:p>
          <a:p>
            <a:pPr>
              <a:spcAft>
                <a:spcPts val="100"/>
              </a:spcAft>
            </a:pPr>
            <a:r>
              <a:rPr sz="1200" b="0">
                <a:solidFill>
                  <a:srgbClr val="CFE8EF"/>
                </a:solidFill>
                <a:latin typeface="Calibri"/>
              </a:rPr>
              <a:t>RobustRAG KeywordAgg, DecodingAgg</a:t>
            </a:r>
          </a:p>
        </p:txBody>
      </p:sp>
      <p:sp>
        <p:nvSpPr>
          <p:cNvPr id="13" name="TextBox 12"/>
          <p:cNvSpPr txBox="1"/>
          <p:nvPr/>
        </p:nvSpPr>
        <p:spPr>
          <a:xfrm>
            <a:off x="6492240" y="4224528"/>
            <a:ext cx="4754880" cy="640080"/>
          </a:xfrm>
          <a:prstGeom prst="rect">
            <a:avLst/>
          </a:prstGeom>
          <a:noFill/>
        </p:spPr>
        <p:txBody>
          <a:bodyPr wrap="square">
            <a:spAutoFit/>
          </a:bodyPr>
          <a:lstStyle/>
          <a:p>
            <a:r>
              <a:rPr sz="3000" b="1">
                <a:solidFill>
                  <a:srgbClr val="1C7293"/>
                </a:solidFill>
                <a:latin typeface="Cambria"/>
              </a:rPr>
              <a:t>0 of 8</a:t>
            </a:r>
          </a:p>
        </p:txBody>
      </p:sp>
      <p:sp>
        <p:nvSpPr>
          <p:cNvPr id="14" name="TextBox 13"/>
          <p:cNvSpPr txBox="1"/>
          <p:nvPr/>
        </p:nvSpPr>
        <p:spPr>
          <a:xfrm>
            <a:off x="8412480" y="4370832"/>
            <a:ext cx="2926080" cy="457200"/>
          </a:xfrm>
          <a:prstGeom prst="rect">
            <a:avLst/>
          </a:prstGeom>
          <a:noFill/>
        </p:spPr>
        <p:txBody>
          <a:bodyPr wrap="square">
            <a:spAutoFit/>
          </a:bodyPr>
          <a:lstStyle/>
          <a:p>
            <a:pPr>
              <a:spcAft>
                <a:spcPts val="0"/>
              </a:spcAft>
            </a:pPr>
            <a:r>
              <a:rPr sz="1150" b="0">
                <a:solidFill>
                  <a:srgbClr val="CADCFC"/>
                </a:solidFill>
                <a:latin typeface="Calibri"/>
              </a:rPr>
              <a:t>usable cells lose</a:t>
            </a:r>
          </a:p>
          <a:p>
            <a:pPr>
              <a:spcAft>
                <a:spcPts val="0"/>
              </a:spcAft>
            </a:pPr>
            <a:r>
              <a:rPr sz="1150" b="0">
                <a:solidFill>
                  <a:srgbClr val="CADCFC"/>
                </a:solidFill>
                <a:latin typeface="Calibri"/>
              </a:rPr>
              <a:t>accuracy we can measure</a:t>
            </a:r>
          </a:p>
        </p:txBody>
      </p:sp>
      <p:sp>
        <p:nvSpPr>
          <p:cNvPr id="15" name="TextBox 14"/>
          <p:cNvSpPr txBox="1"/>
          <p:nvPr/>
        </p:nvSpPr>
        <p:spPr>
          <a:xfrm>
            <a:off x="640080" y="5212080"/>
            <a:ext cx="10881360" cy="1280160"/>
          </a:xfrm>
          <a:prstGeom prst="rect">
            <a:avLst/>
          </a:prstGeom>
          <a:noFill/>
        </p:spPr>
        <p:txBody>
          <a:bodyPr wrap="square">
            <a:spAutoFit/>
          </a:bodyPr>
          <a:lstStyle/>
          <a:p>
            <a:pPr>
              <a:spcAft>
                <a:spcPts val="400"/>
              </a:spcAft>
            </a:pPr>
            <a:r>
              <a:rPr sz="1350" b="1">
                <a:solidFill>
                  <a:srgbClr val="FFFFFF"/>
                </a:solidFill>
                <a:latin typeface="Calibri"/>
              </a:rPr>
              <a:t>The loss is the same size every time: -31.7 and -31.8 points, on two defenses, two attacks and two models.</a:t>
            </a:r>
          </a:p>
          <a:p>
            <a:pPr>
              <a:spcAft>
                <a:spcPts val="400"/>
              </a:spcAft>
            </a:pPr>
            <a:r>
              <a:rPr sz="1250" b="0">
                <a:solidFill>
                  <a:srgbClr val="CADCFC"/>
                </a:solidFill>
                <a:latin typeface="Calibri"/>
              </a:rPr>
              <a:t>Against a false passage the loss starts at 8 bad passages of 10. It does not wait for 10 of 10.</a:t>
            </a:r>
          </a:p>
          <a:p>
            <a:pPr>
              <a:spcAft>
                <a:spcPts val="400"/>
              </a:spcAft>
            </a:pPr>
            <a:r>
              <a:rPr sz="1300" b="1">
                <a:solidFill>
                  <a:srgbClr val="E0A458"/>
                </a:solidFill>
                <a:latin typeface="Calibri"/>
              </a:rPr>
              <a:t>Design rule: do not hold down the model's own memory. It is the only thing left when the evidence goes.</a:t>
            </a:r>
          </a:p>
        </p:txBody>
      </p:sp>
      <p:sp>
        <p:nvSpPr>
          <p:cNvPr id="16" name="TextBox 15"/>
          <p:cNvSpPr txBox="1"/>
          <p:nvPr/>
        </p:nvSpPr>
        <p:spPr>
          <a:xfrm>
            <a:off x="640080" y="6419088"/>
            <a:ext cx="10789920" cy="402336"/>
          </a:xfrm>
          <a:prstGeom prst="rect">
            <a:avLst/>
          </a:prstGeom>
          <a:noFill/>
        </p:spPr>
        <p:txBody>
          <a:bodyPr wrap="square">
            <a:spAutoFit/>
          </a:bodyPr>
          <a:lstStyle/>
          <a:p>
            <a:r>
              <a:rPr sz="850" b="0">
                <a:solidFill>
                  <a:srgbClr val="5B6B79"/>
                </a:solidFill>
                <a:latin typeface="Calibri"/>
              </a:rPr>
              <a:t>Sources:  ParamMute Huang et al., NeurIPS 2025, arXiv:2502.15543   ·   RobustRAG Xiang et al., 2024, arXiv:2405.15556   ·   PoisonedRAG Zou et al., USENIX Security 2024, arXiv:2402.07867   ·   BadRAG Xue et al., 2024, arXiv:2406.00083   ·   all numbers: our runs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RESULT 2</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Some defenses make the attack work.</a:t>
            </a:r>
          </a:p>
          <a:p>
            <a:pPr>
              <a:spcAft>
                <a:spcPts val="200"/>
              </a:spcAft>
            </a:pPr>
            <a:r>
              <a:rPr sz="2800" b="1">
                <a:solidFill>
                  <a:srgbClr val="FFFFFF"/>
                </a:solidFill>
                <a:latin typeface="Cambria"/>
              </a:rPr>
              <a:t>Without them it stays near zero.</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26</a:t>
            </a:r>
          </a:p>
        </p:txBody>
      </p:sp>
      <p:sp>
        <p:nvSpPr>
          <p:cNvPr id="5" name="TextBox 4"/>
          <p:cNvSpPr txBox="1"/>
          <p:nvPr/>
        </p:nvSpPr>
        <p:spPr>
          <a:xfrm>
            <a:off x="868680" y="2468880"/>
            <a:ext cx="3108960" cy="320040"/>
          </a:xfrm>
          <a:prstGeom prst="rect">
            <a:avLst/>
          </a:prstGeom>
          <a:noFill/>
        </p:spPr>
        <p:txBody>
          <a:bodyPr wrap="square">
            <a:spAutoFit/>
          </a:bodyPr>
          <a:lstStyle/>
          <a:p>
            <a:r>
              <a:rPr sz="1200" b="1">
                <a:solidFill>
                  <a:srgbClr val="E0A458"/>
                </a:solidFill>
                <a:latin typeface="Calibri"/>
              </a:rPr>
              <a:t>Defense</a:t>
            </a:r>
          </a:p>
        </p:txBody>
      </p:sp>
      <p:sp>
        <p:nvSpPr>
          <p:cNvPr id="6" name="TextBox 5"/>
          <p:cNvSpPr txBox="1"/>
          <p:nvPr/>
        </p:nvSpPr>
        <p:spPr>
          <a:xfrm>
            <a:off x="4069080" y="2468880"/>
            <a:ext cx="2286000" cy="320040"/>
          </a:xfrm>
          <a:prstGeom prst="rect">
            <a:avLst/>
          </a:prstGeom>
          <a:noFill/>
        </p:spPr>
        <p:txBody>
          <a:bodyPr wrap="square">
            <a:spAutoFit/>
          </a:bodyPr>
          <a:lstStyle/>
          <a:p>
            <a:r>
              <a:rPr sz="1200" b="1">
                <a:solidFill>
                  <a:srgbClr val="E0A458"/>
                </a:solidFill>
                <a:latin typeface="Calibri"/>
              </a:rPr>
              <a:t>Attack</a:t>
            </a:r>
          </a:p>
        </p:txBody>
      </p:sp>
      <p:sp>
        <p:nvSpPr>
          <p:cNvPr id="7" name="TextBox 6"/>
          <p:cNvSpPr txBox="1"/>
          <p:nvPr/>
        </p:nvSpPr>
        <p:spPr>
          <a:xfrm>
            <a:off x="6446520" y="2468880"/>
            <a:ext cx="1828800" cy="320040"/>
          </a:xfrm>
          <a:prstGeom prst="rect">
            <a:avLst/>
          </a:prstGeom>
          <a:noFill/>
        </p:spPr>
        <p:txBody>
          <a:bodyPr wrap="square">
            <a:spAutoFit/>
          </a:bodyPr>
          <a:lstStyle/>
          <a:p>
            <a:r>
              <a:rPr sz="1200" b="1">
                <a:solidFill>
                  <a:srgbClr val="E0A458"/>
                </a:solidFill>
                <a:latin typeface="Calibri"/>
              </a:rPr>
              <a:t>No defense</a:t>
            </a:r>
          </a:p>
        </p:txBody>
      </p:sp>
      <p:sp>
        <p:nvSpPr>
          <p:cNvPr id="8" name="TextBox 7"/>
          <p:cNvSpPr txBox="1"/>
          <p:nvPr/>
        </p:nvSpPr>
        <p:spPr>
          <a:xfrm>
            <a:off x="8458200" y="2468880"/>
            <a:ext cx="1828800" cy="320040"/>
          </a:xfrm>
          <a:prstGeom prst="rect">
            <a:avLst/>
          </a:prstGeom>
          <a:noFill/>
        </p:spPr>
        <p:txBody>
          <a:bodyPr wrap="square">
            <a:spAutoFit/>
          </a:bodyPr>
          <a:lstStyle/>
          <a:p>
            <a:r>
              <a:rPr sz="1200" b="1">
                <a:solidFill>
                  <a:srgbClr val="E0A458"/>
                </a:solidFill>
                <a:latin typeface="Calibri"/>
              </a:rPr>
              <a:t>With defense</a:t>
            </a:r>
          </a:p>
        </p:txBody>
      </p:sp>
      <p:sp>
        <p:nvSpPr>
          <p:cNvPr id="9" name="TextBox 8"/>
          <p:cNvSpPr txBox="1"/>
          <p:nvPr/>
        </p:nvSpPr>
        <p:spPr>
          <a:xfrm>
            <a:off x="10378440" y="2468880"/>
            <a:ext cx="1097280" cy="320040"/>
          </a:xfrm>
          <a:prstGeom prst="rect">
            <a:avLst/>
          </a:prstGeom>
          <a:noFill/>
        </p:spPr>
        <p:txBody>
          <a:bodyPr wrap="square">
            <a:spAutoFit/>
          </a:bodyPr>
          <a:lstStyle/>
          <a:p>
            <a:r>
              <a:rPr sz="1200" b="1">
                <a:solidFill>
                  <a:srgbClr val="E0A458"/>
                </a:solidFill>
                <a:latin typeface="Calibri"/>
              </a:rPr>
              <a:t>Dose</a:t>
            </a:r>
          </a:p>
        </p:txBody>
      </p:sp>
      <p:sp>
        <p:nvSpPr>
          <p:cNvPr id="10" name="Rectangle 9"/>
          <p:cNvSpPr/>
          <p:nvPr/>
        </p:nvSpPr>
        <p:spPr>
          <a:xfrm>
            <a:off x="640080" y="2852928"/>
            <a:ext cx="10881360" cy="43891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926080"/>
            <a:ext cx="3108960" cy="310896"/>
          </a:xfrm>
          <a:prstGeom prst="rect">
            <a:avLst/>
          </a:prstGeom>
          <a:noFill/>
        </p:spPr>
        <p:txBody>
          <a:bodyPr wrap="square">
            <a:spAutoFit/>
          </a:bodyPr>
          <a:lstStyle/>
          <a:p>
            <a:r>
              <a:rPr sz="1250" b="0">
                <a:solidFill>
                  <a:srgbClr val="FFFFFF"/>
                </a:solidFill>
                <a:latin typeface="Calibri"/>
              </a:rPr>
              <a:t>CK-PLUG</a:t>
            </a:r>
          </a:p>
        </p:txBody>
      </p:sp>
      <p:sp>
        <p:nvSpPr>
          <p:cNvPr id="12" name="TextBox 11"/>
          <p:cNvSpPr txBox="1"/>
          <p:nvPr/>
        </p:nvSpPr>
        <p:spPr>
          <a:xfrm>
            <a:off x="4069080" y="2926080"/>
            <a:ext cx="2286000" cy="310896"/>
          </a:xfrm>
          <a:prstGeom prst="rect">
            <a:avLst/>
          </a:prstGeom>
          <a:noFill/>
        </p:spPr>
        <p:txBody>
          <a:bodyPr wrap="square">
            <a:spAutoFit/>
          </a:bodyPr>
          <a:lstStyle/>
          <a:p>
            <a:r>
              <a:rPr sz="1250" b="0">
                <a:solidFill>
                  <a:srgbClr val="CADCFC"/>
                </a:solidFill>
                <a:latin typeface="Calibri"/>
              </a:rPr>
              <a:t>Tone steering</a:t>
            </a:r>
          </a:p>
        </p:txBody>
      </p:sp>
      <p:sp>
        <p:nvSpPr>
          <p:cNvPr id="13" name="TextBox 12"/>
          <p:cNvSpPr txBox="1"/>
          <p:nvPr/>
        </p:nvSpPr>
        <p:spPr>
          <a:xfrm>
            <a:off x="6446520" y="2926080"/>
            <a:ext cx="1828800" cy="310896"/>
          </a:xfrm>
          <a:prstGeom prst="rect">
            <a:avLst/>
          </a:prstGeom>
          <a:noFill/>
        </p:spPr>
        <p:txBody>
          <a:bodyPr wrap="square">
            <a:spAutoFit/>
          </a:bodyPr>
          <a:lstStyle/>
          <a:p>
            <a:r>
              <a:rPr sz="1250" b="0">
                <a:solidFill>
                  <a:srgbClr val="CADCFC"/>
                </a:solidFill>
                <a:latin typeface="Calibri"/>
              </a:rPr>
              <a:t>0.0 %</a:t>
            </a:r>
          </a:p>
        </p:txBody>
      </p:sp>
      <p:sp>
        <p:nvSpPr>
          <p:cNvPr id="14" name="TextBox 13"/>
          <p:cNvSpPr txBox="1"/>
          <p:nvPr/>
        </p:nvSpPr>
        <p:spPr>
          <a:xfrm>
            <a:off x="8458200" y="2926080"/>
            <a:ext cx="1828800" cy="310896"/>
          </a:xfrm>
          <a:prstGeom prst="rect">
            <a:avLst/>
          </a:prstGeom>
          <a:noFill/>
        </p:spPr>
        <p:txBody>
          <a:bodyPr wrap="square">
            <a:spAutoFit/>
          </a:bodyPr>
          <a:lstStyle/>
          <a:p>
            <a:r>
              <a:rPr sz="1350" b="1">
                <a:solidFill>
                  <a:srgbClr val="B54A3F"/>
                </a:solidFill>
                <a:latin typeface="Calibri"/>
              </a:rPr>
              <a:t>78.2 %</a:t>
            </a:r>
          </a:p>
        </p:txBody>
      </p:sp>
      <p:sp>
        <p:nvSpPr>
          <p:cNvPr id="15" name="TextBox 14"/>
          <p:cNvSpPr txBox="1"/>
          <p:nvPr/>
        </p:nvSpPr>
        <p:spPr>
          <a:xfrm>
            <a:off x="10378440" y="2926080"/>
            <a:ext cx="1097280" cy="310896"/>
          </a:xfrm>
          <a:prstGeom prst="rect">
            <a:avLst/>
          </a:prstGeom>
          <a:noFill/>
        </p:spPr>
        <p:txBody>
          <a:bodyPr wrap="square">
            <a:spAutoFit/>
          </a:bodyPr>
          <a:lstStyle/>
          <a:p>
            <a:r>
              <a:rPr sz="1200" b="0">
                <a:solidFill>
                  <a:srgbClr val="CFE8EF"/>
                </a:solidFill>
                <a:latin typeface="Calibri"/>
              </a:rPr>
              <a:t>1 of 10</a:t>
            </a:r>
          </a:p>
        </p:txBody>
      </p:sp>
      <p:sp>
        <p:nvSpPr>
          <p:cNvPr id="16" name="Rectangle 15"/>
          <p:cNvSpPr/>
          <p:nvPr/>
        </p:nvSpPr>
        <p:spPr>
          <a:xfrm>
            <a:off x="640080" y="3383280"/>
            <a:ext cx="10881360" cy="43891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456432"/>
            <a:ext cx="3108960" cy="310896"/>
          </a:xfrm>
          <a:prstGeom prst="rect">
            <a:avLst/>
          </a:prstGeom>
          <a:noFill/>
        </p:spPr>
        <p:txBody>
          <a:bodyPr wrap="square">
            <a:spAutoFit/>
          </a:bodyPr>
          <a:lstStyle/>
          <a:p>
            <a:r>
              <a:rPr sz="1250" b="0">
                <a:solidFill>
                  <a:srgbClr val="FFFFFF"/>
                </a:solidFill>
                <a:latin typeface="Calibri"/>
              </a:rPr>
              <a:t>CK-PLUG</a:t>
            </a:r>
          </a:p>
        </p:txBody>
      </p:sp>
      <p:sp>
        <p:nvSpPr>
          <p:cNvPr id="18" name="TextBox 17"/>
          <p:cNvSpPr txBox="1"/>
          <p:nvPr/>
        </p:nvSpPr>
        <p:spPr>
          <a:xfrm>
            <a:off x="4069080" y="3456432"/>
            <a:ext cx="2286000" cy="310896"/>
          </a:xfrm>
          <a:prstGeom prst="rect">
            <a:avLst/>
          </a:prstGeom>
          <a:noFill/>
        </p:spPr>
        <p:txBody>
          <a:bodyPr wrap="square">
            <a:spAutoFit/>
          </a:bodyPr>
          <a:lstStyle/>
          <a:p>
            <a:r>
              <a:rPr sz="1250" b="0">
                <a:solidFill>
                  <a:srgbClr val="CADCFC"/>
                </a:solidFill>
                <a:latin typeface="Calibri"/>
              </a:rPr>
              <a:t>Tone steering</a:t>
            </a:r>
          </a:p>
        </p:txBody>
      </p:sp>
      <p:sp>
        <p:nvSpPr>
          <p:cNvPr id="19" name="TextBox 18"/>
          <p:cNvSpPr txBox="1"/>
          <p:nvPr/>
        </p:nvSpPr>
        <p:spPr>
          <a:xfrm>
            <a:off x="6446520" y="3456432"/>
            <a:ext cx="1828800" cy="310896"/>
          </a:xfrm>
          <a:prstGeom prst="rect">
            <a:avLst/>
          </a:prstGeom>
          <a:noFill/>
        </p:spPr>
        <p:txBody>
          <a:bodyPr wrap="square">
            <a:spAutoFit/>
          </a:bodyPr>
          <a:lstStyle/>
          <a:p>
            <a:r>
              <a:rPr sz="1250" b="0">
                <a:solidFill>
                  <a:srgbClr val="CADCFC"/>
                </a:solidFill>
                <a:latin typeface="Calibri"/>
              </a:rPr>
              <a:t>4.0 %</a:t>
            </a:r>
          </a:p>
        </p:txBody>
      </p:sp>
      <p:sp>
        <p:nvSpPr>
          <p:cNvPr id="20" name="TextBox 19"/>
          <p:cNvSpPr txBox="1"/>
          <p:nvPr/>
        </p:nvSpPr>
        <p:spPr>
          <a:xfrm>
            <a:off x="8458200" y="3456432"/>
            <a:ext cx="1828800" cy="310896"/>
          </a:xfrm>
          <a:prstGeom prst="rect">
            <a:avLst/>
          </a:prstGeom>
          <a:noFill/>
        </p:spPr>
        <p:txBody>
          <a:bodyPr wrap="square">
            <a:spAutoFit/>
          </a:bodyPr>
          <a:lstStyle/>
          <a:p>
            <a:r>
              <a:rPr sz="1350" b="1">
                <a:solidFill>
                  <a:srgbClr val="B54A3F"/>
                </a:solidFill>
                <a:latin typeface="Calibri"/>
              </a:rPr>
              <a:t>99.0 %</a:t>
            </a:r>
          </a:p>
        </p:txBody>
      </p:sp>
      <p:sp>
        <p:nvSpPr>
          <p:cNvPr id="21" name="TextBox 20"/>
          <p:cNvSpPr txBox="1"/>
          <p:nvPr/>
        </p:nvSpPr>
        <p:spPr>
          <a:xfrm>
            <a:off x="10378440" y="3456432"/>
            <a:ext cx="1097280" cy="310896"/>
          </a:xfrm>
          <a:prstGeom prst="rect">
            <a:avLst/>
          </a:prstGeom>
          <a:noFill/>
        </p:spPr>
        <p:txBody>
          <a:bodyPr wrap="square">
            <a:spAutoFit/>
          </a:bodyPr>
          <a:lstStyle/>
          <a:p>
            <a:r>
              <a:rPr sz="1200" b="0">
                <a:solidFill>
                  <a:srgbClr val="CFE8EF"/>
                </a:solidFill>
                <a:latin typeface="Calibri"/>
              </a:rPr>
              <a:t>10 of 10</a:t>
            </a:r>
          </a:p>
        </p:txBody>
      </p:sp>
      <p:sp>
        <p:nvSpPr>
          <p:cNvPr id="22" name="Rectangle 21"/>
          <p:cNvSpPr/>
          <p:nvPr/>
        </p:nvSpPr>
        <p:spPr>
          <a:xfrm>
            <a:off x="640080" y="3913632"/>
            <a:ext cx="10881360" cy="43891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986784"/>
            <a:ext cx="3108960" cy="310896"/>
          </a:xfrm>
          <a:prstGeom prst="rect">
            <a:avLst/>
          </a:prstGeom>
          <a:noFill/>
        </p:spPr>
        <p:txBody>
          <a:bodyPr wrap="square">
            <a:spAutoFit/>
          </a:bodyPr>
          <a:lstStyle/>
          <a:p>
            <a:r>
              <a:rPr sz="1250" b="0">
                <a:solidFill>
                  <a:srgbClr val="FFFFFF"/>
                </a:solidFill>
                <a:latin typeface="Calibri"/>
              </a:rPr>
              <a:t>ParamMute</a:t>
            </a:r>
          </a:p>
        </p:txBody>
      </p:sp>
      <p:sp>
        <p:nvSpPr>
          <p:cNvPr id="24" name="TextBox 23"/>
          <p:cNvSpPr txBox="1"/>
          <p:nvPr/>
        </p:nvSpPr>
        <p:spPr>
          <a:xfrm>
            <a:off x="4069080" y="3986784"/>
            <a:ext cx="2286000" cy="310896"/>
          </a:xfrm>
          <a:prstGeom prst="rect">
            <a:avLst/>
          </a:prstGeom>
          <a:noFill/>
        </p:spPr>
        <p:txBody>
          <a:bodyPr wrap="square">
            <a:spAutoFit/>
          </a:bodyPr>
          <a:lstStyle/>
          <a:p>
            <a:r>
              <a:rPr sz="1250" b="0">
                <a:solidFill>
                  <a:srgbClr val="CADCFC"/>
                </a:solidFill>
                <a:latin typeface="Calibri"/>
              </a:rPr>
              <a:t>Tone steering</a:t>
            </a:r>
          </a:p>
        </p:txBody>
      </p:sp>
      <p:sp>
        <p:nvSpPr>
          <p:cNvPr id="25" name="TextBox 24"/>
          <p:cNvSpPr txBox="1"/>
          <p:nvPr/>
        </p:nvSpPr>
        <p:spPr>
          <a:xfrm>
            <a:off x="6446520" y="3986784"/>
            <a:ext cx="1828800" cy="310896"/>
          </a:xfrm>
          <a:prstGeom prst="rect">
            <a:avLst/>
          </a:prstGeom>
          <a:noFill/>
        </p:spPr>
        <p:txBody>
          <a:bodyPr wrap="square">
            <a:spAutoFit/>
          </a:bodyPr>
          <a:lstStyle/>
          <a:p>
            <a:r>
              <a:rPr sz="1250" b="0">
                <a:solidFill>
                  <a:srgbClr val="CADCFC"/>
                </a:solidFill>
                <a:latin typeface="Calibri"/>
              </a:rPr>
              <a:t>3.4 %</a:t>
            </a:r>
          </a:p>
        </p:txBody>
      </p:sp>
      <p:sp>
        <p:nvSpPr>
          <p:cNvPr id="26" name="TextBox 25"/>
          <p:cNvSpPr txBox="1"/>
          <p:nvPr/>
        </p:nvSpPr>
        <p:spPr>
          <a:xfrm>
            <a:off x="8458200" y="3986784"/>
            <a:ext cx="1828800" cy="310896"/>
          </a:xfrm>
          <a:prstGeom prst="rect">
            <a:avLst/>
          </a:prstGeom>
          <a:noFill/>
        </p:spPr>
        <p:txBody>
          <a:bodyPr wrap="square">
            <a:spAutoFit/>
          </a:bodyPr>
          <a:lstStyle/>
          <a:p>
            <a:r>
              <a:rPr sz="1350" b="1">
                <a:solidFill>
                  <a:srgbClr val="B54A3F"/>
                </a:solidFill>
                <a:latin typeface="Calibri"/>
              </a:rPr>
              <a:t>28.8 %</a:t>
            </a:r>
          </a:p>
        </p:txBody>
      </p:sp>
      <p:sp>
        <p:nvSpPr>
          <p:cNvPr id="27" name="TextBox 26"/>
          <p:cNvSpPr txBox="1"/>
          <p:nvPr/>
        </p:nvSpPr>
        <p:spPr>
          <a:xfrm>
            <a:off x="10378440" y="3986784"/>
            <a:ext cx="1097280" cy="310896"/>
          </a:xfrm>
          <a:prstGeom prst="rect">
            <a:avLst/>
          </a:prstGeom>
          <a:noFill/>
        </p:spPr>
        <p:txBody>
          <a:bodyPr wrap="square">
            <a:spAutoFit/>
          </a:bodyPr>
          <a:lstStyle/>
          <a:p>
            <a:r>
              <a:rPr sz="1200" b="0">
                <a:solidFill>
                  <a:srgbClr val="CFE8EF"/>
                </a:solidFill>
                <a:latin typeface="Calibri"/>
              </a:rPr>
              <a:t>10 of 10</a:t>
            </a:r>
          </a:p>
        </p:txBody>
      </p:sp>
      <p:sp>
        <p:nvSpPr>
          <p:cNvPr id="28" name="Rectangle 27"/>
          <p:cNvSpPr/>
          <p:nvPr/>
        </p:nvSpPr>
        <p:spPr>
          <a:xfrm>
            <a:off x="640080" y="4443983"/>
            <a:ext cx="10881360" cy="43891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4517136"/>
            <a:ext cx="3108960" cy="310896"/>
          </a:xfrm>
          <a:prstGeom prst="rect">
            <a:avLst/>
          </a:prstGeom>
          <a:noFill/>
        </p:spPr>
        <p:txBody>
          <a:bodyPr wrap="square">
            <a:spAutoFit/>
          </a:bodyPr>
          <a:lstStyle/>
          <a:p>
            <a:r>
              <a:rPr sz="1250" b="0">
                <a:solidFill>
                  <a:srgbClr val="FFFFFF"/>
                </a:solidFill>
                <a:latin typeface="Calibri"/>
              </a:rPr>
              <a:t>RobustRAG KeywordAgg, Llama-3</a:t>
            </a:r>
          </a:p>
        </p:txBody>
      </p:sp>
      <p:sp>
        <p:nvSpPr>
          <p:cNvPr id="30" name="TextBox 29"/>
          <p:cNvSpPr txBox="1"/>
          <p:nvPr/>
        </p:nvSpPr>
        <p:spPr>
          <a:xfrm>
            <a:off x="4069080" y="4517136"/>
            <a:ext cx="2286000" cy="310896"/>
          </a:xfrm>
          <a:prstGeom prst="rect">
            <a:avLst/>
          </a:prstGeom>
          <a:noFill/>
        </p:spPr>
        <p:txBody>
          <a:bodyPr wrap="square">
            <a:spAutoFit/>
          </a:bodyPr>
          <a:lstStyle/>
          <a:p>
            <a:r>
              <a:rPr sz="1250" b="0">
                <a:solidFill>
                  <a:srgbClr val="CADCFC"/>
                </a:solidFill>
                <a:latin typeface="Calibri"/>
              </a:rPr>
              <a:t>Refusal</a:t>
            </a:r>
          </a:p>
        </p:txBody>
      </p:sp>
      <p:sp>
        <p:nvSpPr>
          <p:cNvPr id="31" name="TextBox 30"/>
          <p:cNvSpPr txBox="1"/>
          <p:nvPr/>
        </p:nvSpPr>
        <p:spPr>
          <a:xfrm>
            <a:off x="6446520" y="4517136"/>
            <a:ext cx="1828800" cy="310896"/>
          </a:xfrm>
          <a:prstGeom prst="rect">
            <a:avLst/>
          </a:prstGeom>
          <a:noFill/>
        </p:spPr>
        <p:txBody>
          <a:bodyPr wrap="square">
            <a:spAutoFit/>
          </a:bodyPr>
          <a:lstStyle/>
          <a:p>
            <a:r>
              <a:rPr sz="1250" b="0">
                <a:solidFill>
                  <a:srgbClr val="CADCFC"/>
                </a:solidFill>
                <a:latin typeface="Calibri"/>
              </a:rPr>
              <a:t>0.0 %</a:t>
            </a:r>
          </a:p>
        </p:txBody>
      </p:sp>
      <p:sp>
        <p:nvSpPr>
          <p:cNvPr id="32" name="TextBox 31"/>
          <p:cNvSpPr txBox="1"/>
          <p:nvPr/>
        </p:nvSpPr>
        <p:spPr>
          <a:xfrm>
            <a:off x="8458200" y="4517136"/>
            <a:ext cx="1828800" cy="310896"/>
          </a:xfrm>
          <a:prstGeom prst="rect">
            <a:avLst/>
          </a:prstGeom>
          <a:noFill/>
        </p:spPr>
        <p:txBody>
          <a:bodyPr wrap="square">
            <a:spAutoFit/>
          </a:bodyPr>
          <a:lstStyle/>
          <a:p>
            <a:r>
              <a:rPr sz="1350" b="1">
                <a:solidFill>
                  <a:srgbClr val="B54A3F"/>
                </a:solidFill>
                <a:latin typeface="Calibri"/>
              </a:rPr>
              <a:t>85.0 %</a:t>
            </a:r>
          </a:p>
        </p:txBody>
      </p:sp>
      <p:sp>
        <p:nvSpPr>
          <p:cNvPr id="33" name="TextBox 32"/>
          <p:cNvSpPr txBox="1"/>
          <p:nvPr/>
        </p:nvSpPr>
        <p:spPr>
          <a:xfrm>
            <a:off x="10378440" y="4517136"/>
            <a:ext cx="1097280" cy="310896"/>
          </a:xfrm>
          <a:prstGeom prst="rect">
            <a:avLst/>
          </a:prstGeom>
          <a:noFill/>
        </p:spPr>
        <p:txBody>
          <a:bodyPr wrap="square">
            <a:spAutoFit/>
          </a:bodyPr>
          <a:lstStyle/>
          <a:p>
            <a:r>
              <a:rPr sz="1200" b="0">
                <a:solidFill>
                  <a:srgbClr val="CFE8EF"/>
                </a:solidFill>
                <a:latin typeface="Calibri"/>
              </a:rPr>
              <a:t>9 of 10</a:t>
            </a:r>
          </a:p>
        </p:txBody>
      </p:sp>
      <p:sp>
        <p:nvSpPr>
          <p:cNvPr id="34" name="Rectangle 33"/>
          <p:cNvSpPr/>
          <p:nvPr/>
        </p:nvSpPr>
        <p:spPr>
          <a:xfrm>
            <a:off x="640080" y="4974336"/>
            <a:ext cx="10881360" cy="438912"/>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8680" y="5047488"/>
            <a:ext cx="3108960" cy="310896"/>
          </a:xfrm>
          <a:prstGeom prst="rect">
            <a:avLst/>
          </a:prstGeom>
          <a:noFill/>
        </p:spPr>
        <p:txBody>
          <a:bodyPr wrap="square">
            <a:spAutoFit/>
          </a:bodyPr>
          <a:lstStyle/>
          <a:p>
            <a:r>
              <a:rPr sz="1250" b="0">
                <a:solidFill>
                  <a:srgbClr val="FFFFFF"/>
                </a:solidFill>
                <a:latin typeface="Calibri"/>
              </a:rPr>
              <a:t>RobustRAG KeywordAgg, Mistral</a:t>
            </a:r>
          </a:p>
        </p:txBody>
      </p:sp>
      <p:sp>
        <p:nvSpPr>
          <p:cNvPr id="36" name="TextBox 35"/>
          <p:cNvSpPr txBox="1"/>
          <p:nvPr/>
        </p:nvSpPr>
        <p:spPr>
          <a:xfrm>
            <a:off x="4069080" y="5047488"/>
            <a:ext cx="2286000" cy="310896"/>
          </a:xfrm>
          <a:prstGeom prst="rect">
            <a:avLst/>
          </a:prstGeom>
          <a:noFill/>
        </p:spPr>
        <p:txBody>
          <a:bodyPr wrap="square">
            <a:spAutoFit/>
          </a:bodyPr>
          <a:lstStyle/>
          <a:p>
            <a:r>
              <a:rPr sz="1250" b="0">
                <a:solidFill>
                  <a:srgbClr val="CADCFC"/>
                </a:solidFill>
                <a:latin typeface="Calibri"/>
              </a:rPr>
              <a:t>Refusal</a:t>
            </a:r>
          </a:p>
        </p:txBody>
      </p:sp>
      <p:sp>
        <p:nvSpPr>
          <p:cNvPr id="37" name="TextBox 36"/>
          <p:cNvSpPr txBox="1"/>
          <p:nvPr/>
        </p:nvSpPr>
        <p:spPr>
          <a:xfrm>
            <a:off x="6446520" y="5047488"/>
            <a:ext cx="1828800" cy="310896"/>
          </a:xfrm>
          <a:prstGeom prst="rect">
            <a:avLst/>
          </a:prstGeom>
          <a:noFill/>
        </p:spPr>
        <p:txBody>
          <a:bodyPr wrap="square">
            <a:spAutoFit/>
          </a:bodyPr>
          <a:lstStyle/>
          <a:p>
            <a:r>
              <a:rPr sz="1250" b="0">
                <a:solidFill>
                  <a:srgbClr val="CADCFC"/>
                </a:solidFill>
                <a:latin typeface="Calibri"/>
              </a:rPr>
              <a:t>0.0 %</a:t>
            </a:r>
          </a:p>
        </p:txBody>
      </p:sp>
      <p:sp>
        <p:nvSpPr>
          <p:cNvPr id="38" name="TextBox 37"/>
          <p:cNvSpPr txBox="1"/>
          <p:nvPr/>
        </p:nvSpPr>
        <p:spPr>
          <a:xfrm>
            <a:off x="8458200" y="5047488"/>
            <a:ext cx="1828800" cy="310896"/>
          </a:xfrm>
          <a:prstGeom prst="rect">
            <a:avLst/>
          </a:prstGeom>
          <a:noFill/>
        </p:spPr>
        <p:txBody>
          <a:bodyPr wrap="square">
            <a:spAutoFit/>
          </a:bodyPr>
          <a:lstStyle/>
          <a:p>
            <a:r>
              <a:rPr sz="1350" b="1">
                <a:solidFill>
                  <a:srgbClr val="1C7293"/>
                </a:solidFill>
                <a:latin typeface="Calibri"/>
              </a:rPr>
              <a:t>5.7 %</a:t>
            </a:r>
          </a:p>
        </p:txBody>
      </p:sp>
      <p:sp>
        <p:nvSpPr>
          <p:cNvPr id="39" name="TextBox 38"/>
          <p:cNvSpPr txBox="1"/>
          <p:nvPr/>
        </p:nvSpPr>
        <p:spPr>
          <a:xfrm>
            <a:off x="10378440" y="5047488"/>
            <a:ext cx="1097280" cy="310896"/>
          </a:xfrm>
          <a:prstGeom prst="rect">
            <a:avLst/>
          </a:prstGeom>
          <a:noFill/>
        </p:spPr>
        <p:txBody>
          <a:bodyPr wrap="square">
            <a:spAutoFit/>
          </a:bodyPr>
          <a:lstStyle/>
          <a:p>
            <a:r>
              <a:rPr sz="1200" b="0">
                <a:solidFill>
                  <a:srgbClr val="CFE8EF"/>
                </a:solidFill>
                <a:latin typeface="Calibri"/>
              </a:rPr>
              <a:t>9 of 10</a:t>
            </a:r>
          </a:p>
        </p:txBody>
      </p:sp>
      <p:sp>
        <p:nvSpPr>
          <p:cNvPr id="40" name="TextBox 39"/>
          <p:cNvSpPr txBox="1"/>
          <p:nvPr/>
        </p:nvSpPr>
        <p:spPr>
          <a:xfrm>
            <a:off x="640080" y="5669280"/>
            <a:ext cx="10881360" cy="1005840"/>
          </a:xfrm>
          <a:prstGeom prst="rect">
            <a:avLst/>
          </a:prstGeom>
          <a:noFill/>
        </p:spPr>
        <p:txBody>
          <a:bodyPr wrap="square">
            <a:spAutoFit/>
          </a:bodyPr>
          <a:lstStyle/>
          <a:p>
            <a:pPr>
              <a:spcAft>
                <a:spcPts val="400"/>
              </a:spcAft>
            </a:pPr>
            <a:r>
              <a:rPr sz="1350" b="1">
                <a:solidFill>
                  <a:srgbClr val="FFFFFF"/>
                </a:solidFill>
                <a:latin typeface="Calibri"/>
              </a:rPr>
              <a:t>With no defense the attack stays at or near zero at every dose. It works only through the defense.</a:t>
            </a:r>
          </a:p>
          <a:p>
            <a:pPr>
              <a:spcAft>
                <a:spcPts val="400"/>
              </a:spcAft>
            </a:pPr>
            <a:r>
              <a:rPr sz="1250" b="0">
                <a:solidFill>
                  <a:srgbClr val="CADCFC"/>
                </a:solidFill>
                <a:latin typeface="Calibri"/>
              </a:rPr>
              <a:t>Tone steering does not change the answer. A defense that pushes the model to follow the text follows the tone too.</a:t>
            </a:r>
          </a:p>
          <a:p>
            <a:pPr>
              <a:spcAft>
                <a:spcPts val="400"/>
              </a:spcAft>
            </a:pPr>
            <a:r>
              <a:rPr sz="1250" b="1">
                <a:solidFill>
                  <a:srgbClr val="E0A458"/>
                </a:solidFill>
                <a:latin typeface="Calibri"/>
              </a:rPr>
              <a:t>The last row is the warning: the same defense helps on one model and does harm on another.</a:t>
            </a:r>
          </a:p>
        </p:txBody>
      </p:sp>
      <p:sp>
        <p:nvSpPr>
          <p:cNvPr id="41" name="TextBox 40"/>
          <p:cNvSpPr txBox="1"/>
          <p:nvPr/>
        </p:nvSpPr>
        <p:spPr>
          <a:xfrm>
            <a:off x="640080" y="6419088"/>
            <a:ext cx="10789920" cy="402336"/>
          </a:xfrm>
          <a:prstGeom prst="rect">
            <a:avLst/>
          </a:prstGeom>
          <a:noFill/>
        </p:spPr>
        <p:txBody>
          <a:bodyPr wrap="square">
            <a:spAutoFit/>
          </a:bodyPr>
          <a:lstStyle/>
          <a:p>
            <a:r>
              <a:rPr sz="850" b="0">
                <a:solidFill>
                  <a:srgbClr val="5B6B79"/>
                </a:solidFill>
                <a:latin typeface="Calibri"/>
              </a:rPr>
              <a:t>Sources:  BadRAG Selective-Fact and DoS Xue et al., 2024, arXiv:2406.00083   ·   RobustRAG Xiang et al., 2024, arXiv:2405.15556   ·   ParamMute Huang et al., NeurIPS 2025, arXiv:2502.15543   ·   all numbers: our runs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RESULT 3</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800" b="1">
                <a:solidFill>
                  <a:srgbClr val="FFFFFF"/>
                </a:solidFill>
                <a:latin typeface="Cambria"/>
              </a:rPr>
              <a:t>Two versions of one defense give</a:t>
            </a:r>
          </a:p>
          <a:p>
            <a:pPr>
              <a:spcAft>
                <a:spcPts val="200"/>
              </a:spcAft>
            </a:pPr>
            <a:r>
              <a:rPr sz="2800" b="1">
                <a:solidFill>
                  <a:srgbClr val="FFFFFF"/>
                </a:solidFill>
                <a:latin typeface="Cambria"/>
              </a:rPr>
              <a:t>opposite answers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27</a:t>
            </a:r>
          </a:p>
        </p:txBody>
      </p:sp>
      <p:sp>
        <p:nvSpPr>
          <p:cNvPr id="5" name="TextBox 4"/>
          <p:cNvSpPr txBox="1"/>
          <p:nvPr/>
        </p:nvSpPr>
        <p:spPr>
          <a:xfrm>
            <a:off x="640080" y="2331720"/>
            <a:ext cx="10881360" cy="365760"/>
          </a:xfrm>
          <a:prstGeom prst="rect">
            <a:avLst/>
          </a:prstGeom>
          <a:noFill/>
        </p:spPr>
        <p:txBody>
          <a:bodyPr wrap="square">
            <a:spAutoFit/>
          </a:bodyPr>
          <a:lstStyle/>
          <a:p>
            <a:r>
              <a:rPr sz="1250" b="0">
                <a:solidFill>
                  <a:srgbClr val="CFE8EF"/>
                </a:solidFill>
                <a:latin typeface="Calibri"/>
              </a:rPr>
              <a:t>RobustRAG ships both. They share the isolation step. They differ only in how they join the answers.</a:t>
            </a:r>
          </a:p>
        </p:txBody>
      </p:sp>
      <p:sp>
        <p:nvSpPr>
          <p:cNvPr id="6" name="TextBox 5"/>
          <p:cNvSpPr txBox="1"/>
          <p:nvPr/>
        </p:nvSpPr>
        <p:spPr>
          <a:xfrm>
            <a:off x="868680" y="2788920"/>
            <a:ext cx="2834640" cy="320040"/>
          </a:xfrm>
          <a:prstGeom prst="rect">
            <a:avLst/>
          </a:prstGeom>
          <a:noFill/>
        </p:spPr>
        <p:txBody>
          <a:bodyPr wrap="square">
            <a:spAutoFit/>
          </a:bodyPr>
          <a:lstStyle/>
          <a:p>
            <a:r>
              <a:rPr sz="1250" b="1">
                <a:solidFill>
                  <a:srgbClr val="E0A458"/>
                </a:solidFill>
                <a:latin typeface="Calibri"/>
              </a:rPr>
              <a:t>Bad passages of 10</a:t>
            </a:r>
          </a:p>
        </p:txBody>
      </p:sp>
      <p:sp>
        <p:nvSpPr>
          <p:cNvPr id="7" name="TextBox 6"/>
          <p:cNvSpPr txBox="1"/>
          <p:nvPr/>
        </p:nvSpPr>
        <p:spPr>
          <a:xfrm>
            <a:off x="3977639" y="2788920"/>
            <a:ext cx="960120" cy="320040"/>
          </a:xfrm>
          <a:prstGeom prst="rect">
            <a:avLst/>
          </a:prstGeom>
          <a:noFill/>
        </p:spPr>
        <p:txBody>
          <a:bodyPr wrap="square">
            <a:spAutoFit/>
          </a:bodyPr>
          <a:lstStyle/>
          <a:p>
            <a:pPr algn="ctr"/>
            <a:r>
              <a:rPr sz="1250" b="1">
                <a:solidFill>
                  <a:srgbClr val="E0A458"/>
                </a:solidFill>
                <a:latin typeface="Calibri"/>
              </a:rPr>
              <a:t>1</a:t>
            </a:r>
          </a:p>
        </p:txBody>
      </p:sp>
      <p:sp>
        <p:nvSpPr>
          <p:cNvPr id="8" name="TextBox 7"/>
          <p:cNvSpPr txBox="1"/>
          <p:nvPr/>
        </p:nvSpPr>
        <p:spPr>
          <a:xfrm>
            <a:off x="5056631" y="2788920"/>
            <a:ext cx="960120" cy="320040"/>
          </a:xfrm>
          <a:prstGeom prst="rect">
            <a:avLst/>
          </a:prstGeom>
          <a:noFill/>
        </p:spPr>
        <p:txBody>
          <a:bodyPr wrap="square">
            <a:spAutoFit/>
          </a:bodyPr>
          <a:lstStyle/>
          <a:p>
            <a:pPr algn="ctr"/>
            <a:r>
              <a:rPr sz="1250" b="1">
                <a:solidFill>
                  <a:srgbClr val="E0A458"/>
                </a:solidFill>
                <a:latin typeface="Calibri"/>
              </a:rPr>
              <a:t>5</a:t>
            </a:r>
          </a:p>
        </p:txBody>
      </p:sp>
      <p:sp>
        <p:nvSpPr>
          <p:cNvPr id="9" name="TextBox 8"/>
          <p:cNvSpPr txBox="1"/>
          <p:nvPr/>
        </p:nvSpPr>
        <p:spPr>
          <a:xfrm>
            <a:off x="6135623" y="2788920"/>
            <a:ext cx="960120" cy="320040"/>
          </a:xfrm>
          <a:prstGeom prst="rect">
            <a:avLst/>
          </a:prstGeom>
          <a:noFill/>
        </p:spPr>
        <p:txBody>
          <a:bodyPr wrap="square">
            <a:spAutoFit/>
          </a:bodyPr>
          <a:lstStyle/>
          <a:p>
            <a:pPr algn="ctr"/>
            <a:r>
              <a:rPr sz="1250" b="1">
                <a:solidFill>
                  <a:srgbClr val="E0A458"/>
                </a:solidFill>
                <a:latin typeface="Calibri"/>
              </a:rPr>
              <a:t>6</a:t>
            </a:r>
          </a:p>
        </p:txBody>
      </p:sp>
      <p:sp>
        <p:nvSpPr>
          <p:cNvPr id="10" name="TextBox 9"/>
          <p:cNvSpPr txBox="1"/>
          <p:nvPr/>
        </p:nvSpPr>
        <p:spPr>
          <a:xfrm>
            <a:off x="7214616" y="2788920"/>
            <a:ext cx="960120" cy="320040"/>
          </a:xfrm>
          <a:prstGeom prst="rect">
            <a:avLst/>
          </a:prstGeom>
          <a:noFill/>
        </p:spPr>
        <p:txBody>
          <a:bodyPr wrap="square">
            <a:spAutoFit/>
          </a:bodyPr>
          <a:lstStyle/>
          <a:p>
            <a:pPr algn="ctr"/>
            <a:r>
              <a:rPr sz="1250" b="1">
                <a:solidFill>
                  <a:srgbClr val="E0A458"/>
                </a:solidFill>
                <a:latin typeface="Calibri"/>
              </a:rPr>
              <a:t>7</a:t>
            </a:r>
          </a:p>
        </p:txBody>
      </p:sp>
      <p:sp>
        <p:nvSpPr>
          <p:cNvPr id="11" name="TextBox 10"/>
          <p:cNvSpPr txBox="1"/>
          <p:nvPr/>
        </p:nvSpPr>
        <p:spPr>
          <a:xfrm>
            <a:off x="8293608" y="2788920"/>
            <a:ext cx="960120" cy="320040"/>
          </a:xfrm>
          <a:prstGeom prst="rect">
            <a:avLst/>
          </a:prstGeom>
          <a:noFill/>
        </p:spPr>
        <p:txBody>
          <a:bodyPr wrap="square">
            <a:spAutoFit/>
          </a:bodyPr>
          <a:lstStyle/>
          <a:p>
            <a:pPr algn="ctr"/>
            <a:r>
              <a:rPr sz="1250" b="1">
                <a:solidFill>
                  <a:srgbClr val="E0A458"/>
                </a:solidFill>
                <a:latin typeface="Calibri"/>
              </a:rPr>
              <a:t>8</a:t>
            </a:r>
          </a:p>
        </p:txBody>
      </p:sp>
      <p:sp>
        <p:nvSpPr>
          <p:cNvPr id="12" name="TextBox 11"/>
          <p:cNvSpPr txBox="1"/>
          <p:nvPr/>
        </p:nvSpPr>
        <p:spPr>
          <a:xfrm>
            <a:off x="9372600" y="2788920"/>
            <a:ext cx="960120" cy="320040"/>
          </a:xfrm>
          <a:prstGeom prst="rect">
            <a:avLst/>
          </a:prstGeom>
          <a:noFill/>
        </p:spPr>
        <p:txBody>
          <a:bodyPr wrap="square">
            <a:spAutoFit/>
          </a:bodyPr>
          <a:lstStyle/>
          <a:p>
            <a:pPr algn="ctr"/>
            <a:r>
              <a:rPr sz="1250" b="1">
                <a:solidFill>
                  <a:srgbClr val="E0A458"/>
                </a:solidFill>
                <a:latin typeface="Calibri"/>
              </a:rPr>
              <a:t>9</a:t>
            </a:r>
          </a:p>
        </p:txBody>
      </p:sp>
      <p:sp>
        <p:nvSpPr>
          <p:cNvPr id="13" name="TextBox 12"/>
          <p:cNvSpPr txBox="1"/>
          <p:nvPr/>
        </p:nvSpPr>
        <p:spPr>
          <a:xfrm>
            <a:off x="10451592" y="2788920"/>
            <a:ext cx="960120" cy="320040"/>
          </a:xfrm>
          <a:prstGeom prst="rect">
            <a:avLst/>
          </a:prstGeom>
          <a:noFill/>
        </p:spPr>
        <p:txBody>
          <a:bodyPr wrap="square">
            <a:spAutoFit/>
          </a:bodyPr>
          <a:lstStyle/>
          <a:p>
            <a:pPr algn="ctr"/>
            <a:r>
              <a:rPr sz="1250" b="1">
                <a:solidFill>
                  <a:srgbClr val="E0A458"/>
                </a:solidFill>
                <a:latin typeface="Calibri"/>
              </a:rPr>
              <a:t>10</a:t>
            </a:r>
          </a:p>
        </p:txBody>
      </p:sp>
      <p:sp>
        <p:nvSpPr>
          <p:cNvPr id="14" name="Rectangle 13"/>
          <p:cNvSpPr/>
          <p:nvPr/>
        </p:nvSpPr>
        <p:spPr>
          <a:xfrm>
            <a:off x="640080" y="3218688"/>
            <a:ext cx="10881360" cy="4572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291840"/>
            <a:ext cx="2834640" cy="320040"/>
          </a:xfrm>
          <a:prstGeom prst="rect">
            <a:avLst/>
          </a:prstGeom>
          <a:noFill/>
        </p:spPr>
        <p:txBody>
          <a:bodyPr wrap="square">
            <a:spAutoFit/>
          </a:bodyPr>
          <a:lstStyle/>
          <a:p>
            <a:r>
              <a:rPr sz="1250" b="0">
                <a:solidFill>
                  <a:srgbClr val="FFFFFF"/>
                </a:solidFill>
                <a:latin typeface="Calibri"/>
              </a:rPr>
              <a:t>KeywordAgg</a:t>
            </a:r>
          </a:p>
        </p:txBody>
      </p:sp>
      <p:sp>
        <p:nvSpPr>
          <p:cNvPr id="16" name="TextBox 15"/>
          <p:cNvSpPr txBox="1"/>
          <p:nvPr/>
        </p:nvSpPr>
        <p:spPr>
          <a:xfrm>
            <a:off x="3977639" y="3291840"/>
            <a:ext cx="960120" cy="320040"/>
          </a:xfrm>
          <a:prstGeom prst="rect">
            <a:avLst/>
          </a:prstGeom>
          <a:noFill/>
        </p:spPr>
        <p:txBody>
          <a:bodyPr wrap="square">
            <a:spAutoFit/>
          </a:bodyPr>
          <a:lstStyle/>
          <a:p>
            <a:pPr algn="ctr"/>
            <a:r>
              <a:rPr sz="1250" b="0">
                <a:solidFill>
                  <a:srgbClr val="1C7293"/>
                </a:solidFill>
                <a:latin typeface="Calibri"/>
              </a:rPr>
              <a:t>+7.3</a:t>
            </a:r>
          </a:p>
        </p:txBody>
      </p:sp>
      <p:sp>
        <p:nvSpPr>
          <p:cNvPr id="17" name="TextBox 16"/>
          <p:cNvSpPr txBox="1"/>
          <p:nvPr/>
        </p:nvSpPr>
        <p:spPr>
          <a:xfrm>
            <a:off x="5056631" y="3291840"/>
            <a:ext cx="960120" cy="320040"/>
          </a:xfrm>
          <a:prstGeom prst="rect">
            <a:avLst/>
          </a:prstGeom>
          <a:noFill/>
        </p:spPr>
        <p:txBody>
          <a:bodyPr wrap="square">
            <a:spAutoFit/>
          </a:bodyPr>
          <a:lstStyle/>
          <a:p>
            <a:pPr algn="ctr"/>
            <a:r>
              <a:rPr sz="1250" b="0">
                <a:solidFill>
                  <a:srgbClr val="1C7293"/>
                </a:solidFill>
                <a:latin typeface="Calibri"/>
              </a:rPr>
              <a:t>+4.0</a:t>
            </a:r>
          </a:p>
        </p:txBody>
      </p:sp>
      <p:sp>
        <p:nvSpPr>
          <p:cNvPr id="18" name="TextBox 17"/>
          <p:cNvSpPr txBox="1"/>
          <p:nvPr/>
        </p:nvSpPr>
        <p:spPr>
          <a:xfrm>
            <a:off x="6135623" y="3291840"/>
            <a:ext cx="960120" cy="320040"/>
          </a:xfrm>
          <a:prstGeom prst="rect">
            <a:avLst/>
          </a:prstGeom>
          <a:noFill/>
        </p:spPr>
        <p:txBody>
          <a:bodyPr wrap="square">
            <a:spAutoFit/>
          </a:bodyPr>
          <a:lstStyle/>
          <a:p>
            <a:pPr algn="ctr"/>
            <a:r>
              <a:rPr sz="1250" b="0">
                <a:solidFill>
                  <a:srgbClr val="1C7293"/>
                </a:solidFill>
                <a:latin typeface="Calibri"/>
              </a:rPr>
              <a:t>+4.0</a:t>
            </a:r>
          </a:p>
        </p:txBody>
      </p:sp>
      <p:sp>
        <p:nvSpPr>
          <p:cNvPr id="19" name="TextBox 18"/>
          <p:cNvSpPr txBox="1"/>
          <p:nvPr/>
        </p:nvSpPr>
        <p:spPr>
          <a:xfrm>
            <a:off x="7214616" y="3291840"/>
            <a:ext cx="960120" cy="320040"/>
          </a:xfrm>
          <a:prstGeom prst="rect">
            <a:avLst/>
          </a:prstGeom>
          <a:noFill/>
        </p:spPr>
        <p:txBody>
          <a:bodyPr wrap="square">
            <a:spAutoFit/>
          </a:bodyPr>
          <a:lstStyle/>
          <a:p>
            <a:pPr algn="ctr"/>
            <a:r>
              <a:rPr sz="1250" b="0">
                <a:solidFill>
                  <a:srgbClr val="1C7293"/>
                </a:solidFill>
                <a:latin typeface="Calibri"/>
              </a:rPr>
              <a:t>+5.7</a:t>
            </a:r>
          </a:p>
        </p:txBody>
      </p:sp>
      <p:sp>
        <p:nvSpPr>
          <p:cNvPr id="20" name="TextBox 19"/>
          <p:cNvSpPr txBox="1"/>
          <p:nvPr/>
        </p:nvSpPr>
        <p:spPr>
          <a:xfrm>
            <a:off x="8293608" y="3291840"/>
            <a:ext cx="960120" cy="320040"/>
          </a:xfrm>
          <a:prstGeom prst="rect">
            <a:avLst/>
          </a:prstGeom>
          <a:noFill/>
        </p:spPr>
        <p:txBody>
          <a:bodyPr wrap="square">
            <a:spAutoFit/>
          </a:bodyPr>
          <a:lstStyle/>
          <a:p>
            <a:pPr algn="ctr"/>
            <a:r>
              <a:rPr sz="1250" b="0">
                <a:solidFill>
                  <a:srgbClr val="1C7293"/>
                </a:solidFill>
                <a:latin typeface="Calibri"/>
              </a:rPr>
              <a:t>+6.7</a:t>
            </a:r>
          </a:p>
        </p:txBody>
      </p:sp>
      <p:sp>
        <p:nvSpPr>
          <p:cNvPr id="21" name="TextBox 20"/>
          <p:cNvSpPr txBox="1"/>
          <p:nvPr/>
        </p:nvSpPr>
        <p:spPr>
          <a:xfrm>
            <a:off x="9372600" y="3291840"/>
            <a:ext cx="960120" cy="320040"/>
          </a:xfrm>
          <a:prstGeom prst="rect">
            <a:avLst/>
          </a:prstGeom>
          <a:noFill/>
        </p:spPr>
        <p:txBody>
          <a:bodyPr wrap="square">
            <a:spAutoFit/>
          </a:bodyPr>
          <a:lstStyle/>
          <a:p>
            <a:pPr algn="ctr"/>
            <a:r>
              <a:rPr sz="1250" b="0">
                <a:solidFill>
                  <a:srgbClr val="1C7293"/>
                </a:solidFill>
                <a:latin typeface="Calibri"/>
              </a:rPr>
              <a:t>+12.3</a:t>
            </a:r>
          </a:p>
        </p:txBody>
      </p:sp>
      <p:sp>
        <p:nvSpPr>
          <p:cNvPr id="22" name="TextBox 21"/>
          <p:cNvSpPr txBox="1"/>
          <p:nvPr/>
        </p:nvSpPr>
        <p:spPr>
          <a:xfrm>
            <a:off x="10451592" y="3291840"/>
            <a:ext cx="960120" cy="320040"/>
          </a:xfrm>
          <a:prstGeom prst="rect">
            <a:avLst/>
          </a:prstGeom>
          <a:noFill/>
        </p:spPr>
        <p:txBody>
          <a:bodyPr wrap="square">
            <a:spAutoFit/>
          </a:bodyPr>
          <a:lstStyle/>
          <a:p>
            <a:pPr algn="ctr"/>
            <a:r>
              <a:rPr sz="1250" b="0">
                <a:solidFill>
                  <a:srgbClr val="1C7293"/>
                </a:solidFill>
                <a:latin typeface="Calibri"/>
              </a:rPr>
              <a:t>-5.7</a:t>
            </a:r>
          </a:p>
        </p:txBody>
      </p:sp>
      <p:sp>
        <p:nvSpPr>
          <p:cNvPr id="23" name="Rectangle 22"/>
          <p:cNvSpPr/>
          <p:nvPr/>
        </p:nvSpPr>
        <p:spPr>
          <a:xfrm>
            <a:off x="640080" y="3767328"/>
            <a:ext cx="10881360" cy="4572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3840480"/>
            <a:ext cx="2834640" cy="320040"/>
          </a:xfrm>
          <a:prstGeom prst="rect">
            <a:avLst/>
          </a:prstGeom>
          <a:noFill/>
        </p:spPr>
        <p:txBody>
          <a:bodyPr wrap="square">
            <a:spAutoFit/>
          </a:bodyPr>
          <a:lstStyle/>
          <a:p>
            <a:r>
              <a:rPr sz="1250" b="0">
                <a:solidFill>
                  <a:srgbClr val="FFFFFF"/>
                </a:solidFill>
                <a:latin typeface="Calibri"/>
              </a:rPr>
              <a:t>DecodingAgg</a:t>
            </a:r>
          </a:p>
        </p:txBody>
      </p:sp>
      <p:sp>
        <p:nvSpPr>
          <p:cNvPr id="25" name="TextBox 24"/>
          <p:cNvSpPr txBox="1"/>
          <p:nvPr/>
        </p:nvSpPr>
        <p:spPr>
          <a:xfrm>
            <a:off x="3977639" y="3840480"/>
            <a:ext cx="960120" cy="320040"/>
          </a:xfrm>
          <a:prstGeom prst="rect">
            <a:avLst/>
          </a:prstGeom>
          <a:noFill/>
        </p:spPr>
        <p:txBody>
          <a:bodyPr wrap="square">
            <a:spAutoFit/>
          </a:bodyPr>
          <a:lstStyle/>
          <a:p>
            <a:pPr algn="ctr"/>
            <a:r>
              <a:rPr sz="1250" b="0">
                <a:solidFill>
                  <a:srgbClr val="B54A3F"/>
                </a:solidFill>
                <a:latin typeface="Calibri"/>
              </a:rPr>
              <a:t>+8.7</a:t>
            </a:r>
          </a:p>
        </p:txBody>
      </p:sp>
      <p:sp>
        <p:nvSpPr>
          <p:cNvPr id="26" name="TextBox 25"/>
          <p:cNvSpPr txBox="1"/>
          <p:nvPr/>
        </p:nvSpPr>
        <p:spPr>
          <a:xfrm>
            <a:off x="5056631" y="3840480"/>
            <a:ext cx="960120" cy="320040"/>
          </a:xfrm>
          <a:prstGeom prst="rect">
            <a:avLst/>
          </a:prstGeom>
          <a:noFill/>
        </p:spPr>
        <p:txBody>
          <a:bodyPr wrap="square">
            <a:spAutoFit/>
          </a:bodyPr>
          <a:lstStyle/>
          <a:p>
            <a:pPr algn="ctr"/>
            <a:r>
              <a:rPr sz="1250" b="0">
                <a:solidFill>
                  <a:srgbClr val="B54A3F"/>
                </a:solidFill>
                <a:latin typeface="Calibri"/>
              </a:rPr>
              <a:t>-9.0</a:t>
            </a:r>
          </a:p>
        </p:txBody>
      </p:sp>
      <p:sp>
        <p:nvSpPr>
          <p:cNvPr id="27" name="TextBox 26"/>
          <p:cNvSpPr txBox="1"/>
          <p:nvPr/>
        </p:nvSpPr>
        <p:spPr>
          <a:xfrm>
            <a:off x="6135623" y="3840480"/>
            <a:ext cx="960120" cy="320040"/>
          </a:xfrm>
          <a:prstGeom prst="rect">
            <a:avLst/>
          </a:prstGeom>
          <a:noFill/>
        </p:spPr>
        <p:txBody>
          <a:bodyPr wrap="square">
            <a:spAutoFit/>
          </a:bodyPr>
          <a:lstStyle/>
          <a:p>
            <a:pPr algn="ctr"/>
            <a:r>
              <a:rPr sz="1250" b="0">
                <a:solidFill>
                  <a:srgbClr val="B54A3F"/>
                </a:solidFill>
                <a:latin typeface="Calibri"/>
              </a:rPr>
              <a:t>-14.0</a:t>
            </a:r>
          </a:p>
        </p:txBody>
      </p:sp>
      <p:sp>
        <p:nvSpPr>
          <p:cNvPr id="28" name="TextBox 27"/>
          <p:cNvSpPr txBox="1"/>
          <p:nvPr/>
        </p:nvSpPr>
        <p:spPr>
          <a:xfrm>
            <a:off x="7214616" y="3840480"/>
            <a:ext cx="960120" cy="320040"/>
          </a:xfrm>
          <a:prstGeom prst="rect">
            <a:avLst/>
          </a:prstGeom>
          <a:noFill/>
        </p:spPr>
        <p:txBody>
          <a:bodyPr wrap="square">
            <a:spAutoFit/>
          </a:bodyPr>
          <a:lstStyle/>
          <a:p>
            <a:pPr algn="ctr"/>
            <a:r>
              <a:rPr sz="1250" b="0">
                <a:solidFill>
                  <a:srgbClr val="B54A3F"/>
                </a:solidFill>
                <a:latin typeface="Calibri"/>
              </a:rPr>
              <a:t>-18.3</a:t>
            </a:r>
          </a:p>
        </p:txBody>
      </p:sp>
      <p:sp>
        <p:nvSpPr>
          <p:cNvPr id="29" name="TextBox 28"/>
          <p:cNvSpPr txBox="1"/>
          <p:nvPr/>
        </p:nvSpPr>
        <p:spPr>
          <a:xfrm>
            <a:off x="8293608" y="3840480"/>
            <a:ext cx="960120" cy="320040"/>
          </a:xfrm>
          <a:prstGeom prst="rect">
            <a:avLst/>
          </a:prstGeom>
          <a:noFill/>
        </p:spPr>
        <p:txBody>
          <a:bodyPr wrap="square">
            <a:spAutoFit/>
          </a:bodyPr>
          <a:lstStyle/>
          <a:p>
            <a:pPr algn="ctr"/>
            <a:r>
              <a:rPr sz="1250" b="0">
                <a:solidFill>
                  <a:srgbClr val="B54A3F"/>
                </a:solidFill>
                <a:latin typeface="Calibri"/>
              </a:rPr>
              <a:t>-20.3</a:t>
            </a:r>
          </a:p>
        </p:txBody>
      </p:sp>
      <p:sp>
        <p:nvSpPr>
          <p:cNvPr id="30" name="TextBox 29"/>
          <p:cNvSpPr txBox="1"/>
          <p:nvPr/>
        </p:nvSpPr>
        <p:spPr>
          <a:xfrm>
            <a:off x="9372600" y="3840480"/>
            <a:ext cx="960120" cy="320040"/>
          </a:xfrm>
          <a:prstGeom prst="rect">
            <a:avLst/>
          </a:prstGeom>
          <a:noFill/>
        </p:spPr>
        <p:txBody>
          <a:bodyPr wrap="square">
            <a:spAutoFit/>
          </a:bodyPr>
          <a:lstStyle/>
          <a:p>
            <a:pPr algn="ctr"/>
            <a:r>
              <a:rPr sz="1250" b="0">
                <a:solidFill>
                  <a:srgbClr val="B54A3F"/>
                </a:solidFill>
                <a:latin typeface="Calibri"/>
              </a:rPr>
              <a:t>-17.3</a:t>
            </a:r>
          </a:p>
        </p:txBody>
      </p:sp>
      <p:sp>
        <p:nvSpPr>
          <p:cNvPr id="31" name="TextBox 30"/>
          <p:cNvSpPr txBox="1"/>
          <p:nvPr/>
        </p:nvSpPr>
        <p:spPr>
          <a:xfrm>
            <a:off x="10451592" y="3840480"/>
            <a:ext cx="960120" cy="320040"/>
          </a:xfrm>
          <a:prstGeom prst="rect">
            <a:avLst/>
          </a:prstGeom>
          <a:noFill/>
        </p:spPr>
        <p:txBody>
          <a:bodyPr wrap="square">
            <a:spAutoFit/>
          </a:bodyPr>
          <a:lstStyle/>
          <a:p>
            <a:pPr algn="ctr"/>
            <a:r>
              <a:rPr sz="1250" b="0">
                <a:solidFill>
                  <a:srgbClr val="B54A3F"/>
                </a:solidFill>
                <a:latin typeface="Calibri"/>
              </a:rPr>
              <a:t>-4.0</a:t>
            </a:r>
          </a:p>
        </p:txBody>
      </p:sp>
      <p:sp>
        <p:nvSpPr>
          <p:cNvPr id="32" name="Rectangle 31"/>
          <p:cNvSpPr/>
          <p:nvPr/>
        </p:nvSpPr>
        <p:spPr>
          <a:xfrm>
            <a:off x="640080" y="4315968"/>
            <a:ext cx="10881360" cy="45720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8680" y="4389120"/>
            <a:ext cx="2834640" cy="320040"/>
          </a:xfrm>
          <a:prstGeom prst="rect">
            <a:avLst/>
          </a:prstGeom>
          <a:noFill/>
        </p:spPr>
        <p:txBody>
          <a:bodyPr wrap="square">
            <a:spAutoFit/>
          </a:bodyPr>
          <a:lstStyle/>
          <a:p>
            <a:r>
              <a:rPr sz="1250" b="1">
                <a:solidFill>
                  <a:srgbClr val="FFFFFF"/>
                </a:solidFill>
                <a:latin typeface="Calibri"/>
              </a:rPr>
              <a:t>Difference</a:t>
            </a:r>
          </a:p>
        </p:txBody>
      </p:sp>
      <p:sp>
        <p:nvSpPr>
          <p:cNvPr id="34" name="TextBox 33"/>
          <p:cNvSpPr txBox="1"/>
          <p:nvPr/>
        </p:nvSpPr>
        <p:spPr>
          <a:xfrm>
            <a:off x="3977639" y="4389120"/>
            <a:ext cx="960120" cy="320040"/>
          </a:xfrm>
          <a:prstGeom prst="rect">
            <a:avLst/>
          </a:prstGeom>
          <a:noFill/>
        </p:spPr>
        <p:txBody>
          <a:bodyPr wrap="square">
            <a:spAutoFit/>
          </a:bodyPr>
          <a:lstStyle/>
          <a:p>
            <a:pPr algn="ctr"/>
            <a:r>
              <a:rPr sz="1250" b="1">
                <a:solidFill>
                  <a:srgbClr val="FFFFFF"/>
                </a:solidFill>
                <a:latin typeface="Calibri"/>
              </a:rPr>
              <a:t>1.4</a:t>
            </a:r>
          </a:p>
        </p:txBody>
      </p:sp>
      <p:sp>
        <p:nvSpPr>
          <p:cNvPr id="35" name="TextBox 34"/>
          <p:cNvSpPr txBox="1"/>
          <p:nvPr/>
        </p:nvSpPr>
        <p:spPr>
          <a:xfrm>
            <a:off x="5056631" y="4389120"/>
            <a:ext cx="960120" cy="320040"/>
          </a:xfrm>
          <a:prstGeom prst="rect">
            <a:avLst/>
          </a:prstGeom>
          <a:noFill/>
        </p:spPr>
        <p:txBody>
          <a:bodyPr wrap="square">
            <a:spAutoFit/>
          </a:bodyPr>
          <a:lstStyle/>
          <a:p>
            <a:pPr algn="ctr"/>
            <a:r>
              <a:rPr sz="1250" b="1">
                <a:solidFill>
                  <a:srgbClr val="FFFFFF"/>
                </a:solidFill>
                <a:latin typeface="Calibri"/>
              </a:rPr>
              <a:t>13.0</a:t>
            </a:r>
          </a:p>
        </p:txBody>
      </p:sp>
      <p:sp>
        <p:nvSpPr>
          <p:cNvPr id="36" name="TextBox 35"/>
          <p:cNvSpPr txBox="1"/>
          <p:nvPr/>
        </p:nvSpPr>
        <p:spPr>
          <a:xfrm>
            <a:off x="6135623" y="4389120"/>
            <a:ext cx="960120" cy="320040"/>
          </a:xfrm>
          <a:prstGeom prst="rect">
            <a:avLst/>
          </a:prstGeom>
          <a:noFill/>
        </p:spPr>
        <p:txBody>
          <a:bodyPr wrap="square">
            <a:spAutoFit/>
          </a:bodyPr>
          <a:lstStyle/>
          <a:p>
            <a:pPr algn="ctr"/>
            <a:r>
              <a:rPr sz="1250" b="1">
                <a:solidFill>
                  <a:srgbClr val="FFFFFF"/>
                </a:solidFill>
                <a:latin typeface="Calibri"/>
              </a:rPr>
              <a:t>18.0</a:t>
            </a:r>
          </a:p>
        </p:txBody>
      </p:sp>
      <p:sp>
        <p:nvSpPr>
          <p:cNvPr id="37" name="TextBox 36"/>
          <p:cNvSpPr txBox="1"/>
          <p:nvPr/>
        </p:nvSpPr>
        <p:spPr>
          <a:xfrm>
            <a:off x="7214616" y="4389120"/>
            <a:ext cx="960120" cy="320040"/>
          </a:xfrm>
          <a:prstGeom prst="rect">
            <a:avLst/>
          </a:prstGeom>
          <a:noFill/>
        </p:spPr>
        <p:txBody>
          <a:bodyPr wrap="square">
            <a:spAutoFit/>
          </a:bodyPr>
          <a:lstStyle/>
          <a:p>
            <a:pPr algn="ctr"/>
            <a:r>
              <a:rPr sz="1250" b="1">
                <a:solidFill>
                  <a:srgbClr val="FFFFFF"/>
                </a:solidFill>
                <a:latin typeface="Calibri"/>
              </a:rPr>
              <a:t>24.0</a:t>
            </a:r>
          </a:p>
        </p:txBody>
      </p:sp>
      <p:sp>
        <p:nvSpPr>
          <p:cNvPr id="38" name="TextBox 37"/>
          <p:cNvSpPr txBox="1"/>
          <p:nvPr/>
        </p:nvSpPr>
        <p:spPr>
          <a:xfrm>
            <a:off x="8293608" y="4389120"/>
            <a:ext cx="960120" cy="320040"/>
          </a:xfrm>
          <a:prstGeom prst="rect">
            <a:avLst/>
          </a:prstGeom>
          <a:noFill/>
        </p:spPr>
        <p:txBody>
          <a:bodyPr wrap="square">
            <a:spAutoFit/>
          </a:bodyPr>
          <a:lstStyle/>
          <a:p>
            <a:pPr algn="ctr"/>
            <a:r>
              <a:rPr sz="1250" b="1">
                <a:solidFill>
                  <a:srgbClr val="FFFFFF"/>
                </a:solidFill>
                <a:latin typeface="Calibri"/>
              </a:rPr>
              <a:t>27.0</a:t>
            </a:r>
          </a:p>
        </p:txBody>
      </p:sp>
      <p:sp>
        <p:nvSpPr>
          <p:cNvPr id="39" name="TextBox 38"/>
          <p:cNvSpPr txBox="1"/>
          <p:nvPr/>
        </p:nvSpPr>
        <p:spPr>
          <a:xfrm>
            <a:off x="9372600" y="4389120"/>
            <a:ext cx="960120" cy="320040"/>
          </a:xfrm>
          <a:prstGeom prst="rect">
            <a:avLst/>
          </a:prstGeom>
          <a:noFill/>
        </p:spPr>
        <p:txBody>
          <a:bodyPr wrap="square">
            <a:spAutoFit/>
          </a:bodyPr>
          <a:lstStyle/>
          <a:p>
            <a:pPr algn="ctr"/>
            <a:r>
              <a:rPr sz="1250" b="1">
                <a:solidFill>
                  <a:srgbClr val="FFFFFF"/>
                </a:solidFill>
                <a:latin typeface="Calibri"/>
              </a:rPr>
              <a:t>29.6</a:t>
            </a:r>
          </a:p>
        </p:txBody>
      </p:sp>
      <p:sp>
        <p:nvSpPr>
          <p:cNvPr id="40" name="TextBox 39"/>
          <p:cNvSpPr txBox="1"/>
          <p:nvPr/>
        </p:nvSpPr>
        <p:spPr>
          <a:xfrm>
            <a:off x="10451592" y="4389120"/>
            <a:ext cx="960120" cy="320040"/>
          </a:xfrm>
          <a:prstGeom prst="rect">
            <a:avLst/>
          </a:prstGeom>
          <a:noFill/>
        </p:spPr>
        <p:txBody>
          <a:bodyPr wrap="square">
            <a:spAutoFit/>
          </a:bodyPr>
          <a:lstStyle/>
          <a:p>
            <a:pPr algn="ctr"/>
            <a:r>
              <a:rPr sz="1250" b="1">
                <a:solidFill>
                  <a:srgbClr val="FFFFFF"/>
                </a:solidFill>
                <a:latin typeface="Calibri"/>
              </a:rPr>
              <a:t>1.7</a:t>
            </a:r>
          </a:p>
        </p:txBody>
      </p:sp>
      <p:sp>
        <p:nvSpPr>
          <p:cNvPr id="41" name="TextBox 40"/>
          <p:cNvSpPr txBox="1"/>
          <p:nvPr/>
        </p:nvSpPr>
        <p:spPr>
          <a:xfrm>
            <a:off x="640080" y="5074920"/>
            <a:ext cx="10881360" cy="1371600"/>
          </a:xfrm>
          <a:prstGeom prst="rect">
            <a:avLst/>
          </a:prstGeom>
          <a:noFill/>
        </p:spPr>
        <p:txBody>
          <a:bodyPr wrap="square">
            <a:spAutoFit/>
          </a:bodyPr>
          <a:lstStyle/>
          <a:p>
            <a:pPr>
              <a:spcAft>
                <a:spcPts val="400"/>
              </a:spcAft>
            </a:pPr>
            <a:r>
              <a:rPr sz="1350" b="1">
                <a:solidFill>
                  <a:srgbClr val="FFFFFF"/>
                </a:solidFill>
                <a:latin typeface="Calibri"/>
              </a:rPr>
              <a:t>At 9 bad passages of 10, one version helps and the other does harm. They are 29.6 points apart.</a:t>
            </a:r>
          </a:p>
          <a:p>
            <a:pPr>
              <a:spcAft>
                <a:spcPts val="400"/>
              </a:spcAft>
            </a:pPr>
            <a:r>
              <a:rPr sz="1250" b="0">
                <a:solidFill>
                  <a:srgbClr val="CADCFC"/>
                </a:solidFill>
                <a:latin typeface="Calibri"/>
              </a:rPr>
              <a:t>We wrote the cause down before we ran the test. A keyword filter throws away a passage with no answer in it, so one good passage still carries the answer. An average of the outputs lets nine bad ones drown it.</a:t>
            </a:r>
          </a:p>
          <a:p>
            <a:pPr>
              <a:spcAft>
                <a:spcPts val="400"/>
              </a:spcAft>
            </a:pPr>
            <a:r>
              <a:rPr sz="1300" b="1">
                <a:solidFill>
                  <a:srgbClr val="E0A458"/>
                </a:solidFill>
                <a:latin typeface="Calibri"/>
              </a:rPr>
              <a:t>So the difference must grow as good passages go, and must vanish when none are left. It does both.</a:t>
            </a:r>
          </a:p>
        </p:txBody>
      </p:sp>
      <p:sp>
        <p:nvSpPr>
          <p:cNvPr id="42" name="TextBox 41"/>
          <p:cNvSpPr txBox="1"/>
          <p:nvPr/>
        </p:nvSpPr>
        <p:spPr>
          <a:xfrm>
            <a:off x="640080" y="6419088"/>
            <a:ext cx="10789920" cy="402336"/>
          </a:xfrm>
          <a:prstGeom prst="rect">
            <a:avLst/>
          </a:prstGeom>
          <a:noFill/>
        </p:spPr>
        <p:txBody>
          <a:bodyPr wrap="square">
            <a:spAutoFit/>
          </a:bodyPr>
          <a:lstStyle/>
          <a:p>
            <a:r>
              <a:rPr sz="850" b="0">
                <a:solidFill>
                  <a:srgbClr val="5B6B79"/>
                </a:solidFill>
                <a:latin typeface="Calibri"/>
              </a:rPr>
              <a:t>Sources:  KeywordAgg and DecodingAgg both ship in Xiang et al., 2024, arXiv:2405.15556   ·   BadRAG DoS Xue et al., 2024, arXiv:2406.00083   ·   all numbers: our runs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DIFFERENTIATION</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Against the five closest SoKs</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28</a:t>
            </a:r>
          </a:p>
        </p:txBody>
      </p:sp>
      <p:sp>
        <p:nvSpPr>
          <p:cNvPr id="5" name="TextBox 4"/>
          <p:cNvSpPr txBox="1"/>
          <p:nvPr/>
        </p:nvSpPr>
        <p:spPr>
          <a:xfrm>
            <a:off x="640080" y="2240280"/>
            <a:ext cx="10881360" cy="365760"/>
          </a:xfrm>
          <a:prstGeom prst="rect">
            <a:avLst/>
          </a:prstGeom>
          <a:noFill/>
        </p:spPr>
        <p:txBody>
          <a:bodyPr wrap="square">
            <a:spAutoFit/>
          </a:bodyPr>
          <a:lstStyle/>
          <a:p>
            <a:r>
              <a:rPr sz="1250" b="0">
                <a:solidFill>
                  <a:srgbClr val="CFE8EF"/>
                </a:solidFill>
                <a:latin typeface="Calibri"/>
              </a:rPr>
              <a:t>closest competitor: The Landscape of Prompt Injection Threats (2602.10453)</a:t>
            </a:r>
          </a:p>
        </p:txBody>
      </p:sp>
      <p:sp>
        <p:nvSpPr>
          <p:cNvPr id="6" name="Rectangle 5"/>
          <p:cNvSpPr/>
          <p:nvPr/>
        </p:nvSpPr>
        <p:spPr>
          <a:xfrm>
            <a:off x="640080" y="2697480"/>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752344"/>
            <a:ext cx="4754880" cy="310896"/>
          </a:xfrm>
          <a:prstGeom prst="rect">
            <a:avLst/>
          </a:prstGeom>
          <a:noFill/>
        </p:spPr>
        <p:txBody>
          <a:bodyPr wrap="square">
            <a:spAutoFit/>
          </a:bodyPr>
          <a:lstStyle/>
          <a:p>
            <a:r>
              <a:rPr sz="1300" b="1">
                <a:solidFill>
                  <a:srgbClr val="FFFFFF"/>
                </a:solidFill>
                <a:latin typeface="Calibri"/>
              </a:rPr>
              <a:t>papers reviewed</a:t>
            </a:r>
          </a:p>
        </p:txBody>
      </p:sp>
      <p:sp>
        <p:nvSpPr>
          <p:cNvPr id="8" name="TextBox 7"/>
          <p:cNvSpPr txBox="1"/>
          <p:nvPr/>
        </p:nvSpPr>
        <p:spPr>
          <a:xfrm>
            <a:off x="5760720" y="2752344"/>
            <a:ext cx="2377440" cy="310896"/>
          </a:xfrm>
          <a:prstGeom prst="rect">
            <a:avLst/>
          </a:prstGeom>
          <a:noFill/>
        </p:spPr>
        <p:txBody>
          <a:bodyPr wrap="square">
            <a:spAutoFit/>
          </a:bodyPr>
          <a:lstStyle/>
          <a:p>
            <a:r>
              <a:rPr sz="1300" b="0">
                <a:solidFill>
                  <a:srgbClr val="CADCFC"/>
                </a:solidFill>
                <a:latin typeface="Calibri"/>
              </a:rPr>
              <a:t>78</a:t>
            </a:r>
          </a:p>
        </p:txBody>
      </p:sp>
      <p:sp>
        <p:nvSpPr>
          <p:cNvPr id="9" name="TextBox 8"/>
          <p:cNvSpPr txBox="1"/>
          <p:nvPr/>
        </p:nvSpPr>
        <p:spPr>
          <a:xfrm>
            <a:off x="8595360" y="2752344"/>
            <a:ext cx="2651760" cy="310896"/>
          </a:xfrm>
          <a:prstGeom prst="rect">
            <a:avLst/>
          </a:prstGeom>
          <a:noFill/>
        </p:spPr>
        <p:txBody>
          <a:bodyPr wrap="square">
            <a:spAutoFit/>
          </a:bodyPr>
          <a:lstStyle/>
          <a:p>
            <a:r>
              <a:rPr sz="1300" b="1">
                <a:solidFill>
                  <a:srgbClr val="E0A458"/>
                </a:solidFill>
                <a:latin typeface="Calibri"/>
              </a:rPr>
              <a:t>1,026</a:t>
            </a:r>
          </a:p>
        </p:txBody>
      </p:sp>
      <p:sp>
        <p:nvSpPr>
          <p:cNvPr id="10" name="Rectangle 9"/>
          <p:cNvSpPr/>
          <p:nvPr/>
        </p:nvSpPr>
        <p:spPr>
          <a:xfrm>
            <a:off x="640080" y="3209544"/>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264408"/>
            <a:ext cx="4754880" cy="310896"/>
          </a:xfrm>
          <a:prstGeom prst="rect">
            <a:avLst/>
          </a:prstGeom>
          <a:noFill/>
        </p:spPr>
        <p:txBody>
          <a:bodyPr wrap="square">
            <a:spAutoFit/>
          </a:bodyPr>
          <a:lstStyle/>
          <a:p>
            <a:r>
              <a:rPr sz="1300" b="1">
                <a:solidFill>
                  <a:srgbClr val="FFFFFF"/>
                </a:solidFill>
                <a:latin typeface="Calibri"/>
              </a:rPr>
              <a:t>attacks catalogued</a:t>
            </a:r>
          </a:p>
        </p:txBody>
      </p:sp>
      <p:sp>
        <p:nvSpPr>
          <p:cNvPr id="12" name="TextBox 11"/>
          <p:cNvSpPr txBox="1"/>
          <p:nvPr/>
        </p:nvSpPr>
        <p:spPr>
          <a:xfrm>
            <a:off x="5760720" y="3264408"/>
            <a:ext cx="2377440" cy="310896"/>
          </a:xfrm>
          <a:prstGeom prst="rect">
            <a:avLst/>
          </a:prstGeom>
          <a:noFill/>
        </p:spPr>
        <p:txBody>
          <a:bodyPr wrap="square">
            <a:spAutoFit/>
          </a:bodyPr>
          <a:lstStyle/>
          <a:p>
            <a:r>
              <a:rPr sz="1300" b="0">
                <a:solidFill>
                  <a:srgbClr val="CADCFC"/>
                </a:solidFill>
                <a:latin typeface="Calibri"/>
              </a:rPr>
              <a:t>37</a:t>
            </a:r>
          </a:p>
        </p:txBody>
      </p:sp>
      <p:sp>
        <p:nvSpPr>
          <p:cNvPr id="13" name="TextBox 12"/>
          <p:cNvSpPr txBox="1"/>
          <p:nvPr/>
        </p:nvSpPr>
        <p:spPr>
          <a:xfrm>
            <a:off x="8595360" y="3264408"/>
            <a:ext cx="2651760" cy="310896"/>
          </a:xfrm>
          <a:prstGeom prst="rect">
            <a:avLst/>
          </a:prstGeom>
          <a:noFill/>
        </p:spPr>
        <p:txBody>
          <a:bodyPr wrap="square">
            <a:spAutoFit/>
          </a:bodyPr>
          <a:lstStyle/>
          <a:p>
            <a:r>
              <a:rPr sz="1300" b="1">
                <a:solidFill>
                  <a:srgbClr val="E0A458"/>
                </a:solidFill>
                <a:latin typeface="Calibri"/>
              </a:rPr>
              <a:t>223</a:t>
            </a:r>
          </a:p>
        </p:txBody>
      </p:sp>
      <p:sp>
        <p:nvSpPr>
          <p:cNvPr id="14" name="Rectangle 13"/>
          <p:cNvSpPr/>
          <p:nvPr/>
        </p:nvSpPr>
        <p:spPr>
          <a:xfrm>
            <a:off x="640080" y="3721608"/>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776472"/>
            <a:ext cx="4754880" cy="310896"/>
          </a:xfrm>
          <a:prstGeom prst="rect">
            <a:avLst/>
          </a:prstGeom>
          <a:noFill/>
        </p:spPr>
        <p:txBody>
          <a:bodyPr wrap="square">
            <a:spAutoFit/>
          </a:bodyPr>
          <a:lstStyle/>
          <a:p>
            <a:r>
              <a:rPr sz="1300" b="1">
                <a:solidFill>
                  <a:srgbClr val="FFFFFF"/>
                </a:solidFill>
                <a:latin typeface="Calibri"/>
              </a:rPr>
              <a:t>defenses catalogued</a:t>
            </a:r>
          </a:p>
        </p:txBody>
      </p:sp>
      <p:sp>
        <p:nvSpPr>
          <p:cNvPr id="16" name="TextBox 15"/>
          <p:cNvSpPr txBox="1"/>
          <p:nvPr/>
        </p:nvSpPr>
        <p:spPr>
          <a:xfrm>
            <a:off x="5760720" y="3776472"/>
            <a:ext cx="2377440" cy="310896"/>
          </a:xfrm>
          <a:prstGeom prst="rect">
            <a:avLst/>
          </a:prstGeom>
          <a:noFill/>
        </p:spPr>
        <p:txBody>
          <a:bodyPr wrap="square">
            <a:spAutoFit/>
          </a:bodyPr>
          <a:lstStyle/>
          <a:p>
            <a:r>
              <a:rPr sz="1300" b="0">
                <a:solidFill>
                  <a:srgbClr val="CADCFC"/>
                </a:solidFill>
                <a:latin typeface="Calibri"/>
              </a:rPr>
              <a:t>41</a:t>
            </a:r>
          </a:p>
        </p:txBody>
      </p:sp>
      <p:sp>
        <p:nvSpPr>
          <p:cNvPr id="17" name="TextBox 16"/>
          <p:cNvSpPr txBox="1"/>
          <p:nvPr/>
        </p:nvSpPr>
        <p:spPr>
          <a:xfrm>
            <a:off x="8595360" y="3776472"/>
            <a:ext cx="2651760" cy="310896"/>
          </a:xfrm>
          <a:prstGeom prst="rect">
            <a:avLst/>
          </a:prstGeom>
          <a:noFill/>
        </p:spPr>
        <p:txBody>
          <a:bodyPr wrap="square">
            <a:spAutoFit/>
          </a:bodyPr>
          <a:lstStyle/>
          <a:p>
            <a:r>
              <a:rPr sz="1300" b="1">
                <a:solidFill>
                  <a:srgbClr val="E0A458"/>
                </a:solidFill>
                <a:latin typeface="Calibri"/>
              </a:rPr>
              <a:t>534</a:t>
            </a:r>
          </a:p>
        </p:txBody>
      </p:sp>
      <p:sp>
        <p:nvSpPr>
          <p:cNvPr id="18" name="Rectangle 17"/>
          <p:cNvSpPr/>
          <p:nvPr/>
        </p:nvSpPr>
        <p:spPr>
          <a:xfrm>
            <a:off x="640080" y="4233672"/>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288536"/>
            <a:ext cx="4754880" cy="310896"/>
          </a:xfrm>
          <a:prstGeom prst="rect">
            <a:avLst/>
          </a:prstGeom>
          <a:noFill/>
        </p:spPr>
        <p:txBody>
          <a:bodyPr wrap="square">
            <a:spAutoFit/>
          </a:bodyPr>
          <a:lstStyle/>
          <a:p>
            <a:r>
              <a:rPr sz="1300" b="1">
                <a:solidFill>
                  <a:srgbClr val="FFFFFF"/>
                </a:solidFill>
                <a:latin typeface="Calibri"/>
              </a:rPr>
              <a:t>attack × defense pairs</a:t>
            </a:r>
          </a:p>
        </p:txBody>
      </p:sp>
      <p:sp>
        <p:nvSpPr>
          <p:cNvPr id="20" name="TextBox 19"/>
          <p:cNvSpPr txBox="1"/>
          <p:nvPr/>
        </p:nvSpPr>
        <p:spPr>
          <a:xfrm>
            <a:off x="5760720" y="4288536"/>
            <a:ext cx="2377440" cy="310896"/>
          </a:xfrm>
          <a:prstGeom prst="rect">
            <a:avLst/>
          </a:prstGeom>
          <a:noFill/>
        </p:spPr>
        <p:txBody>
          <a:bodyPr wrap="square">
            <a:spAutoFit/>
          </a:bodyPr>
          <a:lstStyle/>
          <a:p>
            <a:r>
              <a:rPr sz="1300" b="0">
                <a:solidFill>
                  <a:srgbClr val="CADCFC"/>
                </a:solidFill>
                <a:latin typeface="Calibri"/>
              </a:rPr>
              <a:t>—</a:t>
            </a:r>
          </a:p>
        </p:txBody>
      </p:sp>
      <p:sp>
        <p:nvSpPr>
          <p:cNvPr id="21" name="TextBox 20"/>
          <p:cNvSpPr txBox="1"/>
          <p:nvPr/>
        </p:nvSpPr>
        <p:spPr>
          <a:xfrm>
            <a:off x="8595360" y="4288536"/>
            <a:ext cx="2651760" cy="310896"/>
          </a:xfrm>
          <a:prstGeom prst="rect">
            <a:avLst/>
          </a:prstGeom>
          <a:noFill/>
        </p:spPr>
        <p:txBody>
          <a:bodyPr wrap="square">
            <a:spAutoFit/>
          </a:bodyPr>
          <a:lstStyle/>
          <a:p>
            <a:r>
              <a:rPr sz="1300" b="1">
                <a:solidFill>
                  <a:srgbClr val="E0A458"/>
                </a:solidFill>
                <a:latin typeface="Calibri"/>
              </a:rPr>
              <a:t>349</a:t>
            </a:r>
          </a:p>
        </p:txBody>
      </p:sp>
      <p:sp>
        <p:nvSpPr>
          <p:cNvPr id="22" name="Rectangle 21"/>
          <p:cNvSpPr/>
          <p:nvPr/>
        </p:nvSpPr>
        <p:spPr>
          <a:xfrm>
            <a:off x="640080" y="4745736"/>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4800600"/>
            <a:ext cx="4754880" cy="310896"/>
          </a:xfrm>
          <a:prstGeom prst="rect">
            <a:avLst/>
          </a:prstGeom>
          <a:noFill/>
        </p:spPr>
        <p:txBody>
          <a:bodyPr wrap="square">
            <a:spAutoFit/>
          </a:bodyPr>
          <a:lstStyle/>
          <a:p>
            <a:r>
              <a:rPr sz="1300" b="1">
                <a:solidFill>
                  <a:srgbClr val="FFFFFF"/>
                </a:solidFill>
                <a:latin typeface="Calibri"/>
              </a:rPr>
              <a:t>runs own experiments</a:t>
            </a:r>
          </a:p>
        </p:txBody>
      </p:sp>
      <p:sp>
        <p:nvSpPr>
          <p:cNvPr id="24" name="TextBox 23"/>
          <p:cNvSpPr txBox="1"/>
          <p:nvPr/>
        </p:nvSpPr>
        <p:spPr>
          <a:xfrm>
            <a:off x="5760720" y="4800600"/>
            <a:ext cx="2377440" cy="310896"/>
          </a:xfrm>
          <a:prstGeom prst="rect">
            <a:avLst/>
          </a:prstGeom>
          <a:noFill/>
        </p:spPr>
        <p:txBody>
          <a:bodyPr wrap="square">
            <a:spAutoFit/>
          </a:bodyPr>
          <a:lstStyle/>
          <a:p>
            <a:r>
              <a:rPr sz="1300" b="0">
                <a:solidFill>
                  <a:srgbClr val="CADCFC"/>
                </a:solidFill>
                <a:latin typeface="Calibri"/>
              </a:rPr>
              <a:t>yes</a:t>
            </a:r>
          </a:p>
        </p:txBody>
      </p:sp>
      <p:sp>
        <p:nvSpPr>
          <p:cNvPr id="25" name="TextBox 24"/>
          <p:cNvSpPr txBox="1"/>
          <p:nvPr/>
        </p:nvSpPr>
        <p:spPr>
          <a:xfrm>
            <a:off x="8595360" y="4800600"/>
            <a:ext cx="2651760" cy="310896"/>
          </a:xfrm>
          <a:prstGeom prst="rect">
            <a:avLst/>
          </a:prstGeom>
          <a:noFill/>
        </p:spPr>
        <p:txBody>
          <a:bodyPr wrap="square">
            <a:spAutoFit/>
          </a:bodyPr>
          <a:lstStyle/>
          <a:p>
            <a:r>
              <a:rPr sz="1300" b="1">
                <a:solidFill>
                  <a:srgbClr val="E0A458"/>
                </a:solidFill>
                <a:latin typeface="Calibri"/>
              </a:rPr>
              <a:t>yes</a:t>
            </a:r>
          </a:p>
        </p:txBody>
      </p:sp>
      <p:sp>
        <p:nvSpPr>
          <p:cNvPr id="26" name="Rectangle 25"/>
          <p:cNvSpPr/>
          <p:nvPr/>
        </p:nvSpPr>
        <p:spPr>
          <a:xfrm>
            <a:off x="640080" y="5257800"/>
            <a:ext cx="10881360" cy="42062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5312664"/>
            <a:ext cx="4754880" cy="310896"/>
          </a:xfrm>
          <a:prstGeom prst="rect">
            <a:avLst/>
          </a:prstGeom>
          <a:noFill/>
        </p:spPr>
        <p:txBody>
          <a:bodyPr wrap="square">
            <a:spAutoFit/>
          </a:bodyPr>
          <a:lstStyle/>
          <a:p>
            <a:r>
              <a:rPr sz="1300" b="1">
                <a:solidFill>
                  <a:srgbClr val="FFFFFF"/>
                </a:solidFill>
                <a:latin typeface="Calibri"/>
              </a:rPr>
              <a:t>covers BOTH literatures</a:t>
            </a:r>
          </a:p>
        </p:txBody>
      </p:sp>
      <p:sp>
        <p:nvSpPr>
          <p:cNvPr id="28" name="TextBox 27"/>
          <p:cNvSpPr txBox="1"/>
          <p:nvPr/>
        </p:nvSpPr>
        <p:spPr>
          <a:xfrm>
            <a:off x="5760720" y="5312664"/>
            <a:ext cx="2377440" cy="310896"/>
          </a:xfrm>
          <a:prstGeom prst="rect">
            <a:avLst/>
          </a:prstGeom>
          <a:noFill/>
        </p:spPr>
        <p:txBody>
          <a:bodyPr wrap="square">
            <a:spAutoFit/>
          </a:bodyPr>
          <a:lstStyle/>
          <a:p>
            <a:r>
              <a:rPr sz="1300" b="0">
                <a:solidFill>
                  <a:srgbClr val="CADCFC"/>
                </a:solidFill>
                <a:latin typeface="Calibri"/>
              </a:rPr>
              <a:t>no</a:t>
            </a:r>
          </a:p>
        </p:txBody>
      </p:sp>
      <p:sp>
        <p:nvSpPr>
          <p:cNvPr id="29" name="TextBox 28"/>
          <p:cNvSpPr txBox="1"/>
          <p:nvPr/>
        </p:nvSpPr>
        <p:spPr>
          <a:xfrm>
            <a:off x="8595360" y="5312664"/>
            <a:ext cx="2651760" cy="310896"/>
          </a:xfrm>
          <a:prstGeom prst="rect">
            <a:avLst/>
          </a:prstGeom>
          <a:noFill/>
        </p:spPr>
        <p:txBody>
          <a:bodyPr wrap="square">
            <a:spAutoFit/>
          </a:bodyPr>
          <a:lstStyle/>
          <a:p>
            <a:r>
              <a:rPr sz="1300" b="1">
                <a:solidFill>
                  <a:srgbClr val="E0A458"/>
                </a:solidFill>
                <a:latin typeface="Calibri"/>
              </a:rPr>
              <a:t>YES</a:t>
            </a:r>
          </a:p>
        </p:txBody>
      </p:sp>
      <p:sp>
        <p:nvSpPr>
          <p:cNvPr id="30" name="TextBox 29"/>
          <p:cNvSpPr txBox="1"/>
          <p:nvPr/>
        </p:nvSpPr>
        <p:spPr>
          <a:xfrm>
            <a:off x="640080" y="5806440"/>
            <a:ext cx="10881360" cy="822960"/>
          </a:xfrm>
          <a:prstGeom prst="rect">
            <a:avLst/>
          </a:prstGeom>
          <a:noFill/>
        </p:spPr>
        <p:txBody>
          <a:bodyPr wrap="square">
            <a:spAutoFit/>
          </a:bodyPr>
          <a:lstStyle/>
          <a:p>
            <a:pPr>
              <a:spcAft>
                <a:spcPts val="400"/>
              </a:spcAft>
            </a:pPr>
            <a:r>
              <a:rPr sz="1300" b="1">
                <a:solidFill>
                  <a:srgbClr val="FFFFFF"/>
                </a:solidFill>
                <a:latin typeface="Calibri"/>
              </a:rPr>
              <a:t>They also run experiments. That is not the difference.</a:t>
            </a:r>
          </a:p>
          <a:p>
            <a:pPr>
              <a:spcAft>
                <a:spcPts val="400"/>
              </a:spcAft>
            </a:pPr>
            <a:r>
              <a:rPr sz="1200" b="0">
                <a:solidFill>
                  <a:srgbClr val="CFE8EF"/>
                </a:solidFill>
                <a:latin typeface="Calibri"/>
              </a:rPr>
              <a:t>Four of the five closest surveys stay on one side of the divide. They do not mention it. The large ML survey does not cite security work. The closest security SoK does not cite degradation work.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RQ7  ·  OPEN PROBLEMS</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Seven problems, ranked by expected value</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29</a:t>
            </a:r>
          </a:p>
        </p:txBody>
      </p:sp>
      <p:sp>
        <p:nvSpPr>
          <p:cNvPr id="5" name="Rectangle 4"/>
          <p:cNvSpPr/>
          <p:nvPr/>
        </p:nvSpPr>
        <p:spPr>
          <a:xfrm>
            <a:off x="640080" y="2331720"/>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404872"/>
            <a:ext cx="457200" cy="320040"/>
          </a:xfrm>
          <a:prstGeom prst="rect">
            <a:avLst/>
          </a:prstGeom>
          <a:noFill/>
        </p:spPr>
        <p:txBody>
          <a:bodyPr wrap="square">
            <a:spAutoFit/>
          </a:bodyPr>
          <a:lstStyle/>
          <a:p>
            <a:r>
              <a:rPr sz="1400" b="1">
                <a:solidFill>
                  <a:srgbClr val="E0A458"/>
                </a:solidFill>
                <a:latin typeface="Cambria"/>
              </a:rPr>
              <a:t>1</a:t>
            </a:r>
          </a:p>
        </p:txBody>
      </p:sp>
      <p:sp>
        <p:nvSpPr>
          <p:cNvPr id="7" name="TextBox 6"/>
          <p:cNvSpPr txBox="1"/>
          <p:nvPr/>
        </p:nvSpPr>
        <p:spPr>
          <a:xfrm>
            <a:off x="1371600" y="2414015"/>
            <a:ext cx="5120640" cy="320040"/>
          </a:xfrm>
          <a:prstGeom prst="rect">
            <a:avLst/>
          </a:prstGeom>
          <a:noFill/>
        </p:spPr>
        <p:txBody>
          <a:bodyPr wrap="square">
            <a:spAutoFit/>
          </a:bodyPr>
          <a:lstStyle/>
          <a:p>
            <a:r>
              <a:rPr sz="1350" b="1">
                <a:solidFill>
                  <a:srgbClr val="FFFFFF"/>
                </a:solidFill>
                <a:latin typeface="Calibri"/>
              </a:rPr>
              <a:t>The tracks do not test each other</a:t>
            </a:r>
          </a:p>
        </p:txBody>
      </p:sp>
      <p:sp>
        <p:nvSpPr>
          <p:cNvPr id="8" name="TextBox 7"/>
          <p:cNvSpPr txBox="1"/>
          <p:nvPr/>
        </p:nvSpPr>
        <p:spPr>
          <a:xfrm>
            <a:off x="6583680" y="2414015"/>
            <a:ext cx="4663440" cy="320040"/>
          </a:xfrm>
          <a:prstGeom prst="rect">
            <a:avLst/>
          </a:prstGeom>
          <a:noFill/>
        </p:spPr>
        <p:txBody>
          <a:bodyPr wrap="square">
            <a:spAutoFit/>
          </a:bodyPr>
          <a:lstStyle/>
          <a:p>
            <a:r>
              <a:rPr sz="1250" b="0">
                <a:solidFill>
                  <a:srgbClr val="CADCFC"/>
                </a:solidFill>
                <a:latin typeface="Calibri"/>
              </a:rPr>
              <a:t>2.0% of pairs cross the divide</a:t>
            </a:r>
          </a:p>
        </p:txBody>
      </p:sp>
      <p:sp>
        <p:nvSpPr>
          <p:cNvPr id="9" name="Rectangle 8"/>
          <p:cNvSpPr/>
          <p:nvPr/>
        </p:nvSpPr>
        <p:spPr>
          <a:xfrm>
            <a:off x="640080" y="2907791"/>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980944"/>
            <a:ext cx="457200" cy="320040"/>
          </a:xfrm>
          <a:prstGeom prst="rect">
            <a:avLst/>
          </a:prstGeom>
          <a:noFill/>
        </p:spPr>
        <p:txBody>
          <a:bodyPr wrap="square">
            <a:spAutoFit/>
          </a:bodyPr>
          <a:lstStyle/>
          <a:p>
            <a:r>
              <a:rPr sz="1400" b="1">
                <a:solidFill>
                  <a:srgbClr val="E0A458"/>
                </a:solidFill>
                <a:latin typeface="Cambria"/>
              </a:rPr>
              <a:t>2</a:t>
            </a:r>
          </a:p>
        </p:txBody>
      </p:sp>
      <p:sp>
        <p:nvSpPr>
          <p:cNvPr id="11" name="TextBox 10"/>
          <p:cNvSpPr txBox="1"/>
          <p:nvPr/>
        </p:nvSpPr>
        <p:spPr>
          <a:xfrm>
            <a:off x="1371600" y="2990087"/>
            <a:ext cx="5120640" cy="320040"/>
          </a:xfrm>
          <a:prstGeom prst="rect">
            <a:avLst/>
          </a:prstGeom>
          <a:noFill/>
        </p:spPr>
        <p:txBody>
          <a:bodyPr wrap="square">
            <a:spAutoFit/>
          </a:bodyPr>
          <a:lstStyle/>
          <a:p>
            <a:r>
              <a:rPr sz="1350" b="1">
                <a:solidFill>
                  <a:srgbClr val="FFFFFF"/>
                </a:solidFill>
                <a:latin typeface="Calibri"/>
              </a:rPr>
              <a:t>The uncovered tail</a:t>
            </a:r>
          </a:p>
        </p:txBody>
      </p:sp>
      <p:sp>
        <p:nvSpPr>
          <p:cNvPr id="12" name="TextBox 11"/>
          <p:cNvSpPr txBox="1"/>
          <p:nvPr/>
        </p:nvSpPr>
        <p:spPr>
          <a:xfrm>
            <a:off x="6583680" y="2990087"/>
            <a:ext cx="4663440" cy="320040"/>
          </a:xfrm>
          <a:prstGeom prst="rect">
            <a:avLst/>
          </a:prstGeom>
          <a:noFill/>
        </p:spPr>
        <p:txBody>
          <a:bodyPr wrap="square">
            <a:spAutoFit/>
          </a:bodyPr>
          <a:lstStyle/>
          <a:p>
            <a:r>
              <a:rPr sz="1250" b="0">
                <a:solidFill>
                  <a:srgbClr val="CADCFC"/>
                </a:solidFill>
                <a:latin typeface="Calibri"/>
              </a:rPr>
              <a:t>119 mechanisms have no tested defense</a:t>
            </a:r>
          </a:p>
        </p:txBody>
      </p:sp>
      <p:sp>
        <p:nvSpPr>
          <p:cNvPr id="13" name="Rectangle 12"/>
          <p:cNvSpPr/>
          <p:nvPr/>
        </p:nvSpPr>
        <p:spPr>
          <a:xfrm>
            <a:off x="640080" y="3483863"/>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557015"/>
            <a:ext cx="457200" cy="320040"/>
          </a:xfrm>
          <a:prstGeom prst="rect">
            <a:avLst/>
          </a:prstGeom>
          <a:noFill/>
        </p:spPr>
        <p:txBody>
          <a:bodyPr wrap="square">
            <a:spAutoFit/>
          </a:bodyPr>
          <a:lstStyle/>
          <a:p>
            <a:r>
              <a:rPr sz="1400" b="1">
                <a:solidFill>
                  <a:srgbClr val="E0A458"/>
                </a:solidFill>
                <a:latin typeface="Cambria"/>
              </a:rPr>
              <a:t>3</a:t>
            </a:r>
          </a:p>
        </p:txBody>
      </p:sp>
      <p:sp>
        <p:nvSpPr>
          <p:cNvPr id="15" name="TextBox 14"/>
          <p:cNvSpPr txBox="1"/>
          <p:nvPr/>
        </p:nvSpPr>
        <p:spPr>
          <a:xfrm>
            <a:off x="1371600" y="3566159"/>
            <a:ext cx="5120640" cy="320040"/>
          </a:xfrm>
          <a:prstGeom prst="rect">
            <a:avLst/>
          </a:prstGeom>
          <a:noFill/>
        </p:spPr>
        <p:txBody>
          <a:bodyPr wrap="square">
            <a:spAutoFit/>
          </a:bodyPr>
          <a:lstStyle/>
          <a:p>
            <a:r>
              <a:rPr sz="1350" b="1">
                <a:solidFill>
                  <a:srgbClr val="FFFFFF"/>
                </a:solidFill>
                <a:latin typeface="Calibri"/>
              </a:rPr>
              <a:t>Single-mechanism validation is the norm</a:t>
            </a:r>
          </a:p>
        </p:txBody>
      </p:sp>
      <p:sp>
        <p:nvSpPr>
          <p:cNvPr id="16" name="TextBox 15"/>
          <p:cNvSpPr txBox="1"/>
          <p:nvPr/>
        </p:nvSpPr>
        <p:spPr>
          <a:xfrm>
            <a:off x="6583680" y="3566159"/>
            <a:ext cx="4663440" cy="320040"/>
          </a:xfrm>
          <a:prstGeom prst="rect">
            <a:avLst/>
          </a:prstGeom>
          <a:noFill/>
        </p:spPr>
        <p:txBody>
          <a:bodyPr wrap="square">
            <a:spAutoFit/>
          </a:bodyPr>
          <a:lstStyle/>
          <a:p>
            <a:r>
              <a:rPr sz="1250" b="0">
                <a:solidFill>
                  <a:srgbClr val="CADCFC"/>
                </a:solidFill>
                <a:latin typeface="Calibri"/>
              </a:rPr>
              <a:t>163 defenses tested against exactly one</a:t>
            </a:r>
          </a:p>
        </p:txBody>
      </p:sp>
      <p:sp>
        <p:nvSpPr>
          <p:cNvPr id="17" name="Rectangle 16"/>
          <p:cNvSpPr/>
          <p:nvPr/>
        </p:nvSpPr>
        <p:spPr>
          <a:xfrm>
            <a:off x="640080" y="4059935"/>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133087"/>
            <a:ext cx="457200" cy="320040"/>
          </a:xfrm>
          <a:prstGeom prst="rect">
            <a:avLst/>
          </a:prstGeom>
          <a:noFill/>
        </p:spPr>
        <p:txBody>
          <a:bodyPr wrap="square">
            <a:spAutoFit/>
          </a:bodyPr>
          <a:lstStyle/>
          <a:p>
            <a:r>
              <a:rPr sz="1400" b="1">
                <a:solidFill>
                  <a:srgbClr val="E0A458"/>
                </a:solidFill>
                <a:latin typeface="Cambria"/>
              </a:rPr>
              <a:t>4</a:t>
            </a:r>
          </a:p>
        </p:txBody>
      </p:sp>
      <p:sp>
        <p:nvSpPr>
          <p:cNvPr id="19" name="TextBox 18"/>
          <p:cNvSpPr txBox="1"/>
          <p:nvPr/>
        </p:nvSpPr>
        <p:spPr>
          <a:xfrm>
            <a:off x="1371600" y="4142231"/>
            <a:ext cx="5120640" cy="320040"/>
          </a:xfrm>
          <a:prstGeom prst="rect">
            <a:avLst/>
          </a:prstGeom>
          <a:noFill/>
        </p:spPr>
        <p:txBody>
          <a:bodyPr wrap="square">
            <a:spAutoFit/>
          </a:bodyPr>
          <a:lstStyle/>
          <a:p>
            <a:r>
              <a:rPr sz="1350" b="1">
                <a:solidFill>
                  <a:srgbClr val="FFFFFF"/>
                </a:solidFill>
                <a:latin typeface="Calibri"/>
              </a:rPr>
              <a:t>Defenses meet only their contemporaries</a:t>
            </a:r>
          </a:p>
        </p:txBody>
      </p:sp>
      <p:sp>
        <p:nvSpPr>
          <p:cNvPr id="20" name="TextBox 19"/>
          <p:cNvSpPr txBox="1"/>
          <p:nvPr/>
        </p:nvSpPr>
        <p:spPr>
          <a:xfrm>
            <a:off x="6583680" y="4142231"/>
            <a:ext cx="4663440" cy="320040"/>
          </a:xfrm>
          <a:prstGeom prst="rect">
            <a:avLst/>
          </a:prstGeom>
          <a:noFill/>
        </p:spPr>
        <p:txBody>
          <a:bodyPr wrap="square">
            <a:spAutoFit/>
          </a:bodyPr>
          <a:lstStyle/>
          <a:p>
            <a:r>
              <a:rPr sz="1250" b="0">
                <a:solidFill>
                  <a:srgbClr val="CADCFC"/>
                </a:solidFill>
                <a:latin typeface="Calibri"/>
              </a:rPr>
              <a:t>attack papers hold the later record</a:t>
            </a:r>
          </a:p>
        </p:txBody>
      </p:sp>
      <p:sp>
        <p:nvSpPr>
          <p:cNvPr id="21" name="Rectangle 20"/>
          <p:cNvSpPr/>
          <p:nvPr/>
        </p:nvSpPr>
        <p:spPr>
          <a:xfrm>
            <a:off x="640080" y="4636008"/>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709160"/>
            <a:ext cx="457200" cy="320040"/>
          </a:xfrm>
          <a:prstGeom prst="rect">
            <a:avLst/>
          </a:prstGeom>
          <a:noFill/>
        </p:spPr>
        <p:txBody>
          <a:bodyPr wrap="square">
            <a:spAutoFit/>
          </a:bodyPr>
          <a:lstStyle/>
          <a:p>
            <a:r>
              <a:rPr sz="1400" b="1">
                <a:solidFill>
                  <a:srgbClr val="E0A458"/>
                </a:solidFill>
                <a:latin typeface="Cambria"/>
              </a:rPr>
              <a:t>5</a:t>
            </a:r>
          </a:p>
        </p:txBody>
      </p:sp>
      <p:sp>
        <p:nvSpPr>
          <p:cNvPr id="23" name="TextBox 22"/>
          <p:cNvSpPr txBox="1"/>
          <p:nvPr/>
        </p:nvSpPr>
        <p:spPr>
          <a:xfrm>
            <a:off x="1371600" y="4718304"/>
            <a:ext cx="5120640" cy="320040"/>
          </a:xfrm>
          <a:prstGeom prst="rect">
            <a:avLst/>
          </a:prstGeom>
          <a:noFill/>
        </p:spPr>
        <p:txBody>
          <a:bodyPr wrap="square">
            <a:spAutoFit/>
          </a:bodyPr>
          <a:lstStyle/>
          <a:p>
            <a:r>
              <a:rPr sz="1350" b="1">
                <a:solidFill>
                  <a:srgbClr val="FFFFFF"/>
                </a:solidFill>
                <a:latin typeface="Calibri"/>
              </a:rPr>
              <a:t>Intervention point predicts generalization</a:t>
            </a:r>
          </a:p>
        </p:txBody>
      </p:sp>
      <p:sp>
        <p:nvSpPr>
          <p:cNvPr id="24" name="TextBox 23"/>
          <p:cNvSpPr txBox="1"/>
          <p:nvPr/>
        </p:nvSpPr>
        <p:spPr>
          <a:xfrm>
            <a:off x="6583680" y="4718304"/>
            <a:ext cx="4663440" cy="320040"/>
          </a:xfrm>
          <a:prstGeom prst="rect">
            <a:avLst/>
          </a:prstGeom>
          <a:noFill/>
        </p:spPr>
        <p:txBody>
          <a:bodyPr wrap="square">
            <a:spAutoFit/>
          </a:bodyPr>
          <a:lstStyle/>
          <a:p>
            <a:r>
              <a:rPr sz="1250" b="0">
                <a:solidFill>
                  <a:srgbClr val="CADCFC"/>
                </a:solidFill>
                <a:latin typeface="Calibri"/>
              </a:rPr>
              <a:t>testable, and partly confounded today</a:t>
            </a:r>
          </a:p>
        </p:txBody>
      </p:sp>
      <p:sp>
        <p:nvSpPr>
          <p:cNvPr id="25" name="Rectangle 24"/>
          <p:cNvSpPr/>
          <p:nvPr/>
        </p:nvSpPr>
        <p:spPr>
          <a:xfrm>
            <a:off x="640080" y="5212079"/>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5285231"/>
            <a:ext cx="457200" cy="320040"/>
          </a:xfrm>
          <a:prstGeom prst="rect">
            <a:avLst/>
          </a:prstGeom>
          <a:noFill/>
        </p:spPr>
        <p:txBody>
          <a:bodyPr wrap="square">
            <a:spAutoFit/>
          </a:bodyPr>
          <a:lstStyle/>
          <a:p>
            <a:r>
              <a:rPr sz="1400" b="1">
                <a:solidFill>
                  <a:srgbClr val="E0A458"/>
                </a:solidFill>
                <a:latin typeface="Cambria"/>
              </a:rPr>
              <a:t>6</a:t>
            </a:r>
          </a:p>
        </p:txBody>
      </p:sp>
      <p:sp>
        <p:nvSpPr>
          <p:cNvPr id="27" name="TextBox 26"/>
          <p:cNvSpPr txBox="1"/>
          <p:nvPr/>
        </p:nvSpPr>
        <p:spPr>
          <a:xfrm>
            <a:off x="1371600" y="5294375"/>
            <a:ext cx="5120640" cy="320040"/>
          </a:xfrm>
          <a:prstGeom prst="rect">
            <a:avLst/>
          </a:prstGeom>
          <a:noFill/>
        </p:spPr>
        <p:txBody>
          <a:bodyPr wrap="square">
            <a:spAutoFit/>
          </a:bodyPr>
          <a:lstStyle/>
          <a:p>
            <a:r>
              <a:rPr sz="1350" b="1">
                <a:solidFill>
                  <a:srgbClr val="FFFFFF"/>
                </a:solidFill>
                <a:latin typeface="Calibri"/>
              </a:rPr>
              <a:t>Benchmarks stand in for mechanisms</a:t>
            </a:r>
          </a:p>
        </p:txBody>
      </p:sp>
      <p:sp>
        <p:nvSpPr>
          <p:cNvPr id="28" name="TextBox 27"/>
          <p:cNvSpPr txBox="1"/>
          <p:nvPr/>
        </p:nvSpPr>
        <p:spPr>
          <a:xfrm>
            <a:off x="6583680" y="5294375"/>
            <a:ext cx="4663440" cy="320040"/>
          </a:xfrm>
          <a:prstGeom prst="rect">
            <a:avLst/>
          </a:prstGeom>
          <a:noFill/>
        </p:spPr>
        <p:txBody>
          <a:bodyPr wrap="square">
            <a:spAutoFit/>
          </a:bodyPr>
          <a:lstStyle/>
          <a:p>
            <a:r>
              <a:rPr sz="1250" b="0">
                <a:solidFill>
                  <a:srgbClr val="CADCFC"/>
                </a:solidFill>
                <a:latin typeface="Calibri"/>
              </a:rPr>
              <a:t>one entry takes 22.9% of the pairs</a:t>
            </a:r>
          </a:p>
        </p:txBody>
      </p:sp>
      <p:sp>
        <p:nvSpPr>
          <p:cNvPr id="29" name="Rectangle 28"/>
          <p:cNvSpPr/>
          <p:nvPr/>
        </p:nvSpPr>
        <p:spPr>
          <a:xfrm>
            <a:off x="640080" y="5788152"/>
            <a:ext cx="10881360" cy="475488"/>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5861304"/>
            <a:ext cx="457200" cy="320040"/>
          </a:xfrm>
          <a:prstGeom prst="rect">
            <a:avLst/>
          </a:prstGeom>
          <a:noFill/>
        </p:spPr>
        <p:txBody>
          <a:bodyPr wrap="square">
            <a:spAutoFit/>
          </a:bodyPr>
          <a:lstStyle/>
          <a:p>
            <a:r>
              <a:rPr sz="1400" b="1">
                <a:solidFill>
                  <a:srgbClr val="E0A458"/>
                </a:solidFill>
                <a:latin typeface="Cambria"/>
              </a:rPr>
              <a:t>7</a:t>
            </a:r>
          </a:p>
        </p:txBody>
      </p:sp>
      <p:sp>
        <p:nvSpPr>
          <p:cNvPr id="31" name="TextBox 30"/>
          <p:cNvSpPr txBox="1"/>
          <p:nvPr/>
        </p:nvSpPr>
        <p:spPr>
          <a:xfrm>
            <a:off x="1371600" y="5870448"/>
            <a:ext cx="5120640" cy="320040"/>
          </a:xfrm>
          <a:prstGeom prst="rect">
            <a:avLst/>
          </a:prstGeom>
          <a:noFill/>
        </p:spPr>
        <p:txBody>
          <a:bodyPr wrap="square">
            <a:spAutoFit/>
          </a:bodyPr>
          <a:lstStyle/>
          <a:p>
            <a:r>
              <a:rPr sz="1350" b="1">
                <a:solidFill>
                  <a:srgbClr val="FFFFFF"/>
                </a:solidFill>
                <a:latin typeface="Calibri"/>
              </a:rPr>
              <a:t>The problem is convention, not ability</a:t>
            </a:r>
          </a:p>
        </p:txBody>
      </p:sp>
      <p:sp>
        <p:nvSpPr>
          <p:cNvPr id="32" name="TextBox 31"/>
          <p:cNvSpPr txBox="1"/>
          <p:nvPr/>
        </p:nvSpPr>
        <p:spPr>
          <a:xfrm>
            <a:off x="6583680" y="5870448"/>
            <a:ext cx="4663440" cy="320040"/>
          </a:xfrm>
          <a:prstGeom prst="rect">
            <a:avLst/>
          </a:prstGeom>
          <a:noFill/>
        </p:spPr>
        <p:txBody>
          <a:bodyPr wrap="square">
            <a:spAutoFit/>
          </a:bodyPr>
          <a:lstStyle/>
          <a:p>
            <a:r>
              <a:rPr sz="1250" b="0">
                <a:solidFill>
                  <a:srgbClr val="CADCFC"/>
                </a:solidFill>
                <a:latin typeface="Calibri"/>
              </a:rPr>
              <a:t>four of seven need no new science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SYNTHESIS</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600" b="1">
                <a:solidFill>
                  <a:srgbClr val="FFFFFF"/>
                </a:solidFill>
                <a:latin typeface="Cambria"/>
              </a:rPr>
              <a:t>The field claims less coverage than it has.</a:t>
            </a:r>
          </a:p>
          <a:p>
            <a:pPr>
              <a:spcAft>
                <a:spcPts val="200"/>
              </a:spcAft>
            </a:pPr>
            <a:r>
              <a:rPr sz="2600" b="1">
                <a:solidFill>
                  <a:srgbClr val="FFFFFF"/>
                </a:solidFill>
                <a:latin typeface="Cambria"/>
              </a:rPr>
              <a:t>Some of what it has does harm.</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30</a:t>
            </a:r>
          </a:p>
        </p:txBody>
      </p:sp>
      <p:sp>
        <p:nvSpPr>
          <p:cNvPr id="5" name="TextBox 4"/>
          <p:cNvSpPr txBox="1"/>
          <p:nvPr/>
        </p:nvSpPr>
        <p:spPr>
          <a:xfrm>
            <a:off x="640080" y="2331720"/>
            <a:ext cx="10881360" cy="1097280"/>
          </a:xfrm>
          <a:prstGeom prst="rect">
            <a:avLst/>
          </a:prstGeom>
          <a:noFill/>
        </p:spPr>
        <p:txBody>
          <a:bodyPr wrap="square">
            <a:spAutoFit/>
          </a:bodyPr>
          <a:lstStyle/>
          <a:p>
            <a:pPr>
              <a:spcAft>
                <a:spcPts val="500"/>
              </a:spcAft>
            </a:pPr>
            <a:r>
              <a:rPr sz="1400" b="0">
                <a:solidFill>
                  <a:srgbClr val="CADCFC"/>
                </a:solidFill>
                <a:latin typeface="Calibri"/>
              </a:rPr>
              <a:t>Two literatures study the same problem. They do not read each other.</a:t>
            </a:r>
          </a:p>
          <a:p>
            <a:pPr>
              <a:spcAft>
                <a:spcPts val="500"/>
              </a:spcAft>
            </a:pPr>
            <a:r>
              <a:rPr sz="1400" b="0">
                <a:solidFill>
                  <a:srgbClr val="CADCFC"/>
                </a:solidFill>
                <a:latin typeface="Calibri"/>
              </a:rPr>
              <a:t>They name 223 ways to poison a context and 534 defenses. They almost never test one against the other.</a:t>
            </a:r>
          </a:p>
        </p:txBody>
      </p:sp>
      <p:sp>
        <p:nvSpPr>
          <p:cNvPr id="6" name="Rectangle 5"/>
          <p:cNvSpPr/>
          <p:nvPr/>
        </p:nvSpPr>
        <p:spPr>
          <a:xfrm>
            <a:off x="640080" y="3703320"/>
            <a:ext cx="10881360" cy="1417320"/>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13632"/>
            <a:ext cx="10241280" cy="1051560"/>
          </a:xfrm>
          <a:prstGeom prst="rect">
            <a:avLst/>
          </a:prstGeom>
          <a:noFill/>
        </p:spPr>
        <p:txBody>
          <a:bodyPr wrap="square">
            <a:spAutoFit/>
          </a:bodyPr>
          <a:lstStyle/>
          <a:p>
            <a:pPr>
              <a:spcAft>
                <a:spcPts val="300"/>
              </a:spcAft>
            </a:pPr>
            <a:r>
              <a:rPr sz="1700" b="1">
                <a:solidFill>
                  <a:srgbClr val="E0A458"/>
                </a:solidFill>
                <a:latin typeface="Calibri"/>
              </a:rPr>
              <a:t>The first limit is coordination. It is not ability.</a:t>
            </a:r>
          </a:p>
          <a:p>
            <a:pPr>
              <a:spcAft>
                <a:spcPts val="300"/>
              </a:spcAft>
            </a:pPr>
            <a:r>
              <a:rPr sz="1300" b="0">
                <a:solidFill>
                  <a:srgbClr val="FFFFFF"/>
                </a:solidFill>
                <a:latin typeface="Calibri"/>
              </a:rPr>
              <a:t>RQ6 ran 7 defenses. 6 of them gave some protection against a threat model they never saw.</a:t>
            </a:r>
          </a:p>
          <a:p>
            <a:pPr>
              <a:spcAft>
                <a:spcPts val="300"/>
              </a:spcAft>
            </a:pPr>
            <a:r>
              <a:rPr sz="1300" b="0">
                <a:solidFill>
                  <a:srgbClr val="FFFFFF"/>
                </a:solidFill>
                <a:latin typeface="Calibri"/>
              </a:rPr>
              <a:t>The protection is there. The test convention that would show it is not.</a:t>
            </a:r>
          </a:p>
        </p:txBody>
      </p:sp>
      <p:sp>
        <p:nvSpPr>
          <p:cNvPr id="8" name="TextBox 7"/>
          <p:cNvSpPr txBox="1"/>
          <p:nvPr/>
        </p:nvSpPr>
        <p:spPr>
          <a:xfrm>
            <a:off x="640080" y="5303520"/>
            <a:ext cx="10881360" cy="1280160"/>
          </a:xfrm>
          <a:prstGeom prst="rect">
            <a:avLst/>
          </a:prstGeom>
          <a:noFill/>
        </p:spPr>
        <p:txBody>
          <a:bodyPr wrap="square">
            <a:spAutoFit/>
          </a:bodyPr>
          <a:lstStyle/>
          <a:p>
            <a:pPr>
              <a:spcAft>
                <a:spcPts val="400"/>
              </a:spcAft>
            </a:pPr>
            <a:r>
              <a:rPr sz="1300" b="0">
                <a:solidFill>
                  <a:srgbClr val="CFE8EF"/>
                </a:solidFill>
                <a:latin typeface="Calibri"/>
              </a:rPr>
              <a:t>The gap is not ours. We added the literature we thought was missing, to close it. It did not close.</a:t>
            </a:r>
          </a:p>
          <a:p>
            <a:pPr>
              <a:spcAft>
                <a:spcPts val="400"/>
              </a:spcAft>
            </a:pPr>
            <a:r>
              <a:rPr sz="1300" b="1">
                <a:solidFill>
                  <a:srgbClr val="FFFFFF"/>
                </a:solidFill>
                <a:latin typeface="Calibri"/>
              </a:rPr>
              <a:t>But coverage is not the whole result. When we ran the code, some defenses did not simply fail.</a:t>
            </a:r>
          </a:p>
          <a:p>
            <a:pPr>
              <a:spcAft>
                <a:spcPts val="400"/>
              </a:spcAft>
            </a:pPr>
            <a:r>
              <a:rPr sz="1300" b="1">
                <a:solidFill>
                  <a:srgbClr val="B54A3F"/>
                </a:solidFill>
                <a:latin typeface="Calibri"/>
              </a:rPr>
              <a:t>They made an attack work that stays near zero on a model with no defense at all.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REPRODUCIBILITY</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2600" b="1">
                <a:solidFill>
                  <a:srgbClr val="FFFFFF"/>
                </a:solidFill>
                <a:latin typeface="Cambria"/>
              </a:rPr>
              <a:t>Every number on these slides regenerates from the repo</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31</a:t>
            </a:r>
          </a:p>
        </p:txBody>
      </p:sp>
      <p:sp>
        <p:nvSpPr>
          <p:cNvPr id="5" name="Rectangle 4"/>
          <p:cNvSpPr/>
          <p:nvPr/>
        </p:nvSpPr>
        <p:spPr>
          <a:xfrm>
            <a:off x="640080" y="2468880"/>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569464"/>
            <a:ext cx="4206240" cy="320040"/>
          </a:xfrm>
          <a:prstGeom prst="rect">
            <a:avLst/>
          </a:prstGeom>
          <a:noFill/>
        </p:spPr>
        <p:txBody>
          <a:bodyPr wrap="square">
            <a:spAutoFit/>
          </a:bodyPr>
          <a:lstStyle/>
          <a:p>
            <a:r>
              <a:rPr sz="1300" b="1">
                <a:solidFill>
                  <a:srgbClr val="E0A458"/>
                </a:solidFill>
                <a:latin typeface="Calibri"/>
              </a:rPr>
              <a:t>config.yaml</a:t>
            </a:r>
          </a:p>
        </p:txBody>
      </p:sp>
      <p:sp>
        <p:nvSpPr>
          <p:cNvPr id="7" name="TextBox 6"/>
          <p:cNvSpPr txBox="1"/>
          <p:nvPr/>
        </p:nvSpPr>
        <p:spPr>
          <a:xfrm>
            <a:off x="5212080" y="2569464"/>
            <a:ext cx="6035040" cy="320040"/>
          </a:xfrm>
          <a:prstGeom prst="rect">
            <a:avLst/>
          </a:prstGeom>
          <a:noFill/>
        </p:spPr>
        <p:txBody>
          <a:bodyPr wrap="square">
            <a:spAutoFit/>
          </a:bodyPr>
          <a:lstStyle/>
          <a:p>
            <a:r>
              <a:rPr sz="1250" b="0">
                <a:solidFill>
                  <a:srgbClr val="CADCFC"/>
                </a:solidFill>
                <a:latin typeface="Calibri"/>
              </a:rPr>
              <a:t>screening criteria, applied by rule</a:t>
            </a:r>
          </a:p>
        </p:txBody>
      </p:sp>
      <p:sp>
        <p:nvSpPr>
          <p:cNvPr id="8" name="Rectangle 7"/>
          <p:cNvSpPr/>
          <p:nvPr/>
        </p:nvSpPr>
        <p:spPr>
          <a:xfrm>
            <a:off x="640080" y="3090672"/>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191256"/>
            <a:ext cx="4206240" cy="320040"/>
          </a:xfrm>
          <a:prstGeom prst="rect">
            <a:avLst/>
          </a:prstGeom>
          <a:noFill/>
        </p:spPr>
        <p:txBody>
          <a:bodyPr wrap="square">
            <a:spAutoFit/>
          </a:bodyPr>
          <a:lstStyle/>
          <a:p>
            <a:r>
              <a:rPr sz="1300" b="1">
                <a:solidFill>
                  <a:srgbClr val="E0A458"/>
                </a:solidFill>
                <a:latin typeface="Calibri"/>
              </a:rPr>
              <a:t>rescreening_log.md</a:t>
            </a:r>
          </a:p>
        </p:txBody>
      </p:sp>
      <p:sp>
        <p:nvSpPr>
          <p:cNvPr id="10" name="TextBox 9"/>
          <p:cNvSpPr txBox="1"/>
          <p:nvPr/>
        </p:nvSpPr>
        <p:spPr>
          <a:xfrm>
            <a:off x="5212080" y="3191256"/>
            <a:ext cx="6035040" cy="320040"/>
          </a:xfrm>
          <a:prstGeom prst="rect">
            <a:avLst/>
          </a:prstGeom>
          <a:noFill/>
        </p:spPr>
        <p:txBody>
          <a:bodyPr wrap="square">
            <a:spAutoFit/>
          </a:bodyPr>
          <a:lstStyle/>
          <a:p>
            <a:r>
              <a:rPr sz="1250" b="0">
                <a:solidFill>
                  <a:srgbClr val="CADCFC"/>
                </a:solidFill>
                <a:latin typeface="Calibri"/>
              </a:rPr>
              <a:t>every corpus-affecting decision, dated, with cause</a:t>
            </a:r>
          </a:p>
        </p:txBody>
      </p:sp>
      <p:sp>
        <p:nvSpPr>
          <p:cNvPr id="11" name="Rectangle 10"/>
          <p:cNvSpPr/>
          <p:nvPr/>
        </p:nvSpPr>
        <p:spPr>
          <a:xfrm>
            <a:off x="640080" y="3712464"/>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813048"/>
            <a:ext cx="4206240" cy="320040"/>
          </a:xfrm>
          <a:prstGeom prst="rect">
            <a:avLst/>
          </a:prstGeom>
          <a:noFill/>
        </p:spPr>
        <p:txBody>
          <a:bodyPr wrap="square">
            <a:spAutoFit/>
          </a:bodyPr>
          <a:lstStyle/>
          <a:p>
            <a:r>
              <a:rPr sz="1300" b="1">
                <a:solidFill>
                  <a:srgbClr val="E0A458"/>
                </a:solidFill>
                <a:latin typeface="Calibri"/>
              </a:rPr>
              <a:t>scripts/</a:t>
            </a:r>
          </a:p>
        </p:txBody>
      </p:sp>
      <p:sp>
        <p:nvSpPr>
          <p:cNvPr id="13" name="TextBox 12"/>
          <p:cNvSpPr txBox="1"/>
          <p:nvPr/>
        </p:nvSpPr>
        <p:spPr>
          <a:xfrm>
            <a:off x="5212080" y="3813048"/>
            <a:ext cx="6035040" cy="320040"/>
          </a:xfrm>
          <a:prstGeom prst="rect">
            <a:avLst/>
          </a:prstGeom>
          <a:noFill/>
        </p:spPr>
        <p:txBody>
          <a:bodyPr wrap="square">
            <a:spAutoFit/>
          </a:bodyPr>
          <a:lstStyle/>
          <a:p>
            <a:r>
              <a:rPr sz="1250" b="0">
                <a:solidFill>
                  <a:srgbClr val="CADCFC"/>
                </a:solidFill>
                <a:latin typeface="Calibri"/>
              </a:rPr>
              <a:t>dedupe → registries → coverage matrix → RQ1/RQ2/RQ7</a:t>
            </a:r>
          </a:p>
        </p:txBody>
      </p:sp>
      <p:sp>
        <p:nvSpPr>
          <p:cNvPr id="14" name="Rectangle 13"/>
          <p:cNvSpPr/>
          <p:nvPr/>
        </p:nvSpPr>
        <p:spPr>
          <a:xfrm>
            <a:off x="640080" y="4334256"/>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434840"/>
            <a:ext cx="4206240" cy="320040"/>
          </a:xfrm>
          <a:prstGeom prst="rect">
            <a:avLst/>
          </a:prstGeom>
          <a:noFill/>
        </p:spPr>
        <p:txBody>
          <a:bodyPr wrap="square">
            <a:spAutoFit/>
          </a:bodyPr>
          <a:lstStyle/>
          <a:p>
            <a:r>
              <a:rPr sz="1300" b="1">
                <a:solidFill>
                  <a:srgbClr val="E0A458"/>
                </a:solidFill>
                <a:latin typeface="Calibri"/>
              </a:rPr>
              <a:t>context_sok_master_workbook.xlsx</a:t>
            </a:r>
          </a:p>
        </p:txBody>
      </p:sp>
      <p:sp>
        <p:nvSpPr>
          <p:cNvPr id="16" name="TextBox 15"/>
          <p:cNvSpPr txBox="1"/>
          <p:nvPr/>
        </p:nvSpPr>
        <p:spPr>
          <a:xfrm>
            <a:off x="5212080" y="4434840"/>
            <a:ext cx="6035040" cy="320040"/>
          </a:xfrm>
          <a:prstGeom prst="rect">
            <a:avLst/>
          </a:prstGeom>
          <a:noFill/>
        </p:spPr>
        <p:txBody>
          <a:bodyPr wrap="square">
            <a:spAutoFit/>
          </a:bodyPr>
          <a:lstStyle/>
          <a:p>
            <a:r>
              <a:rPr sz="1250" b="0">
                <a:solidFill>
                  <a:srgbClr val="CADCFC"/>
                </a:solidFill>
                <a:latin typeface="Calibri"/>
              </a:rPr>
              <a:t>papers, mechanisms, defenses, pairs, gaps</a:t>
            </a:r>
          </a:p>
        </p:txBody>
      </p:sp>
      <p:sp>
        <p:nvSpPr>
          <p:cNvPr id="17" name="Rectangle 16"/>
          <p:cNvSpPr/>
          <p:nvPr/>
        </p:nvSpPr>
        <p:spPr>
          <a:xfrm>
            <a:off x="640080" y="4956048"/>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056632"/>
            <a:ext cx="4206240" cy="320040"/>
          </a:xfrm>
          <a:prstGeom prst="rect">
            <a:avLst/>
          </a:prstGeom>
          <a:noFill/>
        </p:spPr>
        <p:txBody>
          <a:bodyPr wrap="square">
            <a:spAutoFit/>
          </a:bodyPr>
          <a:lstStyle/>
          <a:p>
            <a:r>
              <a:rPr sz="1300" b="1">
                <a:solidFill>
                  <a:srgbClr val="E0A458"/>
                </a:solidFill>
                <a:latin typeface="Calibri"/>
              </a:rPr>
              <a:t>mcp_server/</a:t>
            </a:r>
          </a:p>
        </p:txBody>
      </p:sp>
      <p:sp>
        <p:nvSpPr>
          <p:cNvPr id="19" name="TextBox 18"/>
          <p:cNvSpPr txBox="1"/>
          <p:nvPr/>
        </p:nvSpPr>
        <p:spPr>
          <a:xfrm>
            <a:off x="5212080" y="5056632"/>
            <a:ext cx="6035040" cy="320040"/>
          </a:xfrm>
          <a:prstGeom prst="rect">
            <a:avLst/>
          </a:prstGeom>
          <a:noFill/>
        </p:spPr>
        <p:txBody>
          <a:bodyPr wrap="square">
            <a:spAutoFit/>
          </a:bodyPr>
          <a:lstStyle/>
          <a:p>
            <a:r>
              <a:rPr sz="1250" b="0">
                <a:solidFill>
                  <a:srgbClr val="CADCFC"/>
                </a:solidFill>
                <a:latin typeface="Calibri"/>
              </a:rPr>
              <a:t>the same data, queryable conversationally</a:t>
            </a:r>
          </a:p>
        </p:txBody>
      </p:sp>
      <p:sp>
        <p:nvSpPr>
          <p:cNvPr id="20" name="Rectangle 19"/>
          <p:cNvSpPr/>
          <p:nvPr/>
        </p:nvSpPr>
        <p:spPr>
          <a:xfrm>
            <a:off x="640080" y="5577840"/>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678424"/>
            <a:ext cx="4206240" cy="320040"/>
          </a:xfrm>
          <a:prstGeom prst="rect">
            <a:avLst/>
          </a:prstGeom>
          <a:noFill/>
        </p:spPr>
        <p:txBody>
          <a:bodyPr wrap="square">
            <a:spAutoFit/>
          </a:bodyPr>
          <a:lstStyle/>
          <a:p>
            <a:r>
              <a:rPr sz="1300" b="1">
                <a:solidFill>
                  <a:srgbClr val="E0A458"/>
                </a:solidFill>
                <a:latin typeface="Calibri"/>
              </a:rPr>
              <a:t>data/paper_explorer.db</a:t>
            </a:r>
          </a:p>
        </p:txBody>
      </p:sp>
      <p:sp>
        <p:nvSpPr>
          <p:cNvPr id="22" name="TextBox 21"/>
          <p:cNvSpPr txBox="1"/>
          <p:nvPr/>
        </p:nvSpPr>
        <p:spPr>
          <a:xfrm>
            <a:off x="5212080" y="5678424"/>
            <a:ext cx="6035040" cy="320040"/>
          </a:xfrm>
          <a:prstGeom prst="rect">
            <a:avLst/>
          </a:prstGeom>
          <a:noFill/>
        </p:spPr>
        <p:txBody>
          <a:bodyPr wrap="square">
            <a:spAutoFit/>
          </a:bodyPr>
          <a:lstStyle/>
          <a:p>
            <a:r>
              <a:rPr sz="1250" b="0">
                <a:solidFill>
                  <a:srgbClr val="CADCFC"/>
                </a:solidFill>
                <a:latin typeface="Calibri"/>
              </a:rPr>
              <a:t>coverage and transfer figures, one source</a:t>
            </a:r>
          </a:p>
        </p:txBody>
      </p:sp>
      <p:sp>
        <p:nvSpPr>
          <p:cNvPr id="23" name="Rectangle 22"/>
          <p:cNvSpPr/>
          <p:nvPr/>
        </p:nvSpPr>
        <p:spPr>
          <a:xfrm>
            <a:off x="640080" y="6199632"/>
            <a:ext cx="10881360" cy="512064"/>
          </a:xfrm>
          <a:prstGeom prst="rect">
            <a:avLst/>
          </a:prstGeom>
          <a:solidFill>
            <a:srgbClr val="1B3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6300216"/>
            <a:ext cx="4206240" cy="320040"/>
          </a:xfrm>
          <a:prstGeom prst="rect">
            <a:avLst/>
          </a:prstGeom>
          <a:noFill/>
        </p:spPr>
        <p:txBody>
          <a:bodyPr wrap="square">
            <a:spAutoFit/>
          </a:bodyPr>
          <a:lstStyle/>
          <a:p>
            <a:r>
              <a:rPr sz="1300" b="1">
                <a:solidFill>
                  <a:srgbClr val="E0A458"/>
                </a:solidFill>
                <a:latin typeface="Calibri"/>
              </a:rPr>
              <a:t>scripts/build_presentation.py</a:t>
            </a:r>
          </a:p>
        </p:txBody>
      </p:sp>
      <p:sp>
        <p:nvSpPr>
          <p:cNvPr id="25" name="TextBox 24"/>
          <p:cNvSpPr txBox="1"/>
          <p:nvPr/>
        </p:nvSpPr>
        <p:spPr>
          <a:xfrm>
            <a:off x="5212080" y="6300216"/>
            <a:ext cx="6035040" cy="320040"/>
          </a:xfrm>
          <a:prstGeom prst="rect">
            <a:avLst/>
          </a:prstGeom>
          <a:noFill/>
        </p:spPr>
        <p:txBody>
          <a:bodyPr wrap="square">
            <a:spAutoFit/>
          </a:bodyPr>
          <a:lstStyle/>
          <a:p>
            <a:r>
              <a:rPr sz="1250" b="0">
                <a:solidFill>
                  <a:srgbClr val="CADCFC"/>
                </a:solidFill>
                <a:latin typeface="Calibri"/>
              </a:rPr>
              <a:t>this deck, built from the live data</a:t>
            </a:r>
          </a:p>
        </p:txBody>
      </p:sp>
      <p:sp>
        <p:nvSpPr>
          <p:cNvPr id="26" name="TextBox 25"/>
          <p:cNvSpPr txBox="1"/>
          <p:nvPr/>
        </p:nvSpPr>
        <p:spPr>
          <a:xfrm>
            <a:off x="640080" y="6309360"/>
            <a:ext cx="10881360" cy="365760"/>
          </a:xfrm>
          <a:prstGeom prst="rect">
            <a:avLst/>
          </a:prstGeom>
          <a:noFill/>
        </p:spPr>
        <p:txBody>
          <a:bodyPr wrap="square">
            <a:spAutoFit/>
          </a:bodyPr>
          <a:lstStyle/>
          <a:p>
            <a:r>
              <a:rPr sz="1200" b="0">
                <a:solidFill>
                  <a:srgbClr val="CFE8EF"/>
                </a:solidFill>
                <a:latin typeface="Calibri"/>
              </a:rPr>
              <a:t>We run each defense from its released code or weights. We never use the figures a paper reports about itself.</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2253C"/>
        </a:solidFill>
        <a:effectLst/>
      </p:bgPr>
    </p:bg>
    <p:spTree>
      <p:nvGrpSpPr>
        <p:cNvPr id="1" name=""/>
        <p:cNvGrpSpPr/>
        <p:nvPr/>
      </p:nvGrpSpPr>
      <p:grpSpPr/>
      <p:sp>
        <p:nvSpPr>
          <p:cNvPr id="2" name="TextBox 1"/>
          <p:cNvSpPr txBox="1"/>
          <p:nvPr/>
        </p:nvSpPr>
        <p:spPr>
          <a:xfrm>
            <a:off x="640080" y="411480"/>
            <a:ext cx="8229600" cy="320040"/>
          </a:xfrm>
          <a:prstGeom prst="rect">
            <a:avLst/>
          </a:prstGeom>
          <a:noFill/>
        </p:spPr>
        <p:txBody>
          <a:bodyPr wrap="square">
            <a:spAutoFit/>
          </a:bodyPr>
          <a:lstStyle/>
          <a:p>
            <a:r>
              <a:rPr sz="1250" b="1">
                <a:solidFill>
                  <a:srgbClr val="E0A458"/>
                </a:solidFill>
                <a:latin typeface="Calibri"/>
              </a:rPr>
              <a:t>WHAT'S NEXT</a:t>
            </a:r>
          </a:p>
        </p:txBody>
      </p:sp>
      <p:sp>
        <p:nvSpPr>
          <p:cNvPr id="3" name="TextBox 2"/>
          <p:cNvSpPr txBox="1"/>
          <p:nvPr/>
        </p:nvSpPr>
        <p:spPr>
          <a:xfrm>
            <a:off x="640080" y="1371600"/>
            <a:ext cx="10607040" cy="1371600"/>
          </a:xfrm>
          <a:prstGeom prst="rect">
            <a:avLst/>
          </a:prstGeom>
          <a:noFill/>
        </p:spPr>
        <p:txBody>
          <a:bodyPr wrap="square">
            <a:spAutoFit/>
          </a:bodyPr>
          <a:lstStyle/>
          <a:p>
            <a:pPr>
              <a:spcAft>
                <a:spcPts val="200"/>
              </a:spcAft>
            </a:pPr>
            <a:r>
              <a:rPr sz="3000" b="1">
                <a:solidFill>
                  <a:srgbClr val="FFFFFF"/>
                </a:solidFill>
                <a:latin typeface="Cambria"/>
              </a:rPr>
              <a:t>From findings to manuscript</a:t>
            </a:r>
          </a:p>
        </p:txBody>
      </p:sp>
      <p:sp>
        <p:nvSpPr>
          <p:cNvPr id="4" name="TextBox 3"/>
          <p:cNvSpPr txBox="1"/>
          <p:nvPr/>
        </p:nvSpPr>
        <p:spPr>
          <a:xfrm>
            <a:off x="11521440" y="6510528"/>
            <a:ext cx="548640" cy="274320"/>
          </a:xfrm>
          <a:prstGeom prst="rect">
            <a:avLst/>
          </a:prstGeom>
          <a:noFill/>
        </p:spPr>
        <p:txBody>
          <a:bodyPr wrap="square">
            <a:spAutoFit/>
          </a:bodyPr>
          <a:lstStyle/>
          <a:p>
            <a:r>
              <a:rPr sz="1000" b="0">
                <a:solidFill>
                  <a:srgbClr val="CADCFC"/>
                </a:solidFill>
                <a:latin typeface="Calibri"/>
              </a:rPr>
              <a:t>32</a:t>
            </a:r>
          </a:p>
        </p:txBody>
      </p:sp>
      <p:sp>
        <p:nvSpPr>
          <p:cNvPr id="5" name="TextBox 4"/>
          <p:cNvSpPr txBox="1"/>
          <p:nvPr/>
        </p:nvSpPr>
        <p:spPr>
          <a:xfrm>
            <a:off x="640080" y="2331720"/>
            <a:ext cx="4114800" cy="365760"/>
          </a:xfrm>
          <a:prstGeom prst="rect">
            <a:avLst/>
          </a:prstGeom>
          <a:noFill/>
        </p:spPr>
        <p:txBody>
          <a:bodyPr wrap="square">
            <a:spAutoFit/>
          </a:bodyPr>
          <a:lstStyle/>
          <a:p>
            <a:r>
              <a:rPr sz="1450" b="1">
                <a:solidFill>
                  <a:srgbClr val="E0A458"/>
                </a:solidFill>
                <a:latin typeface="Cambria"/>
              </a:rPr>
              <a:t>Finish the model control</a:t>
            </a:r>
          </a:p>
        </p:txBody>
      </p:sp>
      <p:sp>
        <p:nvSpPr>
          <p:cNvPr id="6" name="TextBox 5"/>
          <p:cNvSpPr txBox="1"/>
          <p:nvPr/>
        </p:nvSpPr>
        <p:spPr>
          <a:xfrm>
            <a:off x="4846320" y="2359151"/>
            <a:ext cx="6675120" cy="685800"/>
          </a:xfrm>
          <a:prstGeom prst="rect">
            <a:avLst/>
          </a:prstGeom>
          <a:noFill/>
        </p:spPr>
        <p:txBody>
          <a:bodyPr wrap="square">
            <a:spAutoFit/>
          </a:bodyPr>
          <a:lstStyle/>
          <a:p>
            <a:pPr>
              <a:spcAft>
                <a:spcPts val="100"/>
              </a:spcAft>
            </a:pPr>
            <a:r>
              <a:rPr sz="1250" b="0">
                <a:solidFill>
                  <a:srgbClr val="CADCFC"/>
                </a:solidFill>
                <a:latin typeface="Calibri"/>
              </a:rPr>
              <a:t>run the second aggregation version on the other family's model; the first half shows the protection does not repeat</a:t>
            </a:r>
          </a:p>
        </p:txBody>
      </p:sp>
      <p:sp>
        <p:nvSpPr>
          <p:cNvPr id="7" name="TextBox 6"/>
          <p:cNvSpPr txBox="1"/>
          <p:nvPr/>
        </p:nvSpPr>
        <p:spPr>
          <a:xfrm>
            <a:off x="640080" y="3154679"/>
            <a:ext cx="4114800" cy="365760"/>
          </a:xfrm>
          <a:prstGeom prst="rect">
            <a:avLst/>
          </a:prstGeom>
          <a:noFill/>
        </p:spPr>
        <p:txBody>
          <a:bodyPr wrap="square">
            <a:spAutoFit/>
          </a:bodyPr>
          <a:lstStyle/>
          <a:p>
            <a:r>
              <a:rPr sz="1450" b="1">
                <a:solidFill>
                  <a:srgbClr val="E0A458"/>
                </a:solidFill>
                <a:latin typeface="Cambria"/>
              </a:rPr>
              <a:t>Add a third attack</a:t>
            </a:r>
          </a:p>
        </p:txBody>
      </p:sp>
      <p:sp>
        <p:nvSpPr>
          <p:cNvPr id="8" name="TextBox 7"/>
          <p:cNvSpPr txBox="1"/>
          <p:nvPr/>
        </p:nvSpPr>
        <p:spPr>
          <a:xfrm>
            <a:off x="4846320" y="3182111"/>
            <a:ext cx="6675120" cy="685800"/>
          </a:xfrm>
          <a:prstGeom prst="rect">
            <a:avLst/>
          </a:prstGeom>
          <a:noFill/>
        </p:spPr>
        <p:txBody>
          <a:bodyPr wrap="square">
            <a:spAutoFit/>
          </a:bodyPr>
          <a:lstStyle/>
          <a:p>
            <a:pPr>
              <a:spcAft>
                <a:spcPts val="100"/>
              </a:spcAft>
            </a:pPr>
            <a:r>
              <a:rPr sz="1250" b="0">
                <a:solidFill>
                  <a:srgbClr val="CADCFC"/>
                </a:solidFill>
                <a:latin typeface="Calibri"/>
              </a:rPr>
              <a:t>AGGD, so the matrix does not rest on four attack mechanisms</a:t>
            </a:r>
          </a:p>
        </p:txBody>
      </p:sp>
      <p:sp>
        <p:nvSpPr>
          <p:cNvPr id="9" name="TextBox 8"/>
          <p:cNvSpPr txBox="1"/>
          <p:nvPr/>
        </p:nvSpPr>
        <p:spPr>
          <a:xfrm>
            <a:off x="640080" y="3977639"/>
            <a:ext cx="4114800" cy="365760"/>
          </a:xfrm>
          <a:prstGeom prst="rect">
            <a:avLst/>
          </a:prstGeom>
          <a:noFill/>
        </p:spPr>
        <p:txBody>
          <a:bodyPr wrap="square">
            <a:spAutoFit/>
          </a:bodyPr>
          <a:lstStyle/>
          <a:p>
            <a:r>
              <a:rPr sz="1450" b="1">
                <a:solidFill>
                  <a:srgbClr val="E0A458"/>
                </a:solidFill>
                <a:latin typeface="Cambria"/>
              </a:rPr>
              <a:t>Find an outside defense</a:t>
            </a:r>
          </a:p>
        </p:txBody>
      </p:sp>
      <p:sp>
        <p:nvSpPr>
          <p:cNvPr id="10" name="TextBox 9"/>
          <p:cNvSpPr txBox="1"/>
          <p:nvPr/>
        </p:nvSpPr>
        <p:spPr>
          <a:xfrm>
            <a:off x="4846320" y="4005072"/>
            <a:ext cx="6675120" cy="685800"/>
          </a:xfrm>
          <a:prstGeom prst="rect">
            <a:avLst/>
          </a:prstGeom>
          <a:noFill/>
        </p:spPr>
        <p:txBody>
          <a:bodyPr wrap="square">
            <a:spAutoFit/>
          </a:bodyPr>
          <a:lstStyle/>
          <a:p>
            <a:pPr>
              <a:spcAft>
                <a:spcPts val="100"/>
              </a:spcAft>
            </a:pPr>
            <a:r>
              <a:rPr sz="1250" b="0">
                <a:solidFill>
                  <a:srgbClr val="CADCFC"/>
                </a:solidFill>
                <a:latin typeface="Calibri"/>
              </a:rPr>
              <a:t>the aggregation family comes from one repository; a second group's code would test the rule</a:t>
            </a:r>
          </a:p>
        </p:txBody>
      </p:sp>
      <p:sp>
        <p:nvSpPr>
          <p:cNvPr id="11" name="TextBox 10"/>
          <p:cNvSpPr txBox="1"/>
          <p:nvPr/>
        </p:nvSpPr>
        <p:spPr>
          <a:xfrm>
            <a:off x="640080" y="4800600"/>
            <a:ext cx="4114800" cy="365760"/>
          </a:xfrm>
          <a:prstGeom prst="rect">
            <a:avLst/>
          </a:prstGeom>
          <a:noFill/>
        </p:spPr>
        <p:txBody>
          <a:bodyPr wrap="square">
            <a:spAutoFit/>
          </a:bodyPr>
          <a:lstStyle/>
          <a:p>
            <a:r>
              <a:rPr sz="1450" b="1">
                <a:solidFill>
                  <a:srgbClr val="E0A458"/>
                </a:solidFill>
                <a:latin typeface="Cambria"/>
              </a:rPr>
              <a:t>Close the 99 near-misses</a:t>
            </a:r>
          </a:p>
        </p:txBody>
      </p:sp>
      <p:sp>
        <p:nvSpPr>
          <p:cNvPr id="12" name="TextBox 11"/>
          <p:cNvSpPr txBox="1"/>
          <p:nvPr/>
        </p:nvSpPr>
        <p:spPr>
          <a:xfrm>
            <a:off x="4846320" y="4828032"/>
            <a:ext cx="6675120" cy="685800"/>
          </a:xfrm>
          <a:prstGeom prst="rect">
            <a:avLst/>
          </a:prstGeom>
          <a:noFill/>
        </p:spPr>
        <p:txBody>
          <a:bodyPr wrap="square">
            <a:spAutoFit/>
          </a:bodyPr>
          <a:lstStyle/>
          <a:p>
            <a:pPr>
              <a:spcAft>
                <a:spcPts val="100"/>
              </a:spcAft>
            </a:pPr>
            <a:r>
              <a:rPr sz="1250" b="0">
                <a:solidFill>
                  <a:srgbClr val="CADCFC"/>
                </a:solidFill>
                <a:latin typeface="Calibri"/>
              </a:rPr>
              <a:t>defense papers that name an attack in our registry but never test it</a:t>
            </a:r>
          </a:p>
        </p:txBody>
      </p:sp>
      <p:sp>
        <p:nvSpPr>
          <p:cNvPr id="13" name="TextBox 12"/>
          <p:cNvSpPr txBox="1"/>
          <p:nvPr/>
        </p:nvSpPr>
        <p:spPr>
          <a:xfrm>
            <a:off x="640080" y="5623560"/>
            <a:ext cx="4114800" cy="365760"/>
          </a:xfrm>
          <a:prstGeom prst="rect">
            <a:avLst/>
          </a:prstGeom>
          <a:noFill/>
        </p:spPr>
        <p:txBody>
          <a:bodyPr wrap="square">
            <a:spAutoFit/>
          </a:bodyPr>
          <a:lstStyle/>
          <a:p>
            <a:r>
              <a:rPr sz="1450" b="1">
                <a:solidFill>
                  <a:srgbClr val="E0A458"/>
                </a:solidFill>
                <a:latin typeface="Cambria"/>
              </a:rPr>
              <a:t>Manuscript draft</a:t>
            </a:r>
          </a:p>
        </p:txBody>
      </p:sp>
      <p:sp>
        <p:nvSpPr>
          <p:cNvPr id="14" name="TextBox 13"/>
          <p:cNvSpPr txBox="1"/>
          <p:nvPr/>
        </p:nvSpPr>
        <p:spPr>
          <a:xfrm>
            <a:off x="4846320" y="5650992"/>
            <a:ext cx="6675120" cy="685800"/>
          </a:xfrm>
          <a:prstGeom prst="rect">
            <a:avLst/>
          </a:prstGeom>
          <a:noFill/>
        </p:spPr>
        <p:txBody>
          <a:bodyPr wrap="square">
            <a:spAutoFit/>
          </a:bodyPr>
          <a:lstStyle/>
          <a:p>
            <a:pPr>
              <a:spcAft>
                <a:spcPts val="100"/>
              </a:spcAft>
            </a:pPr>
            <a:r>
              <a:rPr sz="1250" b="0">
                <a:solidFill>
                  <a:srgbClr val="CADCFC"/>
                </a:solidFill>
                <a:latin typeface="Calibri"/>
              </a:rPr>
              <a:t>RQ1 to RQ7 are complete. The threats to validity are written.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