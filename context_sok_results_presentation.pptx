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069080" y="1143000"/>
            <a:ext cx="8686800" cy="868680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37760" y="2011680"/>
            <a:ext cx="6949440" cy="694944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806440" y="2880360"/>
            <a:ext cx="5212080" cy="521208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75120" y="3749039"/>
            <a:ext cx="3474720" cy="347472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43800" y="4617720"/>
            <a:ext cx="1737360" cy="173736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CONTEXT INTEGRITY SOK  ·  RESULTS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8778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Reuniting Adversarial and</a:t>
            </a:r>
          </a:p>
          <a:p>
            <a:pPr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Incidental Poisoning of LLM</a:t>
            </a:r>
          </a:p>
          <a:p>
            <a:pPr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Agent Context 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ADCFC"/>
                </a:solidFill>
                <a:latin typeface="Calibri"/>
              </a:rPr>
              <a:t>A Systematization of Knowledge — RQ1–RQ7 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FE8EF"/>
                </a:solidFill>
                <a:latin typeface="Calibri"/>
              </a:rPr>
              <a:t>1,158 papers screened · 1,026 included · 237 mechanisms · 534 defenses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THE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Seven questions, one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1343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32257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Taxonomy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322576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60.5% of the cube is empty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16352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8950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8986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Cross-citation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898648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11.7% / 9.1% between tracks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65576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4747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Pollution census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47472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223 named mechanisms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68496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04164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05079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Defense census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050791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534 named defenses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44568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177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462686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Coverage matrix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626864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131 mechanisms never defended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20640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19379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520293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Generalization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5202936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9 reconstructed case studies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696712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76986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19" y="577900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Open problems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5779008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7 ranked, falsifiable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Kitchenham SLR + PRISMA-lite screening,</a:t>
            </a:r>
          </a:p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run across two literatures instead of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2606040" cy="269748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0A458"/>
                </a:solidFill>
                <a:latin typeface="Cambria"/>
              </a:rPr>
              <a:t>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Two tracks searched in parallel: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adversarial poisoning and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incidental degradation.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25,922 records discovered.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743200"/>
            <a:ext cx="2606040" cy="269748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0A458"/>
                </a:solidFill>
                <a:latin typeface="Cambria"/>
              </a:rPr>
              <a:t>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42900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Fixed inclusion criteria in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config.yaml, applied by rule,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not by hand. Every change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logged in rescreening_log.md.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2606040" cy="269748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0A458"/>
                </a:solidFill>
                <a:latin typeface="Cambria"/>
              </a:rPr>
              <a:t>Extract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42900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Full text read for 1,097 papers.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32 coded fields per paper,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closed vocabularies for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channel and consequence.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2743200"/>
            <a:ext cx="2606040" cy="269748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39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0A458"/>
                </a:solidFill>
                <a:latin typeface="Cambria"/>
              </a:rPr>
              <a:t>Synthesize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39" y="342900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Registries joined into the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coverage matrix, then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reconstructed empirically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for RQ6.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THE CORPUS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What the numbers are computed 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4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468880"/>
            <a:ext cx="3017520" cy="301752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2926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1,026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29260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papers included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788920"/>
            <a:ext cx="6675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1,158 rows screened; 132 excluded with cause</a:t>
            </a:r>
          </a:p>
          <a:p>
            <a:pPr>
              <a:spcAft>
                <a:spcPts val="2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Every exclusion is recorded in rescreening_log.md —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duplicates, off-criteria admissions, and screening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corrections, with the reasoning for each.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The corpus grew 1,008 → 1,158 in Sept 2026 after a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screening bug was found: the signal-term list required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agent-era vocabulary, so the papers that founded the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field — which say "LLM-integrated application", never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"agent" — had been silently dropped.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RQ1  · 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Which combinations of channel, intent,</a:t>
            </a:r>
          </a:p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and consequence have been studied at all?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5</a:t>
            </a:r>
          </a:p>
        </p:txBody>
      </p:sp>
      <p:sp>
        <p:nvSpPr>
          <p:cNvPr id="5" name="Oval 4"/>
          <p:cNvSpPr/>
          <p:nvPr/>
        </p:nvSpPr>
        <p:spPr>
          <a:xfrm>
            <a:off x="1645920" y="2514600"/>
            <a:ext cx="3291840" cy="329184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40" y="36576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60.5%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4389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of the cube is empty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01752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98 of 162 cells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9 channels × 3 intents × 6 consequences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Down from 63.6% before the screening fix.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Recovering 150 foundational papers filled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five cells — and left 98 untouched.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RQ1  · 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Where the work actually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3230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tool-output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468880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2468880"/>
            <a:ext cx="7132320" cy="201168"/>
          </a:xfrm>
          <a:prstGeom prst="round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80192" y="243230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620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direct-input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898648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0" y="2898648"/>
            <a:ext cx="7132320" cy="201168"/>
          </a:xfrm>
          <a:prstGeom prst="round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80192" y="2862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RAG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328416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74720" y="3328416"/>
            <a:ext cx="3025832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80192" y="32918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2160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cross-modal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3758184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74720" y="3758184"/>
            <a:ext cx="1945178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80192" y="37216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memory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4187952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0" y="4187952"/>
            <a:ext cx="1512916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0192" y="41513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58114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tool-metadata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617720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74720" y="4617720"/>
            <a:ext cx="1296785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80192" y="45811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01091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multi-agent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0" y="5047488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74720" y="5047488"/>
            <a:ext cx="972589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80192" y="501091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06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supply-chain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0" y="5477256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74720" y="5477256"/>
            <a:ext cx="648392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80192" y="54406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704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skill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74720" y="5907024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474720" y="5907024"/>
            <a:ext cx="432261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80192" y="58704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FE8EF"/>
                </a:solidFill>
                <a:latin typeface="Calibri"/>
              </a:rPr>
              <a:t>Named mechanisms per channel (RQ3 registry). direct-input and tool-output are now exactly tied.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RQ2  ·  CITATION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Two literatures. Do they read each other?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10881360" cy="1143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24912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Security → cites ML/AI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6382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FE8EF"/>
                </a:solidFill>
                <a:latin typeface="Calibri"/>
              </a:rPr>
              <a:t>70 of 599 papers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281635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000" b="1">
                <a:solidFill>
                  <a:srgbClr val="E0A458"/>
                </a:solidFill>
                <a:latin typeface="Cambria"/>
              </a:rPr>
              <a:t>11.7%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39"/>
            <a:ext cx="10881360" cy="1143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42231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ML/AI → cites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8114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FE8EF"/>
                </a:solidFill>
                <a:latin typeface="Calibri"/>
              </a:rPr>
              <a:t>37 of 407 papers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4233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000" b="1">
                <a:solidFill>
                  <a:srgbClr val="1C7293"/>
                </a:solidFill>
                <a:latin typeface="Cambria"/>
              </a:rPr>
              <a:t>9.1%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Roughly nine in ten papers never cite across the divide.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Unchanged after the corpus grew by 150 papers — the disconnect is structural, not a sampling artifact.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RQ3  ·  POLLUTION CENSUS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How many distinct ways can a context be poisoned?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8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423160"/>
            <a:ext cx="2880360" cy="288036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36042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223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91939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named mechanisms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69748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168 adversarial  ·  55 incidental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Up from 183 before the screening fix. The 41 recovered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mechanisms are 40 adversarial and skew hard to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direct-input — 23 of 41.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That closed what had looked like a decisive channel gap.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The old "tool-output dominates" reading overstated a gap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our own screening had manufactured.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CFE8EF"/>
                </a:solidFill>
                <a:latin typeface="Calibri"/>
              </a:rPr>
              <a:t>By consequence:  goal-hijack 126   ·   reasoning-corruption 46   ·   silent-corruption 21   ·   persistence-backdoor 14   ·   data-exfiltration 13   ·   resource-abuse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RQ4  ·  DEFENSE CENSUS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And how many defenses answer them?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9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31720"/>
            <a:ext cx="2880360" cy="288036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6898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534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00500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named defenses</a:t>
            </a:r>
          </a:p>
        </p:txBody>
      </p:sp>
      <p:sp>
        <p:nvSpPr>
          <p:cNvPr id="8" name="Oval 7"/>
          <p:cNvSpPr/>
          <p:nvPr/>
        </p:nvSpPr>
        <p:spPr>
          <a:xfrm>
            <a:off x="4160520" y="2331720"/>
            <a:ext cx="2880360" cy="288036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326898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B54A3F"/>
                </a:solidFill>
                <a:latin typeface="Cambria"/>
              </a:rPr>
              <a:t>2.8%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4000500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tested on both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threat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69748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Only 15 of 534 defenses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were validated against both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adversarial and incidental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context corruption.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This figure did not move when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55 defenses were added — including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StruQ, SecAlign, Spotlighting and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the Instruction Hierarchy.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2.9% → 2.8%.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RQ5  ·  COVERAGE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Which defenses were ever tested</a:t>
            </a:r>
          </a:p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against which attacks?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10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560320"/>
            <a:ext cx="2788920" cy="278892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51859"/>
            <a:ext cx="26974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83379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of defenses have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any confirmed test</a:t>
            </a:r>
          </a:p>
        </p:txBody>
      </p:sp>
      <p:sp>
        <p:nvSpPr>
          <p:cNvPr id="8" name="Oval 7"/>
          <p:cNvSpPr/>
          <p:nvPr/>
        </p:nvSpPr>
        <p:spPr>
          <a:xfrm>
            <a:off x="4069080" y="2560320"/>
            <a:ext cx="2788920" cy="278892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451859"/>
            <a:ext cx="26974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B54A3F"/>
                </a:solidFill>
                <a:latin typeface="Cambria"/>
              </a:rPr>
              <a:t>131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183379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mechanisms never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defended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88036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332 confirmed pairs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213 of 534 defenses matched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106 of 237 mechanisms covered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Of the matched defenses,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163 were tested against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exactly one mechanism.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There is no generalist-defense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category to speak of.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RQ5  ·  COVERAGE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mbria"/>
              </a:rPr>
              <a:t>Testing effort concentrates on a handful of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7802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Indirect Prompt Injection (IPI)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251460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74920" y="2514600"/>
            <a:ext cx="5532120" cy="201168"/>
          </a:xfrm>
          <a:prstGeom prst="round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80192" y="24780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8094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AgentDojo: important-instructions injection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301752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74920" y="3017520"/>
            <a:ext cx="1091865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80192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8386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lost in the middle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352044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74920" y="3520440"/>
            <a:ext cx="946283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80192" y="34838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8678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Combined Attack (Open-Prompt-Injection)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402336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74920" y="4023360"/>
            <a:ext cx="946283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80192" y="39867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970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BIPIA benchmark attack 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452628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74920" y="4526280"/>
            <a:ext cx="946283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0192" y="448970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9262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AgentDojo: ignore-previous injection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74920" y="502920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74920" y="5029200"/>
            <a:ext cx="946283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80192" y="49926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7150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One umbrella mechanism absorbs 22.9% of all test pairs; these six take 43.1%.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The other 131 mechanisms absorb none.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RQ5  ·  THE TEST THAT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We predicted the gap would close.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It did not — and that is the result.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5257800" cy="288036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47548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E0A458"/>
                </a:solidFill>
                <a:latin typeface="Calibri"/>
              </a:rPr>
              <a:t>The prediction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Recovering the field's foundational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defenses — StruQ, SecAlign, Spotlighting,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Attention Tracker, the Liu et al. baselines —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should reveal that mechanisms which look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"never defended" were defended after 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697480"/>
            <a:ext cx="5257800" cy="288036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926080"/>
            <a:ext cx="47548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B54A3F"/>
                </a:solidFill>
                <a:latin typeface="Calibri"/>
              </a:rPr>
              <a:t>What happened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164 papers recovered. 55 defenses and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41 mechanisms added. 45 new pairs.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Pre-existing mechanisms newly covered:</a:t>
            </a:r>
          </a:p>
          <a:p>
            <a:pPr>
              <a:spcAft>
                <a:spcPts val="400"/>
              </a:spcAft>
            </a:pPr>
            <a:r>
              <a:rPr sz="2600" b="1">
                <a:solidFill>
                  <a:srgbClr val="B54A3F"/>
                </a:solidFill>
                <a:latin typeface="Calibri"/>
              </a:rPr>
              <a:t>zero.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Coverage of the original 196 is unchanged.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The recovered defenses and the recovered attacks cover each other.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"Your gap is an artifact of your corpus boundaries" has now been tested directly, and does not 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RQ6  ·  DEFENSE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Does a defense built for one threat model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hold against the other?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06040"/>
            <a:ext cx="3520440" cy="2286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C7293"/>
                </a:solidFill>
                <a:latin typeface="Cambria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FFFFFF"/>
                </a:solidFill>
                <a:latin typeface="Calibri"/>
              </a:rPr>
              <a:t>Full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holds against the untested threat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606040"/>
            <a:ext cx="3520440" cy="2286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6864" y="27889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B57E39"/>
                </a:solidFill>
                <a:latin typeface="Cambr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611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FFFFFF"/>
                </a:solidFill>
                <a:latin typeface="Calibri"/>
              </a:rPr>
              <a:t>Partial / degraded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402336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measurable protection, materially weaker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7" y="2606040"/>
            <a:ext cx="3520440" cy="2286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7" y="27889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B54A3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3611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FFFFFF"/>
                </a:solidFill>
                <a:latin typeface="Calibri"/>
              </a:rPr>
              <a:t>Inert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402336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no measurable protection at 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1208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9 case studies, each rebuilt from the defense's own released code or weights — never from its paper's numbers.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Generalization tracks intervention point: ingestion defenses mostly hold, execution defenses mostly do not.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That split is partly confounded — the ingestion harnesses model a text classifier, the execution ones an agent. Stated, not hidden.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EVALUATION FRAGMENTATION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The field has no common ground to test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14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468880"/>
            <a:ext cx="2834640" cy="283464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B54A3F"/>
                </a:solidFill>
                <a:latin typeface="Cambria"/>
              </a:rPr>
              <a:t>42.6%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of attacks evaluated on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ground nobody can reuse</a:t>
            </a:r>
          </a:p>
        </p:txBody>
      </p:sp>
      <p:sp>
        <p:nvSpPr>
          <p:cNvPr id="8" name="Oval 7"/>
          <p:cNvSpPr/>
          <p:nvPr/>
        </p:nvSpPr>
        <p:spPr>
          <a:xfrm>
            <a:off x="4069080" y="2468880"/>
            <a:ext cx="2834640" cy="283464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11.7%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1148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covered by the most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shared substrate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78892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255 distinct substrates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for 223 named attacks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199 of them (78%)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are used by exactly one paper.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More substrates than attacks.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Two papers on the same corpus still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are not comparable.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DEFENSE HALF-LIFE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How long does a published defense survive?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15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468880"/>
            <a:ext cx="3017520" cy="301752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2926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B54A3F"/>
                </a:solidFill>
                <a:latin typeface="Cambria"/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29260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of published defeats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land within one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788920"/>
            <a:ext cx="6675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24 datable defeats, median gap 1 year, maximum 2.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DataSentinel was defeated four separate times by four teams.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A defense does not get beaten once and settle.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Read as an UPPER BOUND, not an estimate: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only 2.81% of the registry has any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recorded outcome, and the sample is biased toward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defenses famous enough to attract attack papers.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TRANSFER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Detection depends on recognising the attack.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Action-checking does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5257800" cy="242316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E0A458"/>
                </a:solidFill>
                <a:latin typeface="Calibri"/>
              </a:rPr>
              <a:t>Attack it was built against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Three of four ingestion detectors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stop it completely.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The attack announces itself: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"an important message from Emma".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697480"/>
            <a:ext cx="5257800" cy="242316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926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B54A3F"/>
                </a:solidFill>
                <a:latin typeface="Calibri"/>
              </a:rPr>
              <a:t>Same goal, different disguise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The same detectors stop working.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The payload forges a system turn,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so it reads as configuration,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not as an injected instruction.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4924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The execution-stage technique blocked BOTH.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It never reads the payload — it asks whether the action serves the user's request,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which is invariant to how the instruction was dressed up.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E0A458"/>
                </a:solidFill>
                <a:latin typeface="Calibri"/>
              </a:rPr>
              <a:t>RQ6 concluded execution defenses generalize least. This says the opposite.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Against the five closest SoKs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FE8EF"/>
                </a:solidFill>
                <a:latin typeface="Calibri"/>
              </a:rPr>
              <a:t>closest competitor: The Landscape of Prompt Injection Threats (2602.10453)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97480"/>
            <a:ext cx="10881360" cy="42062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52344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papers reviewed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752344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752344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1,026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09544"/>
            <a:ext cx="10881360" cy="42062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64408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attacks catalogued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26440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264408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223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21608"/>
            <a:ext cx="10881360" cy="42062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76472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defenses catalogued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776472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77647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534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33672"/>
            <a:ext cx="10881360" cy="42062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88536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attack × defense pairs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28853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288536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332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45736"/>
            <a:ext cx="10881360" cy="42062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80060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runs own experiments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80060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800600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yes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57800"/>
            <a:ext cx="10881360" cy="42062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312664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covers BOTH literatures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5312664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5312664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064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They run experiments too — so that is not the distinction.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Four of the five closest surveys sit on one side of a divide they never mention: the 314-cite ML survey does not cite security work, and the closest security SoK does not cite degradation work.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RQ7  ·  OPEN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Seven problems, ranked by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048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14015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Cross-track evaluation is not happening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414015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0.9% of test pairs cross the divide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07791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990087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The uncovered tail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990087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131 mechanisms have no tested defense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83863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57015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56615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Single-mechanism validation is the norm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566159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163 defenses tested against exactly 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59935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7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142231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Defenses are tested only against contemporaries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142231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attack papers hold the later record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36008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091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71830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Intervention point predicts generalization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718304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testable, and partly confounded today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12079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285231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294375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Benchmarks stand in for mechanisms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294375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one umbrella entry absorbs 22.9% of pairs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788152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86130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8704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Reporting conventions, not capability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87044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four of seven need no new science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The field is underclaiming coverage it already 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Two literatures study the same pond and barely read each other (RQ2).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They name 223 ways to poison a context and 534 ways to defend one — and almost never test the two against each other (RQ5).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03320"/>
            <a:ext cx="10881360" cy="141732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913632"/>
            <a:ext cx="10241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E0A458"/>
                </a:solidFill>
                <a:latin typeface="Calibri"/>
              </a:rPr>
              <a:t>The binding constraint is coordination, not capability.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RQ6 found 6 of 7 runnable defenses showed some protection against the threat model they were never tested on.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generalization is already there. The evaluation convention that would surface it is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CFE8EF"/>
                </a:solidFill>
                <a:latin typeface="Calibri"/>
              </a:rPr>
              <a:t>And the gap is not ours. We imported the literature we thought was missing, specifically to close it. It did not close.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mbria"/>
              </a:rPr>
              <a:t>Every number on these slides regenerates from the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69464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config.yaml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56946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screening criteria, applied by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90672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91256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rescreening_log.md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3191256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every corpus-affecting decision, dated, with cause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12464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81304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scripts/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381304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dedupe → registries → coverage matrix → RQ1/RQ2/RQ7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34256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context_sok_master_workbook.xlsx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43484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papers, mechanisms, defenses, pairs, gaps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56048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5663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mcp_server/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056632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the same data, queryable conversationally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577840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678424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scripts/build_presentation.py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67842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this deck, built from the live registries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FE8EF"/>
                </a:solidFill>
                <a:latin typeface="Calibri"/>
              </a:rPr>
              <a:t>RQ6 numbers come from running each defense's released code or weights — never from the paper's reported figures.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From findings to manuscript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Resolve the RQ6 confound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359151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port the ingestion defenses into an agent harness so intervention point is tested, not inferred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Close the transfer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182111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three-stage coverage recovery; first prediction already validated by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Decide the survey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4005072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whether a pure survey satisfies the include criteria — affects the original corpus too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Differentiation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28032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against the five closest SoKs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Manuscript 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650992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RQ1–RQ7 complete; threats-to-validity already written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