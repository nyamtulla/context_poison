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2253C"/>
                </a:solidFill>
                <a:latin typeface="Cambria"/>
              </a:defRPr>
            </a:pPr>
            <a:r>
              <a:t>Working corpus by track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Papers</c:v>
                </c:pt>
              </c:strCache>
            </c:strRef>
          </c:tx>
          <c:spPr>
            <a:solidFill>
              <a:srgbClr val="1C7293"/>
            </a:solidFill>
          </c:spPr>
          <c:dPt>
            <c:idx val="0"/>
            <c:spPr>
              <a:solidFill>
                <a:srgbClr val="B54A3F"/>
              </a:solidFill>
            </c:spPr>
          </c:dPt>
          <c:dPt>
            <c:idx val="1"/>
            <c:spPr>
              <a:solidFill>
                <a:srgbClr val="1C7293"/>
              </a:solidFill>
            </c:spPr>
          </c:dPt>
          <c:dPt>
            <c:idx val="2"/>
            <c:spPr>
              <a:solidFill>
                <a:srgbClr val="9AA6B2"/>
              </a:solidFill>
            </c:spPr>
          </c:dPt>
          <c:cat>
            <c:strRef>
              <c:f>Sheet1!$A$2:$A$4</c:f>
              <c:strCache>
                <c:ptCount val="3"/>
                <c:pt idx="0">
                  <c:v>Security
(Track A)</c:v>
                </c:pt>
                <c:pt idx="1">
                  <c:v>ML/AI
(Track B)</c:v>
                </c:pt>
                <c:pt idx="2">
                  <c:v>Both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463</c:v>
                </c:pt>
                <c:pt idx="1">
                  <c:v>403</c:v>
                </c:pt>
                <c:pt idx="2">
                  <c:v>20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0E4E8"/>
            </a:solidFill>
          </a:ln>
        </c:spPr>
        <c:txPr>
          <a:bodyPr/>
          <a:lstStyle/>
          <a:p>
            <a:pPr>
              <a:defRPr sz="1000">
                <a:solidFill>
                  <a:srgbClr val="5B6B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CEF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B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Papers</c:v>
                </c:pt>
              </c:strCache>
            </c:strRef>
          </c:tx>
          <c:spPr>
            <a:solidFill>
              <a:srgbClr val="1C7293"/>
            </a:solidFill>
          </c:spPr>
          <c:dPt>
            <c:idx val="8"/>
            <c:spPr>
              <a:solidFill>
                <a:srgbClr val="E0A458"/>
              </a:solidFill>
            </c:spPr>
          </c:dPt>
          <c:cat>
            <c:strRef>
              <c:f>Sheet1!$A$2:$A$10</c:f>
              <c:strCache>
                <c:ptCount val="9"/>
                <c:pt idx="0">
                  <c:v>tool-output</c:v>
                </c:pt>
                <c:pt idx="1">
                  <c:v>direct-input</c:v>
                </c:pt>
                <c:pt idx="2">
                  <c:v>RAG</c:v>
                </c:pt>
                <c:pt idx="3">
                  <c:v>memory</c:v>
                </c:pt>
                <c:pt idx="4">
                  <c:v>multi-agent</c:v>
                </c:pt>
                <c:pt idx="5">
                  <c:v>tool-metadata</c:v>
                </c:pt>
                <c:pt idx="6">
                  <c:v>cross-modal</c:v>
                </c:pt>
                <c:pt idx="7">
                  <c:v>skill</c:v>
                </c:pt>
                <c:pt idx="8">
                  <c:v>supply-chain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335</c:v>
                </c:pt>
                <c:pt idx="1">
                  <c:v>157</c:v>
                </c:pt>
                <c:pt idx="2">
                  <c:v>125</c:v>
                </c:pt>
                <c:pt idx="3">
                  <c:v>107</c:v>
                </c:pt>
                <c:pt idx="4">
                  <c:v>63</c:v>
                </c:pt>
                <c:pt idx="5">
                  <c:v>38</c:v>
                </c:pt>
                <c:pt idx="6">
                  <c:v>37</c:v>
                </c:pt>
                <c:pt idx="7">
                  <c:v>18</c:v>
                </c:pt>
                <c:pt idx="8">
                  <c:v>6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2253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0E4E8"/>
            </a:solidFill>
          </a:ln>
        </c:spPr>
        <c:txPr>
          <a:bodyPr/>
          <a:lstStyle/>
          <a:p>
            <a:pPr>
              <a:defRPr sz="1150">
                <a:solidFill>
                  <a:srgbClr val="12253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F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B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Security (Track A)</c:v>
                </c:pt>
              </c:strCache>
            </c:strRef>
          </c:tx>
          <c:spPr>
            <a:solidFill>
              <a:srgbClr val="B54A3F"/>
            </a:solidFill>
          </c:spPr>
          <c:cat>
            <c:strRef>
              <c:f>Sheet1!$A$2:$A$4</c:f>
              <c:strCache>
                <c:ptCount val="3"/>
                <c:pt idx="0">
                  <c:v>goal-hijack</c:v>
                </c:pt>
                <c:pt idx="1">
                  <c:v>silent-corruption</c:v>
                </c:pt>
                <c:pt idx="2">
                  <c:v>reasoning-corruption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391</c:v>
                </c:pt>
                <c:pt idx="1">
                  <c:v>9</c:v>
                </c:pt>
                <c:pt idx="2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ML/AI (Track B)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Sheet1!$A$2:$A$4</c:f>
              <c:strCache>
                <c:ptCount val="3"/>
                <c:pt idx="0">
                  <c:v>goal-hijack</c:v>
                </c:pt>
                <c:pt idx="1">
                  <c:v>silent-corruption</c:v>
                </c:pt>
                <c:pt idx="2">
                  <c:v>reasoning-corruption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</c:v>
                </c:pt>
                <c:pt idx="1">
                  <c:v>73</c:v>
                </c:pt>
                <c:pt idx="2">
                  <c:v>313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2253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0E4E8"/>
            </a:solidFill>
          </a:ln>
        </c:spPr>
        <c:txPr>
          <a:bodyPr/>
          <a:lstStyle/>
          <a:p>
            <a:pPr>
              <a:defRPr sz="1200">
                <a:solidFill>
                  <a:srgbClr val="5B6B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CEF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B6B79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Mechanisms</c:v>
                </c:pt>
              </c:strCache>
            </c:strRef>
          </c:tx>
          <c:dPt>
            <c:idx val="0"/>
            <c:spPr>
              <a:solidFill>
                <a:srgbClr val="B54A3F"/>
              </a:solidFill>
            </c:spPr>
          </c:dPt>
          <c:dPt>
            <c:idx val="1"/>
            <c:spPr>
              <a:solidFill>
                <a:srgbClr val="1C7293"/>
              </a:solidFill>
            </c:spPr>
          </c:dPt>
          <c:cat>
            <c:strRef>
              <c:f>Sheet1!$A$2:$A$3</c:f>
              <c:strCache>
                <c:ptCount val="2"/>
                <c:pt idx="0">
                  <c:v>Adversarial
(deliberate attacks)</c:v>
                </c:pt>
                <c:pt idx="1">
                  <c:v>Incidental
(accidental degradation)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129</c:v>
                </c:pt>
                <c:pt idx="1">
                  <c:v>54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2253C"/>
                </a:solidFill>
                <a:latin typeface="Cambria"/>
              </a:defRPr>
            </a:pPr>
            <a:r>
              <a:t>What each defense was actually validated against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Defenses</c:v>
                </c:pt>
              </c:strCache>
            </c:strRef>
          </c:tx>
          <c:spPr>
            <a:solidFill>
              <a:srgbClr val="1C7293"/>
            </a:solidFill>
          </c:spPr>
          <c:dPt>
            <c:idx val="0"/>
            <c:spPr>
              <a:solidFill>
                <a:srgbClr val="1C7293"/>
              </a:solidFill>
            </c:spPr>
          </c:dPt>
          <c:dPt>
            <c:idx val="1"/>
            <c:spPr>
              <a:solidFill>
                <a:srgbClr val="B54A3F"/>
              </a:solidFill>
            </c:spPr>
          </c:dPt>
          <c:dPt>
            <c:idx val="2"/>
            <c:spPr>
              <a:solidFill>
                <a:srgbClr val="E0A458"/>
              </a:solidFill>
            </c:spPr>
          </c:dPt>
          <c:dPt>
            <c:idx val="3"/>
            <c:spPr>
              <a:solidFill>
                <a:srgbClr val="C7CED4"/>
              </a:solidFill>
            </c:spPr>
          </c:dPt>
          <c:cat>
            <c:strRef>
              <c:f>Sheet1!$A$2:$A$5</c:f>
              <c:strCache>
                <c:ptCount val="4"/>
                <c:pt idx="0">
                  <c:v>Incidental
only</c:v>
                </c:pt>
                <c:pt idx="1">
                  <c:v>Adversarial
only</c:v>
                </c:pt>
                <c:pt idx="2">
                  <c:v>Both</c:v>
                </c:pt>
                <c:pt idx="3">
                  <c:v>No
evaluation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250</c:v>
                </c:pt>
                <c:pt idx="1">
                  <c:v>212</c:v>
                </c:pt>
                <c:pt idx="2">
                  <c:v>14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12253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0E4E8"/>
            </a:solidFill>
          </a:ln>
        </c:spPr>
        <c:txPr>
          <a:bodyPr/>
          <a:lstStyle/>
          <a:p>
            <a:pPr>
              <a:defRPr sz="1200">
                <a:solidFill>
                  <a:srgbClr val="5B6B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CEF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B6B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Defenses tested against it</c:v>
                </c:pt>
              </c:strCache>
            </c:strRef>
          </c:tx>
          <c:spPr>
            <a:solidFill>
              <a:srgbClr val="C7CED4"/>
            </a:solidFill>
          </c:spPr>
          <c:dPt>
            <c:idx val="0"/>
            <c:spPr>
              <a:solidFill>
                <a:srgbClr val="E0A458"/>
              </a:solidFill>
            </c:spPr>
          </c:dPt>
          <c:cat>
            <c:strRef>
              <c:f>Sheet1!$A$2:$A$7</c:f>
              <c:strCache>
                <c:ptCount val="6"/>
                <c:pt idx="0">
                  <c:v>Indirect Prompt
Injection (IPI)</c:v>
                </c:pt>
                <c:pt idx="1">
                  <c:v>lost in the
middle</c:v>
                </c:pt>
                <c:pt idx="2">
                  <c:v>context rot</c:v>
                </c:pt>
                <c:pt idx="3">
                  <c:v>PoisonedRAG</c:v>
                </c:pt>
                <c:pt idx="4">
                  <c:v>distraction by
irrelevant context</c:v>
                </c:pt>
                <c:pt idx="5">
                  <c:v>XSPI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</c:v>
                </c:pt>
                <c:pt idx="1">
                  <c:v>13</c:v>
                </c:pt>
                <c:pt idx="2">
                  <c:v>9</c:v>
                </c:pt>
                <c:pt idx="3">
                  <c:v>7</c:v>
                </c:pt>
                <c:pt idx="4">
                  <c:v>7</c:v>
                </c:pt>
                <c:pt idx="5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2253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0E4E8"/>
            </a:solidFill>
          </a:ln>
        </c:spPr>
        <c:txPr>
          <a:bodyPr/>
          <a:lstStyle/>
          <a:p>
            <a:pPr>
              <a:defRPr sz="1100">
                <a:solidFill>
                  <a:srgbClr val="12253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F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B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069079" y="1143000"/>
            <a:ext cx="8686800" cy="8686800"/>
          </a:xfrm>
          <a:prstGeom prst="ellipse">
            <a:avLst/>
          </a:prstGeom>
          <a:noFill/>
          <a:ln w="13970">
            <a:solidFill>
              <a:srgbClr val="1C7293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37759" y="2011680"/>
            <a:ext cx="6949440" cy="6949440"/>
          </a:xfrm>
          <a:prstGeom prst="ellipse">
            <a:avLst/>
          </a:prstGeom>
          <a:noFill/>
          <a:ln w="13970">
            <a:solidFill>
              <a:srgbClr val="E0A458">
                <a:alpha val="3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806440" y="2880360"/>
            <a:ext cx="5212080" cy="5212080"/>
          </a:xfrm>
          <a:prstGeom prst="ellipse">
            <a:avLst/>
          </a:prstGeom>
          <a:noFill/>
          <a:ln w="13970">
            <a:solidFill>
              <a:srgbClr val="1C7293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19" y="3749039"/>
            <a:ext cx="3474720" cy="3474720"/>
          </a:xfrm>
          <a:prstGeom prst="ellipse">
            <a:avLst/>
          </a:prstGeom>
          <a:noFill/>
          <a:ln w="13970">
            <a:solidFill>
              <a:srgbClr val="E0A458">
                <a:alpha val="5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43800" y="4617720"/>
            <a:ext cx="1737360" cy="1737360"/>
          </a:xfrm>
          <a:prstGeom prst="ellipse">
            <a:avLst/>
          </a:prstGeom>
          <a:noFill/>
          <a:ln w="13970">
            <a:solidFill>
              <a:srgbClr val="1C7293">
                <a:alpha val="6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CONTEXT INTEGRITY SOK  ·  RESULTS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87782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Reuniting Adversarial and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Incidental Poisoning of LLM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Agent Context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CADCFC"/>
                </a:solidFill>
                <a:latin typeface="Calibri"/>
              </a:rPr>
              <a:t>A Systematization of Knowledge — RQ1–RQ6 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FE8EF"/>
                </a:solidFill>
                <a:latin typeface="Calibri"/>
              </a:rPr>
              <a:t>Two literatures. One pond. How well do they actually talk to each other?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THE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Seven Research Questions,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5B6B79"/>
                </a:solidFill>
                <a:latin typeface="Calibri"/>
              </a:rPr>
              <a:t>Treat the agent's context window as a pond: inflow streams (channels) carry pollution in — deliberate or accidental.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1517904" cy="379476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7" y="2322576"/>
            <a:ext cx="566928" cy="566928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59736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3108960"/>
            <a:ext cx="1188719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Taxonomy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Which channel × intent × consequence cells have been studied?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440680"/>
            <a:ext cx="1298448" cy="347472"/>
          </a:xfrm>
          <a:prstGeom prst="roundRect">
            <a:avLst>
              <a:gd name="adj" fmla="val 30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440680"/>
            <a:ext cx="12984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63139" y="2148840"/>
            <a:ext cx="1517904" cy="379476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38627" y="2322576"/>
            <a:ext cx="566928" cy="566928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63139" y="2459736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7732" y="3108960"/>
            <a:ext cx="1188719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Citation network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Do the two literatures cite each other, or evolve apart?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2868" y="5440680"/>
            <a:ext cx="1298448" cy="347472"/>
          </a:xfrm>
          <a:prstGeom prst="roundRect">
            <a:avLst>
              <a:gd name="adj" fmla="val 30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2868" y="5440680"/>
            <a:ext cx="12984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86200" y="2148840"/>
            <a:ext cx="1517904" cy="379476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61688" y="2322576"/>
            <a:ext cx="566928" cy="566928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200" y="2459736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RQ3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0791" y="3108960"/>
            <a:ext cx="1188719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Pollution census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How many distinct poisoning mechanisms exist, named?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95928" y="5440680"/>
            <a:ext cx="1298448" cy="347472"/>
          </a:xfrm>
          <a:prstGeom prst="roundRect">
            <a:avLst>
              <a:gd name="adj" fmla="val 30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95928" y="5440680"/>
            <a:ext cx="12984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09259" y="2148840"/>
            <a:ext cx="1517904" cy="379476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84748" y="2322576"/>
            <a:ext cx="566928" cy="566928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9259" y="2459736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RQ4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3851" y="3108960"/>
            <a:ext cx="1188719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Defense census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How many defenses, validated against which threat model?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18988" y="5440680"/>
            <a:ext cx="1298448" cy="347472"/>
          </a:xfrm>
          <a:prstGeom prst="roundRect">
            <a:avLst>
              <a:gd name="adj" fmla="val 30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18988" y="5440680"/>
            <a:ext cx="12984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0" y="2148840"/>
            <a:ext cx="1517904" cy="379476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07807" y="2322576"/>
            <a:ext cx="566928" cy="566928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2459736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RQ5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96912" y="3108960"/>
            <a:ext cx="1188719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Coverage matrix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Which defenses were actually tested against which mechanisms?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42048" y="5440680"/>
            <a:ext cx="1298448" cy="347472"/>
          </a:xfrm>
          <a:prstGeom prst="roundRect">
            <a:avLst>
              <a:gd name="adj" fmla="val 30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42048" y="5440680"/>
            <a:ext cx="12984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55380" y="2148840"/>
            <a:ext cx="1517904" cy="379476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230867" y="2322576"/>
            <a:ext cx="566928" cy="566928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5380" y="2459736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RQ6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9972" y="3108960"/>
            <a:ext cx="1188719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Transfer test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Do adversarial-only defenses also stop incidental failures?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5107" y="5440680"/>
            <a:ext cx="1298448" cy="347472"/>
          </a:xfrm>
          <a:prstGeom prst="roundRect">
            <a:avLst>
              <a:gd name="adj" fmla="val 30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5107" y="5440680"/>
            <a:ext cx="12984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78439" y="2148840"/>
            <a:ext cx="1517904" cy="379476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853927" y="2322576"/>
            <a:ext cx="566928" cy="566928"/>
          </a:xfrm>
          <a:prstGeom prst="ellipse">
            <a:avLst/>
          </a:prstGeom>
          <a:solidFill>
            <a:srgbClr val="C7C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78439" y="2459736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RQ7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43031" y="3108960"/>
            <a:ext cx="1188719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Open problems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Where should the field invest next, given RQ2/5/6?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88167" y="5440680"/>
            <a:ext cx="1298448" cy="347472"/>
          </a:xfrm>
          <a:prstGeom prst="roundRect">
            <a:avLst>
              <a:gd name="adj" fmla="val 30000"/>
            </a:avLst>
          </a:prstGeom>
          <a:solidFill>
            <a:srgbClr val="5B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88167" y="5440680"/>
            <a:ext cx="12984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NOT STARTED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From 51 Seed Papers to a Verified, Rebuildable Corpus</a:t>
            </a:r>
          </a:p>
        </p:txBody>
      </p:sp>
      <p:sp>
        <p:nvSpPr>
          <p:cNvPr id="4" name="Oval 3"/>
          <p:cNvSpPr/>
          <p:nvPr/>
        </p:nvSpPr>
        <p:spPr>
          <a:xfrm>
            <a:off x="1316736" y="2395727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12253C"/>
                </a:solidFill>
                <a:latin typeface="Cambria"/>
              </a:rPr>
              <a:t>Search + snowball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30168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5B6B79"/>
                </a:solidFill>
                <a:latin typeface="Calibri"/>
              </a:rPr>
              <a:t>14 keyword clusters,
forward/backward citation graph</a:t>
            </a:r>
          </a:p>
        </p:txBody>
      </p:sp>
      <p:sp>
        <p:nvSpPr>
          <p:cNvPr id="8" name="Chevron 7"/>
          <p:cNvSpPr/>
          <p:nvPr/>
        </p:nvSpPr>
        <p:spPr>
          <a:xfrm>
            <a:off x="2651760" y="2578608"/>
            <a:ext cx="146304" cy="274320"/>
          </a:xfrm>
          <a:prstGeom prst="chevron">
            <a:avLst/>
          </a:prstGeom>
          <a:solidFill>
            <a:srgbClr val="C7C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483864" y="2395727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2560320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3200400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12253C"/>
                </a:solidFill>
                <a:latin typeface="Cambria"/>
              </a:rPr>
              <a:t>Auto-screen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3630168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5B6B79"/>
                </a:solidFill>
                <a:latin typeface="Calibri"/>
              </a:rPr>
              <a:t>Keyword-based include /
exclude, per fixed criteria</a:t>
            </a:r>
          </a:p>
        </p:txBody>
      </p:sp>
      <p:sp>
        <p:nvSpPr>
          <p:cNvPr id="13" name="Chevron 12"/>
          <p:cNvSpPr/>
          <p:nvPr/>
        </p:nvSpPr>
        <p:spPr>
          <a:xfrm>
            <a:off x="4818888" y="2578608"/>
            <a:ext cx="146304" cy="274320"/>
          </a:xfrm>
          <a:prstGeom prst="chevron">
            <a:avLst/>
          </a:prstGeom>
          <a:solidFill>
            <a:srgbClr val="C7C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50992" y="2395727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4336" y="2560320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4336" y="3200400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12253C"/>
                </a:solidFill>
                <a:latin typeface="Cambria"/>
              </a:rPr>
              <a:t>Full-text extraction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4336" y="3630168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5B6B79"/>
                </a:solidFill>
                <a:latin typeface="Calibri"/>
              </a:rPr>
              <a:t>882 PDFs read in full,
8 structured fields each</a:t>
            </a:r>
          </a:p>
        </p:txBody>
      </p:sp>
      <p:sp>
        <p:nvSpPr>
          <p:cNvPr id="18" name="Chevron 17"/>
          <p:cNvSpPr/>
          <p:nvPr/>
        </p:nvSpPr>
        <p:spPr>
          <a:xfrm>
            <a:off x="6986016" y="2578608"/>
            <a:ext cx="146304" cy="274320"/>
          </a:xfrm>
          <a:prstGeom prst="chevron">
            <a:avLst/>
          </a:prstGeom>
          <a:solidFill>
            <a:srgbClr val="C7C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18120" y="2395727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41464" y="2560320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1464" y="3200400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12253C"/>
                </a:solidFill>
                <a:latin typeface="Cambria"/>
              </a:rPr>
              <a:t>Re-screen + dedupe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1464" y="3630168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5B6B79"/>
                </a:solidFill>
                <a:latin typeface="Calibri"/>
              </a:rPr>
              <a:t>Criteria re-applied with
full text; 4 duplicates found</a:t>
            </a:r>
          </a:p>
        </p:txBody>
      </p:sp>
      <p:sp>
        <p:nvSpPr>
          <p:cNvPr id="23" name="Chevron 22"/>
          <p:cNvSpPr/>
          <p:nvPr/>
        </p:nvSpPr>
        <p:spPr>
          <a:xfrm>
            <a:off x="9153144" y="2578608"/>
            <a:ext cx="146304" cy="274320"/>
          </a:xfrm>
          <a:prstGeom prst="chevron">
            <a:avLst/>
          </a:prstGeom>
          <a:solidFill>
            <a:srgbClr val="C7C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85248" y="2395727"/>
            <a:ext cx="640080" cy="64008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08592" y="2560320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592" y="3200400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12253C"/>
                </a:solidFill>
                <a:latin typeface="Cambria"/>
              </a:rPr>
              <a:t>RQ1–RQ7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3630168"/>
            <a:ext cx="19933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5B6B79"/>
                </a:solidFill>
                <a:latin typeface="Calibri"/>
              </a:rPr>
              <a:t>Registries, coverage matrix,
case studies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526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B6B79"/>
                </a:solidFill>
                <a:latin typeface="Calibri"/>
              </a:rPr>
              <a:t>One-time, expensive steps (1–3) vs. repeatable steps (4–5)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02920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230368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1C7293"/>
                </a:solidFill>
                <a:latin typeface="Cambria"/>
              </a:rPr>
              <a:t>Reusable, one-time work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 i="0">
                <a:solidFill>
                  <a:srgbClr val="5B6B79"/>
                </a:solidFill>
                <a:latin typeface="Calibri"/>
              </a:rPr>
              <a:t>Search, snowball, PDF download, full-text reading — never re-run when criteria change.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502920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5230368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B57E39"/>
                </a:solidFill>
                <a:latin typeface="Cambria"/>
              </a:rPr>
              <a:t>Rebuildable pipeline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 i="0">
                <a:solidFill>
                  <a:srgbClr val="5B6B79"/>
                </a:solidFill>
                <a:latin typeface="Calibri"/>
              </a:rPr>
              <a:t>scripts/ + a Claude Code skill re-screen and rebuild RQ1–RQ5 on demand when inclusion criteria change.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THE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886 Papers, Fully Coded and Full-Text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587752" cy="1508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2130552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800" b="1" i="0">
                <a:solidFill>
                  <a:srgbClr val="12253C"/>
                </a:solidFill>
                <a:latin typeface="Cambria"/>
              </a:rPr>
              <a:t>1,008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5B6B79"/>
                </a:solidFill>
                <a:latin typeface="Calibri"/>
              </a:rPr>
              <a:t>papers after search + snowball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1568" y="1920240"/>
            <a:ext cx="2587752" cy="1508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920240"/>
            <a:ext cx="2130552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800" b="1" i="0">
                <a:solidFill>
                  <a:srgbClr val="B57E39"/>
                </a:solidFill>
                <a:latin typeface="Cambria"/>
              </a:rPr>
              <a:t>886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5B6B79"/>
                </a:solidFill>
                <a:latin typeface="Calibri"/>
              </a:rPr>
              <a:t>in the verified working corpus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1920240"/>
            <a:ext cx="2587752" cy="1508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920240"/>
            <a:ext cx="2130552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800" b="1" i="0">
                <a:solidFill>
                  <a:srgbClr val="12253C"/>
                </a:solidFill>
                <a:latin typeface="Cambria"/>
              </a:rPr>
              <a:t>37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5B6B79"/>
                </a:solidFill>
                <a:latin typeface="Calibri"/>
              </a:rPr>
              <a:t>hand-picked seed papers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24544" y="1920240"/>
            <a:ext cx="2587752" cy="1508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3144" y="1920240"/>
            <a:ext cx="2130552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800" b="1" i="0">
                <a:solidFill>
                  <a:srgbClr val="12253C"/>
                </a:solidFill>
                <a:latin typeface="Cambria"/>
              </a:rPr>
              <a:t>882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5B6B79"/>
                </a:solidFill>
                <a:latin typeface="Calibri"/>
              </a:rPr>
              <a:t>PDFs read in full, not abstract-only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1">
                <a:solidFill>
                  <a:srgbClr val="5B6B79"/>
                </a:solidFill>
                <a:latin typeface="Calibri"/>
              </a:rPr>
              <a:t>886 = 1,008 − 118 (re-screening correction) − 4 (duplicate paper entries found)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" y="4343400"/>
          <a:ext cx="512064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989320" y="4343400"/>
            <a:ext cx="5532120" cy="21488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55371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 i="0">
                <a:solidFill>
                  <a:srgbClr val="12253C"/>
                </a:solidFill>
                <a:latin typeface="Cambria"/>
              </a:rPr>
              <a:t>Data-integrity corrections applied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 i="0">
                <a:solidFill>
                  <a:srgbClr val="5B6B79"/>
                </a:solidFill>
                <a:latin typeface="Calibri"/>
              </a:rPr>
              <a:t>•  118 papers excluded — an overbroad search cluster pulled in off-topic capability papers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 i="0">
                <a:solidFill>
                  <a:srgbClr val="5B6B79"/>
                </a:solidFill>
                <a:latin typeface="Calibri"/>
              </a:rPr>
              <a:t>•  4 duplicate entries found (e.g. PoisonedRAG indexed twice) and merged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 i="0">
                <a:solidFill>
                  <a:srgbClr val="5B6B79"/>
                </a:solidFill>
                <a:latin typeface="Calibri"/>
              </a:rPr>
              <a:t>•  0 seed papers affected — one false-positive exclusion caught and reverted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RQ1  · 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Which combinations of channel, intent,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and consequence have been studied at all?</a:t>
            </a:r>
          </a:p>
        </p:txBody>
      </p:sp>
      <p:sp>
        <p:nvSpPr>
          <p:cNvPr id="4" name="Oval 3"/>
          <p:cNvSpPr/>
          <p:nvPr/>
        </p:nvSpPr>
        <p:spPr>
          <a:xfrm>
            <a:off x="1645920" y="2514600"/>
            <a:ext cx="3291840" cy="3291840"/>
          </a:xfrm>
          <a:prstGeom prst="ellipse">
            <a:avLst/>
          </a:prstGeom>
          <a:solidFill>
            <a:srgbClr val="1B334F"/>
          </a:solidFill>
          <a:ln w="19050">
            <a:solidFill>
              <a:srgbClr val="E0A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379476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E0A458"/>
                </a:solidFill>
                <a:latin typeface="Cambria"/>
              </a:rPr>
              <a:t>63.6%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4526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CADCFC"/>
                </a:solidFill>
                <a:latin typeface="Calibri"/>
              </a:rPr>
              <a:t>of the cube is empty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3246120"/>
            <a:ext cx="47548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103 of 162 cells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250" b="0" i="1">
                <a:solidFill>
                  <a:srgbClr val="CFE8EF"/>
                </a:solidFill>
                <a:latin typeface="Calibri"/>
              </a:rPr>
              <a:t>9 channels × 3 intents × 6 consequences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This rate held steady through a 118-paper corpus correction (63.6% before and after) — the noise removed was concentrated in already-dense cells, not hiding density in sparse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ADCF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RQ1  · 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Tool-Output Dominates; Supply Chain Is Nearly Untouched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554480"/>
          <a:ext cx="74066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321040" y="1554480"/>
            <a:ext cx="3246120" cy="484632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828800"/>
            <a:ext cx="27432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B57E39"/>
                </a:solidFill>
                <a:latin typeface="Cambria"/>
              </a:rPr>
              <a:t>Supply-chain channel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150" b="0" i="0">
                <a:solidFill>
                  <a:srgbClr val="5B6B79"/>
                </a:solidFill>
                <a:latin typeface="Calibri"/>
              </a:rPr>
              <a:t>Only 6 papers total — poisoned packages, compromised MCP servers, tainted skill marketplaces are flagged as an emerging risk (OWASP ASI06) but barely studied.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Skill channel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5B6B79"/>
                </a:solidFill>
                <a:latin typeface="Calibri"/>
              </a:rPr>
              <a:t>18 papers — the newest attack surface (agent "skills"), also thin.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RQ1  · 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The Two Tracks Study Almost Disjoint Consequences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600200"/>
          <a:ext cx="758952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58200" y="1600200"/>
            <a:ext cx="3108960" cy="4480560"/>
          </a:xfrm>
          <a:prstGeom prst="roundRect">
            <a:avLst>
              <a:gd name="adj" fmla="val 5000"/>
            </a:avLst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1874519"/>
            <a:ext cx="260604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0A458"/>
                </a:solidFill>
                <a:latin typeface="Cambria"/>
              </a:rPr>
              <a:t>391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 i="0">
                <a:solidFill>
                  <a:srgbClr val="CADCFC"/>
                </a:solidFill>
                <a:latin typeface="Calibri"/>
              </a:rPr>
              <a:t>Security papers on goal-hijack via tool-output alone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0A458"/>
                </a:solidFill>
                <a:latin typeface="Cambria"/>
              </a:rPr>
              <a:t>313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 i="0">
                <a:solidFill>
                  <a:srgbClr val="CADCFC"/>
                </a:solidFill>
                <a:latin typeface="Calibri"/>
              </a:rPr>
              <a:t>ML/AI papers on reasoning-corruption via direct input alone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0A458"/>
                </a:solidFill>
                <a:latin typeface="Cambria"/>
              </a:rPr>
              <a:t>0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 i="0">
                <a:solidFill>
                  <a:srgbClr val="CADCFC"/>
                </a:solidFill>
                <a:latin typeface="Calibri"/>
              </a:rPr>
              <a:t>Track B papers on resource-abuse — an entire consequence type with no incidental literature at 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RQ2  ·  CITATION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Two Communities, Barely Speaking to Each Other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12080" cy="356616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5720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200" b="1" i="0">
                <a:solidFill>
                  <a:srgbClr val="B54A3F"/>
                </a:solidFill>
                <a:latin typeface="Cambria"/>
              </a:rPr>
              <a:t>10.8%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300" b="0" i="0">
                <a:solidFill>
                  <a:srgbClr val="5B6B79"/>
                </a:solidFill>
                <a:latin typeface="Calibri"/>
              </a:rPr>
              <a:t>of Security (Track A) papers cite ≥1 ML/AI (Track B) paper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1">
                <a:solidFill>
                  <a:srgbClr val="5B6B79"/>
                </a:solidFill>
                <a:latin typeface="Calibri"/>
              </a:rPr>
              <a:t>50 of 463 papers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37360"/>
            <a:ext cx="5212080" cy="356616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5720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200" b="1" i="0">
                <a:solidFill>
                  <a:srgbClr val="1C7293"/>
                </a:solidFill>
                <a:latin typeface="Cambria"/>
              </a:rPr>
              <a:t>9.2%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300" b="0" i="0">
                <a:solidFill>
                  <a:srgbClr val="5B6B79"/>
                </a:solidFill>
                <a:latin typeface="Calibri"/>
              </a:rPr>
              <a:t>of ML/AI (Track B) papers cite ≥1 Security (Track A) paper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1">
                <a:solidFill>
                  <a:srgbClr val="5B6B79"/>
                </a:solidFill>
                <a:latin typeface="Calibri"/>
              </a:rPr>
              <a:t>37 of 403 papers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3212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 i="0">
                <a:solidFill>
                  <a:srgbClr val="12253C"/>
                </a:solidFill>
                <a:latin typeface="Calibri"/>
              </a:rPr>
              <a:t>Computed over the full population, not a sample — every paper's citation edges, not a 40-paper hand-check.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 i="1">
                <a:solidFill>
                  <a:srgbClr val="5B6B79"/>
                </a:solidFill>
                <a:latin typeface="Calibri"/>
              </a:rPr>
              <a:t>One confirmed bridge paper found: a 2024 RAG-robustness paper explicitly cites and discusses both literatures.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RQ3  ·  POLLUTION CENSUS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183 Named Ways Context Gets Poisoned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920240"/>
          <a:ext cx="42062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0" y="1828800"/>
            <a:ext cx="585216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B54A3F"/>
                </a:solidFill>
                <a:latin typeface="Cambria"/>
              </a:rPr>
              <a:t>129 (70.5%) adversarial</a:t>
            </a:r>
          </a:p>
          <a:p>
            <a:pPr algn="l">
              <a:lnSpc>
                <a:spcPct val="125000"/>
              </a:lnSpc>
              <a:spcAft>
                <a:spcPts val="2000"/>
              </a:spcAft>
            </a:pPr>
            <a:r>
              <a:rPr sz="1200" b="0" i="0">
                <a:solidFill>
                  <a:srgbClr val="5B6B79"/>
                </a:solidFill>
                <a:latin typeface="Calibri"/>
              </a:rPr>
              <a:t>PoisonedRAG, AgentPoison, ToolHijacker, GCG-based corpus poisoning, and 125 others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1C7293"/>
                </a:solidFill>
                <a:latin typeface="Cambria"/>
              </a:rPr>
              <a:t>54 (29.5%) incidental</a:t>
            </a:r>
          </a:p>
          <a:p>
            <a:pPr algn="l">
              <a:lnSpc>
                <a:spcPct val="125000"/>
              </a:lnSpc>
              <a:spcAft>
                <a:spcPts val="2000"/>
              </a:spcAft>
            </a:pPr>
            <a:r>
              <a:rPr sz="1200" b="0" i="0">
                <a:solidFill>
                  <a:srgbClr val="5B6B79"/>
                </a:solidFill>
                <a:latin typeface="Calibri"/>
              </a:rPr>
              <a:t>lost-in-the-middle, context rot, knowledge conflict, distraction by irrelevant context, and 50 others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 i="1">
                <a:solidFill>
                  <a:srgbClr val="12253C"/>
                </a:solidFill>
                <a:latin typeface="Calibri"/>
              </a:rPr>
              <a:t>Security research names more distinct, citable mechanisms per paper than incidental research, which more often measures or mitigates an already-established phenomenon rather than naming a new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RQ4  ·  DEFENSE CENSUS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479 Defenses — Almost None Tested Against Both Threats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8346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 i="0">
                <a:solidFill>
                  <a:srgbClr val="12253C"/>
                </a:solidFill>
                <a:latin typeface="Cambria"/>
              </a:rPr>
              <a:t>479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5B6B79"/>
                </a:solidFill>
                <a:latin typeface="Calibri"/>
              </a:rPr>
              <a:t>distinct defenses identified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3291840" cy="2057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46120"/>
            <a:ext cx="283464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1" i="0">
                <a:solidFill>
                  <a:srgbClr val="B57E39"/>
                </a:solidFill>
                <a:latin typeface="Cambria"/>
              </a:rPr>
              <a:t>2.9%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5B6B79"/>
                </a:solidFill>
                <a:latin typeface="Calibri"/>
              </a:rPr>
              <a:t>validated against BOTH threat
models in their own paper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343400" y="1691640"/>
          <a:ext cx="72237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RQ5  ·  COVERAGE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The field barely cross-tests at all —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and the shape of the gap is itself the finding.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3429000" cy="2468880"/>
          </a:xfrm>
          <a:prstGeom prst="roundRect">
            <a:avLst>
              <a:gd name="adj" fmla="val 6000"/>
            </a:avLst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28803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4000" b="1" i="0">
                <a:solidFill>
                  <a:srgbClr val="CADCFC"/>
                </a:solidFill>
                <a:latin typeface="Cambria"/>
              </a:rPr>
              <a:t>35.5%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of defenses confirmed tested
against any named mechanism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743200"/>
            <a:ext cx="3429000" cy="2468880"/>
          </a:xfrm>
          <a:prstGeom prst="roundRect">
            <a:avLst>
              <a:gd name="adj" fmla="val 6000"/>
            </a:avLst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3063240"/>
            <a:ext cx="28803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4000" b="1" i="0">
                <a:solidFill>
                  <a:srgbClr val="CADCFC"/>
                </a:solidFill>
                <a:latin typeface="Cambria"/>
              </a:rPr>
              <a:t>36.6%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of mechanisms have ≥1
defense tested against them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2743200"/>
            <a:ext cx="3429000" cy="2468880"/>
          </a:xfrm>
          <a:prstGeom prst="roundRect">
            <a:avLst>
              <a:gd name="adj" fmla="val 6000"/>
            </a:avLst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3063240"/>
            <a:ext cx="28803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4000" b="1" i="0">
                <a:solidFill>
                  <a:srgbClr val="E0A458"/>
                </a:solidFill>
                <a:latin typeface="Cambria"/>
              </a:rPr>
              <a:t>63.4%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of mechanisms — 116 of 183 —
have ZERO defenses tested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CFE8EF"/>
                </a:solidFill>
                <a:latin typeface="Calibri"/>
              </a:rPr>
              <a:t>This 63.4% gap is almost identical to RQ1's 63.6% empty-cell rate — the same underlying pattern, seen from two directions.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ADCF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RQ5  ·  COVERAGE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Testing Effort Concentrates on One Umbrella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10512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6B79"/>
                </a:solidFill>
                <a:latin typeface="Calibri"/>
              </a:rPr>
              <a:t>Distinct defenses tested against each mechanism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2084831"/>
          <a:ext cx="7040880" cy="40873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909560" y="2084831"/>
            <a:ext cx="3657600" cy="4087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2359152"/>
            <a:ext cx="3108960" cy="3538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 i="0">
                <a:solidFill>
                  <a:srgbClr val="B57E39"/>
                </a:solidFill>
                <a:latin typeface="Cambria"/>
              </a:rPr>
              <a:t>40%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200" b="0" i="0">
                <a:solidFill>
                  <a:srgbClr val="5B6B79"/>
                </a:solidFill>
                <a:latin typeface="Calibri"/>
              </a:rPr>
              <a:t>of ALL 190 matched (defense, mechanism) pairs involve just this one mechanism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 i="0">
                <a:solidFill>
                  <a:srgbClr val="12253C"/>
                </a:solidFill>
                <a:latin typeface="Calibri"/>
              </a:rPr>
              <a:t>Meanwhile: 88% of matched defenses were tested against exactly one mechanism. None were tested against three or more.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RQ6  ·  DEFENSE GENERALIZATION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Transfer Correlates With Pipeline 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6B79"/>
                </a:solidFill>
                <a:latin typeface="Calibri"/>
              </a:rPr>
              <a:t>9 case studies, real released code and weights, each run against both its native scenario and a constructed opposite-threat-model scenario.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1188720"/>
                <a:gridCol w="1188720"/>
                <a:gridCol w="2103120"/>
              </a:tblGrid>
              <a:tr h="36576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Intervention point</a:t>
                      </a:r>
                    </a:p>
                  </a:txBody>
                  <a:tcPr anchor="ctr">
                    <a:solidFill>
                      <a:srgbClr val="12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Defenses tested</a:t>
                      </a:r>
                    </a:p>
                  </a:txBody>
                  <a:tcPr anchor="ctr">
                    <a:solidFill>
                      <a:srgbClr val="12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Full</a:t>
                      </a:r>
                    </a:p>
                  </a:txBody>
                  <a:tcPr anchor="ctr">
                    <a:solidFill>
                      <a:srgbClr val="12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solidFill>
                      <a:srgbClr val="12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Inert / doesn't run</a:t>
                      </a:r>
                    </a:p>
                  </a:txBody>
                  <a:tcPr anchor="ctr">
                    <a:solidFill>
                      <a:srgbClr val="1225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Ingestion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RobustRAG, DataSentinel, DataFilter, PISanitizer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Reasoning</a:t>
                      </a:r>
                    </a:p>
                  </a:txBody>
                  <a:tcPr anchor="ctr" marL="73152" marR="73152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FaithfulRAG, SCR, CK-PLUG</a:t>
                      </a:r>
                    </a:p>
                  </a:txBody>
                  <a:tcPr anchor="ctr" marL="73152" marR="73152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Execution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IPIGuard, CaMeL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2253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2377440"/>
          </a:xfrm>
          <a:prstGeom prst="roundRect">
            <a:avLst>
              <a:gd name="adj" fmla="val 5000"/>
            </a:avLst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950208"/>
            <a:ext cx="1033272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50" b="1" i="0">
                <a:solidFill>
                  <a:srgbClr val="E0A458"/>
                </a:solidFill>
                <a:latin typeface="Cambria"/>
              </a:rPr>
              <a:t>Why this pattern likely holds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Ingestion defenses classify text by structural, instruction-like properties — independent of who wrote it. That's why they transfer almost uniformly (DataSentinel, DataFilter, PISanitizer: full; RobustRAG: partial).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Reasoning defenses calibrate trust between competing signals — a statistical judgment. Transfer depends on whether the corruption's statistical signature matches across threat models (SCR: yes; CK-PLUG: its entropy trigger never fires for either).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Execution defenses require the model to reliably emit a rigid output contract (JSON-only, code-only) — a capability the open-weight models here don't reliably have. 6 local-model attempts, 0 successful defended runs: the transfer question couldn't even be tested.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 i="1">
                <a:solidFill>
                  <a:srgbClr val="CFE8EF"/>
                </a:solidFill>
                <a:latin typeface="Calibri"/>
              </a:rPr>
              <a:t>Every number comes from running the defense's own released code and weights — never a paper's reported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RQ6  ·  DEFENSE GENERALIZATION —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Four Case Studies, Four Distinct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5257800" cy="214884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0992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B6B79"/>
                </a:solidFill>
                <a:latin typeface="Calibri"/>
              </a:rPr>
              <a:t>INGESTION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1673351"/>
            <a:ext cx="1554480" cy="292608"/>
          </a:xfrm>
          <a:prstGeom prst="roundRect">
            <a:avLst>
              <a:gd name="adj" fmla="val 3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673351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Full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039112"/>
            <a:ext cx="474573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2253C"/>
                </a:solidFill>
                <a:latin typeface="Cambria"/>
              </a:rPr>
              <a:t>DataFilter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Fine-tuned Llama-3.1-8B sanitizer — strips embedded instructions before they reach the downstream LLM.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 i="0">
                <a:solidFill>
                  <a:srgbClr val="12253C"/>
                </a:solidFill>
                <a:latin typeface="Calibri"/>
              </a:rPr>
              <a:t>Adversarial: 100% → 0% injection markers. Incidental: 0% → 0%, legitimate content preserved untouched.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257800" cy="214884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170992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B6B79"/>
                </a:solidFill>
                <a:latin typeface="Calibri"/>
              </a:rPr>
              <a:t>REASONING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360" y="1673351"/>
            <a:ext cx="1554480" cy="292608"/>
          </a:xfrm>
          <a:prstGeom prst="roundRect">
            <a:avLst>
              <a:gd name="adj" fmla="val 3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38360" y="1673351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Full generalization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039112"/>
            <a:ext cx="474573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2253C"/>
                </a:solidFill>
                <a:latin typeface="Cambria"/>
              </a:rPr>
              <a:t>SCR / Situated Faithfulness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Multi-step self-consistency check between the model's own knowledge and retrieved context (Qwen2.5-7B, RedditQA).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 i="0">
                <a:solidFill>
                  <a:srgbClr val="12253C"/>
                </a:solidFill>
                <a:latin typeface="Calibri"/>
              </a:rPr>
              <a:t>Defended accuracy lands at the same 67.5% whether the bad context was a real Reddit mistake or an LLM-crafted lie.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5257800" cy="214884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33087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B6B79"/>
                </a:solidFill>
                <a:latin typeface="Calibri"/>
              </a:rPr>
              <a:t>REASONING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0" y="4096511"/>
            <a:ext cx="1554480" cy="292608"/>
          </a:xfrm>
          <a:prstGeom prst="roundRect">
            <a:avLst>
              <a:gd name="adj" fmla="val 35000"/>
            </a:avLst>
          </a:prstGeom>
          <a:solidFill>
            <a:srgbClr val="B57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4096511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Inert — a third 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462272"/>
            <a:ext cx="474573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2253C"/>
                </a:solidFill>
                <a:latin typeface="Cambria"/>
              </a:rPr>
              <a:t>CK-PLUG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Entropy-gated contrastive decoding (Qwen2.5-7B, ConFiQA). Outputs were byte-identical to undefended on 40/40 items, both conditions.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 i="0">
                <a:solidFill>
                  <a:srgbClr val="12253C"/>
                </a:solidFill>
                <a:latin typeface="Calibri"/>
              </a:rPr>
              <a:t>Traced to the gate: entropy near zero either way — the trigger never fires, for either threat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931920"/>
            <a:ext cx="5257800" cy="214884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133087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B6B79"/>
                </a:solidFill>
                <a:latin typeface="Calibri"/>
              </a:rPr>
              <a:t>EXECUTION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60" y="4096511"/>
            <a:ext cx="1554480" cy="292608"/>
          </a:xfrm>
          <a:prstGeom prst="roundRect">
            <a:avLst>
              <a:gd name="adj" fmla="val 35000"/>
            </a:avLst>
          </a:prstGeom>
          <a:solidFill>
            <a:srgbClr val="B5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4096511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Doesn't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4462272"/>
            <a:ext cx="474573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2253C"/>
                </a:solidFill>
                <a:latin typeface="Cambria"/>
              </a:rPr>
              <a:t>IPIGuard &amp; CaMeL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50" b="0" i="0">
                <a:solidFill>
                  <a:srgbClr val="5B6B79"/>
                </a:solidFill>
                <a:latin typeface="Calibri"/>
              </a:rPr>
              <a:t>Two independent defenses, two mechanisms, 6 total local-model attempts.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 i="0">
                <a:solidFill>
                  <a:srgbClr val="12253C"/>
                </a:solidFill>
                <a:latin typeface="Calibri"/>
              </a:rPr>
              <a:t>0 successful defended runs. Both need a rigid JSON-/code-only output contract open-weight models don't reliably satisfy.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Six Findings, One Pattern</a:t>
            </a:r>
          </a:p>
        </p:txBody>
      </p:sp>
      <p:sp>
        <p:nvSpPr>
          <p:cNvPr id="4" name="Oval 3"/>
          <p:cNvSpPr/>
          <p:nvPr/>
        </p:nvSpPr>
        <p:spPr>
          <a:xfrm>
            <a:off x="704088" y="1481328"/>
            <a:ext cx="512064" cy="512064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618488"/>
            <a:ext cx="512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mbria"/>
              </a:rPr>
              <a:t>RQ1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481328"/>
            <a:ext cx="9784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12253C"/>
                </a:solidFill>
                <a:latin typeface="Calibri"/>
              </a:rPr>
              <a:t>63.6% of the taxonomy is empty — and the two tracks don't even study the same consequences.</a:t>
            </a:r>
          </a:p>
        </p:txBody>
      </p:sp>
      <p:sp>
        <p:nvSpPr>
          <p:cNvPr id="7" name="Oval 6"/>
          <p:cNvSpPr/>
          <p:nvPr/>
        </p:nvSpPr>
        <p:spPr>
          <a:xfrm>
            <a:off x="704088" y="2212848"/>
            <a:ext cx="512064" cy="512064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50008"/>
            <a:ext cx="512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mbria"/>
              </a:rPr>
              <a:t>RQ2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12848"/>
            <a:ext cx="9784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12253C"/>
                </a:solidFill>
                <a:latin typeface="Calibri"/>
              </a:rPr>
              <a:t>Only 10.8% / 9.2% cross-citation — two communities studying the same failure mode, barely aware of each other.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2944368"/>
            <a:ext cx="512064" cy="512064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3081528"/>
            <a:ext cx="512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mbria"/>
              </a:rPr>
              <a:t>RQ3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944368"/>
            <a:ext cx="9784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12253C"/>
                </a:solidFill>
                <a:latin typeface="Calibri"/>
              </a:rPr>
              <a:t>183 named mechanisms exist, but security research names far more of them (70%) than incidental research (30%).</a:t>
            </a:r>
          </a:p>
        </p:txBody>
      </p:sp>
      <p:sp>
        <p:nvSpPr>
          <p:cNvPr id="13" name="Oval 12"/>
          <p:cNvSpPr/>
          <p:nvPr/>
        </p:nvSpPr>
        <p:spPr>
          <a:xfrm>
            <a:off x="704088" y="3675887"/>
            <a:ext cx="512064" cy="512064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813048"/>
            <a:ext cx="512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mbria"/>
              </a:rPr>
              <a:t>RQ4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75887"/>
            <a:ext cx="9784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12253C"/>
                </a:solidFill>
                <a:latin typeface="Calibri"/>
              </a:rPr>
              <a:t>97% of the 479 defenses were validated against only ONE threat model — never checked against the other.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407407"/>
            <a:ext cx="512064" cy="512064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544568"/>
            <a:ext cx="512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mbria"/>
              </a:rPr>
              <a:t>RQ5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07407"/>
            <a:ext cx="9784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12253C"/>
                </a:solidFill>
                <a:latin typeface="Calibri"/>
              </a:rPr>
              <a:t>Even within one threat model, 88% of tested defenses were checked against just ONE mechanism. 63.4% of mechanisms have never been defended against at all.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" y="5138927"/>
            <a:ext cx="512064" cy="512064"/>
          </a:xfrm>
          <a:prstGeom prst="ellipse">
            <a:avLst/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5276088"/>
            <a:ext cx="512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mbria"/>
              </a:rPr>
              <a:t>RQ6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38927"/>
            <a:ext cx="9784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12253C"/>
                </a:solidFill>
                <a:latin typeface="Calibri"/>
              </a:rPr>
              <a:t>Across 9 real reconstructions, transfer tracks pipeline position: ingestion defenses generalize, execution defenses couldn't even be tested.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925311"/>
            <a:ext cx="10881360" cy="18288"/>
          </a:xfrm>
          <a:prstGeom prst="rect">
            <a:avLst/>
          </a:prstGeom>
          <a:solidFill>
            <a:srgbClr val="E0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071615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1">
                <a:solidFill>
                  <a:srgbClr val="B57E39"/>
                </a:solidFill>
                <a:latin typeface="Calibri"/>
              </a:rPr>
              <a:t>The common thread: this literature is fragmented — by intent, by consequence, and by what actually gets tested.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2253C"/>
                </a:solidFill>
                <a:latin typeface="Cambria"/>
              </a:rPr>
              <a:t>A Pipeline, Not a One-Off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6B79"/>
                </a:solidFill>
                <a:latin typeface="Calibri"/>
              </a:rPr>
              <a:t>Every number in this deck can be regenerated on demand — screening criteria live in one file, not scattered across scripts.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3502152" cy="210312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23160"/>
            <a:ext cx="2990088" cy="1554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Corpus integrity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1C7293"/>
                </a:solidFill>
                <a:latin typeface="Courier New"/>
              </a:rPr>
              <a:t>scripts/dedupe_corpus.py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1C7293"/>
                </a:solidFill>
                <a:latin typeface="Courier New"/>
              </a:rPr>
              <a:t>scripts/rescreen_corpus.py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2148840"/>
            <a:ext cx="3502152" cy="210312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23160"/>
            <a:ext cx="2990088" cy="1554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RQ1 / RQ2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1C7293"/>
                </a:solidFill>
                <a:latin typeface="Courier New"/>
              </a:rPr>
              <a:t>scripts/rq1_taxonomy.py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1C7293"/>
                </a:solidFill>
                <a:latin typeface="Courier New"/>
              </a:rPr>
              <a:t>scripts/rq2_cross_citation.py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2148840"/>
            <a:ext cx="3502152" cy="210312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2423160"/>
            <a:ext cx="2990088" cy="1554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 i="0">
                <a:solidFill>
                  <a:srgbClr val="12253C"/>
                </a:solidFill>
                <a:latin typeface="Cambria"/>
              </a:rPr>
              <a:t>RQ3 / RQ4 / RQ5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1C7293"/>
                </a:solidFill>
                <a:latin typeface="Courier New"/>
              </a:rPr>
              <a:t>scripts/build_registry.py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1C7293"/>
                </a:solidFill>
                <a:latin typeface="Courier New"/>
              </a:rPr>
              <a:t>scripts/build_coverage_matrix.py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26280"/>
            <a:ext cx="10881360" cy="1691640"/>
          </a:xfrm>
          <a:prstGeom prst="roundRect">
            <a:avLst>
              <a:gd name="adj" fmla="val 5000"/>
            </a:avLst>
          </a:prstGeom>
          <a:solidFill>
            <a:srgbClr val="12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E0A458"/>
                </a:solidFill>
                <a:latin typeface="Cambria"/>
              </a:rPr>
              <a:t>One request rebuilds everything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A Claude Code skill (.claude/skills/rebuild-corpus) reads the live config.yaml criteria, re-screens only what's changed, and rebuilds RQ1–RQ5 — reusing the already-downloaded PDFs and already-extracted full text. No PDF or search step repeats.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B79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263640" y="-3429000"/>
            <a:ext cx="8686800" cy="8686800"/>
          </a:xfrm>
          <a:prstGeom prst="ellipse">
            <a:avLst/>
          </a:prstGeom>
          <a:noFill/>
          <a:ln w="13970">
            <a:solidFill>
              <a:srgbClr val="1C7293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32320" y="-2560320"/>
            <a:ext cx="6949440" cy="6949440"/>
          </a:xfrm>
          <a:prstGeom prst="ellipse">
            <a:avLst/>
          </a:prstGeom>
          <a:noFill/>
          <a:ln w="13970">
            <a:solidFill>
              <a:srgbClr val="E0A458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01000" y="-1691640"/>
            <a:ext cx="5212080" cy="5212080"/>
          </a:xfrm>
          <a:prstGeom prst="ellipse">
            <a:avLst/>
          </a:prstGeom>
          <a:noFill/>
          <a:ln w="13970">
            <a:solidFill>
              <a:srgbClr val="1C7293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69680" y="-822959"/>
            <a:ext cx="3474720" cy="3474720"/>
          </a:xfrm>
          <a:prstGeom prst="ellipse">
            <a:avLst/>
          </a:prstGeom>
          <a:noFill/>
          <a:ln w="13970">
            <a:solidFill>
              <a:srgbClr val="E0A45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38360" y="45720"/>
            <a:ext cx="1737360" cy="1737360"/>
          </a:xfrm>
          <a:prstGeom prst="ellipse">
            <a:avLst/>
          </a:prstGeom>
          <a:noFill/>
          <a:ln w="13970">
            <a:solidFill>
              <a:srgbClr val="1C729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WHAT'S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23444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RQ6 Complete — RQ7 Closes the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CADCFC"/>
                </a:solidFill>
                <a:latin typeface="Calibri"/>
              </a:rPr>
              <a:t>RQ1–RQ6 are done. What's left is turning six sets of evidence into a research agenda.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532888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514600"/>
            <a:ext cx="8961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Synthesize RQ2, RQ5, and RQ6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CFE8EF"/>
                </a:solidFill>
                <a:latin typeface="Calibri"/>
              </a:rPr>
              <a:t>Turn the citation gap, the untested-mechanism coverage gaps, and RQ6's ingestion/reasoning/execution transfer pattern into one account of why this literature is fragmented.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538728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7588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520440"/>
            <a:ext cx="8961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Name where the field should invest next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CFE8EF"/>
                </a:solidFill>
                <a:latin typeface="Calibri"/>
              </a:rPr>
              <a:t>RQ6's evidence points hardest at two gaps: reasoning-stage trust calibration, and execution-stage output robustness on open-weight models.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4544568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817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526280"/>
            <a:ext cx="8961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Finalize the SoK write-up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CFE8EF"/>
                </a:solidFill>
                <a:latin typeface="Calibri"/>
              </a:rPr>
              <a:t>Move RQ1–RQ6 findings, methodology, and limitations from working documents into the paper draft.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CADCFC"/>
                </a:solidFill>
                <a:latin typeface="Calibri"/>
              </a:rPr>
              <a:t>RQ6's 9 real reconstructions — not literature claims — are the paper's most direct empirical contribution.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ADCF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