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two vocabularies, one failure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2011680"/>
            <a:ext cx="3291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6" name="TextBox 5"/>
          <p:cNvSpPr txBox="1"/>
          <p:nvPr/>
        </p:nvSpPr>
        <p:spPr>
          <a:xfrm>
            <a:off x="4023360" y="2011680"/>
            <a:ext cx="374903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SECURITY SIDE</a:t>
            </a:r>
          </a:p>
        </p:txBody>
      </p:sp>
      <p:sp>
        <p:nvSpPr>
          <p:cNvPr id="7" name="TextBox 6"/>
          <p:cNvSpPr txBox="1"/>
          <p:nvPr/>
        </p:nvSpPr>
        <p:spPr>
          <a:xfrm>
            <a:off x="7772400" y="2011680"/>
            <a:ext cx="3657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MACHINE LEARNING SIDE</a:t>
            </a:r>
          </a:p>
        </p:txBody>
      </p:sp>
      <p:sp>
        <p:nvSpPr>
          <p:cNvPr id="8" name="Rectangle 7"/>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95728"/>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corrupts the context</a:t>
            </a:r>
          </a:p>
        </p:txBody>
      </p:sp>
      <p:sp>
        <p:nvSpPr>
          <p:cNvPr id="10" name="TextBox 9"/>
          <p:cNvSpPr txBox="1"/>
          <p:nvPr/>
        </p:nvSpPr>
        <p:spPr>
          <a:xfrm>
            <a:off x="4023360" y="2395728"/>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attack  (182)</a:t>
            </a:r>
          </a:p>
        </p:txBody>
      </p:sp>
      <p:sp>
        <p:nvSpPr>
          <p:cNvPr id="11" name="TextBox 10"/>
          <p:cNvSpPr txBox="1"/>
          <p:nvPr/>
        </p:nvSpPr>
        <p:spPr>
          <a:xfrm>
            <a:off x="7772400" y="2395728"/>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incidental mechanism  (55)</a:t>
            </a:r>
          </a:p>
        </p:txBody>
      </p:sp>
      <p:sp>
        <p:nvSpPr>
          <p:cNvPr id="12" name="TextBox 11"/>
          <p:cNvSpPr txBox="1"/>
          <p:nvPr/>
        </p:nvSpPr>
        <p:spPr>
          <a:xfrm>
            <a:off x="731520" y="2871216"/>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the field builds against it</a:t>
            </a:r>
          </a:p>
        </p:txBody>
      </p:sp>
      <p:sp>
        <p:nvSpPr>
          <p:cNvPr id="13" name="TextBox 12"/>
          <p:cNvSpPr txBox="1"/>
          <p:nvPr/>
        </p:nvSpPr>
        <p:spPr>
          <a:xfrm>
            <a:off x="4023360" y="2871216"/>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defense  (263)</a:t>
            </a:r>
          </a:p>
        </p:txBody>
      </p:sp>
      <p:sp>
        <p:nvSpPr>
          <p:cNvPr id="14" name="TextBox 13"/>
          <p:cNvSpPr txBox="1"/>
          <p:nvPr/>
        </p:nvSpPr>
        <p:spPr>
          <a:xfrm>
            <a:off x="7772400" y="2871216"/>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fix  (266)</a:t>
            </a:r>
          </a:p>
        </p:txBody>
      </p:sp>
      <p:sp>
        <p:nvSpPr>
          <p:cNvPr id="15" name="TextBox 14"/>
          <p:cNvSpPr txBox="1"/>
          <p:nvPr/>
        </p:nvSpPr>
        <p:spPr>
          <a:xfrm>
            <a:off x="731520" y="3346704"/>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Who put it there</a:t>
            </a:r>
          </a:p>
        </p:txBody>
      </p:sp>
      <p:sp>
        <p:nvSpPr>
          <p:cNvPr id="16" name="TextBox 15"/>
          <p:cNvSpPr txBox="1"/>
          <p:nvPr/>
        </p:nvSpPr>
        <p:spPr>
          <a:xfrm>
            <a:off x="4023360" y="3346704"/>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person, on purpose</a:t>
            </a:r>
          </a:p>
        </p:txBody>
      </p:sp>
      <p:sp>
        <p:nvSpPr>
          <p:cNvPr id="17" name="TextBox 16"/>
          <p:cNvSpPr txBox="1"/>
          <p:nvPr/>
        </p:nvSpPr>
        <p:spPr>
          <a:xfrm>
            <a:off x="7772400" y="3346704"/>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nobody</a:t>
            </a:r>
          </a:p>
        </p:txBody>
      </p:sp>
      <p:sp>
        <p:nvSpPr>
          <p:cNvPr id="18" name="TextBox 17"/>
          <p:cNvSpPr txBox="1"/>
          <p:nvPr/>
        </p:nvSpPr>
        <p:spPr>
          <a:xfrm>
            <a:off x="731520" y="3822191"/>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Examples</a:t>
            </a:r>
          </a:p>
        </p:txBody>
      </p:sp>
      <p:sp>
        <p:nvSpPr>
          <p:cNvPr id="19" name="TextBox 18"/>
          <p:cNvSpPr txBox="1"/>
          <p:nvPr/>
        </p:nvSpPr>
        <p:spPr>
          <a:xfrm>
            <a:off x="4023360" y="3822191"/>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indirect prompt injection, poisoned retrieval</a:t>
            </a:r>
          </a:p>
        </p:txBody>
      </p:sp>
      <p:sp>
        <p:nvSpPr>
          <p:cNvPr id="20" name="TextBox 19"/>
          <p:cNvSpPr txBox="1"/>
          <p:nvPr/>
        </p:nvSpPr>
        <p:spPr>
          <a:xfrm>
            <a:off x="7772400" y="3822191"/>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lost in the middle, knowledge conflict</a:t>
            </a:r>
          </a:p>
        </p:txBody>
      </p:sp>
      <p:sp>
        <p:nvSpPr>
          <p:cNvPr id="21" name="TextBox 20"/>
          <p:cNvSpPr txBox="1"/>
          <p:nvPr/>
        </p:nvSpPr>
        <p:spPr>
          <a:xfrm>
            <a:off x="731520" y="4480560"/>
            <a:ext cx="10725912" cy="201167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We keep both sets of words, because the two sides are not doing the same thing. A fix was never built to stop an adversary.</a:t>
            </a:r>
          </a:p>
          <a:p>
            <a:pPr>
              <a:lnSpc>
                <a:spcPct val="112000"/>
              </a:lnSpc>
              <a:spcAft>
                <a:spcPts val="900"/>
              </a:spcAft>
            </a:pPr>
            <a:r>
              <a:rPr sz="1400" b="0" i="0">
                <a:solidFill>
                  <a:srgbClr val="444444"/>
                </a:solidFill>
                <a:latin typeface="Calibri"/>
              </a:rPr>
              <a:t>—  A tool returns a page with a hidden order. A tool returns a page that is ten times too long. Both arrive by the same route and end in the same window. One has an author.</a:t>
            </a:r>
          </a:p>
          <a:p>
            <a:pPr>
              <a:lnSpc>
                <a:spcPct val="112000"/>
              </a:lnSpc>
              <a:spcAft>
                <a:spcPts val="900"/>
              </a:spcAft>
            </a:pPr>
            <a:r>
              <a:rPr sz="1400" b="1" i="0">
                <a:solidFill>
                  <a:srgbClr val="111111"/>
                </a:solidFill>
                <a:latin typeface="Calibri"/>
              </a:rPr>
              <a:t>—  Our question: does that difference justify two separate sets of protection?</a:t>
            </a:r>
          </a:p>
        </p:txBody>
      </p:sp>
      <p:sp>
        <p:nvSpPr>
          <p:cNvPr id="22" name="TextBox 2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side: Greshake et al., AISec@CCS 2023, arXiv:2302.12173   ·   ML side: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57400"/>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TAG</a:t>
            </a:r>
          </a:p>
        </p:txBody>
      </p:sp>
      <p:sp>
        <p:nvSpPr>
          <p:cNvPr id="6" name="TextBox 5"/>
          <p:cNvSpPr txBox="1"/>
          <p:nvPr/>
        </p:nvSpPr>
        <p:spPr>
          <a:xfrm>
            <a:off x="3108960" y="2057400"/>
            <a:ext cx="6675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QUESTION IT ANSWERS</a:t>
            </a:r>
          </a:p>
        </p:txBody>
      </p:sp>
      <p:sp>
        <p:nvSpPr>
          <p:cNvPr id="7" name="TextBox 6"/>
          <p:cNvSpPr txBox="1"/>
          <p:nvPr/>
        </p:nvSpPr>
        <p:spPr>
          <a:xfrm>
            <a:off x="9784080" y="2057400"/>
            <a:ext cx="13898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Channel</a:t>
            </a:r>
          </a:p>
        </p:txBody>
      </p:sp>
      <p:sp>
        <p:nvSpPr>
          <p:cNvPr id="10" name="TextBox 9"/>
          <p:cNvSpPr txBox="1"/>
          <p:nvPr/>
        </p:nvSpPr>
        <p:spPr>
          <a:xfrm>
            <a:off x="3108960" y="244144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How did the text get in? Which route did it travel?</a:t>
            </a:r>
          </a:p>
        </p:txBody>
      </p:sp>
      <p:sp>
        <p:nvSpPr>
          <p:cNvPr id="11" name="TextBox 10"/>
          <p:cNvSpPr txBox="1"/>
          <p:nvPr/>
        </p:nvSpPr>
        <p:spPr>
          <a:xfrm>
            <a:off x="9784080" y="244144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a:t>
            </a:r>
          </a:p>
        </p:txBody>
      </p:sp>
      <p:sp>
        <p:nvSpPr>
          <p:cNvPr id="12" name="TextBox 11"/>
          <p:cNvSpPr txBox="1"/>
          <p:nvPr/>
        </p:nvSpPr>
        <p:spPr>
          <a:xfrm>
            <a:off x="731520" y="299008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Intent</a:t>
            </a:r>
          </a:p>
        </p:txBody>
      </p:sp>
      <p:sp>
        <p:nvSpPr>
          <p:cNvPr id="13" name="TextBox 12"/>
          <p:cNvSpPr txBox="1"/>
          <p:nvPr/>
        </p:nvSpPr>
        <p:spPr>
          <a:xfrm>
            <a:off x="3108960" y="299008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Did a person put it there on purpose, or not?</a:t>
            </a:r>
          </a:p>
        </p:txBody>
      </p:sp>
      <p:sp>
        <p:nvSpPr>
          <p:cNvPr id="14" name="TextBox 13"/>
          <p:cNvSpPr txBox="1"/>
          <p:nvPr/>
        </p:nvSpPr>
        <p:spPr>
          <a:xfrm>
            <a:off x="9784080" y="299008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3</a:t>
            </a:r>
          </a:p>
        </p:txBody>
      </p:sp>
      <p:sp>
        <p:nvSpPr>
          <p:cNvPr id="15" name="TextBox 14"/>
          <p:cNvSpPr txBox="1"/>
          <p:nvPr/>
        </p:nvSpPr>
        <p:spPr>
          <a:xfrm>
            <a:off x="731520" y="353872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Consequence</a:t>
            </a:r>
          </a:p>
        </p:txBody>
      </p:sp>
      <p:sp>
        <p:nvSpPr>
          <p:cNvPr id="16" name="TextBox 15"/>
          <p:cNvSpPr txBox="1"/>
          <p:nvPr/>
        </p:nvSpPr>
        <p:spPr>
          <a:xfrm>
            <a:off x="3108960" y="353872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What went wrong once the text was in the window?</a:t>
            </a:r>
          </a:p>
        </p:txBody>
      </p:sp>
      <p:sp>
        <p:nvSpPr>
          <p:cNvPr id="17" name="TextBox 16"/>
          <p:cNvSpPr txBox="1"/>
          <p:nvPr/>
        </p:nvSpPr>
        <p:spPr>
          <a:xfrm>
            <a:off x="9784080" y="353872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a:t>
            </a:r>
          </a:p>
        </p:txBody>
      </p:sp>
      <p:sp>
        <p:nvSpPr>
          <p:cNvPr id="18" name="TextBox 17"/>
          <p:cNvSpPr txBox="1"/>
          <p:nvPr/>
        </p:nvSpPr>
        <p:spPr>
          <a:xfrm>
            <a:off x="731520" y="4114800"/>
            <a:ext cx="10725912" cy="237743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9 channels x 3 intents x 6 consequences = 162 combinations.</a:t>
            </a:r>
          </a:p>
          <a:p>
            <a:pPr>
              <a:lnSpc>
                <a:spcPct val="112000"/>
              </a:lnSpc>
              <a:spcAft>
                <a:spcPts val="900"/>
              </a:spcAft>
            </a:pPr>
            <a:r>
              <a:rPr sz="1400" b="0" i="0">
                <a:solidFill>
                  <a:srgbClr val="444444"/>
                </a:solidFill>
                <a:latin typeface="Calibri"/>
              </a:rPr>
              <a:t>—  A combination with no paper in it is a question the field has never asked. 98 of the 162 are empty.</a:t>
            </a:r>
          </a:p>
          <a:p>
            <a:pPr>
              <a:lnSpc>
                <a:spcPct val="112000"/>
              </a:lnSpc>
              <a:spcAft>
                <a:spcPts val="900"/>
              </a:spcAft>
            </a:pPr>
            <a:r>
              <a:rPr sz="1400" b="0" i="0">
                <a:solidFill>
                  <a:srgbClr val="444444"/>
                </a:solidFill>
                <a:latin typeface="Calibri"/>
              </a:rPr>
              <a:t>—  The framework tells us what is known, and it tells us where to look next.</a:t>
            </a:r>
          </a:p>
        </p:txBody>
      </p:sp>
      <p:sp>
        <p:nvSpPr>
          <p:cNvPr id="19" name="TextBox 18"/>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ROUTE</a:t>
            </a:r>
          </a:p>
        </p:txBody>
      </p:sp>
      <p:sp>
        <p:nvSpPr>
          <p:cNvPr id="6" name="TextBox 5"/>
          <p:cNvSpPr txBox="1"/>
          <p:nvPr/>
        </p:nvSpPr>
        <p:spPr>
          <a:xfrm>
            <a:off x="3108960" y="2029968"/>
            <a:ext cx="6492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ARRIVES THIS WAY</a:t>
            </a:r>
          </a:p>
        </p:txBody>
      </p:sp>
      <p:sp>
        <p:nvSpPr>
          <p:cNvPr id="7" name="TextBox 6"/>
          <p:cNvSpPr txBox="1"/>
          <p:nvPr/>
        </p:nvSpPr>
        <p:spPr>
          <a:xfrm>
            <a:off x="9601200" y="2029968"/>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04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1401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10" name="TextBox 9"/>
          <p:cNvSpPr txBox="1"/>
          <p:nvPr/>
        </p:nvSpPr>
        <p:spPr>
          <a:xfrm>
            <a:off x="3108960" y="241401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web page, an email, a file the agent opened</a:t>
            </a:r>
          </a:p>
        </p:txBody>
      </p:sp>
      <p:sp>
        <p:nvSpPr>
          <p:cNvPr id="11" name="TextBox 10"/>
          <p:cNvSpPr txBox="1"/>
          <p:nvPr/>
        </p:nvSpPr>
        <p:spPr>
          <a:xfrm>
            <a:off x="9601200" y="241401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75</a:t>
            </a:r>
          </a:p>
        </p:txBody>
      </p:sp>
      <p:sp>
        <p:nvSpPr>
          <p:cNvPr id="12" name="TextBox 11"/>
          <p:cNvSpPr txBox="1"/>
          <p:nvPr/>
        </p:nvSpPr>
        <p:spPr>
          <a:xfrm>
            <a:off x="731520" y="281635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3" name="TextBox 12"/>
          <p:cNvSpPr txBox="1"/>
          <p:nvPr/>
        </p:nvSpPr>
        <p:spPr>
          <a:xfrm>
            <a:off x="3108960" y="281635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prompt itself, or the system prompt above it</a:t>
            </a:r>
          </a:p>
        </p:txBody>
      </p:sp>
      <p:sp>
        <p:nvSpPr>
          <p:cNvPr id="14" name="TextBox 13"/>
          <p:cNvSpPr txBox="1"/>
          <p:nvPr/>
        </p:nvSpPr>
        <p:spPr>
          <a:xfrm>
            <a:off x="9601200" y="281635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67</a:t>
            </a:r>
          </a:p>
        </p:txBody>
      </p:sp>
      <p:sp>
        <p:nvSpPr>
          <p:cNvPr id="15" name="TextBox 14"/>
          <p:cNvSpPr txBox="1"/>
          <p:nvPr/>
        </p:nvSpPr>
        <p:spPr>
          <a:xfrm>
            <a:off x="731520" y="321868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3108960" y="321868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document a search step pulled from a corpus</a:t>
            </a:r>
          </a:p>
        </p:txBody>
      </p:sp>
      <p:sp>
        <p:nvSpPr>
          <p:cNvPr id="17" name="TextBox 16"/>
          <p:cNvSpPr txBox="1"/>
          <p:nvPr/>
        </p:nvSpPr>
        <p:spPr>
          <a:xfrm>
            <a:off x="9601200" y="321868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28</a:t>
            </a:r>
          </a:p>
        </p:txBody>
      </p:sp>
      <p:sp>
        <p:nvSpPr>
          <p:cNvPr id="18" name="TextBox 17"/>
          <p:cNvSpPr txBox="1"/>
          <p:nvPr/>
        </p:nvSpPr>
        <p:spPr>
          <a:xfrm>
            <a:off x="731520" y="362102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cross-modal</a:t>
            </a:r>
          </a:p>
        </p:txBody>
      </p:sp>
      <p:sp>
        <p:nvSpPr>
          <p:cNvPr id="19" name="TextBox 18"/>
          <p:cNvSpPr txBox="1"/>
          <p:nvPr/>
        </p:nvSpPr>
        <p:spPr>
          <a:xfrm>
            <a:off x="3108960" y="362102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text inside an image, audio or video</a:t>
            </a:r>
          </a:p>
        </p:txBody>
      </p:sp>
      <p:sp>
        <p:nvSpPr>
          <p:cNvPr id="20" name="TextBox 19"/>
          <p:cNvSpPr txBox="1"/>
          <p:nvPr/>
        </p:nvSpPr>
        <p:spPr>
          <a:xfrm>
            <a:off x="9601200" y="362102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18</a:t>
            </a:r>
          </a:p>
        </p:txBody>
      </p:sp>
      <p:sp>
        <p:nvSpPr>
          <p:cNvPr id="21" name="TextBox 20"/>
          <p:cNvSpPr txBox="1"/>
          <p:nvPr/>
        </p:nvSpPr>
        <p:spPr>
          <a:xfrm>
            <a:off x="731520" y="4023360"/>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22" name="TextBox 21"/>
          <p:cNvSpPr txBox="1"/>
          <p:nvPr/>
        </p:nvSpPr>
        <p:spPr>
          <a:xfrm>
            <a:off x="3108960" y="4023360"/>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something the agent stored earlier and reads again</a:t>
            </a:r>
          </a:p>
        </p:txBody>
      </p:sp>
      <p:sp>
        <p:nvSpPr>
          <p:cNvPr id="23" name="TextBox 22"/>
          <p:cNvSpPr txBox="1"/>
          <p:nvPr/>
        </p:nvSpPr>
        <p:spPr>
          <a:xfrm>
            <a:off x="9601200" y="4023360"/>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4" name="TextBox 23"/>
          <p:cNvSpPr txBox="1"/>
          <p:nvPr/>
        </p:nvSpPr>
        <p:spPr>
          <a:xfrm>
            <a:off x="731520" y="442569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tool-metadata</a:t>
            </a:r>
          </a:p>
        </p:txBody>
      </p:sp>
      <p:sp>
        <p:nvSpPr>
          <p:cNvPr id="25" name="TextBox 24"/>
          <p:cNvSpPr txBox="1"/>
          <p:nvPr/>
        </p:nvSpPr>
        <p:spPr>
          <a:xfrm>
            <a:off x="3108960" y="442569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description of a tool, not its output</a:t>
            </a:r>
          </a:p>
        </p:txBody>
      </p:sp>
      <p:sp>
        <p:nvSpPr>
          <p:cNvPr id="26" name="TextBox 25"/>
          <p:cNvSpPr txBox="1"/>
          <p:nvPr/>
        </p:nvSpPr>
        <p:spPr>
          <a:xfrm>
            <a:off x="9601200" y="442569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a:t>
            </a:r>
          </a:p>
        </p:txBody>
      </p:sp>
      <p:sp>
        <p:nvSpPr>
          <p:cNvPr id="27" name="TextBox 26"/>
          <p:cNvSpPr txBox="1"/>
          <p:nvPr/>
        </p:nvSpPr>
        <p:spPr>
          <a:xfrm>
            <a:off x="731520" y="482803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multi-agent</a:t>
            </a:r>
          </a:p>
        </p:txBody>
      </p:sp>
      <p:sp>
        <p:nvSpPr>
          <p:cNvPr id="28" name="TextBox 27"/>
          <p:cNvSpPr txBox="1"/>
          <p:nvPr/>
        </p:nvSpPr>
        <p:spPr>
          <a:xfrm>
            <a:off x="3108960" y="482803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message from another agent</a:t>
            </a:r>
          </a:p>
        </p:txBody>
      </p:sp>
      <p:sp>
        <p:nvSpPr>
          <p:cNvPr id="29" name="TextBox 28"/>
          <p:cNvSpPr txBox="1"/>
          <p:nvPr/>
        </p:nvSpPr>
        <p:spPr>
          <a:xfrm>
            <a:off x="9601200" y="482803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10</a:t>
            </a:r>
          </a:p>
        </p:txBody>
      </p:sp>
      <p:sp>
        <p:nvSpPr>
          <p:cNvPr id="30" name="TextBox 29"/>
          <p:cNvSpPr txBox="1"/>
          <p:nvPr/>
        </p:nvSpPr>
        <p:spPr>
          <a:xfrm>
            <a:off x="731520" y="523036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supply-chain</a:t>
            </a:r>
          </a:p>
        </p:txBody>
      </p:sp>
      <p:sp>
        <p:nvSpPr>
          <p:cNvPr id="31" name="TextBox 30"/>
          <p:cNvSpPr txBox="1"/>
          <p:nvPr/>
        </p:nvSpPr>
        <p:spPr>
          <a:xfrm>
            <a:off x="3108960" y="523036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package or template inherited before the run</a:t>
            </a:r>
          </a:p>
        </p:txBody>
      </p:sp>
      <p:sp>
        <p:nvSpPr>
          <p:cNvPr id="32" name="TextBox 31"/>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a:t>
            </a:r>
          </a:p>
        </p:txBody>
      </p:sp>
      <p:sp>
        <p:nvSpPr>
          <p:cNvPr id="33" name="TextBox 32"/>
          <p:cNvSpPr txBox="1"/>
          <p:nvPr/>
        </p:nvSpPr>
        <p:spPr>
          <a:xfrm>
            <a:off x="731520" y="563270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skill</a:t>
            </a:r>
          </a:p>
        </p:txBody>
      </p:sp>
      <p:sp>
        <p:nvSpPr>
          <p:cNvPr id="34" name="TextBox 33"/>
          <p:cNvSpPr txBox="1"/>
          <p:nvPr/>
        </p:nvSpPr>
        <p:spPr>
          <a:xfrm>
            <a:off x="3108960" y="563270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stored procedure the agent loads and follows</a:t>
            </a:r>
          </a:p>
        </p:txBody>
      </p:sp>
      <p:sp>
        <p:nvSpPr>
          <p:cNvPr id="35" name="TextBox 34"/>
          <p:cNvSpPr txBox="1"/>
          <p:nvPr/>
        </p:nvSpPr>
        <p:spPr>
          <a:xfrm>
            <a:off x="9601200" y="563270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36" name="TextBox 35"/>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75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75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103120"/>
            <a:ext cx="3017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FAILURE</a:t>
            </a:r>
          </a:p>
        </p:txBody>
      </p:sp>
      <p:sp>
        <p:nvSpPr>
          <p:cNvPr id="6" name="TextBox 5"/>
          <p:cNvSpPr txBox="1"/>
          <p:nvPr/>
        </p:nvSpPr>
        <p:spPr>
          <a:xfrm>
            <a:off x="3749039" y="210312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9601200" y="2103120"/>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7743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10" name="TextBox 9"/>
          <p:cNvSpPr txBox="1"/>
          <p:nvPr/>
        </p:nvSpPr>
        <p:spPr>
          <a:xfrm>
            <a:off x="3749039" y="24871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does another person's task; text in the window gives an order and it obeys</a:t>
            </a:r>
          </a:p>
        </p:txBody>
      </p:sp>
      <p:sp>
        <p:nvSpPr>
          <p:cNvPr id="11" name="TextBox 10"/>
          <p:cNvSpPr txBox="1"/>
          <p:nvPr/>
        </p:nvSpPr>
        <p:spPr>
          <a:xfrm>
            <a:off x="9601200" y="24871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136</a:t>
            </a:r>
          </a:p>
        </p:txBody>
      </p:sp>
      <p:sp>
        <p:nvSpPr>
          <p:cNvPr id="12" name="TextBox 11"/>
          <p:cNvSpPr txBox="1"/>
          <p:nvPr/>
        </p:nvSpPr>
        <p:spPr>
          <a:xfrm>
            <a:off x="731520" y="303580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3749039" y="303580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every word is true, but the window is too long or too cluttered to use well</a:t>
            </a:r>
          </a:p>
        </p:txBody>
      </p:sp>
      <p:sp>
        <p:nvSpPr>
          <p:cNvPr id="14" name="TextBox 13"/>
          <p:cNvSpPr txBox="1"/>
          <p:nvPr/>
        </p:nvSpPr>
        <p:spPr>
          <a:xfrm>
            <a:off x="9601200" y="303580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46</a:t>
            </a:r>
          </a:p>
        </p:txBody>
      </p:sp>
      <p:sp>
        <p:nvSpPr>
          <p:cNvPr id="15" name="TextBox 14"/>
          <p:cNvSpPr txBox="1"/>
          <p:nvPr/>
        </p:nvSpPr>
        <p:spPr>
          <a:xfrm>
            <a:off x="731520" y="358444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6" name="TextBox 15"/>
          <p:cNvSpPr txBox="1"/>
          <p:nvPr/>
        </p:nvSpPr>
        <p:spPr>
          <a:xfrm>
            <a:off x="3749039" y="358444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answers from false content; nobody gave it a new task</a:t>
            </a:r>
          </a:p>
        </p:txBody>
      </p:sp>
      <p:sp>
        <p:nvSpPr>
          <p:cNvPr id="17" name="TextBox 16"/>
          <p:cNvSpPr txBox="1"/>
          <p:nvPr/>
        </p:nvSpPr>
        <p:spPr>
          <a:xfrm>
            <a:off x="9601200" y="358444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18" name="TextBox 17"/>
          <p:cNvSpPr txBox="1"/>
          <p:nvPr/>
        </p:nvSpPr>
        <p:spPr>
          <a:xfrm>
            <a:off x="731520" y="413308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19" name="TextBox 18"/>
          <p:cNvSpPr txBox="1"/>
          <p:nvPr/>
        </p:nvSpPr>
        <p:spPr>
          <a:xfrm>
            <a:off x="3749039" y="413308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bad content is stored and fires on a later run</a:t>
            </a:r>
          </a:p>
        </p:txBody>
      </p:sp>
      <p:sp>
        <p:nvSpPr>
          <p:cNvPr id="20" name="TextBox 19"/>
          <p:cNvSpPr txBox="1"/>
          <p:nvPr/>
        </p:nvSpPr>
        <p:spPr>
          <a:xfrm>
            <a:off x="9601200" y="413308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1" name="TextBox 20"/>
          <p:cNvSpPr txBox="1"/>
          <p:nvPr/>
        </p:nvSpPr>
        <p:spPr>
          <a:xfrm>
            <a:off x="731520" y="468172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data-exfiltration</a:t>
            </a:r>
          </a:p>
        </p:txBody>
      </p:sp>
      <p:sp>
        <p:nvSpPr>
          <p:cNvPr id="22" name="TextBox 21"/>
          <p:cNvSpPr txBox="1"/>
          <p:nvPr/>
        </p:nvSpPr>
        <p:spPr>
          <a:xfrm>
            <a:off x="3749039" y="468172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sends out what it can read</a:t>
            </a:r>
          </a:p>
        </p:txBody>
      </p:sp>
      <p:sp>
        <p:nvSpPr>
          <p:cNvPr id="23" name="TextBox 22"/>
          <p:cNvSpPr txBox="1"/>
          <p:nvPr/>
        </p:nvSpPr>
        <p:spPr>
          <a:xfrm>
            <a:off x="9601200" y="468172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14</a:t>
            </a:r>
          </a:p>
        </p:txBody>
      </p:sp>
      <p:sp>
        <p:nvSpPr>
          <p:cNvPr id="24" name="TextBox 23"/>
          <p:cNvSpPr txBox="1"/>
          <p:nvPr/>
        </p:nvSpPr>
        <p:spPr>
          <a:xfrm>
            <a:off x="731520" y="52303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resource-abuse</a:t>
            </a:r>
          </a:p>
        </p:txBody>
      </p:sp>
      <p:sp>
        <p:nvSpPr>
          <p:cNvPr id="25" name="TextBox 24"/>
          <p:cNvSpPr txBox="1"/>
          <p:nvPr/>
        </p:nvSpPr>
        <p:spPr>
          <a:xfrm>
            <a:off x="3749039" y="52303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burns time, or refuses to answer at all</a:t>
            </a:r>
          </a:p>
        </p:txBody>
      </p:sp>
      <p:sp>
        <p:nvSpPr>
          <p:cNvPr id="26" name="TextBox 25"/>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27" name="TextBox 26"/>
          <p:cNvSpPr txBox="1"/>
          <p:nvPr/>
        </p:nvSpPr>
        <p:spPr>
          <a:xfrm>
            <a:off x="731520" y="57607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row is the machine learning literature. The other five are the security literature. That is the split, in one column.</a:t>
            </a:r>
          </a:p>
        </p:txBody>
      </p:sp>
      <p:sp>
        <p:nvSpPr>
          <p:cNvPr id="28" name="TextBox 27"/>
          <p:cNvSpPr txBox="1"/>
          <p:nvPr/>
        </p:nvSpPr>
        <p:spPr>
          <a:xfrm>
            <a:off x="731520" y="6327648"/>
            <a:ext cx="10040112" cy="475488"/>
          </a:xfrm>
          <a:prstGeom prst="rect">
            <a:avLst/>
          </a:prstGeom>
          <a:noFill/>
        </p:spPr>
        <p:txBody>
          <a:bodyPr wrap="square" lIns="0" rIns="0" tIns="0" bIns="0" anchor="t">
            <a:spAutoFit/>
          </a:bodyPr>
          <a:lstStyle/>
          <a:p>
            <a:pPr algn="l">
              <a:lnSpc>
                <a:spcPct val="115000"/>
              </a:lnSpc>
              <a:spcAft>
                <a:spcPts val="0"/>
              </a:spcAft>
            </a:pPr>
            <a:r>
              <a:rPr sz="75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11680"/>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COUNT</a:t>
            </a:r>
          </a:p>
        </p:txBody>
      </p:sp>
      <p:sp>
        <p:nvSpPr>
          <p:cNvPr id="6" name="TextBox 5"/>
          <p:cNvSpPr txBox="1"/>
          <p:nvPr/>
        </p:nvSpPr>
        <p:spPr>
          <a:xfrm>
            <a:off x="3474720" y="2011680"/>
            <a:ext cx="795527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IS</a:t>
            </a:r>
          </a:p>
        </p:txBody>
      </p:sp>
      <p:sp>
        <p:nvSpPr>
          <p:cNvPr id="7" name="Rectangle 6"/>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1,026 papers</a:t>
            </a:r>
          </a:p>
        </p:txBody>
      </p:sp>
      <p:sp>
        <p:nvSpPr>
          <p:cNvPr id="9" name="TextBox 8"/>
          <p:cNvSpPr txBox="1"/>
          <p:nvPr/>
        </p:nvSpPr>
        <p:spPr>
          <a:xfrm>
            <a:off x="3474720" y="239572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read in full and coded, drawn from about 26,000 candidates</a:t>
            </a:r>
          </a:p>
        </p:txBody>
      </p:sp>
      <p:sp>
        <p:nvSpPr>
          <p:cNvPr id="10" name="TextBox 9"/>
          <p:cNvSpPr txBox="1"/>
          <p:nvPr/>
        </p:nvSpPr>
        <p:spPr>
          <a:xfrm>
            <a:off x="731520" y="2834640"/>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182 attacks</a:t>
            </a:r>
          </a:p>
        </p:txBody>
      </p:sp>
      <p:sp>
        <p:nvSpPr>
          <p:cNvPr id="11" name="TextBox 10"/>
          <p:cNvSpPr txBox="1"/>
          <p:nvPr/>
        </p:nvSpPr>
        <p:spPr>
          <a:xfrm>
            <a:off x="3474720" y="2834640"/>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deliberate ways to corrupt a context window</a:t>
            </a:r>
          </a:p>
        </p:txBody>
      </p:sp>
      <p:sp>
        <p:nvSpPr>
          <p:cNvPr id="12" name="TextBox 11"/>
          <p:cNvSpPr txBox="1"/>
          <p:nvPr/>
        </p:nvSpPr>
        <p:spPr>
          <a:xfrm>
            <a:off x="731520" y="3273552"/>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55 mechanisms</a:t>
            </a:r>
          </a:p>
        </p:txBody>
      </p:sp>
      <p:sp>
        <p:nvSpPr>
          <p:cNvPr id="13" name="TextBox 12"/>
          <p:cNvSpPr txBox="1"/>
          <p:nvPr/>
        </p:nvSpPr>
        <p:spPr>
          <a:xfrm>
            <a:off x="3474720" y="3273552"/>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the same corruption arriving by accident</a:t>
            </a:r>
          </a:p>
        </p:txBody>
      </p:sp>
      <p:sp>
        <p:nvSpPr>
          <p:cNvPr id="14" name="TextBox 13"/>
          <p:cNvSpPr txBox="1"/>
          <p:nvPr/>
        </p:nvSpPr>
        <p:spPr>
          <a:xfrm>
            <a:off x="731520" y="3712464"/>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263 defenses</a:t>
            </a:r>
          </a:p>
        </p:txBody>
      </p:sp>
      <p:sp>
        <p:nvSpPr>
          <p:cNvPr id="15" name="TextBox 14"/>
          <p:cNvSpPr txBox="1"/>
          <p:nvPr/>
        </p:nvSpPr>
        <p:spPr>
          <a:xfrm>
            <a:off x="3474720" y="3712464"/>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an adversary</a:t>
            </a:r>
          </a:p>
        </p:txBody>
      </p:sp>
      <p:sp>
        <p:nvSpPr>
          <p:cNvPr id="16" name="TextBox 15"/>
          <p:cNvSpPr txBox="1"/>
          <p:nvPr/>
        </p:nvSpPr>
        <p:spPr>
          <a:xfrm>
            <a:off x="731520" y="4151376"/>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266 fixes</a:t>
            </a:r>
          </a:p>
        </p:txBody>
      </p:sp>
      <p:sp>
        <p:nvSpPr>
          <p:cNvPr id="17" name="TextBox 16"/>
          <p:cNvSpPr txBox="1"/>
          <p:nvPr/>
        </p:nvSpPr>
        <p:spPr>
          <a:xfrm>
            <a:off x="3474720" y="4151376"/>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the accident</a:t>
            </a:r>
          </a:p>
        </p:txBody>
      </p:sp>
      <p:sp>
        <p:nvSpPr>
          <p:cNvPr id="18" name="TextBox 17"/>
          <p:cNvSpPr txBox="1"/>
          <p:nvPr/>
        </p:nvSpPr>
        <p:spPr>
          <a:xfrm>
            <a:off x="731520" y="459028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349 pairs</a:t>
            </a:r>
          </a:p>
        </p:txBody>
      </p:sp>
      <p:sp>
        <p:nvSpPr>
          <p:cNvPr id="19" name="TextBox 18"/>
          <p:cNvSpPr txBox="1"/>
          <p:nvPr/>
        </p:nvSpPr>
        <p:spPr>
          <a:xfrm>
            <a:off x="3474720" y="459028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every case where a paper tested one defense against one attack</a:t>
            </a:r>
          </a:p>
        </p:txBody>
      </p:sp>
      <p:sp>
        <p:nvSpPr>
          <p:cNvPr id="20" name="TextBox 19"/>
          <p:cNvSpPr txBox="1"/>
          <p:nvPr/>
        </p:nvSpPr>
        <p:spPr>
          <a:xfrm>
            <a:off x="731520" y="5120640"/>
            <a:ext cx="10725912" cy="1371600"/>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No prior survey holds both literatures. The closest reviews 78 papers, 37 attacks and 41 defenses, and stays on the security side.</a:t>
            </a:r>
          </a:p>
          <a:p>
            <a:pPr>
              <a:lnSpc>
                <a:spcPct val="112000"/>
              </a:lnSpc>
              <a:spcAft>
                <a:spcPts val="900"/>
              </a:spcAft>
            </a:pPr>
            <a:r>
              <a:rPr sz="1400" b="0" i="0">
                <a:solidFill>
                  <a:srgbClr val="444444"/>
                </a:solidFill>
                <a:latin typeface="Calibri"/>
              </a:rPr>
              <a:t>—  That map is the instrument. Everything that follows is read off it.</a:t>
            </a:r>
          </a:p>
        </p:txBody>
      </p:sp>
      <p:sp>
        <p:nvSpPr>
          <p:cNvPr id="21" name="TextBox 20"/>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The map is a table, not a picture. One row for each named attack, one row for each named defense, 771 rows in all.</a:t>
            </a:r>
          </a:p>
          <a:p>
            <a:pPr>
              <a:lnSpc>
                <a:spcPct val="112000"/>
              </a:lnSpc>
              <a:spcAft>
                <a:spcPts val="800"/>
              </a:spcAft>
            </a:pPr>
            <a:r>
              <a:rPr sz="1400" b="0" i="0">
                <a:solidFill>
                  <a:srgbClr val="444444"/>
                </a:solidFill>
                <a:latin typeface="Calibri"/>
              </a:rPr>
              <a:t>—  Every row carries the same three tags. We read them from the paper's full text, not its title, and they come from fixed lists, so two papers describing the same thing land in the same place.</a:t>
            </a:r>
          </a:p>
        </p:txBody>
      </p:sp>
      <p:sp>
        <p:nvSpPr>
          <p:cNvPr id="6" name="TextBox 5"/>
          <p:cNvSpPr txBox="1"/>
          <p:nvPr/>
        </p:nvSpPr>
        <p:spPr>
          <a:xfrm>
            <a:off x="731520" y="3291840"/>
            <a:ext cx="26517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FIELD</a:t>
            </a:r>
          </a:p>
        </p:txBody>
      </p:sp>
      <p:sp>
        <p:nvSpPr>
          <p:cNvPr id="7" name="TextBox 6"/>
          <p:cNvSpPr txBox="1"/>
          <p:nvPr/>
        </p:nvSpPr>
        <p:spPr>
          <a:xfrm>
            <a:off x="338328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AN ATTACK ROW</a:t>
            </a:r>
          </a:p>
        </p:txBody>
      </p:sp>
      <p:sp>
        <p:nvSpPr>
          <p:cNvPr id="8" name="TextBox 7"/>
          <p:cNvSpPr txBox="1"/>
          <p:nvPr/>
        </p:nvSpPr>
        <p:spPr>
          <a:xfrm>
            <a:off x="740664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 DEFENSE ROW</a:t>
            </a:r>
          </a:p>
        </p:txBody>
      </p:sp>
      <p:sp>
        <p:nvSpPr>
          <p:cNvPr id="9" name="Rectangle 8"/>
          <p:cNvSpPr/>
          <p:nvPr/>
        </p:nvSpPr>
        <p:spPr>
          <a:xfrm>
            <a:off x="731520" y="35661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758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a:t>
            </a:r>
          </a:p>
        </p:txBody>
      </p:sp>
      <p:sp>
        <p:nvSpPr>
          <p:cNvPr id="11" name="TextBox 10"/>
          <p:cNvSpPr txBox="1"/>
          <p:nvPr/>
        </p:nvSpPr>
        <p:spPr>
          <a:xfrm>
            <a:off x="338328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2" name="TextBox 11"/>
          <p:cNvSpPr txBox="1"/>
          <p:nvPr/>
        </p:nvSpPr>
        <p:spPr>
          <a:xfrm>
            <a:off x="740664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3" name="TextBox 12"/>
          <p:cNvSpPr txBox="1"/>
          <p:nvPr/>
        </p:nvSpPr>
        <p:spPr>
          <a:xfrm>
            <a:off x="731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Route in</a:t>
            </a:r>
          </a:p>
        </p:txBody>
      </p:sp>
      <p:sp>
        <p:nvSpPr>
          <p:cNvPr id="14" name="TextBox 13"/>
          <p:cNvSpPr txBox="1"/>
          <p:nvPr/>
        </p:nvSpPr>
        <p:spPr>
          <a:xfrm>
            <a:off x="338328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5" name="TextBox 14"/>
          <p:cNvSpPr txBox="1"/>
          <p:nvPr/>
        </p:nvSpPr>
        <p:spPr>
          <a:xfrm>
            <a:off x="740664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731520" y="444398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What goes wrong</a:t>
            </a:r>
          </a:p>
        </p:txBody>
      </p:sp>
      <p:sp>
        <p:nvSpPr>
          <p:cNvPr id="17" name="TextBox 16"/>
          <p:cNvSpPr txBox="1"/>
          <p:nvPr/>
        </p:nvSpPr>
        <p:spPr>
          <a:xfrm>
            <a:off x="338328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740664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9" name="TextBox 18"/>
          <p:cNvSpPr txBox="1"/>
          <p:nvPr/>
        </p:nvSpPr>
        <p:spPr>
          <a:xfrm>
            <a:off x="731520" y="482803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Caused by a person</a:t>
            </a:r>
          </a:p>
        </p:txBody>
      </p:sp>
      <p:sp>
        <p:nvSpPr>
          <p:cNvPr id="20" name="TextBox 19"/>
          <p:cNvSpPr txBox="1"/>
          <p:nvPr/>
        </p:nvSpPr>
        <p:spPr>
          <a:xfrm>
            <a:off x="338328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21" name="TextBox 20"/>
          <p:cNvSpPr txBox="1"/>
          <p:nvPr/>
        </p:nvSpPr>
        <p:spPr>
          <a:xfrm>
            <a:off x="740664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 built for the accident</a:t>
            </a:r>
          </a:p>
        </p:txBody>
      </p:sp>
      <p:sp>
        <p:nvSpPr>
          <p:cNvPr id="22" name="TextBox 21"/>
          <p:cNvSpPr txBox="1"/>
          <p:nvPr/>
        </p:nvSpPr>
        <p:spPr>
          <a:xfrm>
            <a:off x="731520" y="5212080"/>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From</a:t>
            </a:r>
          </a:p>
        </p:txBody>
      </p:sp>
      <p:sp>
        <p:nvSpPr>
          <p:cNvPr id="23" name="TextBox 22"/>
          <p:cNvSpPr txBox="1"/>
          <p:nvPr/>
        </p:nvSpPr>
        <p:spPr>
          <a:xfrm>
            <a:off x="338328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Zhong et al., EMNLP 2023</a:t>
            </a:r>
          </a:p>
        </p:txBody>
      </p:sp>
      <p:sp>
        <p:nvSpPr>
          <p:cNvPr id="24" name="TextBox 23"/>
          <p:cNvSpPr txBox="1"/>
          <p:nvPr/>
        </p:nvSpPr>
        <p:spPr>
          <a:xfrm>
            <a:off x="740664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Huang et al., NeurIPS 2025</a:t>
            </a:r>
          </a:p>
        </p:txBody>
      </p:sp>
      <p:sp>
        <p:nvSpPr>
          <p:cNvPr id="25" name="TextBox 24"/>
          <p:cNvSpPr txBox="1"/>
          <p:nvPr/>
        </p:nvSpPr>
        <p:spPr>
          <a:xfrm>
            <a:off x="731520" y="5532120"/>
            <a:ext cx="10725912" cy="960119"/>
          </a:xfrm>
          <a:prstGeom prst="rect">
            <a:avLst/>
          </a:prstGeom>
          <a:noFill/>
        </p:spPr>
        <p:txBody>
          <a:bodyPr wrap="square" lIns="0" rIns="0" tIns="0" bIns="0" anchor="t">
            <a:spAutoFit/>
          </a:bodyPr>
          <a:lstStyle/>
          <a:p>
            <a:pPr algn="l">
              <a:lnSpc>
                <a:spcPct val="112000"/>
              </a:lnSpc>
              <a:spcAft>
                <a:spcPts val="700"/>
              </a:spcAft>
            </a:pPr>
            <a:r>
              <a:rPr sz="1400" b="1" i="0">
                <a:solidFill>
                  <a:srgbClr val="111111"/>
                </a:solidFill>
                <a:latin typeface="Calibri"/>
              </a:rPr>
              <a:t>—  Same route, same failure, so the two rows share a cell and the defense has a claim to answer that attack.</a:t>
            </a:r>
          </a:p>
          <a:p>
            <a:pPr>
              <a:lnSpc>
                <a:spcPct val="112000"/>
              </a:lnSpc>
              <a:spcAft>
                <a:spcPts val="700"/>
              </a:spcAft>
            </a:pPr>
            <a:r>
              <a:rPr sz="1400" b="0" i="0">
                <a:solidFill>
                  <a:srgbClr val="444444"/>
                </a:solidFill>
                <a:latin typeface="Calibri"/>
              </a:rPr>
              <a:t>—  Nobody had ever run them against each other. We did.</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57400"/>
            <a:ext cx="7680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MEASURE</a:t>
            </a:r>
          </a:p>
        </p:txBody>
      </p:sp>
      <p:sp>
        <p:nvSpPr>
          <p:cNvPr id="6" name="TextBox 5"/>
          <p:cNvSpPr txBox="1"/>
          <p:nvPr/>
        </p:nvSpPr>
        <p:spPr>
          <a:xfrm>
            <a:off x="8412480" y="2057400"/>
            <a:ext cx="27614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Security papers citing at least one machine learning paper</a:t>
            </a:r>
          </a:p>
        </p:txBody>
      </p:sp>
      <p:sp>
        <p:nvSpPr>
          <p:cNvPr id="9" name="TextBox 8"/>
          <p:cNvSpPr txBox="1"/>
          <p:nvPr/>
        </p:nvSpPr>
        <p:spPr>
          <a:xfrm>
            <a:off x="8412480" y="244144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11.7 %</a:t>
            </a:r>
          </a:p>
        </p:txBody>
      </p:sp>
      <p:sp>
        <p:nvSpPr>
          <p:cNvPr id="10" name="TextBox 9"/>
          <p:cNvSpPr txBox="1"/>
          <p:nvPr/>
        </p:nvSpPr>
        <p:spPr>
          <a:xfrm>
            <a:off x="731520" y="299008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Machine learning papers citing at least one security paper</a:t>
            </a:r>
          </a:p>
        </p:txBody>
      </p:sp>
      <p:sp>
        <p:nvSpPr>
          <p:cNvPr id="11" name="TextBox 10"/>
          <p:cNvSpPr txBox="1"/>
          <p:nvPr/>
        </p:nvSpPr>
        <p:spPr>
          <a:xfrm>
            <a:off x="8412480" y="299008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9.1 %</a:t>
            </a:r>
          </a:p>
        </p:txBody>
      </p:sp>
      <p:sp>
        <p:nvSpPr>
          <p:cNvPr id="12" name="TextBox 11"/>
          <p:cNvSpPr txBox="1"/>
          <p:nvPr/>
        </p:nvSpPr>
        <p:spPr>
          <a:xfrm>
            <a:off x="731520" y="353872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Tested pairs that stay inside one literature</a:t>
            </a:r>
          </a:p>
        </p:txBody>
      </p:sp>
      <p:sp>
        <p:nvSpPr>
          <p:cNvPr id="13" name="TextBox 12"/>
          <p:cNvSpPr txBox="1"/>
          <p:nvPr/>
        </p:nvSpPr>
        <p:spPr>
          <a:xfrm>
            <a:off x="8412480" y="353872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98.0 %</a:t>
            </a:r>
          </a:p>
        </p:txBody>
      </p:sp>
      <p:sp>
        <p:nvSpPr>
          <p:cNvPr id="14" name="TextBox 13"/>
          <p:cNvSpPr txBox="1"/>
          <p:nvPr/>
        </p:nvSpPr>
        <p:spPr>
          <a:xfrm>
            <a:off x="731520" y="408736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Combinations in the framework nobody has studied</a:t>
            </a:r>
          </a:p>
        </p:txBody>
      </p:sp>
      <p:sp>
        <p:nvSpPr>
          <p:cNvPr id="15" name="TextBox 14"/>
          <p:cNvSpPr txBox="1"/>
          <p:nvPr/>
        </p:nvSpPr>
        <p:spPr>
          <a:xfrm>
            <a:off x="8412480" y="408736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60.5 %</a:t>
            </a:r>
          </a:p>
        </p:txBody>
      </p:sp>
      <p:sp>
        <p:nvSpPr>
          <p:cNvPr id="16" name="TextBox 15"/>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Nine of ten papers never cross. Seven pairs in the whole field do.</a:t>
            </a:r>
          </a:p>
          <a:p>
            <a:pPr>
              <a:lnSpc>
                <a:spcPct val="112000"/>
              </a:lnSpc>
              <a:spcAft>
                <a:spcPts val="900"/>
              </a:spcAft>
            </a:pPr>
            <a:r>
              <a:rPr sz="1400" b="0" i="0">
                <a:solidFill>
                  <a:srgbClr val="444444"/>
                </a:solidFill>
                <a:latin typeface="Calibri"/>
              </a:rPr>
              <a:t>—  This is not a sample. We resolved every citation edge in the corpus.</a:t>
            </a:r>
          </a:p>
          <a:p>
            <a:pPr>
              <a:lnSpc>
                <a:spcPct val="112000"/>
              </a:lnSpc>
              <a:spcAft>
                <a:spcPts val="900"/>
              </a:spcAft>
            </a:pPr>
            <a:r>
              <a:rPr sz="1400" b="1" i="0">
                <a:solidFill>
                  <a:srgbClr val="111111"/>
                </a:solidFill>
                <a:latin typeface="Calibri"/>
              </a:rPr>
              <a:t>—  So every claim that a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Causes that nothing has ever been run against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56816"/>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SIDE</a:t>
            </a:r>
          </a:p>
        </p:txBody>
      </p:sp>
      <p:sp>
        <p:nvSpPr>
          <p:cNvPr id="6" name="TextBox 5"/>
          <p:cNvSpPr txBox="1"/>
          <p:nvPr/>
        </p:nvSpPr>
        <p:spPr>
          <a:xfrm>
            <a:off x="3474720" y="1956816"/>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CAUSE</a:t>
            </a:r>
          </a:p>
        </p:txBody>
      </p:sp>
      <p:sp>
        <p:nvSpPr>
          <p:cNvPr id="7" name="TextBox 6"/>
          <p:cNvSpPr txBox="1"/>
          <p:nvPr/>
        </p:nvSpPr>
        <p:spPr>
          <a:xfrm>
            <a:off x="9326880" y="1956816"/>
            <a:ext cx="18470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NEVER ANSWERED</a:t>
            </a:r>
          </a:p>
        </p:txBody>
      </p:sp>
      <p:sp>
        <p:nvSpPr>
          <p:cNvPr id="8" name="Rectangle 7"/>
          <p:cNvSpPr/>
          <p:nvPr/>
        </p:nvSpPr>
        <p:spPr>
          <a:xfrm>
            <a:off x="731520" y="223113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40864"/>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security</a:t>
            </a:r>
          </a:p>
        </p:txBody>
      </p:sp>
      <p:sp>
        <p:nvSpPr>
          <p:cNvPr id="10" name="TextBox 9"/>
          <p:cNvSpPr txBox="1"/>
          <p:nvPr/>
        </p:nvSpPr>
        <p:spPr>
          <a:xfrm>
            <a:off x="3474720" y="2340864"/>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attack  (182 named)</a:t>
            </a:r>
          </a:p>
        </p:txBody>
      </p:sp>
      <p:sp>
        <p:nvSpPr>
          <p:cNvPr id="11" name="TextBox 10"/>
          <p:cNvSpPr txBox="1"/>
          <p:nvPr/>
        </p:nvSpPr>
        <p:spPr>
          <a:xfrm>
            <a:off x="9326880" y="2340864"/>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104</a:t>
            </a:r>
          </a:p>
        </p:txBody>
      </p:sp>
      <p:sp>
        <p:nvSpPr>
          <p:cNvPr id="12" name="TextBox 11"/>
          <p:cNvSpPr txBox="1"/>
          <p:nvPr/>
        </p:nvSpPr>
        <p:spPr>
          <a:xfrm>
            <a:off x="731520" y="2761488"/>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machine learning</a:t>
            </a:r>
          </a:p>
        </p:txBody>
      </p:sp>
      <p:sp>
        <p:nvSpPr>
          <p:cNvPr id="13" name="TextBox 12"/>
          <p:cNvSpPr txBox="1"/>
          <p:nvPr/>
        </p:nvSpPr>
        <p:spPr>
          <a:xfrm>
            <a:off x="3474720" y="2761488"/>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incidental mechanism  (55 named)</a:t>
            </a:r>
          </a:p>
        </p:txBody>
      </p:sp>
      <p:sp>
        <p:nvSpPr>
          <p:cNvPr id="14" name="TextBox 13"/>
          <p:cNvSpPr txBox="1"/>
          <p:nvPr/>
        </p:nvSpPr>
        <p:spPr>
          <a:xfrm>
            <a:off x="9326880" y="2761488"/>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15</a:t>
            </a:r>
          </a:p>
        </p:txBody>
      </p:sp>
      <p:sp>
        <p:nvSpPr>
          <p:cNvPr id="15" name="TextBox 14"/>
          <p:cNvSpPr txBox="1"/>
          <p:nvPr/>
        </p:nvSpPr>
        <p:spPr>
          <a:xfrm>
            <a:off x="731520" y="3108960"/>
            <a:ext cx="10725912" cy="3383279"/>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Each paper proves its attack works, against a system with no defense switched on.</a:t>
            </a:r>
          </a:p>
          <a:p>
            <a:pPr>
              <a:lnSpc>
                <a:spcPct val="112000"/>
              </a:lnSpc>
              <a:spcAft>
                <a:spcPts val="800"/>
              </a:spcAft>
            </a:pPr>
            <a:r>
              <a:rPr sz="1400" b="0" i="0">
                <a:solidFill>
                  <a:srgbClr val="444444"/>
                </a:solidFill>
                <a:latin typeface="Calibri"/>
              </a:rPr>
              <a:t>—  What those papers compare against is other attacks, not defenses:</a:t>
            </a:r>
          </a:p>
        </p:txBody>
      </p:sp>
      <p:sp>
        <p:nvSpPr>
          <p:cNvPr id="16" name="TextBox 15"/>
          <p:cNvSpPr txBox="1"/>
          <p:nvPr/>
        </p:nvSpPr>
        <p:spPr>
          <a:xfrm>
            <a:off x="731520" y="4041648"/>
            <a:ext cx="39319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a:t>
            </a:r>
          </a:p>
        </p:txBody>
      </p:sp>
      <p:sp>
        <p:nvSpPr>
          <p:cNvPr id="17" name="TextBox 16"/>
          <p:cNvSpPr txBox="1"/>
          <p:nvPr/>
        </p:nvSpPr>
        <p:spPr>
          <a:xfrm>
            <a:off x="4663440" y="4041648"/>
            <a:ext cx="67665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ITS PAPER COMPARES AGAINST</a:t>
            </a:r>
          </a:p>
        </p:txBody>
      </p:sp>
      <p:sp>
        <p:nvSpPr>
          <p:cNvPr id="18" name="Rectangle 17"/>
          <p:cNvSpPr/>
          <p:nvPr/>
        </p:nvSpPr>
        <p:spPr>
          <a:xfrm>
            <a:off x="731520" y="431596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425696"/>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HOUYI</a:t>
            </a:r>
          </a:p>
        </p:txBody>
      </p:sp>
      <p:sp>
        <p:nvSpPr>
          <p:cNvPr id="20" name="TextBox 19"/>
          <p:cNvSpPr txBox="1"/>
          <p:nvPr/>
        </p:nvSpPr>
        <p:spPr>
          <a:xfrm>
            <a:off x="4663440" y="4425696"/>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three earlier prompt injection techniques</a:t>
            </a:r>
          </a:p>
        </p:txBody>
      </p:sp>
      <p:sp>
        <p:nvSpPr>
          <p:cNvPr id="21" name="TextBox 20"/>
          <p:cNvSpPr txBox="1"/>
          <p:nvPr/>
        </p:nvSpPr>
        <p:spPr>
          <a:xfrm>
            <a:off x="731520" y="4828032"/>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JudgeDeceiver</a:t>
            </a:r>
          </a:p>
        </p:txBody>
      </p:sp>
      <p:sp>
        <p:nvSpPr>
          <p:cNvPr id="22" name="TextBox 21"/>
          <p:cNvSpPr txBox="1"/>
          <p:nvPr/>
        </p:nvSpPr>
        <p:spPr>
          <a:xfrm>
            <a:off x="4663440" y="4828032"/>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six manual prompt injection attacks</a:t>
            </a:r>
          </a:p>
        </p:txBody>
      </p:sp>
      <p:sp>
        <p:nvSpPr>
          <p:cNvPr id="23" name="TextBox 22"/>
          <p:cNvSpPr txBox="1"/>
          <p:nvPr/>
        </p:nvSpPr>
        <p:spPr>
          <a:xfrm>
            <a:off x="731520" y="5230368"/>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ASB: Plan-of-Thought backdoor</a:t>
            </a:r>
          </a:p>
        </p:txBody>
      </p:sp>
      <p:sp>
        <p:nvSpPr>
          <p:cNvPr id="24" name="TextBox 23"/>
          <p:cNvSpPr txBox="1"/>
          <p:nvPr/>
        </p:nvSpPr>
        <p:spPr>
          <a:xfrm>
            <a:off x="4663440" y="5230368"/>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five injection variants and five other attacks</a:t>
            </a:r>
          </a:p>
        </p:txBody>
      </p:sp>
      <p:sp>
        <p:nvSpPr>
          <p:cNvPr id="25" name="TextBox 24"/>
          <p:cNvSpPr txBox="1"/>
          <p:nvPr/>
        </p:nvSpPr>
        <p:spPr>
          <a:xfrm>
            <a:off x="731520" y="5632704"/>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Virtual Prompt Injection</a:t>
            </a:r>
          </a:p>
        </p:txBody>
      </p:sp>
      <p:sp>
        <p:nvSpPr>
          <p:cNvPr id="26" name="TextBox 25"/>
          <p:cNvSpPr txBox="1"/>
          <p:nvPr/>
        </p:nvSpPr>
        <p:spPr>
          <a:xfrm>
            <a:off x="4663440" y="5632704"/>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clean training data and one concurrent poisoning method</a:t>
            </a:r>
          </a:p>
        </p:txBody>
      </p:sp>
      <p:sp>
        <p:nvSpPr>
          <p:cNvPr id="27" name="TextBox 26"/>
          <p:cNvSpPr txBox="1"/>
          <p:nvPr/>
        </p:nvSpPr>
        <p:spPr>
          <a:xfrm>
            <a:off x="731520" y="5870448"/>
            <a:ext cx="10725912" cy="621791"/>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Each paper asks whether its attack beats the last attack. Whether any published defense stops it is never asked.</a:t>
            </a:r>
          </a:p>
        </p:txBody>
      </p:sp>
      <p:sp>
        <p:nvSpPr>
          <p:cNvPr id="28" name="TextBox 27"/>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HOUYI Liu et al., 2023   ·   JudgeDeceiver Shi et al., ACM CCS 2024   ·   ASB Zhang et al., ICLR 2024   ·   VPI Yan et al., NAACL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 THE OTHER SIDE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320 protections never run against any cause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600"/>
              </a:spcAft>
            </a:pPr>
            <a:r>
              <a:rPr sz="1400" b="1" i="0">
                <a:solidFill>
                  <a:srgbClr val="111111"/>
                </a:solidFill>
                <a:latin typeface="Calibri"/>
              </a:rPr>
              <a:t>—  124 of 263 defenses and 194 of 266 fixes have no tested pair. Reading all 320 shows what each one answers.</a:t>
            </a:r>
          </a:p>
        </p:txBody>
      </p:sp>
      <p:sp>
        <p:nvSpPr>
          <p:cNvPr id="6" name="TextBox 5"/>
          <p:cNvSpPr txBox="1"/>
          <p:nvPr/>
        </p:nvSpPr>
        <p:spPr>
          <a:xfrm>
            <a:off x="731520" y="2798064"/>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FOUND</a:t>
            </a:r>
          </a:p>
        </p:txBody>
      </p:sp>
      <p:sp>
        <p:nvSpPr>
          <p:cNvPr id="7" name="TextBox 6"/>
          <p:cNvSpPr txBox="1"/>
          <p:nvPr/>
        </p:nvSpPr>
        <p:spPr>
          <a:xfrm>
            <a:off x="4114800" y="2798064"/>
            <a:ext cx="6583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COUNT</a:t>
            </a:r>
          </a:p>
        </p:txBody>
      </p:sp>
      <p:sp>
        <p:nvSpPr>
          <p:cNvPr id="8" name="TextBox 7"/>
          <p:cNvSpPr txBox="1"/>
          <p:nvPr/>
        </p:nvSpPr>
        <p:spPr>
          <a:xfrm>
            <a:off x="5029200" y="2798064"/>
            <a:ext cx="1371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MOSTLY FROM</a:t>
            </a:r>
          </a:p>
        </p:txBody>
      </p:sp>
      <p:sp>
        <p:nvSpPr>
          <p:cNvPr id="9" name="TextBox 8"/>
          <p:cNvSpPr txBox="1"/>
          <p:nvPr/>
        </p:nvSpPr>
        <p:spPr>
          <a:xfrm>
            <a:off x="6400800" y="2798064"/>
            <a:ext cx="5029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10" name="Rectangle 9"/>
          <p:cNvSpPr/>
          <p:nvPr/>
        </p:nvSpPr>
        <p:spPr>
          <a:xfrm>
            <a:off x="731520" y="3072384"/>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8211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 fix for an accidental failure</a:t>
            </a:r>
          </a:p>
        </p:txBody>
      </p:sp>
      <p:sp>
        <p:nvSpPr>
          <p:cNvPr id="12" name="TextBox 11"/>
          <p:cNvSpPr txBox="1"/>
          <p:nvPr/>
        </p:nvSpPr>
        <p:spPr>
          <a:xfrm>
            <a:off x="4114800" y="318211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126</a:t>
            </a:r>
          </a:p>
        </p:txBody>
      </p:sp>
      <p:sp>
        <p:nvSpPr>
          <p:cNvPr id="13" name="TextBox 12"/>
          <p:cNvSpPr txBox="1"/>
          <p:nvPr/>
        </p:nvSpPr>
        <p:spPr>
          <a:xfrm>
            <a:off x="5029200" y="318211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ML side</a:t>
            </a:r>
          </a:p>
        </p:txBody>
      </p:sp>
      <p:sp>
        <p:nvSpPr>
          <p:cNvPr id="14" name="TextBox 13"/>
          <p:cNvSpPr txBox="1"/>
          <p:nvPr/>
        </p:nvSpPr>
        <p:spPr>
          <a:xfrm>
            <a:off x="6400800" y="318211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it answers a real failure; it never claimed to stop an adversary</a:t>
            </a:r>
          </a:p>
        </p:txBody>
      </p:sp>
      <p:sp>
        <p:nvSpPr>
          <p:cNvPr id="15" name="TextBox 14"/>
          <p:cNvSpPr txBox="1"/>
          <p:nvPr/>
        </p:nvSpPr>
        <p:spPr>
          <a:xfrm>
            <a:off x="731520" y="3584448"/>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cause, never tests it</a:t>
            </a:r>
          </a:p>
        </p:txBody>
      </p:sp>
      <p:sp>
        <p:nvSpPr>
          <p:cNvPr id="16" name="TextBox 15"/>
          <p:cNvSpPr txBox="1"/>
          <p:nvPr/>
        </p:nvSpPr>
        <p:spPr>
          <a:xfrm>
            <a:off x="4114800" y="3584448"/>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99</a:t>
            </a:r>
          </a:p>
        </p:txBody>
      </p:sp>
      <p:sp>
        <p:nvSpPr>
          <p:cNvPr id="17" name="TextBox 16"/>
          <p:cNvSpPr txBox="1"/>
          <p:nvPr/>
        </p:nvSpPr>
        <p:spPr>
          <a:xfrm>
            <a:off x="5029200" y="3584448"/>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both</a:t>
            </a:r>
          </a:p>
        </p:txBody>
      </p:sp>
      <p:sp>
        <p:nvSpPr>
          <p:cNvPr id="18" name="TextBox 17"/>
          <p:cNvSpPr txBox="1"/>
          <p:nvPr/>
        </p:nvSpPr>
        <p:spPr>
          <a:xfrm>
            <a:off x="6400800" y="3584448"/>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cause is on our map; the experiment is missing</a:t>
            </a:r>
          </a:p>
        </p:txBody>
      </p:sp>
      <p:sp>
        <p:nvSpPr>
          <p:cNvPr id="19" name="TextBox 18"/>
          <p:cNvSpPr txBox="1"/>
          <p:nvPr/>
        </p:nvSpPr>
        <p:spPr>
          <a:xfrm>
            <a:off x="731520" y="3986784"/>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Threat described in prose only</a:t>
            </a:r>
          </a:p>
        </p:txBody>
      </p:sp>
      <p:sp>
        <p:nvSpPr>
          <p:cNvPr id="20" name="TextBox 19"/>
          <p:cNvSpPr txBox="1"/>
          <p:nvPr/>
        </p:nvSpPr>
        <p:spPr>
          <a:xfrm>
            <a:off x="4114800" y="3986784"/>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41</a:t>
            </a:r>
          </a:p>
        </p:txBody>
      </p:sp>
      <p:sp>
        <p:nvSpPr>
          <p:cNvPr id="21" name="TextBox 20"/>
          <p:cNvSpPr txBox="1"/>
          <p:nvPr/>
        </p:nvSpPr>
        <p:spPr>
          <a:xfrm>
            <a:off x="5029200" y="3986784"/>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2" name="TextBox 21"/>
          <p:cNvSpPr txBox="1"/>
          <p:nvPr/>
        </p:nvSpPr>
        <p:spPr>
          <a:xfrm>
            <a:off x="6400800" y="3986784"/>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an adversary is named; no experiment follows</a:t>
            </a:r>
          </a:p>
        </p:txBody>
      </p:sp>
      <p:sp>
        <p:nvSpPr>
          <p:cNvPr id="23" name="TextBox 22"/>
          <p:cNvSpPr txBox="1"/>
          <p:nvPr/>
        </p:nvSpPr>
        <p:spPr>
          <a:xfrm>
            <a:off x="731520" y="4389120"/>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Tests an attack it invented</a:t>
            </a:r>
          </a:p>
        </p:txBody>
      </p:sp>
      <p:sp>
        <p:nvSpPr>
          <p:cNvPr id="24" name="TextBox 23"/>
          <p:cNvSpPr txBox="1"/>
          <p:nvPr/>
        </p:nvSpPr>
        <p:spPr>
          <a:xfrm>
            <a:off x="4114800" y="4389120"/>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22</a:t>
            </a:r>
          </a:p>
        </p:txBody>
      </p:sp>
      <p:sp>
        <p:nvSpPr>
          <p:cNvPr id="25" name="TextBox 24"/>
          <p:cNvSpPr txBox="1"/>
          <p:nvPr/>
        </p:nvSpPr>
        <p:spPr>
          <a:xfrm>
            <a:off x="5029200" y="4389120"/>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6" name="TextBox 25"/>
          <p:cNvSpPr txBox="1"/>
          <p:nvPr/>
        </p:nvSpPr>
        <p:spPr>
          <a:xfrm>
            <a:off x="6400800" y="4389120"/>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evaluated only against the authors' own construction</a:t>
            </a:r>
          </a:p>
        </p:txBody>
      </p:sp>
      <p:sp>
        <p:nvSpPr>
          <p:cNvPr id="27" name="TextBox 26"/>
          <p:cNvSpPr txBox="1"/>
          <p:nvPr/>
        </p:nvSpPr>
        <p:spPr>
          <a:xfrm>
            <a:off x="731520" y="4791456"/>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benchmark, not a cause</a:t>
            </a:r>
          </a:p>
        </p:txBody>
      </p:sp>
      <p:sp>
        <p:nvSpPr>
          <p:cNvPr id="28" name="TextBox 27"/>
          <p:cNvSpPr txBox="1"/>
          <p:nvPr/>
        </p:nvSpPr>
        <p:spPr>
          <a:xfrm>
            <a:off x="4114800" y="4791456"/>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11</a:t>
            </a:r>
          </a:p>
        </p:txBody>
      </p:sp>
      <p:sp>
        <p:nvSpPr>
          <p:cNvPr id="29" name="TextBox 28"/>
          <p:cNvSpPr txBox="1"/>
          <p:nvPr/>
        </p:nvSpPr>
        <p:spPr>
          <a:xfrm>
            <a:off x="5029200" y="4791456"/>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0" name="TextBox 29"/>
          <p:cNvSpPr txBox="1"/>
          <p:nvPr/>
        </p:nvSpPr>
        <p:spPr>
          <a:xfrm>
            <a:off x="6400800" y="4791456"/>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reports a score, not a protection outcome</a:t>
            </a:r>
          </a:p>
        </p:txBody>
      </p:sp>
      <p:sp>
        <p:nvSpPr>
          <p:cNvPr id="31" name="TextBox 30"/>
          <p:cNvSpPr txBox="1"/>
          <p:nvPr/>
        </p:nvSpPr>
        <p:spPr>
          <a:xfrm>
            <a:off x="731520" y="519379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Could not tell</a:t>
            </a:r>
          </a:p>
        </p:txBody>
      </p:sp>
      <p:sp>
        <p:nvSpPr>
          <p:cNvPr id="32" name="TextBox 31"/>
          <p:cNvSpPr txBox="1"/>
          <p:nvPr/>
        </p:nvSpPr>
        <p:spPr>
          <a:xfrm>
            <a:off x="4114800" y="519379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21</a:t>
            </a:r>
          </a:p>
        </p:txBody>
      </p:sp>
      <p:sp>
        <p:nvSpPr>
          <p:cNvPr id="33" name="TextBox 32"/>
          <p:cNvSpPr txBox="1"/>
          <p:nvPr/>
        </p:nvSpPr>
        <p:spPr>
          <a:xfrm>
            <a:off x="5029200" y="519379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4" name="TextBox 33"/>
          <p:cNvSpPr txBox="1"/>
          <p:nvPr/>
        </p:nvSpPr>
        <p:spPr>
          <a:xfrm>
            <a:off x="6400800" y="519379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not enough extracted text to decide</a:t>
            </a:r>
          </a:p>
        </p:txBody>
      </p:sp>
      <p:sp>
        <p:nvSpPr>
          <p:cNvPr id="35" name="TextBox 34"/>
          <p:cNvSpPr txBox="1"/>
          <p:nvPr/>
        </p:nvSpPr>
        <p:spPr>
          <a:xfrm>
            <a:off x="731520" y="5504688"/>
            <a:ext cx="10725912" cy="987552"/>
          </a:xfrm>
          <a:prstGeom prst="rect">
            <a:avLst/>
          </a:prstGeom>
          <a:noFill/>
        </p:spPr>
        <p:txBody>
          <a:bodyPr wrap="square" lIns="0" rIns="0" tIns="0" bIns="0" anchor="t">
            <a:spAutoFit/>
          </a:bodyPr>
          <a:lstStyle/>
          <a:p>
            <a:pPr algn="l">
              <a:lnSpc>
                <a:spcPct val="112000"/>
              </a:lnSpc>
              <a:spcAft>
                <a:spcPts val="500"/>
              </a:spcAft>
            </a:pPr>
            <a:r>
              <a:rPr sz="1300" b="1" i="0">
                <a:solidFill>
                  <a:srgbClr val="111111"/>
                </a:solidFill>
                <a:latin typeface="Calibri"/>
              </a:rPr>
              <a:t>—  126 of them answer an accidental failure and never set out to stop an adversary. 99 name a cause that is on our map and stop short of testing against it.</a:t>
            </a:r>
          </a:p>
          <a:p>
            <a:pPr>
              <a:lnSpc>
                <a:spcPct val="112000"/>
              </a:lnSpc>
              <a:spcAft>
                <a:spcPts val="500"/>
              </a:spcAft>
            </a:pPr>
            <a:r>
              <a:rPr sz="1300" b="0" i="0">
                <a:solidFill>
                  <a:srgbClr val="444444"/>
                </a:solidFill>
                <a:latin typeface="Calibri"/>
              </a:rPr>
              <a:t>—  Those 99 are the gap, and the lead we follow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Deliberate attacks on one side, and on the other the fixes built for that same failure arriving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Fixes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tool-output and goal-hijack alone holds 169 tested pairs, every one a defense against an attack or a fix against an accident. None crosses.</a:t>
            </a:r>
          </a:p>
          <a:p>
            <a:pPr>
              <a:lnSpc>
                <a:spcPct val="110000"/>
              </a:lnSpc>
              <a:spcAft>
                <a:spcPts val="600"/>
              </a:spcAft>
            </a:pPr>
            <a:r>
              <a:rPr sz="1350" b="0" i="0">
                <a:solidFill>
                  <a:srgbClr val="444444"/>
                </a:solidFill>
                <a:latin typeface="Calibri"/>
              </a:rPr>
              <a:t>The RAG row is 3 attacks against 42 fixes. 126 possible tests. None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231136"/>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ATTACKS WE REBUILT</a:t>
            </a:r>
          </a:p>
        </p:txBody>
      </p:sp>
      <p:sp>
        <p:nvSpPr>
          <p:cNvPr id="7" name="TextBox 6"/>
          <p:cNvSpPr txBox="1"/>
          <p:nvPr/>
        </p:nvSpPr>
        <p:spPr>
          <a:xfrm>
            <a:off x="3840480" y="2231136"/>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DOES TO THE ANSWER</a:t>
            </a:r>
          </a:p>
        </p:txBody>
      </p:sp>
      <p:sp>
        <p:nvSpPr>
          <p:cNvPr id="8" name="Rectangle 7"/>
          <p:cNvSpPr/>
          <p:nvPr/>
        </p:nvSpPr>
        <p:spPr>
          <a:xfrm>
            <a:off x="731520" y="250545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1518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0" name="TextBox 9"/>
          <p:cNvSpPr txBox="1"/>
          <p:nvPr/>
        </p:nvSpPr>
        <p:spPr>
          <a:xfrm>
            <a:off x="3840480" y="261518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removes the answer from the retrieved set</a:t>
            </a:r>
          </a:p>
        </p:txBody>
      </p:sp>
      <p:sp>
        <p:nvSpPr>
          <p:cNvPr id="11" name="TextBox 10"/>
          <p:cNvSpPr txBox="1"/>
          <p:nvPr/>
        </p:nvSpPr>
        <p:spPr>
          <a:xfrm>
            <a:off x="731520" y="299923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2" name="TextBox 11"/>
          <p:cNvSpPr txBox="1"/>
          <p:nvPr/>
        </p:nvSpPr>
        <p:spPr>
          <a:xfrm>
            <a:off x="3840480" y="299923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inserts a false answer</a:t>
            </a:r>
          </a:p>
        </p:txBody>
      </p:sp>
      <p:sp>
        <p:nvSpPr>
          <p:cNvPr id="13" name="TextBox 12"/>
          <p:cNvSpPr txBox="1"/>
          <p:nvPr/>
        </p:nvSpPr>
        <p:spPr>
          <a:xfrm>
            <a:off x="731520" y="3383279"/>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4" name="TextBox 13"/>
          <p:cNvSpPr txBox="1"/>
          <p:nvPr/>
        </p:nvSpPr>
        <p:spPr>
          <a:xfrm>
            <a:off x="3840480" y="3383279"/>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makes the agent refuse</a:t>
            </a:r>
          </a:p>
        </p:txBody>
      </p:sp>
      <p:sp>
        <p:nvSpPr>
          <p:cNvPr id="15" name="TextBox 14"/>
          <p:cNvSpPr txBox="1"/>
          <p:nvPr/>
        </p:nvSpPr>
        <p:spPr>
          <a:xfrm>
            <a:off x="731520" y="3767328"/>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6" name="TextBox 15"/>
          <p:cNvSpPr txBox="1"/>
          <p:nvPr/>
        </p:nvSpPr>
        <p:spPr>
          <a:xfrm>
            <a:off x="3840480" y="3767328"/>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changes only the tone of a correct answer</a:t>
            </a:r>
          </a:p>
        </p:txBody>
      </p:sp>
      <p:sp>
        <p:nvSpPr>
          <p:cNvPr id="17" name="TextBox 16"/>
          <p:cNvSpPr txBox="1"/>
          <p:nvPr/>
        </p:nvSpPr>
        <p:spPr>
          <a:xfrm>
            <a:off x="731520" y="4315968"/>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CODEBASES WE OPENED</a:t>
            </a:r>
          </a:p>
        </p:txBody>
      </p:sp>
      <p:sp>
        <p:nvSpPr>
          <p:cNvPr id="18" name="TextBox 17"/>
          <p:cNvSpPr txBox="1"/>
          <p:nvPr/>
        </p:nvSpPr>
        <p:spPr>
          <a:xfrm>
            <a:off x="3840480" y="4315968"/>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19" name="Rectangle 18"/>
          <p:cNvSpPr/>
          <p:nvPr/>
        </p:nvSpPr>
        <p:spPr>
          <a:xfrm>
            <a:off x="731520" y="4590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0001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1" name="TextBox 20"/>
          <p:cNvSpPr txBox="1"/>
          <p:nvPr/>
        </p:nvSpPr>
        <p:spPr>
          <a:xfrm>
            <a:off x="3840480" y="470001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 and give a usable measurement</a:t>
            </a:r>
          </a:p>
        </p:txBody>
      </p:sp>
      <p:sp>
        <p:nvSpPr>
          <p:cNvPr id="22" name="TextBox 21"/>
          <p:cNvSpPr txBox="1"/>
          <p:nvPr/>
        </p:nvSpPr>
        <p:spPr>
          <a:xfrm>
            <a:off x="731520" y="508406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of 9</a:t>
            </a:r>
          </a:p>
        </p:txBody>
      </p:sp>
      <p:sp>
        <p:nvSpPr>
          <p:cNvPr id="23" name="TextBox 22"/>
          <p:cNvSpPr txBox="1"/>
          <p:nvPr/>
        </p:nvSpPr>
        <p:spPr>
          <a:xfrm>
            <a:off x="3840480" y="508406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runs, but cannot reproduce its own published benefit</a:t>
            </a:r>
          </a:p>
        </p:txBody>
      </p:sp>
      <p:sp>
        <p:nvSpPr>
          <p:cNvPr id="24" name="TextBox 23"/>
          <p:cNvSpPr txBox="1"/>
          <p:nvPr/>
        </p:nvSpPr>
        <p:spPr>
          <a:xfrm>
            <a:off x="731520" y="546811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5" name="TextBox 24"/>
          <p:cNvSpPr txBox="1"/>
          <p:nvPr/>
        </p:nvSpPr>
        <p:spPr>
          <a:xfrm>
            <a:off x="3840480" y="546811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do not run: missing data, a missing prompt file, a checkpoint with no tokenizer</a:t>
            </a:r>
          </a:p>
        </p:txBody>
      </p:sp>
      <p:sp>
        <p:nvSpPr>
          <p:cNvPr id="26" name="TextBox 25"/>
          <p:cNvSpPr txBox="1"/>
          <p:nvPr/>
        </p:nvSpPr>
        <p:spPr>
          <a:xfrm>
            <a:off x="731520" y="5870448"/>
            <a:ext cx="10725912" cy="530352"/>
          </a:xfrm>
          <a:prstGeom prst="rect">
            <a:avLst/>
          </a:prstGeom>
          <a:noFill/>
        </p:spPr>
        <p:txBody>
          <a:bodyPr wrap="square" lIns="0" rIns="0" tIns="0" bIns="0" anchor="t">
            <a:spAutoFit/>
          </a:bodyPr>
          <a:lstStyle/>
          <a:p>
            <a:pPr algn="l">
              <a:lnSpc>
                <a:spcPct val="110000"/>
              </a:lnSpc>
              <a:spcAft>
                <a:spcPts val="700"/>
              </a:spcAft>
            </a:pPr>
            <a:r>
              <a:rPr sz="1400" b="1" i="0">
                <a:solidFill>
                  <a:srgbClr val="111111"/>
                </a:solidFill>
                <a:latin typeface="Calibri"/>
              </a:rPr>
              <a:t>Nine defense codebases attempted. Four produced a measurement.</a:t>
            </a:r>
          </a:p>
          <a:p>
            <a:pPr>
              <a:lnSpc>
                <a:spcPct val="110000"/>
              </a:lnSpc>
              <a:spcAft>
                <a:spcPts val="700"/>
              </a:spcAft>
            </a:pPr>
            <a:r>
              <a:rPr sz="1400" b="0" i="0">
                <a:solidFill>
                  <a:srgbClr val="444444"/>
                </a:solidFill>
                <a:latin typeface="Calibri"/>
              </a:rPr>
              <a:t>This sets the size of what the work can cover, and it is a finding in its own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CELL WE STARTED IN</a:t>
            </a:r>
          </a:p>
        </p:txBody>
      </p:sp>
      <p:sp>
        <p:nvSpPr>
          <p:cNvPr id="7" name="TextBox 6"/>
          <p:cNvSpPr txBox="1"/>
          <p:nvPr/>
        </p:nvSpPr>
        <p:spPr>
          <a:xfrm>
            <a:off x="4114800" y="3218688"/>
            <a:ext cx="7315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8" name="Rectangle 7"/>
          <p:cNvSpPr/>
          <p:nvPr/>
        </p:nvSpPr>
        <p:spPr>
          <a:xfrm>
            <a:off x="731520" y="34930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02736"/>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Route in</a:t>
            </a:r>
          </a:p>
        </p:txBody>
      </p:sp>
      <p:sp>
        <p:nvSpPr>
          <p:cNvPr id="10" name="TextBox 9"/>
          <p:cNvSpPr txBox="1"/>
          <p:nvPr/>
        </p:nvSpPr>
        <p:spPr>
          <a:xfrm>
            <a:off x="4114800" y="3602736"/>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11" name="TextBox 10"/>
          <p:cNvSpPr txBox="1"/>
          <p:nvPr/>
        </p:nvSpPr>
        <p:spPr>
          <a:xfrm>
            <a:off x="731520" y="4023360"/>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goes wrong</a:t>
            </a:r>
          </a:p>
        </p:txBody>
      </p:sp>
      <p:sp>
        <p:nvSpPr>
          <p:cNvPr id="12" name="TextBox 11"/>
          <p:cNvSpPr txBox="1"/>
          <p:nvPr/>
        </p:nvSpPr>
        <p:spPr>
          <a:xfrm>
            <a:off x="4114800" y="4023360"/>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3" name="TextBox 12"/>
          <p:cNvSpPr txBox="1"/>
          <p:nvPr/>
        </p:nvSpPr>
        <p:spPr>
          <a:xfrm>
            <a:off x="731520" y="4443984"/>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attack side</a:t>
            </a:r>
          </a:p>
        </p:txBody>
      </p:sp>
      <p:sp>
        <p:nvSpPr>
          <p:cNvPr id="14" name="TextBox 13"/>
          <p:cNvSpPr txBox="1"/>
          <p:nvPr/>
        </p:nvSpPr>
        <p:spPr>
          <a:xfrm>
            <a:off x="4114800" y="4443984"/>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5" name="TextBox 14"/>
          <p:cNvSpPr txBox="1"/>
          <p:nvPr/>
        </p:nvSpPr>
        <p:spPr>
          <a:xfrm>
            <a:off x="731520" y="4864608"/>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fix side</a:t>
            </a:r>
          </a:p>
        </p:txBody>
      </p:sp>
      <p:sp>
        <p:nvSpPr>
          <p:cNvPr id="16" name="TextBox 15"/>
          <p:cNvSpPr txBox="1"/>
          <p:nvPr/>
        </p:nvSpPr>
        <p:spPr>
          <a:xfrm>
            <a:off x="4114800" y="4864608"/>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fixes, all built for the accidental version</a:t>
            </a:r>
          </a:p>
        </p:txBody>
      </p:sp>
      <p:sp>
        <p:nvSpPr>
          <p:cNvPr id="17" name="TextBox 16"/>
          <p:cNvSpPr txBox="1"/>
          <p:nvPr/>
        </p:nvSpPr>
        <p:spPr>
          <a:xfrm>
            <a:off x="731520" y="5285232"/>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Tested against each other</a:t>
            </a:r>
          </a:p>
        </p:txBody>
      </p:sp>
      <p:sp>
        <p:nvSpPr>
          <p:cNvPr id="18" name="TextBox 17"/>
          <p:cNvSpPr txBox="1"/>
          <p:nvPr/>
        </p:nvSpPr>
        <p:spPr>
          <a:xfrm>
            <a:off x="4114800" y="5285232"/>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9" name="TextBox 18"/>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65960"/>
            <a:ext cx="2560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RAN</a:t>
            </a:r>
          </a:p>
        </p:txBody>
      </p:sp>
      <p:sp>
        <p:nvSpPr>
          <p:cNvPr id="6" name="TextBox 5"/>
          <p:cNvSpPr txBox="1"/>
          <p:nvPr/>
        </p:nvSpPr>
        <p:spPr>
          <a:xfrm>
            <a:off x="3291839" y="1965960"/>
            <a:ext cx="8138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DETAIL</a:t>
            </a:r>
          </a:p>
        </p:txBody>
      </p:sp>
      <p:sp>
        <p:nvSpPr>
          <p:cNvPr id="7" name="Rectangle 6"/>
          <p:cNvSpPr/>
          <p:nvPr/>
        </p:nvSpPr>
        <p:spPr>
          <a:xfrm>
            <a:off x="731520" y="22402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0008"/>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4 attacks</a:t>
            </a:r>
          </a:p>
        </p:txBody>
      </p:sp>
      <p:sp>
        <p:nvSpPr>
          <p:cNvPr id="9" name="TextBox 8"/>
          <p:cNvSpPr txBox="1"/>
          <p:nvPr/>
        </p:nvSpPr>
        <p:spPr>
          <a:xfrm>
            <a:off x="3291839" y="2350008"/>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10" name="TextBox 9"/>
          <p:cNvSpPr txBox="1"/>
          <p:nvPr/>
        </p:nvSpPr>
        <p:spPr>
          <a:xfrm>
            <a:off x="731520" y="2916936"/>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 defenses</a:t>
            </a:r>
          </a:p>
        </p:txBody>
      </p:sp>
      <p:sp>
        <p:nvSpPr>
          <p:cNvPr id="11" name="TextBox 10"/>
          <p:cNvSpPr txBox="1"/>
          <p:nvPr/>
        </p:nvSpPr>
        <p:spPr>
          <a:xfrm>
            <a:off x="3291839" y="2916936"/>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12" name="TextBox 11"/>
          <p:cNvSpPr txBox="1"/>
          <p:nvPr/>
        </p:nvSpPr>
        <p:spPr>
          <a:xfrm>
            <a:off x="731520" y="3483863"/>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19 pairs</a:t>
            </a:r>
          </a:p>
        </p:txBody>
      </p:sp>
      <p:sp>
        <p:nvSpPr>
          <p:cNvPr id="13" name="TextBox 12"/>
          <p:cNvSpPr txBox="1"/>
          <p:nvPr/>
        </p:nvSpPr>
        <p:spPr>
          <a:xfrm>
            <a:off x="3291839" y="3483863"/>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4" name="TextBox 13"/>
          <p:cNvSpPr txBox="1"/>
          <p:nvPr/>
        </p:nvSpPr>
        <p:spPr>
          <a:xfrm>
            <a:off x="731520" y="4050791"/>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109 conditions</a:t>
            </a:r>
          </a:p>
        </p:txBody>
      </p:sp>
      <p:sp>
        <p:nvSpPr>
          <p:cNvPr id="15" name="TextBox 14"/>
          <p:cNvSpPr txBox="1"/>
          <p:nvPr/>
        </p:nvSpPr>
        <p:spPr>
          <a:xfrm>
            <a:off x="3291839" y="4050791"/>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6" name="TextBox 15"/>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205740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6" name="TextBox 5"/>
          <p:cNvSpPr txBox="1"/>
          <p:nvPr/>
        </p:nvSpPr>
        <p:spPr>
          <a:xfrm>
            <a:off x="4754880" y="2057400"/>
            <a:ext cx="5577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10332720" y="2057400"/>
            <a:ext cx="84124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PAIRS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stops the attack</a:t>
            </a:r>
          </a:p>
        </p:txBody>
      </p:sp>
      <p:sp>
        <p:nvSpPr>
          <p:cNvPr id="10" name="TextBox 9"/>
          <p:cNvSpPr txBox="1"/>
          <p:nvPr/>
        </p:nvSpPr>
        <p:spPr>
          <a:xfrm>
            <a:off x="4754880" y="2441448"/>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11" name="TextBox 10"/>
          <p:cNvSpPr txBox="1"/>
          <p:nvPr/>
        </p:nvSpPr>
        <p:spPr>
          <a:xfrm>
            <a:off x="10332720" y="2441448"/>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4</a:t>
            </a:r>
          </a:p>
        </p:txBody>
      </p:sp>
      <p:sp>
        <p:nvSpPr>
          <p:cNvPr id="12" name="TextBox 11"/>
          <p:cNvSpPr txBox="1"/>
          <p:nvPr/>
        </p:nvSpPr>
        <p:spPr>
          <a:xfrm>
            <a:off x="731520" y="3136391"/>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does nothing</a:t>
            </a:r>
          </a:p>
        </p:txBody>
      </p:sp>
      <p:sp>
        <p:nvSpPr>
          <p:cNvPr id="13" name="TextBox 12"/>
          <p:cNvSpPr txBox="1"/>
          <p:nvPr/>
        </p:nvSpPr>
        <p:spPr>
          <a:xfrm>
            <a:off x="4754880" y="3136391"/>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4" name="TextBox 13"/>
          <p:cNvSpPr txBox="1"/>
          <p:nvPr/>
        </p:nvSpPr>
        <p:spPr>
          <a:xfrm>
            <a:off x="10332720" y="3136391"/>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7</a:t>
            </a:r>
          </a:p>
        </p:txBody>
      </p:sp>
      <p:sp>
        <p:nvSpPr>
          <p:cNvPr id="15" name="TextBox 14"/>
          <p:cNvSpPr txBox="1"/>
          <p:nvPr/>
        </p:nvSpPr>
        <p:spPr>
          <a:xfrm>
            <a:off x="731520" y="3831335"/>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makes the attack worse</a:t>
            </a:r>
          </a:p>
        </p:txBody>
      </p:sp>
      <p:sp>
        <p:nvSpPr>
          <p:cNvPr id="16" name="TextBox 15"/>
          <p:cNvSpPr txBox="1"/>
          <p:nvPr/>
        </p:nvSpPr>
        <p:spPr>
          <a:xfrm>
            <a:off x="4754880" y="3831335"/>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7" name="TextBox 16"/>
          <p:cNvSpPr txBox="1"/>
          <p:nvPr/>
        </p:nvSpPr>
        <p:spPr>
          <a:xfrm>
            <a:off x="10332720" y="3831335"/>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8</a:t>
            </a:r>
          </a:p>
        </p:txBody>
      </p:sp>
      <p:sp>
        <p:nvSpPr>
          <p:cNvPr id="18" name="TextBox 17"/>
          <p:cNvSpPr txBox="1"/>
          <p:nvPr/>
        </p:nvSpPr>
        <p:spPr>
          <a:xfrm>
            <a:off x="731520" y="4315968"/>
            <a:ext cx="10725912"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19 pairs measured</a:t>
            </a:r>
          </a:p>
        </p:txBody>
      </p:sp>
      <p:sp>
        <p:nvSpPr>
          <p:cNvPr id="19" name="TextBox 18"/>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5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17</a:t>
            </a:r>
          </a:p>
        </p:txBody>
      </p:sp>
      <p:sp>
        <p:nvSpPr>
          <p:cNvPr id="5" name="TextBox 4"/>
          <p:cNvSpPr txBox="1"/>
          <p:nvPr/>
        </p:nvSpPr>
        <p:spPr>
          <a:xfrm>
            <a:off x="731520" y="201168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DONE</a:t>
            </a:r>
          </a:p>
        </p:txBody>
      </p:sp>
      <p:sp>
        <p:nvSpPr>
          <p:cNvPr id="6" name="TextBox 5"/>
          <p:cNvSpPr txBox="1"/>
          <p:nvPr/>
        </p:nvSpPr>
        <p:spPr>
          <a:xfrm>
            <a:off x="2468880" y="201168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Rectangle 6"/>
          <p:cNvSpPr/>
          <p:nvPr/>
        </p:nvSpPr>
        <p:spPr>
          <a:xfrm>
            <a:off x="731520" y="228600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cell</a:t>
            </a:r>
          </a:p>
        </p:txBody>
      </p:sp>
      <p:sp>
        <p:nvSpPr>
          <p:cNvPr id="9" name="TextBox 8"/>
          <p:cNvSpPr txBox="1"/>
          <p:nvPr/>
        </p:nvSpPr>
        <p:spPr>
          <a:xfrm>
            <a:off x="2468880" y="239572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10" name="TextBox 9"/>
          <p:cNvSpPr txBox="1"/>
          <p:nvPr/>
        </p:nvSpPr>
        <p:spPr>
          <a:xfrm>
            <a:off x="731520" y="294436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19 pairs</a:t>
            </a:r>
          </a:p>
        </p:txBody>
      </p:sp>
      <p:sp>
        <p:nvSpPr>
          <p:cNvPr id="11" name="TextBox 10"/>
          <p:cNvSpPr txBox="1"/>
          <p:nvPr/>
        </p:nvSpPr>
        <p:spPr>
          <a:xfrm>
            <a:off x="2468880" y="294436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2" name="TextBox 11"/>
          <p:cNvSpPr txBox="1"/>
          <p:nvPr/>
        </p:nvSpPr>
        <p:spPr>
          <a:xfrm>
            <a:off x="731520" y="349300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 models</a:t>
            </a:r>
          </a:p>
        </p:txBody>
      </p:sp>
      <p:sp>
        <p:nvSpPr>
          <p:cNvPr id="13" name="TextBox 12"/>
          <p:cNvSpPr txBox="1"/>
          <p:nvPr/>
        </p:nvSpPr>
        <p:spPr>
          <a:xfrm>
            <a:off x="2468880" y="349300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4" name="TextBox 13"/>
          <p:cNvSpPr txBox="1"/>
          <p:nvPr/>
        </p:nvSpPr>
        <p:spPr>
          <a:xfrm>
            <a:off x="731520" y="411480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RUNNING NOW</a:t>
            </a:r>
          </a:p>
        </p:txBody>
      </p:sp>
      <p:sp>
        <p:nvSpPr>
          <p:cNvPr id="15" name="TextBox 14"/>
          <p:cNvSpPr txBox="1"/>
          <p:nvPr/>
        </p:nvSpPr>
        <p:spPr>
          <a:xfrm>
            <a:off x="2468880" y="411480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16" name="Rectangle 15"/>
          <p:cNvSpPr/>
          <p:nvPr/>
        </p:nvSpPr>
        <p:spPr>
          <a:xfrm>
            <a:off x="731520" y="438912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4988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18" name="TextBox 17"/>
          <p:cNvSpPr txBox="1"/>
          <p:nvPr/>
        </p:nvSpPr>
        <p:spPr>
          <a:xfrm>
            <a:off x="2468880" y="44988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9" name="TextBox 18"/>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20" name="TextBox 19"/>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21" name="TextBox 20"/>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