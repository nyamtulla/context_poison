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48840"/>
            <a:ext cx="10725912" cy="1280160"/>
          </a:xfrm>
          <a:prstGeom prst="rect">
            <a:avLst/>
          </a:prstGeom>
          <a:noFill/>
        </p:spPr>
        <p:txBody>
          <a:bodyPr wrap="square" lIns="0" rIns="0" tIns="0" bIns="0" anchor="t">
            <a:spAutoFit/>
          </a:bodyPr>
          <a:lstStyle/>
          <a:p>
            <a:pPr algn="l">
              <a:lnSpc>
                <a:spcPct val="106000"/>
              </a:lnSpc>
              <a:spcAft>
                <a:spcPts val="1400"/>
              </a:spcAft>
            </a:pPr>
            <a:r>
              <a:rPr sz="3600" b="1" i="0">
                <a:solidFill>
                  <a:srgbClr val="111111"/>
                </a:solidFill>
                <a:latin typeface="Cambria"/>
              </a:rPr>
              <a:t>Context Integrity in LLM Agents</a:t>
            </a:r>
          </a:p>
        </p:txBody>
      </p:sp>
      <p:sp>
        <p:nvSpPr>
          <p:cNvPr id="3" name="TextBox 2"/>
          <p:cNvSpPr txBox="1"/>
          <p:nvPr/>
        </p:nvSpPr>
        <p:spPr>
          <a:xfrm>
            <a:off x="731520" y="3246120"/>
            <a:ext cx="10725912" cy="822960"/>
          </a:xfrm>
          <a:prstGeom prst="rect">
            <a:avLst/>
          </a:prstGeom>
          <a:noFill/>
        </p:spPr>
        <p:txBody>
          <a:bodyPr wrap="square" lIns="0" rIns="0" tIns="0" bIns="0" anchor="t">
            <a:spAutoFit/>
          </a:bodyPr>
          <a:lstStyle/>
          <a:p>
            <a:pPr algn="l">
              <a:lnSpc>
                <a:spcPct val="130000"/>
              </a:lnSpc>
              <a:spcAft>
                <a:spcPts val="0"/>
              </a:spcAft>
            </a:pPr>
            <a:r>
              <a:rPr sz="1600" b="0" i="0">
                <a:solidFill>
                  <a:srgbClr val="444444"/>
                </a:solidFill>
                <a:latin typeface="Calibri"/>
              </a:rPr>
              <a:t>Two research communities study the same failure. Neither tests the other's work.
We measured what that costs.</a:t>
            </a:r>
          </a:p>
        </p:txBody>
      </p:sp>
      <p:sp>
        <p:nvSpPr>
          <p:cNvPr id="4" name="TextBox 3"/>
          <p:cNvSpPr txBox="1"/>
          <p:nvPr/>
        </p:nvSpPr>
        <p:spPr>
          <a:xfrm>
            <a:off x="731520" y="5394960"/>
            <a:ext cx="10725912" cy="548640"/>
          </a:xfrm>
          <a:prstGeom prst="rect">
            <a:avLst/>
          </a:prstGeom>
          <a:noFill/>
        </p:spPr>
        <p:txBody>
          <a:bodyPr wrap="square" lIns="0" rIns="0" tIns="0" bIns="0" anchor="t">
            <a:spAutoFit/>
          </a:bodyPr>
          <a:lstStyle/>
          <a:p>
            <a:pPr algn="l">
              <a:lnSpc>
                <a:spcPct val="106000"/>
              </a:lnSpc>
              <a:spcAft>
                <a:spcPts val="0"/>
              </a:spcAft>
            </a:pPr>
            <a:r>
              <a:rPr sz="1250" b="0" i="0">
                <a:solidFill>
                  <a:srgbClr val="777777"/>
                </a:solidFill>
                <a:latin typeface="Calibri"/>
              </a:rPr>
              <a:t>Nyamtulla    ·    Advisor meeting    ·    7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THE PROBLEM</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An agent believes everything in its context window</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2</a:t>
            </a:r>
          </a:p>
        </p:txBody>
      </p:sp>
      <p:sp>
        <p:nvSpPr>
          <p:cNvPr id="5" name="TextBox 4"/>
          <p:cNvSpPr txBox="1"/>
          <p:nvPr/>
        </p:nvSpPr>
        <p:spPr>
          <a:xfrm>
            <a:off x="731520" y="1938528"/>
            <a:ext cx="10725912" cy="4462272"/>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An LLM agent reads one block of text and then acts. We call this block the context window.</a:t>
            </a:r>
          </a:p>
          <a:p>
            <a:pPr>
              <a:lnSpc>
                <a:spcPct val="110000"/>
              </a:lnSpc>
              <a:spcAft>
                <a:spcPts val="1100"/>
              </a:spcAft>
            </a:pPr>
            <a:r>
              <a:rPr sz="1500" b="0" i="0">
                <a:solidFill>
                  <a:srgbClr val="444444"/>
                </a:solidFill>
                <a:latin typeface="Calibri"/>
              </a:rPr>
              <a:t>The block holds the user's question. It also holds a page a tool returned, a document a search step found, and a note the agent stored last week.</a:t>
            </a:r>
          </a:p>
          <a:p>
            <a:pPr>
              <a:lnSpc>
                <a:spcPct val="110000"/>
              </a:lnSpc>
              <a:spcAft>
                <a:spcPts val="1100"/>
              </a:spcAft>
            </a:pPr>
            <a:r>
              <a:rPr sz="1500" b="1" i="0">
                <a:solidFill>
                  <a:srgbClr val="111111"/>
                </a:solidFill>
                <a:latin typeface="Calibri"/>
              </a:rPr>
              <a:t>The model cannot tell these apart. Everything in the block looks the same to it.</a:t>
            </a:r>
          </a:p>
          <a:p>
            <a:pPr>
              <a:lnSpc>
                <a:spcPct val="110000"/>
              </a:lnSpc>
              <a:spcAft>
                <a:spcPts val="1100"/>
              </a:spcAft>
            </a:pPr>
            <a:r>
              <a:rPr sz="1500" b="0" i="0">
                <a:solidFill>
                  <a:srgbClr val="444444"/>
                </a:solidFill>
                <a:latin typeface="Calibri"/>
              </a:rPr>
              <a:t>So any text that reaches the block can change what the agent does. The text does not need to come from the user. It only needs to arrive.</a:t>
            </a:r>
          </a:p>
          <a:p>
            <a:pPr>
              <a:lnSpc>
                <a:spcPct val="110000"/>
              </a:lnSpc>
              <a:spcAft>
                <a:spcPts val="1100"/>
              </a:spcAft>
            </a:pPr>
            <a:r>
              <a:rPr sz="1500" b="0" i="0">
                <a:solidFill>
                  <a:srgbClr val="444444"/>
                </a:solidFill>
                <a:latin typeface="Calibri"/>
              </a:rPr>
              <a:t>This is not about training data. It is about what enters the context while the agent runs.</a:t>
            </a:r>
          </a:p>
        </p:txBody>
      </p:sp>
      <p:sp>
        <p:nvSpPr>
          <p:cNvPr id="6" name="TextBox 5"/>
          <p:cNvSpPr txBox="1"/>
          <p:nvPr/>
        </p:nvSpPr>
        <p:spPr>
          <a:xfrm>
            <a:off x="731520" y="6400800"/>
            <a:ext cx="10040112" cy="402336"/>
          </a:xfrm>
          <a:prstGeom prst="rect">
            <a:avLst/>
          </a:prstGeom>
          <a:noFill/>
        </p:spPr>
        <p:txBody>
          <a:bodyPr wrap="square" lIns="0" rIns="0" tIns="0" bIns="0" anchor="t">
            <a:spAutoFit/>
          </a:bodyPr>
          <a:lstStyle/>
          <a:p>
            <a:pPr algn="l">
              <a:lnSpc>
                <a:spcPct val="115000"/>
              </a:lnSpc>
              <a:spcAft>
                <a:spcPts val="0"/>
              </a:spcAft>
            </a:pPr>
            <a:r>
              <a:rPr sz="850" b="0" i="0">
                <a:solidFill>
                  <a:srgbClr val="999999"/>
                </a:solidFill>
                <a:latin typeface="Calibri"/>
              </a:rPr>
              <a:t>Text in the context acts on the agent: Greshake et al., AISec@CCS 2023, arXiv:2302.12173   ·   Long context degrades how the model uses it: Liu et al., TACL 2023, arXiv:2307.03172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THE SPLIT</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Two communities. One failure. No contact.</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3</a:t>
            </a:r>
          </a:p>
        </p:txBody>
      </p:sp>
      <p:sp>
        <p:nvSpPr>
          <p:cNvPr id="5" name="TextBox 4"/>
          <p:cNvSpPr txBox="1"/>
          <p:nvPr/>
        </p:nvSpPr>
        <p:spPr>
          <a:xfrm>
            <a:off x="731520" y="1920240"/>
            <a:ext cx="5212080" cy="320040"/>
          </a:xfrm>
          <a:prstGeom prst="rect">
            <a:avLst/>
          </a:prstGeom>
          <a:noFill/>
        </p:spPr>
        <p:txBody>
          <a:bodyPr wrap="square" lIns="0" rIns="0" tIns="0" bIns="0" anchor="t">
            <a:spAutoFit/>
          </a:bodyPr>
          <a:lstStyle/>
          <a:p>
            <a:pPr algn="l">
              <a:lnSpc>
                <a:spcPct val="106000"/>
              </a:lnSpc>
              <a:spcAft>
                <a:spcPts val="600"/>
              </a:spcAft>
            </a:pPr>
            <a:r>
              <a:rPr sz="1500" b="1" i="0">
                <a:solidFill>
                  <a:srgbClr val="111111"/>
                </a:solidFill>
                <a:latin typeface="Calibri"/>
              </a:rPr>
              <a:t>The security literature</a:t>
            </a:r>
          </a:p>
        </p:txBody>
      </p:sp>
      <p:sp>
        <p:nvSpPr>
          <p:cNvPr id="6" name="TextBox 5"/>
          <p:cNvSpPr txBox="1"/>
          <p:nvPr/>
        </p:nvSpPr>
        <p:spPr>
          <a:xfrm>
            <a:off x="731520" y="2286000"/>
            <a:ext cx="5029200" cy="4114800"/>
          </a:xfrm>
          <a:prstGeom prst="rect">
            <a:avLst/>
          </a:prstGeom>
          <a:noFill/>
        </p:spPr>
        <p:txBody>
          <a:bodyPr wrap="square" lIns="0" rIns="0" tIns="0" bIns="0" anchor="t">
            <a:spAutoFit/>
          </a:bodyPr>
          <a:lstStyle/>
          <a:p>
            <a:pPr algn="l">
              <a:lnSpc>
                <a:spcPct val="110000"/>
              </a:lnSpc>
              <a:spcAft>
                <a:spcPts val="900"/>
              </a:spcAft>
            </a:pPr>
            <a:r>
              <a:rPr sz="1400" b="0" i="0">
                <a:solidFill>
                  <a:srgbClr val="444444"/>
                </a:solidFill>
                <a:latin typeface="Calibri"/>
              </a:rPr>
              <a:t>It treats the text as an attack. Someone wrote it to take the agent over.</a:t>
            </a:r>
          </a:p>
          <a:p>
            <a:pPr>
              <a:lnSpc>
                <a:spcPct val="110000"/>
              </a:lnSpc>
              <a:spcAft>
                <a:spcPts val="900"/>
              </a:spcAft>
            </a:pPr>
            <a:r>
              <a:rPr sz="1400" b="0" i="0">
                <a:solidFill>
                  <a:srgbClr val="444444"/>
                </a:solidFill>
                <a:latin typeface="Calibri"/>
              </a:rPr>
              <a:t>Indirect prompt injection. Poisoned retrieval. Poisoned memory.</a:t>
            </a:r>
          </a:p>
        </p:txBody>
      </p:sp>
      <p:sp>
        <p:nvSpPr>
          <p:cNvPr id="7" name="TextBox 6"/>
          <p:cNvSpPr txBox="1"/>
          <p:nvPr/>
        </p:nvSpPr>
        <p:spPr>
          <a:xfrm>
            <a:off x="6583680" y="1920240"/>
            <a:ext cx="5212080" cy="320040"/>
          </a:xfrm>
          <a:prstGeom prst="rect">
            <a:avLst/>
          </a:prstGeom>
          <a:noFill/>
        </p:spPr>
        <p:txBody>
          <a:bodyPr wrap="square" lIns="0" rIns="0" tIns="0" bIns="0" anchor="t">
            <a:spAutoFit/>
          </a:bodyPr>
          <a:lstStyle/>
          <a:p>
            <a:pPr algn="l">
              <a:lnSpc>
                <a:spcPct val="106000"/>
              </a:lnSpc>
              <a:spcAft>
                <a:spcPts val="600"/>
              </a:spcAft>
            </a:pPr>
            <a:r>
              <a:rPr sz="1500" b="1" i="0">
                <a:solidFill>
                  <a:srgbClr val="111111"/>
                </a:solidFill>
                <a:latin typeface="Calibri"/>
              </a:rPr>
              <a:t>The machine learning literature</a:t>
            </a:r>
          </a:p>
        </p:txBody>
      </p:sp>
      <p:sp>
        <p:nvSpPr>
          <p:cNvPr id="8" name="TextBox 7"/>
          <p:cNvSpPr txBox="1"/>
          <p:nvPr/>
        </p:nvSpPr>
        <p:spPr>
          <a:xfrm>
            <a:off x="6583680" y="2286000"/>
            <a:ext cx="5029200" cy="4114800"/>
          </a:xfrm>
          <a:prstGeom prst="rect">
            <a:avLst/>
          </a:prstGeom>
          <a:noFill/>
        </p:spPr>
        <p:txBody>
          <a:bodyPr wrap="square" lIns="0" rIns="0" tIns="0" bIns="0" anchor="t">
            <a:spAutoFit/>
          </a:bodyPr>
          <a:lstStyle/>
          <a:p>
            <a:pPr algn="l">
              <a:lnSpc>
                <a:spcPct val="110000"/>
              </a:lnSpc>
              <a:spcAft>
                <a:spcPts val="900"/>
              </a:spcAft>
            </a:pPr>
            <a:r>
              <a:rPr sz="1400" b="0" i="0">
                <a:solidFill>
                  <a:srgbClr val="444444"/>
                </a:solidFill>
                <a:latin typeface="Calibri"/>
              </a:rPr>
              <a:t>It treats the same corruption as an accident. Nobody wrote it to cause harm.</a:t>
            </a:r>
          </a:p>
          <a:p>
            <a:pPr>
              <a:lnSpc>
                <a:spcPct val="110000"/>
              </a:lnSpc>
              <a:spcAft>
                <a:spcPts val="900"/>
              </a:spcAft>
            </a:pPr>
            <a:r>
              <a:rPr sz="1400" b="0" i="0">
                <a:solidFill>
                  <a:srgbClr val="444444"/>
                </a:solidFill>
                <a:latin typeface="Calibri"/>
              </a:rPr>
              <a:t>Lost in the middle. Distraction by irrelevant text. Knowledge conflict.</a:t>
            </a:r>
          </a:p>
        </p:txBody>
      </p:sp>
      <p:sp>
        <p:nvSpPr>
          <p:cNvPr id="9" name="TextBox 8"/>
          <p:cNvSpPr txBox="1"/>
          <p:nvPr/>
        </p:nvSpPr>
        <p:spPr>
          <a:xfrm>
            <a:off x="731520" y="3703320"/>
            <a:ext cx="10725912" cy="2697480"/>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Both build defenses. Each side tests its defenses on its own failures.</a:t>
            </a:r>
          </a:p>
          <a:p>
            <a:pPr>
              <a:lnSpc>
                <a:spcPct val="110000"/>
              </a:lnSpc>
              <a:spcAft>
                <a:spcPts val="1100"/>
              </a:spcAft>
            </a:pPr>
            <a:r>
              <a:rPr sz="1500" b="0" i="0">
                <a:solidFill>
                  <a:srgbClr val="444444"/>
                </a:solidFill>
                <a:latin typeface="Calibri"/>
              </a:rPr>
              <a:t>A tool returns a page with a hidden order. A tool returns a page that is ten times too long. Both arrive through the same route. Both end in the same window. One has an author and one does not, and that is the only difference.</a:t>
            </a:r>
          </a:p>
          <a:p>
            <a:pPr>
              <a:lnSpc>
                <a:spcPct val="110000"/>
              </a:lnSpc>
              <a:spcAft>
                <a:spcPts val="1100"/>
              </a:spcAft>
            </a:pPr>
            <a:r>
              <a:rPr sz="1500" b="1" i="0">
                <a:solidFill>
                  <a:srgbClr val="111111"/>
                </a:solidFill>
                <a:latin typeface="Calibri"/>
              </a:rPr>
              <a:t>Our question: does that difference justify two separate sets of defenses?</a:t>
            </a:r>
          </a:p>
        </p:txBody>
      </p:sp>
      <p:sp>
        <p:nvSpPr>
          <p:cNvPr id="10" name="TextBox 9"/>
          <p:cNvSpPr txBox="1"/>
          <p:nvPr/>
        </p:nvSpPr>
        <p:spPr>
          <a:xfrm>
            <a:off x="731520" y="6400800"/>
            <a:ext cx="10040112" cy="402336"/>
          </a:xfrm>
          <a:prstGeom prst="rect">
            <a:avLst/>
          </a:prstGeom>
          <a:noFill/>
        </p:spPr>
        <p:txBody>
          <a:bodyPr wrap="square" lIns="0" rIns="0" tIns="0" bIns="0" anchor="t">
            <a:spAutoFit/>
          </a:bodyPr>
          <a:lstStyle/>
          <a:p>
            <a:pPr algn="l">
              <a:lnSpc>
                <a:spcPct val="115000"/>
              </a:lnSpc>
              <a:spcAft>
                <a:spcPts val="0"/>
              </a:spcAft>
            </a:pPr>
            <a:r>
              <a:rPr sz="850" b="0" i="0">
                <a:solidFill>
                  <a:srgbClr val="999999"/>
                </a:solidFill>
                <a:latin typeface="Calibri"/>
              </a:rPr>
              <a:t>Security end: Greshake et al., AISec@CCS 2023, arXiv:2302.12173   ·   ML end: Liu et al., TACL 2023, arXiv:2307.03172; Shi et al., ICML 2023, arXiv:2302.00093   ·   Knowledge conflict: Xu et al., EMNLP 2024, arXiv:2403.08319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THE FRAMEWORK</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We describe every case with three questions</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4</a:t>
            </a:r>
          </a:p>
        </p:txBody>
      </p:sp>
      <p:sp>
        <p:nvSpPr>
          <p:cNvPr id="5" name="TextBox 4"/>
          <p:cNvSpPr txBox="1"/>
          <p:nvPr/>
        </p:nvSpPr>
        <p:spPr>
          <a:xfrm>
            <a:off x="731520" y="2011680"/>
            <a:ext cx="237744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Channel</a:t>
            </a:r>
          </a:p>
        </p:txBody>
      </p:sp>
      <p:sp>
        <p:nvSpPr>
          <p:cNvPr id="6" name="TextBox 5"/>
          <p:cNvSpPr txBox="1"/>
          <p:nvPr/>
        </p:nvSpPr>
        <p:spPr>
          <a:xfrm>
            <a:off x="3108960" y="2011680"/>
            <a:ext cx="834847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How did the text get in? Which route did it travel?</a:t>
            </a:r>
          </a:p>
        </p:txBody>
      </p:sp>
      <p:sp>
        <p:nvSpPr>
          <p:cNvPr id="7" name="TextBox 6"/>
          <p:cNvSpPr txBox="1"/>
          <p:nvPr/>
        </p:nvSpPr>
        <p:spPr>
          <a:xfrm>
            <a:off x="731520" y="2560320"/>
            <a:ext cx="237744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Intent</a:t>
            </a:r>
          </a:p>
        </p:txBody>
      </p:sp>
      <p:sp>
        <p:nvSpPr>
          <p:cNvPr id="8" name="TextBox 7"/>
          <p:cNvSpPr txBox="1"/>
          <p:nvPr/>
        </p:nvSpPr>
        <p:spPr>
          <a:xfrm>
            <a:off x="3108960" y="2560320"/>
            <a:ext cx="834847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Did a person put it there on purpose, or not?</a:t>
            </a:r>
          </a:p>
        </p:txBody>
      </p:sp>
      <p:sp>
        <p:nvSpPr>
          <p:cNvPr id="9" name="TextBox 8"/>
          <p:cNvSpPr txBox="1"/>
          <p:nvPr/>
        </p:nvSpPr>
        <p:spPr>
          <a:xfrm>
            <a:off x="731520" y="3108960"/>
            <a:ext cx="237744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Consequence</a:t>
            </a:r>
          </a:p>
        </p:txBody>
      </p:sp>
      <p:sp>
        <p:nvSpPr>
          <p:cNvPr id="10" name="TextBox 9"/>
          <p:cNvSpPr txBox="1"/>
          <p:nvPr/>
        </p:nvSpPr>
        <p:spPr>
          <a:xfrm>
            <a:off x="3108960" y="3108960"/>
            <a:ext cx="834847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What went wrong once the text was in the window?</a:t>
            </a:r>
          </a:p>
        </p:txBody>
      </p:sp>
      <p:sp>
        <p:nvSpPr>
          <p:cNvPr id="11" name="TextBox 10"/>
          <p:cNvSpPr txBox="1"/>
          <p:nvPr/>
        </p:nvSpPr>
        <p:spPr>
          <a:xfrm>
            <a:off x="731520" y="3931920"/>
            <a:ext cx="10725912" cy="2468880"/>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9 channels  ×  3 intents  ×  6 consequences  =  162 combinations.</a:t>
            </a:r>
          </a:p>
          <a:p>
            <a:pPr>
              <a:lnSpc>
                <a:spcPct val="110000"/>
              </a:lnSpc>
              <a:spcAft>
                <a:spcPts val="1100"/>
              </a:spcAft>
            </a:pPr>
            <a:r>
              <a:rPr sz="1500" b="0" i="0">
                <a:solidFill>
                  <a:srgbClr val="444444"/>
                </a:solidFill>
                <a:latin typeface="Calibri"/>
              </a:rPr>
              <a:t>A combination with no paper in it is a question the field has never asked. We find that 98 of the 162 are empty.</a:t>
            </a:r>
          </a:p>
          <a:p>
            <a:pPr>
              <a:lnSpc>
                <a:spcPct val="110000"/>
              </a:lnSpc>
              <a:spcAft>
                <a:spcPts val="1100"/>
              </a:spcAft>
            </a:pPr>
            <a:r>
              <a:rPr sz="1500" b="0" i="0">
                <a:solidFill>
                  <a:srgbClr val="444444"/>
                </a:solidFill>
                <a:latin typeface="Calibri"/>
              </a:rPr>
              <a:t>The framework is the spine of the work. It tells us what is known, and it tells us where to look next.</a:t>
            </a:r>
          </a:p>
        </p:txBody>
      </p:sp>
      <p:sp>
        <p:nvSpPr>
          <p:cNvPr id="12" name="TextBox 11"/>
          <p:cNvSpPr txBox="1"/>
          <p:nvPr/>
        </p:nvSpPr>
        <p:spPr>
          <a:xfrm>
            <a:off x="731520" y="6400800"/>
            <a:ext cx="10040112" cy="402336"/>
          </a:xfrm>
          <a:prstGeom prst="rect">
            <a:avLst/>
          </a:prstGeom>
          <a:noFill/>
        </p:spPr>
        <p:txBody>
          <a:bodyPr wrap="square" lIns="0" rIns="0" tIns="0" bIns="0" anchor="t">
            <a:spAutoFit/>
          </a:bodyPr>
          <a:lstStyle/>
          <a:p>
            <a:pPr algn="l">
              <a:lnSpc>
                <a:spcPct val="115000"/>
              </a:lnSpc>
              <a:spcAft>
                <a:spcPts val="0"/>
              </a:spcAft>
            </a:pPr>
            <a:r>
              <a:rPr sz="850" b="0" i="0">
                <a:solidFill>
                  <a:srgbClr val="999999"/>
                </a:solidFill>
                <a:latin typeface="Calibri"/>
              </a:rPr>
              <a:t>Framework: this work   ·   Adversarial end: Greshake et al., AISec@CCS 2023, arXiv:2302.12173   ·   Incidental end: Liu et al., TACL 2023, arXiv:2307.03172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CHANNEL</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Nine routes carry text into the window</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5</a:t>
            </a:r>
          </a:p>
        </p:txBody>
      </p:sp>
      <p:sp>
        <p:nvSpPr>
          <p:cNvPr id="5" name="TextBox 4"/>
          <p:cNvSpPr txBox="1"/>
          <p:nvPr/>
        </p:nvSpPr>
        <p:spPr>
          <a:xfrm>
            <a:off x="731520" y="2029968"/>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tool-output</a:t>
            </a:r>
          </a:p>
        </p:txBody>
      </p:sp>
      <p:sp>
        <p:nvSpPr>
          <p:cNvPr id="6" name="TextBox 5"/>
          <p:cNvSpPr txBox="1"/>
          <p:nvPr/>
        </p:nvSpPr>
        <p:spPr>
          <a:xfrm>
            <a:off x="3017520" y="2029968"/>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What a tool gives back: a web page, an email, a file the agent opened.</a:t>
            </a:r>
          </a:p>
        </p:txBody>
      </p:sp>
      <p:sp>
        <p:nvSpPr>
          <p:cNvPr id="7" name="TextBox 6"/>
          <p:cNvSpPr txBox="1"/>
          <p:nvPr/>
        </p:nvSpPr>
        <p:spPr>
          <a:xfrm>
            <a:off x="10680192" y="2029968"/>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75</a:t>
            </a:r>
          </a:p>
        </p:txBody>
      </p:sp>
      <p:sp>
        <p:nvSpPr>
          <p:cNvPr id="8" name="TextBox 7"/>
          <p:cNvSpPr txBox="1"/>
          <p:nvPr/>
        </p:nvSpPr>
        <p:spPr>
          <a:xfrm>
            <a:off x="731520" y="2450592"/>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direct-input</a:t>
            </a:r>
          </a:p>
        </p:txBody>
      </p:sp>
      <p:sp>
        <p:nvSpPr>
          <p:cNvPr id="9" name="TextBox 8"/>
          <p:cNvSpPr txBox="1"/>
          <p:nvPr/>
        </p:nvSpPr>
        <p:spPr>
          <a:xfrm>
            <a:off x="3017520" y="2450592"/>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The prompt itself. The user's text, or the system prompt above it.</a:t>
            </a:r>
          </a:p>
        </p:txBody>
      </p:sp>
      <p:sp>
        <p:nvSpPr>
          <p:cNvPr id="10" name="TextBox 9"/>
          <p:cNvSpPr txBox="1"/>
          <p:nvPr/>
        </p:nvSpPr>
        <p:spPr>
          <a:xfrm>
            <a:off x="10680192" y="2450592"/>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67</a:t>
            </a:r>
          </a:p>
        </p:txBody>
      </p:sp>
      <p:sp>
        <p:nvSpPr>
          <p:cNvPr id="11" name="TextBox 10"/>
          <p:cNvSpPr txBox="1"/>
          <p:nvPr/>
        </p:nvSpPr>
        <p:spPr>
          <a:xfrm>
            <a:off x="731520" y="2871216"/>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RAG</a:t>
            </a:r>
          </a:p>
        </p:txBody>
      </p:sp>
      <p:sp>
        <p:nvSpPr>
          <p:cNvPr id="12" name="TextBox 11"/>
          <p:cNvSpPr txBox="1"/>
          <p:nvPr/>
        </p:nvSpPr>
        <p:spPr>
          <a:xfrm>
            <a:off x="3017520" y="2871216"/>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A document a search step pulled out of a corpus.</a:t>
            </a:r>
          </a:p>
        </p:txBody>
      </p:sp>
      <p:sp>
        <p:nvSpPr>
          <p:cNvPr id="13" name="TextBox 12"/>
          <p:cNvSpPr txBox="1"/>
          <p:nvPr/>
        </p:nvSpPr>
        <p:spPr>
          <a:xfrm>
            <a:off x="10680192" y="2871216"/>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28</a:t>
            </a:r>
          </a:p>
        </p:txBody>
      </p:sp>
      <p:sp>
        <p:nvSpPr>
          <p:cNvPr id="14" name="TextBox 13"/>
          <p:cNvSpPr txBox="1"/>
          <p:nvPr/>
        </p:nvSpPr>
        <p:spPr>
          <a:xfrm>
            <a:off x="731520" y="3291840"/>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cross-modal</a:t>
            </a:r>
          </a:p>
        </p:txBody>
      </p:sp>
      <p:sp>
        <p:nvSpPr>
          <p:cNvPr id="15" name="TextBox 14"/>
          <p:cNvSpPr txBox="1"/>
          <p:nvPr/>
        </p:nvSpPr>
        <p:spPr>
          <a:xfrm>
            <a:off x="3017520" y="3291840"/>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Text carried inside an image, audio or video.</a:t>
            </a:r>
          </a:p>
        </p:txBody>
      </p:sp>
      <p:sp>
        <p:nvSpPr>
          <p:cNvPr id="16" name="TextBox 15"/>
          <p:cNvSpPr txBox="1"/>
          <p:nvPr/>
        </p:nvSpPr>
        <p:spPr>
          <a:xfrm>
            <a:off x="10680192" y="3291840"/>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18</a:t>
            </a:r>
          </a:p>
        </p:txBody>
      </p:sp>
      <p:sp>
        <p:nvSpPr>
          <p:cNvPr id="17" name="TextBox 16"/>
          <p:cNvSpPr txBox="1"/>
          <p:nvPr/>
        </p:nvSpPr>
        <p:spPr>
          <a:xfrm>
            <a:off x="731520" y="3712464"/>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memory</a:t>
            </a:r>
          </a:p>
        </p:txBody>
      </p:sp>
      <p:sp>
        <p:nvSpPr>
          <p:cNvPr id="18" name="TextBox 17"/>
          <p:cNvSpPr txBox="1"/>
          <p:nvPr/>
        </p:nvSpPr>
        <p:spPr>
          <a:xfrm>
            <a:off x="3017520" y="3712464"/>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Something the agent stored earlier and now reads again.</a:t>
            </a:r>
          </a:p>
        </p:txBody>
      </p:sp>
      <p:sp>
        <p:nvSpPr>
          <p:cNvPr id="19" name="TextBox 18"/>
          <p:cNvSpPr txBox="1"/>
          <p:nvPr/>
        </p:nvSpPr>
        <p:spPr>
          <a:xfrm>
            <a:off x="10680192" y="3712464"/>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16</a:t>
            </a:r>
          </a:p>
        </p:txBody>
      </p:sp>
      <p:sp>
        <p:nvSpPr>
          <p:cNvPr id="20" name="TextBox 19"/>
          <p:cNvSpPr txBox="1"/>
          <p:nvPr/>
        </p:nvSpPr>
        <p:spPr>
          <a:xfrm>
            <a:off x="731520" y="4133088"/>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tool-metadata</a:t>
            </a:r>
          </a:p>
        </p:txBody>
      </p:sp>
      <p:sp>
        <p:nvSpPr>
          <p:cNvPr id="21" name="TextBox 20"/>
          <p:cNvSpPr txBox="1"/>
          <p:nvPr/>
        </p:nvSpPr>
        <p:spPr>
          <a:xfrm>
            <a:off x="3017520" y="4133088"/>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The description of a tool, not its output.</a:t>
            </a:r>
          </a:p>
        </p:txBody>
      </p:sp>
      <p:sp>
        <p:nvSpPr>
          <p:cNvPr id="22" name="TextBox 21"/>
          <p:cNvSpPr txBox="1"/>
          <p:nvPr/>
        </p:nvSpPr>
        <p:spPr>
          <a:xfrm>
            <a:off x="10680192" y="4133088"/>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13</a:t>
            </a:r>
          </a:p>
        </p:txBody>
      </p:sp>
      <p:sp>
        <p:nvSpPr>
          <p:cNvPr id="23" name="TextBox 22"/>
          <p:cNvSpPr txBox="1"/>
          <p:nvPr/>
        </p:nvSpPr>
        <p:spPr>
          <a:xfrm>
            <a:off x="731520" y="4553712"/>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multi-agent</a:t>
            </a:r>
          </a:p>
        </p:txBody>
      </p:sp>
      <p:sp>
        <p:nvSpPr>
          <p:cNvPr id="24" name="TextBox 23"/>
          <p:cNvSpPr txBox="1"/>
          <p:nvPr/>
        </p:nvSpPr>
        <p:spPr>
          <a:xfrm>
            <a:off x="3017520" y="4553712"/>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A message from another agent in the same system.</a:t>
            </a:r>
          </a:p>
        </p:txBody>
      </p:sp>
      <p:sp>
        <p:nvSpPr>
          <p:cNvPr id="25" name="TextBox 24"/>
          <p:cNvSpPr txBox="1"/>
          <p:nvPr/>
        </p:nvSpPr>
        <p:spPr>
          <a:xfrm>
            <a:off x="10680192" y="4553712"/>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10</a:t>
            </a:r>
          </a:p>
        </p:txBody>
      </p:sp>
      <p:sp>
        <p:nvSpPr>
          <p:cNvPr id="26" name="TextBox 25"/>
          <p:cNvSpPr txBox="1"/>
          <p:nvPr/>
        </p:nvSpPr>
        <p:spPr>
          <a:xfrm>
            <a:off x="731520" y="4974336"/>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supply-chain</a:t>
            </a:r>
          </a:p>
        </p:txBody>
      </p:sp>
      <p:sp>
        <p:nvSpPr>
          <p:cNvPr id="27" name="TextBox 26"/>
          <p:cNvSpPr txBox="1"/>
          <p:nvPr/>
        </p:nvSpPr>
        <p:spPr>
          <a:xfrm>
            <a:off x="3017520" y="4974336"/>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A package or template the agent inherits before it starts.</a:t>
            </a:r>
          </a:p>
        </p:txBody>
      </p:sp>
      <p:sp>
        <p:nvSpPr>
          <p:cNvPr id="28" name="TextBox 27"/>
          <p:cNvSpPr txBox="1"/>
          <p:nvPr/>
        </p:nvSpPr>
        <p:spPr>
          <a:xfrm>
            <a:off x="10680192" y="4974336"/>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6</a:t>
            </a:r>
          </a:p>
        </p:txBody>
      </p:sp>
      <p:sp>
        <p:nvSpPr>
          <p:cNvPr id="29" name="TextBox 28"/>
          <p:cNvSpPr txBox="1"/>
          <p:nvPr/>
        </p:nvSpPr>
        <p:spPr>
          <a:xfrm>
            <a:off x="731520" y="5394960"/>
            <a:ext cx="22860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skill</a:t>
            </a:r>
          </a:p>
        </p:txBody>
      </p:sp>
      <p:sp>
        <p:nvSpPr>
          <p:cNvPr id="30" name="TextBox 29"/>
          <p:cNvSpPr txBox="1"/>
          <p:nvPr/>
        </p:nvSpPr>
        <p:spPr>
          <a:xfrm>
            <a:off x="3017520" y="5394960"/>
            <a:ext cx="7616952"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A stored procedure the agent loads and follows.</a:t>
            </a:r>
          </a:p>
        </p:txBody>
      </p:sp>
      <p:sp>
        <p:nvSpPr>
          <p:cNvPr id="31" name="TextBox 30"/>
          <p:cNvSpPr txBox="1"/>
          <p:nvPr/>
        </p:nvSpPr>
        <p:spPr>
          <a:xfrm>
            <a:off x="10680192" y="5394960"/>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4</a:t>
            </a:r>
          </a:p>
        </p:txBody>
      </p:sp>
      <p:sp>
        <p:nvSpPr>
          <p:cNvPr id="32" name="TextBox 31"/>
          <p:cNvSpPr txBox="1"/>
          <p:nvPr/>
        </p:nvSpPr>
        <p:spPr>
          <a:xfrm>
            <a:off x="731520" y="5888736"/>
            <a:ext cx="10725912" cy="320040"/>
          </a:xfrm>
          <a:prstGeom prst="rect">
            <a:avLst/>
          </a:prstGeom>
          <a:noFill/>
        </p:spPr>
        <p:txBody>
          <a:bodyPr wrap="square" lIns="0" rIns="0" tIns="0" bIns="0" anchor="t">
            <a:spAutoFit/>
          </a:bodyPr>
          <a:lstStyle/>
          <a:p>
            <a:pPr algn="l">
              <a:lnSpc>
                <a:spcPct val="106000"/>
              </a:lnSpc>
              <a:spcAft>
                <a:spcPts val="0"/>
              </a:spcAft>
            </a:pPr>
            <a:r>
              <a:rPr sz="1200" b="0" i="0">
                <a:solidFill>
                  <a:srgbClr val="777777"/>
                </a:solidFill>
                <a:latin typeface="Calibri"/>
              </a:rPr>
              <a:t>The right column counts the named attacks in that channel.</a:t>
            </a:r>
          </a:p>
        </p:txBody>
      </p:sp>
      <p:sp>
        <p:nvSpPr>
          <p:cNvPr id="33" name="TextBox 32"/>
          <p:cNvSpPr txBox="1"/>
          <p:nvPr/>
        </p:nvSpPr>
        <p:spPr>
          <a:xfrm>
            <a:off x="731520" y="6364224"/>
            <a:ext cx="10040112" cy="420624"/>
          </a:xfrm>
          <a:prstGeom prst="rect">
            <a:avLst/>
          </a:prstGeom>
          <a:noFill/>
        </p:spPr>
        <p:txBody>
          <a:bodyPr wrap="square" lIns="0" rIns="0" tIns="0" bIns="0" anchor="t">
            <a:spAutoFit/>
          </a:bodyPr>
          <a:lstStyle/>
          <a:p>
            <a:pPr algn="l">
              <a:lnSpc>
                <a:spcPct val="120000"/>
              </a:lnSpc>
              <a:spcAft>
                <a:spcPts val="0"/>
              </a:spcAft>
            </a:pPr>
            <a:r>
              <a:rPr sz="800" b="0" i="0">
                <a:solidFill>
                  <a:srgbClr val="999999"/>
                </a:solidFill>
                <a:latin typeface="Calibri"/>
              </a:rPr>
              <a:t>tool-output Greshake et al., AISec@CCS 2023  ·  direct-input Liu et al., 2023  ·  RAG Zou et al., USENIX Security 2024  ·  memory Chen et al., NeurIPS 2024  ·  cross-modal Wang et al., EMNLP 2025</a:t>
            </a:r>
          </a:p>
          <a:p>
            <a:pPr>
              <a:lnSpc>
                <a:spcPct val="120000"/>
              </a:lnSpc>
              <a:spcAft>
                <a:spcPts val="0"/>
              </a:spcAft>
            </a:pPr>
            <a:r>
              <a:rPr sz="800" b="0" i="0">
                <a:solidFill>
                  <a:srgbClr val="999999"/>
                </a:solidFill>
                <a:latin typeface="Calibri"/>
              </a:rPr>
              <a:t>tool-metadata Wang et al., AAAI 2026  ·  multi-agent Lee et al., ESORICS 2025  ·  supply-chain Qu et al., 2026  ·  skill Jia et al.,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CONSEQUENCE</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Six ways the agent then fails</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6</a:t>
            </a:r>
          </a:p>
        </p:txBody>
      </p:sp>
      <p:sp>
        <p:nvSpPr>
          <p:cNvPr id="5" name="TextBox 4"/>
          <p:cNvSpPr txBox="1"/>
          <p:nvPr/>
        </p:nvSpPr>
        <p:spPr>
          <a:xfrm>
            <a:off x="731520" y="2029968"/>
            <a:ext cx="301752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goal-hijack</a:t>
            </a:r>
          </a:p>
        </p:txBody>
      </p:sp>
      <p:sp>
        <p:nvSpPr>
          <p:cNvPr id="6" name="TextBox 5"/>
          <p:cNvSpPr txBox="1"/>
          <p:nvPr/>
        </p:nvSpPr>
        <p:spPr>
          <a:xfrm>
            <a:off x="3749039" y="2029968"/>
            <a:ext cx="6885431"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The agent does another person's task. Text in the window gives an order and it obeys.</a:t>
            </a:r>
          </a:p>
        </p:txBody>
      </p:sp>
      <p:sp>
        <p:nvSpPr>
          <p:cNvPr id="7" name="TextBox 6"/>
          <p:cNvSpPr txBox="1"/>
          <p:nvPr/>
        </p:nvSpPr>
        <p:spPr>
          <a:xfrm>
            <a:off x="10680192" y="2029968"/>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136</a:t>
            </a:r>
          </a:p>
        </p:txBody>
      </p:sp>
      <p:sp>
        <p:nvSpPr>
          <p:cNvPr id="8" name="TextBox 7"/>
          <p:cNvSpPr txBox="1"/>
          <p:nvPr/>
        </p:nvSpPr>
        <p:spPr>
          <a:xfrm>
            <a:off x="731520" y="2596896"/>
            <a:ext cx="301752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reasoning-corruption</a:t>
            </a:r>
          </a:p>
        </p:txBody>
      </p:sp>
      <p:sp>
        <p:nvSpPr>
          <p:cNvPr id="9" name="TextBox 8"/>
          <p:cNvSpPr txBox="1"/>
          <p:nvPr/>
        </p:nvSpPr>
        <p:spPr>
          <a:xfrm>
            <a:off x="3749039" y="2596896"/>
            <a:ext cx="6885431"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Every word is true. The window is too long or too cluttered, and the model stops using it well.</a:t>
            </a:r>
          </a:p>
        </p:txBody>
      </p:sp>
      <p:sp>
        <p:nvSpPr>
          <p:cNvPr id="10" name="TextBox 9"/>
          <p:cNvSpPr txBox="1"/>
          <p:nvPr/>
        </p:nvSpPr>
        <p:spPr>
          <a:xfrm>
            <a:off x="10680192" y="2596896"/>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46</a:t>
            </a:r>
          </a:p>
        </p:txBody>
      </p:sp>
      <p:sp>
        <p:nvSpPr>
          <p:cNvPr id="11" name="TextBox 10"/>
          <p:cNvSpPr txBox="1"/>
          <p:nvPr/>
        </p:nvSpPr>
        <p:spPr>
          <a:xfrm>
            <a:off x="731520" y="3163824"/>
            <a:ext cx="301752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silent-corruption</a:t>
            </a:r>
          </a:p>
        </p:txBody>
      </p:sp>
      <p:sp>
        <p:nvSpPr>
          <p:cNvPr id="12" name="TextBox 11"/>
          <p:cNvSpPr txBox="1"/>
          <p:nvPr/>
        </p:nvSpPr>
        <p:spPr>
          <a:xfrm>
            <a:off x="3749039" y="3163824"/>
            <a:ext cx="6885431"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The agent answers from false content. Nobody gave it a new task. It believes a wrong thing.</a:t>
            </a:r>
          </a:p>
        </p:txBody>
      </p:sp>
      <p:sp>
        <p:nvSpPr>
          <p:cNvPr id="13" name="TextBox 12"/>
          <p:cNvSpPr txBox="1"/>
          <p:nvPr/>
        </p:nvSpPr>
        <p:spPr>
          <a:xfrm>
            <a:off x="10680192" y="3163824"/>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21</a:t>
            </a:r>
          </a:p>
        </p:txBody>
      </p:sp>
      <p:sp>
        <p:nvSpPr>
          <p:cNvPr id="14" name="TextBox 13"/>
          <p:cNvSpPr txBox="1"/>
          <p:nvPr/>
        </p:nvSpPr>
        <p:spPr>
          <a:xfrm>
            <a:off x="731520" y="3730752"/>
            <a:ext cx="301752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persistence-backdoor</a:t>
            </a:r>
          </a:p>
        </p:txBody>
      </p:sp>
      <p:sp>
        <p:nvSpPr>
          <p:cNvPr id="15" name="TextBox 14"/>
          <p:cNvSpPr txBox="1"/>
          <p:nvPr/>
        </p:nvSpPr>
        <p:spPr>
          <a:xfrm>
            <a:off x="3749039" y="3730752"/>
            <a:ext cx="6885431"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The bad content is stored. It fires on a later run, maybe for another user.</a:t>
            </a:r>
          </a:p>
        </p:txBody>
      </p:sp>
      <p:sp>
        <p:nvSpPr>
          <p:cNvPr id="16" name="TextBox 15"/>
          <p:cNvSpPr txBox="1"/>
          <p:nvPr/>
        </p:nvSpPr>
        <p:spPr>
          <a:xfrm>
            <a:off x="10680192" y="3730752"/>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16</a:t>
            </a:r>
          </a:p>
        </p:txBody>
      </p:sp>
      <p:sp>
        <p:nvSpPr>
          <p:cNvPr id="17" name="TextBox 16"/>
          <p:cNvSpPr txBox="1"/>
          <p:nvPr/>
        </p:nvSpPr>
        <p:spPr>
          <a:xfrm>
            <a:off x="731520" y="4297680"/>
            <a:ext cx="301752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data-exfiltration</a:t>
            </a:r>
          </a:p>
        </p:txBody>
      </p:sp>
      <p:sp>
        <p:nvSpPr>
          <p:cNvPr id="18" name="TextBox 17"/>
          <p:cNvSpPr txBox="1"/>
          <p:nvPr/>
        </p:nvSpPr>
        <p:spPr>
          <a:xfrm>
            <a:off x="3749039" y="4297680"/>
            <a:ext cx="6885431"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The agent sends out what it can read, through a tool call, a link or a message.</a:t>
            </a:r>
          </a:p>
        </p:txBody>
      </p:sp>
      <p:sp>
        <p:nvSpPr>
          <p:cNvPr id="19" name="TextBox 18"/>
          <p:cNvSpPr txBox="1"/>
          <p:nvPr/>
        </p:nvSpPr>
        <p:spPr>
          <a:xfrm>
            <a:off x="10680192" y="4297680"/>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14</a:t>
            </a:r>
          </a:p>
        </p:txBody>
      </p:sp>
      <p:sp>
        <p:nvSpPr>
          <p:cNvPr id="20" name="TextBox 19"/>
          <p:cNvSpPr txBox="1"/>
          <p:nvPr/>
        </p:nvSpPr>
        <p:spPr>
          <a:xfrm>
            <a:off x="731520" y="4864608"/>
            <a:ext cx="301752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resource-abuse</a:t>
            </a:r>
          </a:p>
        </p:txBody>
      </p:sp>
      <p:sp>
        <p:nvSpPr>
          <p:cNvPr id="21" name="TextBox 20"/>
          <p:cNvSpPr txBox="1"/>
          <p:nvPr/>
        </p:nvSpPr>
        <p:spPr>
          <a:xfrm>
            <a:off x="3749039" y="4864608"/>
            <a:ext cx="6885431"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No data moves and no goal changes. The agent burns time, or refuses to answer.</a:t>
            </a:r>
          </a:p>
        </p:txBody>
      </p:sp>
      <p:sp>
        <p:nvSpPr>
          <p:cNvPr id="22" name="TextBox 21"/>
          <p:cNvSpPr txBox="1"/>
          <p:nvPr/>
        </p:nvSpPr>
        <p:spPr>
          <a:xfrm>
            <a:off x="10680192" y="4864608"/>
            <a:ext cx="777240" cy="310896"/>
          </a:xfrm>
          <a:prstGeom prst="rect">
            <a:avLst/>
          </a:prstGeom>
          <a:noFill/>
        </p:spPr>
        <p:txBody>
          <a:bodyPr wrap="square" lIns="0" rIns="0" tIns="0" bIns="0" anchor="t">
            <a:spAutoFit/>
          </a:bodyPr>
          <a:lstStyle/>
          <a:p>
            <a:pPr algn="r">
              <a:lnSpc>
                <a:spcPct val="106000"/>
              </a:lnSpc>
              <a:spcAft>
                <a:spcPts val="0"/>
              </a:spcAft>
            </a:pPr>
            <a:r>
              <a:rPr sz="1350" b="1" i="0">
                <a:solidFill>
                  <a:srgbClr val="111111"/>
                </a:solidFill>
                <a:latin typeface="Calibri"/>
              </a:rPr>
              <a:t>4</a:t>
            </a:r>
          </a:p>
        </p:txBody>
      </p:sp>
      <p:sp>
        <p:nvSpPr>
          <p:cNvPr id="23" name="TextBox 22"/>
          <p:cNvSpPr txBox="1"/>
          <p:nvPr/>
        </p:nvSpPr>
        <p:spPr>
          <a:xfrm>
            <a:off x="731520" y="5687568"/>
            <a:ext cx="10725912" cy="365760"/>
          </a:xfrm>
          <a:prstGeom prst="rect">
            <a:avLst/>
          </a:prstGeom>
          <a:noFill/>
        </p:spPr>
        <p:txBody>
          <a:bodyPr wrap="square" lIns="0" rIns="0" tIns="0" bIns="0" anchor="t">
            <a:spAutoFit/>
          </a:bodyPr>
          <a:lstStyle/>
          <a:p>
            <a:pPr algn="l">
              <a:lnSpc>
                <a:spcPct val="106000"/>
              </a:lnSpc>
              <a:spcAft>
                <a:spcPts val="0"/>
              </a:spcAft>
            </a:pPr>
            <a:r>
              <a:rPr sz="1250" b="0" i="0">
                <a:solidFill>
                  <a:srgbClr val="444444"/>
                </a:solidFill>
                <a:latin typeface="Calibri"/>
              </a:rPr>
              <a:t>The second row is the machine learning literature. The other five are the security literature. That is the split, in one column.</a:t>
            </a:r>
          </a:p>
        </p:txBody>
      </p:sp>
      <p:sp>
        <p:nvSpPr>
          <p:cNvPr id="24" name="TextBox 23"/>
          <p:cNvSpPr txBox="1"/>
          <p:nvPr/>
        </p:nvSpPr>
        <p:spPr>
          <a:xfrm>
            <a:off x="731520" y="6364224"/>
            <a:ext cx="10040112" cy="438912"/>
          </a:xfrm>
          <a:prstGeom prst="rect">
            <a:avLst/>
          </a:prstGeom>
          <a:noFill/>
        </p:spPr>
        <p:txBody>
          <a:bodyPr wrap="square" lIns="0" rIns="0" tIns="0" bIns="0" anchor="t">
            <a:spAutoFit/>
          </a:bodyPr>
          <a:lstStyle/>
          <a:p>
            <a:pPr algn="l">
              <a:lnSpc>
                <a:spcPct val="115000"/>
              </a:lnSpc>
              <a:spcAft>
                <a:spcPts val="0"/>
              </a:spcAft>
            </a:pPr>
            <a:r>
              <a:rPr sz="800" b="0" i="0">
                <a:solidFill>
                  <a:srgbClr val="999999"/>
                </a:solidFill>
                <a:latin typeface="Calibri"/>
              </a:rPr>
              <a:t>goal-hijack Greshake et al., AISec@CCS 2023   ·   reasoning-corruption Liu et al., TACL 2023; Shi et al., ICML 2023   ·   silent-corruption Xie et al., ICLR 2023   ·   persistence-backdoor Chen et al., NeurIPS 2024   ·   data-exfiltration Qi et al., ICLR 2024   ·   resource-abuse Xue et al.,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WHAT WE BUILT</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A map of every attack and every defense in the field</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7</a:t>
            </a:r>
          </a:p>
        </p:txBody>
      </p:sp>
      <p:sp>
        <p:nvSpPr>
          <p:cNvPr id="5" name="TextBox 4"/>
          <p:cNvSpPr txBox="1"/>
          <p:nvPr/>
        </p:nvSpPr>
        <p:spPr>
          <a:xfrm>
            <a:off x="731520" y="2011680"/>
            <a:ext cx="2651760" cy="310896"/>
          </a:xfrm>
          <a:prstGeom prst="rect">
            <a:avLst/>
          </a:prstGeom>
          <a:noFill/>
        </p:spPr>
        <p:txBody>
          <a:bodyPr wrap="square" lIns="0" rIns="0" tIns="0" bIns="0" anchor="t">
            <a:spAutoFit/>
          </a:bodyPr>
          <a:lstStyle/>
          <a:p>
            <a:pPr algn="l">
              <a:lnSpc>
                <a:spcPct val="106000"/>
              </a:lnSpc>
              <a:spcAft>
                <a:spcPts val="0"/>
              </a:spcAft>
            </a:pPr>
            <a:r>
              <a:rPr sz="1500" b="1" i="0">
                <a:solidFill>
                  <a:srgbClr val="111111"/>
                </a:solidFill>
                <a:latin typeface="Calibri"/>
              </a:rPr>
              <a:t>1,026 papers</a:t>
            </a:r>
          </a:p>
        </p:txBody>
      </p:sp>
      <p:sp>
        <p:nvSpPr>
          <p:cNvPr id="6" name="TextBox 5"/>
          <p:cNvSpPr txBox="1"/>
          <p:nvPr/>
        </p:nvSpPr>
        <p:spPr>
          <a:xfrm>
            <a:off x="3383280" y="2011680"/>
            <a:ext cx="8074152" cy="310896"/>
          </a:xfrm>
          <a:prstGeom prst="rect">
            <a:avLst/>
          </a:prstGeom>
          <a:noFill/>
        </p:spPr>
        <p:txBody>
          <a:bodyPr wrap="square" lIns="0" rIns="0" tIns="0" bIns="0" anchor="t">
            <a:spAutoFit/>
          </a:bodyPr>
          <a:lstStyle/>
          <a:p>
            <a:pPr algn="l">
              <a:lnSpc>
                <a:spcPct val="106000"/>
              </a:lnSpc>
              <a:spcAft>
                <a:spcPts val="0"/>
              </a:spcAft>
            </a:pPr>
            <a:r>
              <a:rPr sz="1500" b="0" i="0">
                <a:solidFill>
                  <a:srgbClr val="444444"/>
                </a:solidFill>
                <a:latin typeface="Calibri"/>
              </a:rPr>
              <a:t>read in full and coded, drawn from about 26,000 candidates</a:t>
            </a:r>
          </a:p>
        </p:txBody>
      </p:sp>
      <p:sp>
        <p:nvSpPr>
          <p:cNvPr id="7" name="TextBox 6"/>
          <p:cNvSpPr txBox="1"/>
          <p:nvPr/>
        </p:nvSpPr>
        <p:spPr>
          <a:xfrm>
            <a:off x="731520" y="2542032"/>
            <a:ext cx="2651760" cy="310896"/>
          </a:xfrm>
          <a:prstGeom prst="rect">
            <a:avLst/>
          </a:prstGeom>
          <a:noFill/>
        </p:spPr>
        <p:txBody>
          <a:bodyPr wrap="square" lIns="0" rIns="0" tIns="0" bIns="0" anchor="t">
            <a:spAutoFit/>
          </a:bodyPr>
          <a:lstStyle/>
          <a:p>
            <a:pPr algn="l">
              <a:lnSpc>
                <a:spcPct val="106000"/>
              </a:lnSpc>
              <a:spcAft>
                <a:spcPts val="0"/>
              </a:spcAft>
            </a:pPr>
            <a:r>
              <a:rPr sz="1500" b="1" i="0">
                <a:solidFill>
                  <a:srgbClr val="111111"/>
                </a:solidFill>
                <a:latin typeface="Calibri"/>
              </a:rPr>
              <a:t>237 attacks</a:t>
            </a:r>
          </a:p>
        </p:txBody>
      </p:sp>
      <p:sp>
        <p:nvSpPr>
          <p:cNvPr id="8" name="TextBox 7"/>
          <p:cNvSpPr txBox="1"/>
          <p:nvPr/>
        </p:nvSpPr>
        <p:spPr>
          <a:xfrm>
            <a:off x="3383280" y="2542032"/>
            <a:ext cx="8074152" cy="310896"/>
          </a:xfrm>
          <a:prstGeom prst="rect">
            <a:avLst/>
          </a:prstGeom>
          <a:noFill/>
        </p:spPr>
        <p:txBody>
          <a:bodyPr wrap="square" lIns="0" rIns="0" tIns="0" bIns="0" anchor="t">
            <a:spAutoFit/>
          </a:bodyPr>
          <a:lstStyle/>
          <a:p>
            <a:pPr algn="l">
              <a:lnSpc>
                <a:spcPct val="106000"/>
              </a:lnSpc>
              <a:spcAft>
                <a:spcPts val="0"/>
              </a:spcAft>
            </a:pPr>
            <a:r>
              <a:rPr sz="1500" b="0" i="0">
                <a:solidFill>
                  <a:srgbClr val="444444"/>
                </a:solidFill>
                <a:latin typeface="Calibri"/>
              </a:rPr>
              <a:t>distinct named ways to corrupt a context window</a:t>
            </a:r>
          </a:p>
        </p:txBody>
      </p:sp>
      <p:sp>
        <p:nvSpPr>
          <p:cNvPr id="9" name="TextBox 8"/>
          <p:cNvSpPr txBox="1"/>
          <p:nvPr/>
        </p:nvSpPr>
        <p:spPr>
          <a:xfrm>
            <a:off x="731520" y="3072384"/>
            <a:ext cx="2651760" cy="310896"/>
          </a:xfrm>
          <a:prstGeom prst="rect">
            <a:avLst/>
          </a:prstGeom>
          <a:noFill/>
        </p:spPr>
        <p:txBody>
          <a:bodyPr wrap="square" lIns="0" rIns="0" tIns="0" bIns="0" anchor="t">
            <a:spAutoFit/>
          </a:bodyPr>
          <a:lstStyle/>
          <a:p>
            <a:pPr algn="l">
              <a:lnSpc>
                <a:spcPct val="106000"/>
              </a:lnSpc>
              <a:spcAft>
                <a:spcPts val="0"/>
              </a:spcAft>
            </a:pPr>
            <a:r>
              <a:rPr sz="1500" b="1" i="0">
                <a:solidFill>
                  <a:srgbClr val="111111"/>
                </a:solidFill>
                <a:latin typeface="Calibri"/>
              </a:rPr>
              <a:t>534 defenses</a:t>
            </a:r>
          </a:p>
        </p:txBody>
      </p:sp>
      <p:sp>
        <p:nvSpPr>
          <p:cNvPr id="10" name="TextBox 9"/>
          <p:cNvSpPr txBox="1"/>
          <p:nvPr/>
        </p:nvSpPr>
        <p:spPr>
          <a:xfrm>
            <a:off x="3383280" y="3072384"/>
            <a:ext cx="8074152" cy="310896"/>
          </a:xfrm>
          <a:prstGeom prst="rect">
            <a:avLst/>
          </a:prstGeom>
          <a:noFill/>
        </p:spPr>
        <p:txBody>
          <a:bodyPr wrap="square" lIns="0" rIns="0" tIns="0" bIns="0" anchor="t">
            <a:spAutoFit/>
          </a:bodyPr>
          <a:lstStyle/>
          <a:p>
            <a:pPr algn="l">
              <a:lnSpc>
                <a:spcPct val="106000"/>
              </a:lnSpc>
              <a:spcAft>
                <a:spcPts val="0"/>
              </a:spcAft>
            </a:pPr>
            <a:r>
              <a:rPr sz="1500" b="0" i="0">
                <a:solidFill>
                  <a:srgbClr val="444444"/>
                </a:solidFill>
                <a:latin typeface="Calibri"/>
              </a:rPr>
              <a:t>distinct named ways the field protects against them</a:t>
            </a:r>
          </a:p>
        </p:txBody>
      </p:sp>
      <p:sp>
        <p:nvSpPr>
          <p:cNvPr id="11" name="TextBox 10"/>
          <p:cNvSpPr txBox="1"/>
          <p:nvPr/>
        </p:nvSpPr>
        <p:spPr>
          <a:xfrm>
            <a:off x="731520" y="3602736"/>
            <a:ext cx="2651760" cy="310896"/>
          </a:xfrm>
          <a:prstGeom prst="rect">
            <a:avLst/>
          </a:prstGeom>
          <a:noFill/>
        </p:spPr>
        <p:txBody>
          <a:bodyPr wrap="square" lIns="0" rIns="0" tIns="0" bIns="0" anchor="t">
            <a:spAutoFit/>
          </a:bodyPr>
          <a:lstStyle/>
          <a:p>
            <a:pPr algn="l">
              <a:lnSpc>
                <a:spcPct val="106000"/>
              </a:lnSpc>
              <a:spcAft>
                <a:spcPts val="0"/>
              </a:spcAft>
            </a:pPr>
            <a:r>
              <a:rPr sz="1500" b="1" i="0">
                <a:solidFill>
                  <a:srgbClr val="111111"/>
                </a:solidFill>
                <a:latin typeface="Calibri"/>
              </a:rPr>
              <a:t>349 pairs</a:t>
            </a:r>
          </a:p>
        </p:txBody>
      </p:sp>
      <p:sp>
        <p:nvSpPr>
          <p:cNvPr id="12" name="TextBox 11"/>
          <p:cNvSpPr txBox="1"/>
          <p:nvPr/>
        </p:nvSpPr>
        <p:spPr>
          <a:xfrm>
            <a:off x="3383280" y="3602736"/>
            <a:ext cx="8074152" cy="310896"/>
          </a:xfrm>
          <a:prstGeom prst="rect">
            <a:avLst/>
          </a:prstGeom>
          <a:noFill/>
        </p:spPr>
        <p:txBody>
          <a:bodyPr wrap="square" lIns="0" rIns="0" tIns="0" bIns="0" anchor="t">
            <a:spAutoFit/>
          </a:bodyPr>
          <a:lstStyle/>
          <a:p>
            <a:pPr algn="l">
              <a:lnSpc>
                <a:spcPct val="106000"/>
              </a:lnSpc>
              <a:spcAft>
                <a:spcPts val="0"/>
              </a:spcAft>
            </a:pPr>
            <a:r>
              <a:rPr sz="1500" b="0" i="0">
                <a:solidFill>
                  <a:srgbClr val="444444"/>
                </a:solidFill>
                <a:latin typeface="Calibri"/>
              </a:rPr>
              <a:t>every case where a paper tested one defense against one attack</a:t>
            </a:r>
          </a:p>
        </p:txBody>
      </p:sp>
      <p:sp>
        <p:nvSpPr>
          <p:cNvPr id="13" name="TextBox 12"/>
          <p:cNvSpPr txBox="1"/>
          <p:nvPr/>
        </p:nvSpPr>
        <p:spPr>
          <a:xfrm>
            <a:off x="731520" y="4297680"/>
            <a:ext cx="10725912" cy="2103120"/>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No prior survey holds both literatures. The closest one reviews 78 papers, 37 attacks and 41 defenses, and stays on the security side.</a:t>
            </a:r>
          </a:p>
          <a:p>
            <a:pPr>
              <a:lnSpc>
                <a:spcPct val="110000"/>
              </a:lnSpc>
              <a:spcAft>
                <a:spcPts val="1100"/>
              </a:spcAft>
            </a:pPr>
            <a:r>
              <a:rPr sz="1500" b="0" i="0">
                <a:solidFill>
                  <a:srgbClr val="444444"/>
                </a:solidFill>
                <a:latin typeface="Calibri"/>
              </a:rPr>
              <a:t>That map is the instrument. Everything that follows is read off it.</a:t>
            </a:r>
          </a:p>
        </p:txBody>
      </p:sp>
      <p:sp>
        <p:nvSpPr>
          <p:cNvPr id="14" name="TextBox 13"/>
          <p:cNvSpPr txBox="1"/>
          <p:nvPr/>
        </p:nvSpPr>
        <p:spPr>
          <a:xfrm>
            <a:off x="731520" y="6400800"/>
            <a:ext cx="10040112" cy="402336"/>
          </a:xfrm>
          <a:prstGeom prst="rect">
            <a:avLst/>
          </a:prstGeom>
          <a:noFill/>
        </p:spPr>
        <p:txBody>
          <a:bodyPr wrap="square" lIns="0" rIns="0" tIns="0" bIns="0" anchor="t">
            <a:spAutoFit/>
          </a:bodyPr>
          <a:lstStyle/>
          <a:p>
            <a:pPr algn="l">
              <a:lnSpc>
                <a:spcPct val="115000"/>
              </a:lnSpc>
              <a:spcAft>
                <a:spcPts val="0"/>
              </a:spcAft>
            </a:pPr>
            <a:r>
              <a:rPr sz="850" b="0" i="0">
                <a:solidFill>
                  <a:srgbClr val="999999"/>
                </a:solidFill>
                <a:latin typeface="Calibri"/>
              </a:rPr>
              <a:t>Closest prior survey: Wang et al., 2026, arXiv:2602.10453   ·   Review protocol follows Woesle et al., IEEE Access 2026 and Geng et al., Computers, Materials &amp; Continua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FINDING 1</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The two communities do not read each other</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8</a:t>
            </a:r>
          </a:p>
        </p:txBody>
      </p:sp>
      <p:sp>
        <p:nvSpPr>
          <p:cNvPr id="5" name="TextBox 4"/>
          <p:cNvSpPr txBox="1"/>
          <p:nvPr/>
        </p:nvSpPr>
        <p:spPr>
          <a:xfrm>
            <a:off x="731520" y="2011680"/>
            <a:ext cx="201168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11.7 %</a:t>
            </a:r>
          </a:p>
        </p:txBody>
      </p:sp>
      <p:sp>
        <p:nvSpPr>
          <p:cNvPr id="6" name="TextBox 5"/>
          <p:cNvSpPr txBox="1"/>
          <p:nvPr/>
        </p:nvSpPr>
        <p:spPr>
          <a:xfrm>
            <a:off x="2743200" y="2011680"/>
            <a:ext cx="871423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of security papers cite at least one machine learning paper</a:t>
            </a:r>
          </a:p>
        </p:txBody>
      </p:sp>
      <p:sp>
        <p:nvSpPr>
          <p:cNvPr id="7" name="TextBox 6"/>
          <p:cNvSpPr txBox="1"/>
          <p:nvPr/>
        </p:nvSpPr>
        <p:spPr>
          <a:xfrm>
            <a:off x="731520" y="2560320"/>
            <a:ext cx="201168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9.1 %</a:t>
            </a:r>
          </a:p>
        </p:txBody>
      </p:sp>
      <p:sp>
        <p:nvSpPr>
          <p:cNvPr id="8" name="TextBox 7"/>
          <p:cNvSpPr txBox="1"/>
          <p:nvPr/>
        </p:nvSpPr>
        <p:spPr>
          <a:xfrm>
            <a:off x="2743200" y="2560320"/>
            <a:ext cx="871423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of machine learning papers cite at least one security paper</a:t>
            </a:r>
          </a:p>
        </p:txBody>
      </p:sp>
      <p:sp>
        <p:nvSpPr>
          <p:cNvPr id="9" name="TextBox 8"/>
          <p:cNvSpPr txBox="1"/>
          <p:nvPr/>
        </p:nvSpPr>
        <p:spPr>
          <a:xfrm>
            <a:off x="731520" y="3108960"/>
            <a:ext cx="201168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98.0 %</a:t>
            </a:r>
          </a:p>
        </p:txBody>
      </p:sp>
      <p:sp>
        <p:nvSpPr>
          <p:cNvPr id="10" name="TextBox 9"/>
          <p:cNvSpPr txBox="1"/>
          <p:nvPr/>
        </p:nvSpPr>
        <p:spPr>
          <a:xfrm>
            <a:off x="2743200" y="3108960"/>
            <a:ext cx="871423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of all tested pairs stay inside one literature</a:t>
            </a:r>
          </a:p>
        </p:txBody>
      </p:sp>
      <p:sp>
        <p:nvSpPr>
          <p:cNvPr id="11" name="TextBox 10"/>
          <p:cNvSpPr txBox="1"/>
          <p:nvPr/>
        </p:nvSpPr>
        <p:spPr>
          <a:xfrm>
            <a:off x="731520" y="3657600"/>
            <a:ext cx="201168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60.5 %</a:t>
            </a:r>
          </a:p>
        </p:txBody>
      </p:sp>
      <p:sp>
        <p:nvSpPr>
          <p:cNvPr id="12" name="TextBox 11"/>
          <p:cNvSpPr txBox="1"/>
          <p:nvPr/>
        </p:nvSpPr>
        <p:spPr>
          <a:xfrm>
            <a:off x="2743200" y="3657600"/>
            <a:ext cx="871423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of the 162 combinations in the framework have never been studied</a:t>
            </a:r>
          </a:p>
        </p:txBody>
      </p:sp>
      <p:sp>
        <p:nvSpPr>
          <p:cNvPr id="13" name="TextBox 12"/>
          <p:cNvSpPr txBox="1"/>
          <p:nvPr/>
        </p:nvSpPr>
        <p:spPr>
          <a:xfrm>
            <a:off x="731520" y="4343400"/>
            <a:ext cx="10725912" cy="2057400"/>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Nine of ten papers never cross. Seven pairs in the whole field do.</a:t>
            </a:r>
          </a:p>
          <a:p>
            <a:pPr>
              <a:lnSpc>
                <a:spcPct val="110000"/>
              </a:lnSpc>
              <a:spcAft>
                <a:spcPts val="1100"/>
              </a:spcAft>
            </a:pPr>
            <a:r>
              <a:rPr sz="1500" b="0" i="0">
                <a:solidFill>
                  <a:srgbClr val="444444"/>
                </a:solidFill>
                <a:latin typeface="Calibri"/>
              </a:rPr>
              <a:t>This is not a sample. We resolved every citation edge in the corpus.</a:t>
            </a:r>
          </a:p>
          <a:p>
            <a:pPr>
              <a:lnSpc>
                <a:spcPct val="110000"/>
              </a:lnSpc>
              <a:spcAft>
                <a:spcPts val="1100"/>
              </a:spcAft>
            </a:pPr>
            <a:r>
              <a:rPr sz="1500" b="1" i="0">
                <a:solidFill>
                  <a:srgbClr val="111111"/>
                </a:solidFill>
                <a:latin typeface="Calibri"/>
              </a:rPr>
              <a:t>So every claim of the form “this defense is robust” holds inside one threat model. Nobody has checked the other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FINDING 2</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Most defenses have never met most attacks</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9</a:t>
            </a:r>
          </a:p>
        </p:txBody>
      </p:sp>
      <p:sp>
        <p:nvSpPr>
          <p:cNvPr id="5" name="TextBox 4"/>
          <p:cNvSpPr txBox="1"/>
          <p:nvPr/>
        </p:nvSpPr>
        <p:spPr>
          <a:xfrm>
            <a:off x="731520" y="2011680"/>
            <a:ext cx="265176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119 of 237</a:t>
            </a:r>
          </a:p>
        </p:txBody>
      </p:sp>
      <p:sp>
        <p:nvSpPr>
          <p:cNvPr id="6" name="TextBox 5"/>
          <p:cNvSpPr txBox="1"/>
          <p:nvPr/>
        </p:nvSpPr>
        <p:spPr>
          <a:xfrm>
            <a:off x="3383280" y="2011680"/>
            <a:ext cx="807415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attacks have no tested defense at all</a:t>
            </a:r>
          </a:p>
        </p:txBody>
      </p:sp>
      <p:sp>
        <p:nvSpPr>
          <p:cNvPr id="7" name="TextBox 6"/>
          <p:cNvSpPr txBox="1"/>
          <p:nvPr/>
        </p:nvSpPr>
        <p:spPr>
          <a:xfrm>
            <a:off x="731520" y="2578608"/>
            <a:ext cx="2651760" cy="310896"/>
          </a:xfrm>
          <a:prstGeom prst="rect">
            <a:avLst/>
          </a:prstGeom>
          <a:noFill/>
        </p:spPr>
        <p:txBody>
          <a:bodyPr wrap="square" lIns="0" rIns="0" tIns="0" bIns="0" anchor="t">
            <a:spAutoFit/>
          </a:bodyPr>
          <a:lstStyle/>
          <a:p>
            <a:pPr algn="l">
              <a:lnSpc>
                <a:spcPct val="106000"/>
              </a:lnSpc>
              <a:spcAft>
                <a:spcPts val="0"/>
              </a:spcAft>
            </a:pPr>
            <a:r>
              <a:rPr sz="1600" b="1" i="0">
                <a:solidFill>
                  <a:srgbClr val="111111"/>
                </a:solidFill>
                <a:latin typeface="Calibri"/>
              </a:rPr>
              <a:t>15 of 534</a:t>
            </a:r>
          </a:p>
        </p:txBody>
      </p:sp>
      <p:sp>
        <p:nvSpPr>
          <p:cNvPr id="8" name="TextBox 7"/>
          <p:cNvSpPr txBox="1"/>
          <p:nvPr/>
        </p:nvSpPr>
        <p:spPr>
          <a:xfrm>
            <a:off x="3383280" y="2578608"/>
            <a:ext cx="8074152" cy="310896"/>
          </a:xfrm>
          <a:prstGeom prst="rect">
            <a:avLst/>
          </a:prstGeom>
          <a:noFill/>
        </p:spPr>
        <p:txBody>
          <a:bodyPr wrap="square" lIns="0" rIns="0" tIns="0" bIns="0" anchor="t">
            <a:spAutoFit/>
          </a:bodyPr>
          <a:lstStyle/>
          <a:p>
            <a:pPr algn="l">
              <a:lnSpc>
                <a:spcPct val="106000"/>
              </a:lnSpc>
              <a:spcAft>
                <a:spcPts val="0"/>
              </a:spcAft>
            </a:pPr>
            <a:r>
              <a:rPr sz="1600" b="0" i="0">
                <a:solidFill>
                  <a:srgbClr val="444444"/>
                </a:solidFill>
                <a:latin typeface="Calibri"/>
              </a:rPr>
              <a:t>defenses were tested against both threat models. That is 2.8 %.</a:t>
            </a:r>
          </a:p>
        </p:txBody>
      </p:sp>
      <p:sp>
        <p:nvSpPr>
          <p:cNvPr id="9" name="TextBox 8"/>
          <p:cNvSpPr txBox="1"/>
          <p:nvPr/>
        </p:nvSpPr>
        <p:spPr>
          <a:xfrm>
            <a:off x="731520" y="3611880"/>
            <a:ext cx="10725912" cy="2788920"/>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A defense paper is not a neutral document. A defense is supposed to defend something.</a:t>
            </a:r>
          </a:p>
          <a:p>
            <a:pPr>
              <a:lnSpc>
                <a:spcPct val="110000"/>
              </a:lnSpc>
              <a:spcAft>
                <a:spcPts val="1100"/>
              </a:spcAft>
            </a:pPr>
            <a:r>
              <a:rPr sz="1500" b="0" i="0">
                <a:solidFill>
                  <a:srgbClr val="444444"/>
                </a:solidFill>
                <a:latin typeface="Calibri"/>
              </a:rPr>
              <a:t>99 defense papers name an attack that sits in our map, and then never test against it. Those are not gaps in the field's knowledge. They are gaps in its evidence.</a:t>
            </a:r>
          </a:p>
          <a:p>
            <a:pPr>
              <a:lnSpc>
                <a:spcPct val="110000"/>
              </a:lnSpc>
              <a:spcAft>
                <a:spcPts val="1100"/>
              </a:spcAft>
            </a:pPr>
            <a:r>
              <a:rPr sz="1500" b="1" i="0">
                <a:solidFill>
                  <a:srgbClr val="111111"/>
                </a:solidFill>
                <a:latin typeface="Calibri"/>
              </a:rPr>
              <a:t>At this point the survey had taken us as far as a survey can go. It can show that a test was never run. It cannot say what the test would have found.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WHAT WE DID NEXT</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We ran the tests the field never ran</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10</a:t>
            </a:r>
          </a:p>
        </p:txBody>
      </p:sp>
      <p:sp>
        <p:nvSpPr>
          <p:cNvPr id="5" name="TextBox 4"/>
          <p:cNvSpPr txBox="1"/>
          <p:nvPr/>
        </p:nvSpPr>
        <p:spPr>
          <a:xfrm>
            <a:off x="731520" y="1965960"/>
            <a:ext cx="10725912" cy="4434840"/>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We took defenses with released code, and attacks with released code, and ran the pairs that no paper reports.</a:t>
            </a:r>
          </a:p>
          <a:p>
            <a:pPr>
              <a:lnSpc>
                <a:spcPct val="110000"/>
              </a:lnSpc>
              <a:spcAft>
                <a:spcPts val="1100"/>
              </a:spcAft>
            </a:pPr>
            <a:r>
              <a:rPr sz="1500" b="0" i="0">
                <a:solidFill>
                  <a:srgbClr val="444444"/>
                </a:solidFill>
                <a:latin typeface="Calibri"/>
              </a:rPr>
              <a:t>16 defense and attack pairs. 94 measured conditions. Four attacks. Five defenses. Three models.</a:t>
            </a:r>
          </a:p>
          <a:p>
            <a:pPr>
              <a:lnSpc>
                <a:spcPct val="110000"/>
              </a:lnSpc>
              <a:spcAft>
                <a:spcPts val="1100"/>
              </a:spcAft>
            </a:pPr>
            <a:r>
              <a:rPr sz="1500" b="0" i="0">
                <a:solidFill>
                  <a:srgbClr val="444444"/>
                </a:solidFill>
                <a:latin typeface="Calibri"/>
              </a:rPr>
              <a:t>We raise the attack dose from zero to ten poisoned passages out of ten, so each pair gives a curve and not a single point.</a:t>
            </a:r>
          </a:p>
        </p:txBody>
      </p:sp>
      <p:sp>
        <p:nvSpPr>
          <p:cNvPr id="6" name="TextBox 5"/>
          <p:cNvSpPr txBox="1"/>
          <p:nvPr/>
        </p:nvSpPr>
        <p:spPr>
          <a:xfrm>
            <a:off x="731520" y="3749039"/>
            <a:ext cx="10725912" cy="320040"/>
          </a:xfrm>
          <a:prstGeom prst="rect">
            <a:avLst/>
          </a:prstGeom>
          <a:noFill/>
        </p:spPr>
        <p:txBody>
          <a:bodyPr wrap="square" lIns="0" rIns="0" tIns="0" bIns="0" anchor="t">
            <a:spAutoFit/>
          </a:bodyPr>
          <a:lstStyle/>
          <a:p>
            <a:pPr algn="l">
              <a:lnSpc>
                <a:spcPct val="106000"/>
              </a:lnSpc>
              <a:spcAft>
                <a:spcPts val="1000"/>
              </a:spcAft>
            </a:pPr>
            <a:r>
              <a:rPr sz="1500" b="1" i="0">
                <a:solidFill>
                  <a:srgbClr val="111111"/>
                </a:solidFill>
                <a:latin typeface="Calibri"/>
              </a:rPr>
              <a:t>Two rules decide what we are allowed to claim.</a:t>
            </a:r>
          </a:p>
        </p:txBody>
      </p:sp>
      <p:sp>
        <p:nvSpPr>
          <p:cNvPr id="7" name="TextBox 6"/>
          <p:cNvSpPr txBox="1"/>
          <p:nvPr/>
        </p:nvSpPr>
        <p:spPr>
          <a:xfrm>
            <a:off x="731520" y="4133087"/>
            <a:ext cx="2651760" cy="310896"/>
          </a:xfrm>
          <a:prstGeom prst="rect">
            <a:avLst/>
          </a:prstGeom>
          <a:noFill/>
        </p:spPr>
        <p:txBody>
          <a:bodyPr wrap="square" lIns="0" rIns="0" tIns="0" bIns="0" anchor="t">
            <a:spAutoFit/>
          </a:bodyPr>
          <a:lstStyle/>
          <a:p>
            <a:pPr algn="l">
              <a:lnSpc>
                <a:spcPct val="106000"/>
              </a:lnSpc>
              <a:spcAft>
                <a:spcPts val="0"/>
              </a:spcAft>
            </a:pPr>
            <a:r>
              <a:rPr sz="1400" b="1" i="0">
                <a:solidFill>
                  <a:srgbClr val="111111"/>
                </a:solidFill>
                <a:latin typeface="Calibri"/>
              </a:rPr>
              <a:t>The control first</a:t>
            </a:r>
          </a:p>
        </p:txBody>
      </p:sp>
      <p:sp>
        <p:nvSpPr>
          <p:cNvPr id="8" name="TextBox 7"/>
          <p:cNvSpPr txBox="1"/>
          <p:nvPr/>
        </p:nvSpPr>
        <p:spPr>
          <a:xfrm>
            <a:off x="3383280" y="4133087"/>
            <a:ext cx="8074152" cy="310896"/>
          </a:xfrm>
          <a:prstGeom prst="rect">
            <a:avLst/>
          </a:prstGeom>
          <a:noFill/>
        </p:spPr>
        <p:txBody>
          <a:bodyPr wrap="square" lIns="0" rIns="0" tIns="0" bIns="0" anchor="t">
            <a:spAutoFit/>
          </a:bodyPr>
          <a:lstStyle/>
          <a:p>
            <a:pPr algn="l">
              <a:lnSpc>
                <a:spcPct val="106000"/>
              </a:lnSpc>
              <a:spcAft>
                <a:spcPts val="0"/>
              </a:spcAft>
            </a:pPr>
            <a:r>
              <a:rPr sz="1400" b="0" i="0">
                <a:solidFill>
                  <a:srgbClr val="444444"/>
                </a:solidFill>
                <a:latin typeface="Calibri"/>
              </a:rPr>
              <a:t>A defense must show its own benefit on its own task before we read anything else from it.</a:t>
            </a:r>
          </a:p>
        </p:txBody>
      </p:sp>
      <p:sp>
        <p:nvSpPr>
          <p:cNvPr id="9" name="TextBox 8"/>
          <p:cNvSpPr txBox="1"/>
          <p:nvPr/>
        </p:nvSpPr>
        <p:spPr>
          <a:xfrm>
            <a:off x="731520" y="4773168"/>
            <a:ext cx="2651760" cy="310896"/>
          </a:xfrm>
          <a:prstGeom prst="rect">
            <a:avLst/>
          </a:prstGeom>
          <a:noFill/>
        </p:spPr>
        <p:txBody>
          <a:bodyPr wrap="square" lIns="0" rIns="0" tIns="0" bIns="0" anchor="t">
            <a:spAutoFit/>
          </a:bodyPr>
          <a:lstStyle/>
          <a:p>
            <a:pPr algn="l">
              <a:lnSpc>
                <a:spcPct val="106000"/>
              </a:lnSpc>
              <a:spcAft>
                <a:spcPts val="0"/>
              </a:spcAft>
            </a:pPr>
            <a:r>
              <a:rPr sz="1400" b="1" i="0">
                <a:solidFill>
                  <a:srgbClr val="111111"/>
                </a:solidFill>
                <a:latin typeface="Calibri"/>
              </a:rPr>
              <a:t>A size floor</a:t>
            </a:r>
          </a:p>
        </p:txBody>
      </p:sp>
      <p:sp>
        <p:nvSpPr>
          <p:cNvPr id="10" name="TextBox 9"/>
          <p:cNvSpPr txBox="1"/>
          <p:nvPr/>
        </p:nvSpPr>
        <p:spPr>
          <a:xfrm>
            <a:off x="3383280" y="4773168"/>
            <a:ext cx="8074152" cy="310896"/>
          </a:xfrm>
          <a:prstGeom prst="rect">
            <a:avLst/>
          </a:prstGeom>
          <a:noFill/>
        </p:spPr>
        <p:txBody>
          <a:bodyPr wrap="square" lIns="0" rIns="0" tIns="0" bIns="0" anchor="t">
            <a:spAutoFit/>
          </a:bodyPr>
          <a:lstStyle/>
          <a:p>
            <a:pPr algn="l">
              <a:lnSpc>
                <a:spcPct val="106000"/>
              </a:lnSpc>
              <a:spcAft>
                <a:spcPts val="0"/>
              </a:spcAft>
            </a:pPr>
            <a:r>
              <a:rPr sz="1400" b="0" i="0">
                <a:solidFill>
                  <a:srgbClr val="444444"/>
                </a:solidFill>
                <a:latin typeface="Calibri"/>
              </a:rPr>
              <a:t>We fix the smallest change the sample can detect. Below that we report nothing, in either direction.</a:t>
            </a:r>
          </a:p>
        </p:txBody>
      </p:sp>
      <p:sp>
        <p:nvSpPr>
          <p:cNvPr id="11" name="TextBox 10"/>
          <p:cNvSpPr txBox="1"/>
          <p:nvPr/>
        </p:nvSpPr>
        <p:spPr>
          <a:xfrm>
            <a:off x="731520" y="5532120"/>
            <a:ext cx="10725912" cy="365760"/>
          </a:xfrm>
          <a:prstGeom prst="rect">
            <a:avLst/>
          </a:prstGeom>
          <a:noFill/>
        </p:spPr>
        <p:txBody>
          <a:bodyPr wrap="square" lIns="0" rIns="0" tIns="0" bIns="0" anchor="t">
            <a:spAutoFit/>
          </a:bodyPr>
          <a:lstStyle/>
          <a:p>
            <a:pPr algn="l">
              <a:lnSpc>
                <a:spcPct val="106000"/>
              </a:lnSpc>
              <a:spcAft>
                <a:spcPts val="0"/>
              </a:spcAft>
            </a:pPr>
            <a:r>
              <a:rPr sz="1300" b="0" i="0">
                <a:solidFill>
                  <a:srgbClr val="444444"/>
                </a:solidFill>
                <a:latin typeface="Calibri"/>
              </a:rPr>
              <a:t>Scoring comes from each paper's own code, unchanged.</a:t>
            </a:r>
          </a:p>
        </p:txBody>
      </p:sp>
      <p:sp>
        <p:nvSpPr>
          <p:cNvPr id="12" name="TextBox 11"/>
          <p:cNvSpPr txBox="1"/>
          <p:nvPr/>
        </p:nvSpPr>
        <p:spPr>
          <a:xfrm>
            <a:off x="731520" y="6400800"/>
            <a:ext cx="10040112" cy="402336"/>
          </a:xfrm>
          <a:prstGeom prst="rect">
            <a:avLst/>
          </a:prstGeom>
          <a:noFill/>
        </p:spPr>
        <p:txBody>
          <a:bodyPr wrap="square" lIns="0" rIns="0" tIns="0" bIns="0" anchor="t">
            <a:spAutoFit/>
          </a:bodyPr>
          <a:lstStyle/>
          <a:p>
            <a:pPr algn="l">
              <a:lnSpc>
                <a:spcPct val="115000"/>
              </a:lnSpc>
              <a:spcAft>
                <a:spcPts val="0"/>
              </a:spcAft>
            </a:pPr>
            <a:r>
              <a:rPr sz="850" b="0" i="0">
                <a:solidFill>
                  <a:srgbClr val="999999"/>
                </a:solidFill>
                <a:latin typeface="Calibri"/>
              </a:rPr>
              <a:t>PoisonedRAG Zou et al., USENIX Security 2024   ·   BadRAG Xue et al., 2024   ·   RobustRAG Xiang et al., 2024   ·   ParamMute Huang et al., NeurIPS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RESULT 1</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One family of defenses fails under pressure. The other does not.</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11</a:t>
            </a:r>
          </a:p>
        </p:txBody>
      </p:sp>
      <p:sp>
        <p:nvSpPr>
          <p:cNvPr id="5" name="TextBox 4"/>
          <p:cNvSpPr txBox="1"/>
          <p:nvPr/>
        </p:nvSpPr>
        <p:spPr>
          <a:xfrm>
            <a:off x="731520" y="2240280"/>
            <a:ext cx="10725912" cy="365760"/>
          </a:xfrm>
          <a:prstGeom prst="rect">
            <a:avLst/>
          </a:prstGeom>
          <a:noFill/>
        </p:spPr>
        <p:txBody>
          <a:bodyPr wrap="square" lIns="0" rIns="0" tIns="0" bIns="0" anchor="t">
            <a:spAutoFit/>
          </a:bodyPr>
          <a:lstStyle/>
          <a:p>
            <a:pPr algn="l">
              <a:lnSpc>
                <a:spcPct val="106000"/>
              </a:lnSpc>
              <a:spcAft>
                <a:spcPts val="0"/>
              </a:spcAft>
            </a:pPr>
            <a:r>
              <a:rPr sz="1450" b="0" i="0">
                <a:solidFill>
                  <a:srgbClr val="444444"/>
                </a:solidFill>
                <a:latin typeface="Calibri"/>
              </a:rPr>
              <a:t>When every retrieved passage belongs to the attacker:</a:t>
            </a:r>
          </a:p>
        </p:txBody>
      </p:sp>
      <p:sp>
        <p:nvSpPr>
          <p:cNvPr id="6" name="TextBox 5"/>
          <p:cNvSpPr txBox="1"/>
          <p:nvPr/>
        </p:nvSpPr>
        <p:spPr>
          <a:xfrm>
            <a:off x="731520" y="2697480"/>
            <a:ext cx="3200400" cy="310896"/>
          </a:xfrm>
          <a:prstGeom prst="rect">
            <a:avLst/>
          </a:prstGeom>
          <a:noFill/>
        </p:spPr>
        <p:txBody>
          <a:bodyPr wrap="square" lIns="0" rIns="0" tIns="0" bIns="0" anchor="t">
            <a:spAutoFit/>
          </a:bodyPr>
          <a:lstStyle/>
          <a:p>
            <a:pPr algn="l">
              <a:lnSpc>
                <a:spcPct val="106000"/>
              </a:lnSpc>
              <a:spcAft>
                <a:spcPts val="0"/>
              </a:spcAft>
            </a:pPr>
            <a:r>
              <a:rPr sz="1500" b="1" i="0">
                <a:solidFill>
                  <a:srgbClr val="111111"/>
                </a:solidFill>
                <a:latin typeface="Calibri"/>
              </a:rPr>
              <a:t>Context-reliance</a:t>
            </a:r>
          </a:p>
        </p:txBody>
      </p:sp>
      <p:sp>
        <p:nvSpPr>
          <p:cNvPr id="7" name="TextBox 6"/>
          <p:cNvSpPr txBox="1"/>
          <p:nvPr/>
        </p:nvSpPr>
        <p:spPr>
          <a:xfrm>
            <a:off x="3931920" y="2697480"/>
            <a:ext cx="6702552" cy="310896"/>
          </a:xfrm>
          <a:prstGeom prst="rect">
            <a:avLst/>
          </a:prstGeom>
          <a:noFill/>
        </p:spPr>
        <p:txBody>
          <a:bodyPr wrap="square" lIns="0" rIns="0" tIns="0" bIns="0" anchor="t">
            <a:spAutoFit/>
          </a:bodyPr>
          <a:lstStyle/>
          <a:p>
            <a:pPr algn="l">
              <a:lnSpc>
                <a:spcPct val="106000"/>
              </a:lnSpc>
              <a:spcAft>
                <a:spcPts val="0"/>
              </a:spcAft>
            </a:pPr>
            <a:r>
              <a:rPr sz="1500" b="0" i="0">
                <a:solidFill>
                  <a:srgbClr val="444444"/>
                </a:solidFill>
                <a:latin typeface="Calibri"/>
              </a:rPr>
              <a:t>It holds down the model's own memory so the model follows the retrieved text.</a:t>
            </a:r>
          </a:p>
        </p:txBody>
      </p:sp>
      <p:sp>
        <p:nvSpPr>
          <p:cNvPr id="8" name="TextBox 7"/>
          <p:cNvSpPr txBox="1"/>
          <p:nvPr/>
        </p:nvSpPr>
        <p:spPr>
          <a:xfrm>
            <a:off x="10680192" y="2697480"/>
            <a:ext cx="777240" cy="310896"/>
          </a:xfrm>
          <a:prstGeom prst="rect">
            <a:avLst/>
          </a:prstGeom>
          <a:noFill/>
        </p:spPr>
        <p:txBody>
          <a:bodyPr wrap="square" lIns="0" rIns="0" tIns="0" bIns="0" anchor="t">
            <a:spAutoFit/>
          </a:bodyPr>
          <a:lstStyle/>
          <a:p>
            <a:pPr algn="r">
              <a:lnSpc>
                <a:spcPct val="106000"/>
              </a:lnSpc>
              <a:spcAft>
                <a:spcPts val="0"/>
              </a:spcAft>
            </a:pPr>
            <a:r>
              <a:rPr sz="1500" b="1" i="0">
                <a:solidFill>
                  <a:srgbClr val="111111"/>
                </a:solidFill>
                <a:latin typeface="Calibri"/>
              </a:rPr>
              <a:t>4 of 5</a:t>
            </a:r>
          </a:p>
        </p:txBody>
      </p:sp>
      <p:sp>
        <p:nvSpPr>
          <p:cNvPr id="9" name="TextBox 8"/>
          <p:cNvSpPr txBox="1"/>
          <p:nvPr/>
        </p:nvSpPr>
        <p:spPr>
          <a:xfrm>
            <a:off x="731520" y="3355848"/>
            <a:ext cx="3200400" cy="310896"/>
          </a:xfrm>
          <a:prstGeom prst="rect">
            <a:avLst/>
          </a:prstGeom>
          <a:noFill/>
        </p:spPr>
        <p:txBody>
          <a:bodyPr wrap="square" lIns="0" rIns="0" tIns="0" bIns="0" anchor="t">
            <a:spAutoFit/>
          </a:bodyPr>
          <a:lstStyle/>
          <a:p>
            <a:pPr algn="l">
              <a:lnSpc>
                <a:spcPct val="106000"/>
              </a:lnSpc>
              <a:spcAft>
                <a:spcPts val="0"/>
              </a:spcAft>
            </a:pPr>
            <a:r>
              <a:rPr sz="1500" b="1" i="0">
                <a:solidFill>
                  <a:srgbClr val="111111"/>
                </a:solidFill>
                <a:latin typeface="Calibri"/>
              </a:rPr>
              <a:t>Isolate-then-aggregate</a:t>
            </a:r>
          </a:p>
        </p:txBody>
      </p:sp>
      <p:sp>
        <p:nvSpPr>
          <p:cNvPr id="10" name="TextBox 9"/>
          <p:cNvSpPr txBox="1"/>
          <p:nvPr/>
        </p:nvSpPr>
        <p:spPr>
          <a:xfrm>
            <a:off x="3931920" y="3355848"/>
            <a:ext cx="6702552" cy="310896"/>
          </a:xfrm>
          <a:prstGeom prst="rect">
            <a:avLst/>
          </a:prstGeom>
          <a:noFill/>
        </p:spPr>
        <p:txBody>
          <a:bodyPr wrap="square" lIns="0" rIns="0" tIns="0" bIns="0" anchor="t">
            <a:spAutoFit/>
          </a:bodyPr>
          <a:lstStyle/>
          <a:p>
            <a:pPr algn="l">
              <a:lnSpc>
                <a:spcPct val="106000"/>
              </a:lnSpc>
              <a:spcAft>
                <a:spcPts val="0"/>
              </a:spcAft>
            </a:pPr>
            <a:r>
              <a:rPr sz="1500" b="0" i="0">
                <a:solidFill>
                  <a:srgbClr val="444444"/>
                </a:solidFill>
                <a:latin typeface="Calibri"/>
              </a:rPr>
              <a:t>It answers from each passage alone, then joins the answers.</a:t>
            </a:r>
          </a:p>
        </p:txBody>
      </p:sp>
      <p:sp>
        <p:nvSpPr>
          <p:cNvPr id="11" name="TextBox 10"/>
          <p:cNvSpPr txBox="1"/>
          <p:nvPr/>
        </p:nvSpPr>
        <p:spPr>
          <a:xfrm>
            <a:off x="10680192" y="3355848"/>
            <a:ext cx="777240" cy="310896"/>
          </a:xfrm>
          <a:prstGeom prst="rect">
            <a:avLst/>
          </a:prstGeom>
          <a:noFill/>
        </p:spPr>
        <p:txBody>
          <a:bodyPr wrap="square" lIns="0" rIns="0" tIns="0" bIns="0" anchor="t">
            <a:spAutoFit/>
          </a:bodyPr>
          <a:lstStyle/>
          <a:p>
            <a:pPr algn="r">
              <a:lnSpc>
                <a:spcPct val="106000"/>
              </a:lnSpc>
              <a:spcAft>
                <a:spcPts val="0"/>
              </a:spcAft>
            </a:pPr>
            <a:r>
              <a:rPr sz="1500" b="1" i="0">
                <a:solidFill>
                  <a:srgbClr val="111111"/>
                </a:solidFill>
                <a:latin typeface="Calibri"/>
              </a:rPr>
              <a:t>0 of 8</a:t>
            </a:r>
          </a:p>
        </p:txBody>
      </p:sp>
      <p:sp>
        <p:nvSpPr>
          <p:cNvPr id="12" name="TextBox 11"/>
          <p:cNvSpPr txBox="1"/>
          <p:nvPr/>
        </p:nvSpPr>
        <p:spPr>
          <a:xfrm>
            <a:off x="8348472" y="4069080"/>
            <a:ext cx="3108960" cy="274320"/>
          </a:xfrm>
          <a:prstGeom prst="rect">
            <a:avLst/>
          </a:prstGeom>
          <a:noFill/>
        </p:spPr>
        <p:txBody>
          <a:bodyPr wrap="square" lIns="0" rIns="0" tIns="0" bIns="0" anchor="t">
            <a:spAutoFit/>
          </a:bodyPr>
          <a:lstStyle/>
          <a:p>
            <a:pPr algn="l">
              <a:lnSpc>
                <a:spcPct val="106000"/>
              </a:lnSpc>
              <a:spcAft>
                <a:spcPts val="0"/>
              </a:spcAft>
            </a:pPr>
            <a:r>
              <a:rPr sz="1150" b="0" i="0">
                <a:solidFill>
                  <a:srgbClr val="777777"/>
                </a:solidFill>
                <a:latin typeface="Calibri"/>
              </a:rPr>
              <a:t>readable cases that lose accuracy</a:t>
            </a:r>
          </a:p>
        </p:txBody>
      </p:sp>
      <p:sp>
        <p:nvSpPr>
          <p:cNvPr id="13" name="TextBox 12"/>
          <p:cNvSpPr txBox="1"/>
          <p:nvPr/>
        </p:nvSpPr>
        <p:spPr>
          <a:xfrm>
            <a:off x="731520" y="4526280"/>
            <a:ext cx="10725912" cy="1874519"/>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The loss is the same size every time: about 32 points, on two defenses, two attacks and two models.</a:t>
            </a:r>
          </a:p>
          <a:p>
            <a:pPr>
              <a:lnSpc>
                <a:spcPct val="110000"/>
              </a:lnSpc>
              <a:spcAft>
                <a:spcPts val="1100"/>
              </a:spcAft>
            </a:pPr>
            <a:r>
              <a:rPr sz="1500" b="0" i="0">
                <a:solidFill>
                  <a:srgbClr val="444444"/>
                </a:solidFill>
                <a:latin typeface="Calibri"/>
              </a:rPr>
              <a:t>Against a false passage the loss begins at eight poisoned passages of ten. It does not wait for all ten.</a:t>
            </a:r>
          </a:p>
          <a:p>
            <a:pPr>
              <a:lnSpc>
                <a:spcPct val="110000"/>
              </a:lnSpc>
              <a:spcAft>
                <a:spcPts val="1100"/>
              </a:spcAft>
            </a:pPr>
            <a:r>
              <a:rPr sz="1500" b="1" i="0">
                <a:solidFill>
                  <a:srgbClr val="111111"/>
                </a:solidFill>
                <a:latin typeface="Calibri"/>
              </a:rPr>
              <a:t>The design rule that follows: do not suppress the model's own memory. It is the only thing left when the evidence runs out.</a:t>
            </a:r>
          </a:p>
        </p:txBody>
      </p:sp>
      <p:sp>
        <p:nvSpPr>
          <p:cNvPr id="14" name="TextBox 13"/>
          <p:cNvSpPr txBox="1"/>
          <p:nvPr/>
        </p:nvSpPr>
        <p:spPr>
          <a:xfrm>
            <a:off x="731520" y="6400800"/>
            <a:ext cx="10040112" cy="402336"/>
          </a:xfrm>
          <a:prstGeom prst="rect">
            <a:avLst/>
          </a:prstGeom>
          <a:noFill/>
        </p:spPr>
        <p:txBody>
          <a:bodyPr wrap="square" lIns="0" rIns="0" tIns="0" bIns="0" anchor="t">
            <a:spAutoFit/>
          </a:bodyPr>
          <a:lstStyle/>
          <a:p>
            <a:pPr algn="l">
              <a:lnSpc>
                <a:spcPct val="115000"/>
              </a:lnSpc>
              <a:spcAft>
                <a:spcPts val="0"/>
              </a:spcAft>
            </a:pPr>
            <a:r>
              <a:rPr sz="850" b="0" i="0">
                <a:solidFill>
                  <a:srgbClr val="999999"/>
                </a:solidFill>
                <a:latin typeface="Calibri"/>
              </a:rPr>
              <a:t>ParamMute Huang et al., NeurIPS 2025   ·   RobustRAG Xiang et al., 2024   ·   PoisonedRAG Zou et al., USENIX Security 2024   ·   BadRAG Xue et al., 2024   ·   Measurements: this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RESULT 2</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Some defenses make an attack work that otherwise does nothing</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12</a:t>
            </a:r>
          </a:p>
        </p:txBody>
      </p:sp>
      <p:sp>
        <p:nvSpPr>
          <p:cNvPr id="5" name="TextBox 4"/>
          <p:cNvSpPr txBox="1"/>
          <p:nvPr/>
        </p:nvSpPr>
        <p:spPr>
          <a:xfrm>
            <a:off x="731520" y="2267712"/>
            <a:ext cx="3931920" cy="274320"/>
          </a:xfrm>
          <a:prstGeom prst="rect">
            <a:avLst/>
          </a:prstGeom>
          <a:noFill/>
        </p:spPr>
        <p:txBody>
          <a:bodyPr wrap="square" lIns="0" rIns="0" tIns="0" bIns="0" anchor="t">
            <a:spAutoFit/>
          </a:bodyPr>
          <a:lstStyle/>
          <a:p>
            <a:pPr algn="l">
              <a:lnSpc>
                <a:spcPct val="106000"/>
              </a:lnSpc>
              <a:spcAft>
                <a:spcPts val="0"/>
              </a:spcAft>
            </a:pPr>
            <a:r>
              <a:rPr sz="1150" b="1" i="0">
                <a:solidFill>
                  <a:srgbClr val="777777"/>
                </a:solidFill>
                <a:latin typeface="Calibri"/>
              </a:rPr>
              <a:t>Defense</a:t>
            </a:r>
          </a:p>
        </p:txBody>
      </p:sp>
      <p:sp>
        <p:nvSpPr>
          <p:cNvPr id="6" name="TextBox 5"/>
          <p:cNvSpPr txBox="1"/>
          <p:nvPr/>
        </p:nvSpPr>
        <p:spPr>
          <a:xfrm>
            <a:off x="4754880" y="2267712"/>
            <a:ext cx="2103120" cy="274320"/>
          </a:xfrm>
          <a:prstGeom prst="rect">
            <a:avLst/>
          </a:prstGeom>
          <a:noFill/>
        </p:spPr>
        <p:txBody>
          <a:bodyPr wrap="square" lIns="0" rIns="0" tIns="0" bIns="0" anchor="t">
            <a:spAutoFit/>
          </a:bodyPr>
          <a:lstStyle/>
          <a:p>
            <a:pPr algn="l">
              <a:lnSpc>
                <a:spcPct val="106000"/>
              </a:lnSpc>
              <a:spcAft>
                <a:spcPts val="0"/>
              </a:spcAft>
            </a:pPr>
            <a:r>
              <a:rPr sz="1150" b="1" i="0">
                <a:solidFill>
                  <a:srgbClr val="777777"/>
                </a:solidFill>
                <a:latin typeface="Calibri"/>
              </a:rPr>
              <a:t>Attack</a:t>
            </a:r>
          </a:p>
        </p:txBody>
      </p:sp>
      <p:sp>
        <p:nvSpPr>
          <p:cNvPr id="7" name="TextBox 6"/>
          <p:cNvSpPr txBox="1"/>
          <p:nvPr/>
        </p:nvSpPr>
        <p:spPr>
          <a:xfrm>
            <a:off x="7040880" y="2267712"/>
            <a:ext cx="1463040" cy="274320"/>
          </a:xfrm>
          <a:prstGeom prst="rect">
            <a:avLst/>
          </a:prstGeom>
          <a:noFill/>
        </p:spPr>
        <p:txBody>
          <a:bodyPr wrap="square" lIns="0" rIns="0" tIns="0" bIns="0" anchor="t">
            <a:spAutoFit/>
          </a:bodyPr>
          <a:lstStyle/>
          <a:p>
            <a:pPr algn="l">
              <a:lnSpc>
                <a:spcPct val="106000"/>
              </a:lnSpc>
              <a:spcAft>
                <a:spcPts val="0"/>
              </a:spcAft>
            </a:pPr>
            <a:r>
              <a:rPr sz="1150" b="1" i="0">
                <a:solidFill>
                  <a:srgbClr val="777777"/>
                </a:solidFill>
                <a:latin typeface="Calibri"/>
              </a:rPr>
              <a:t>No defense</a:t>
            </a:r>
          </a:p>
        </p:txBody>
      </p:sp>
      <p:sp>
        <p:nvSpPr>
          <p:cNvPr id="8" name="TextBox 7"/>
          <p:cNvSpPr txBox="1"/>
          <p:nvPr/>
        </p:nvSpPr>
        <p:spPr>
          <a:xfrm>
            <a:off x="8686800" y="2267712"/>
            <a:ext cx="1828800" cy="274320"/>
          </a:xfrm>
          <a:prstGeom prst="rect">
            <a:avLst/>
          </a:prstGeom>
          <a:noFill/>
        </p:spPr>
        <p:txBody>
          <a:bodyPr wrap="square" lIns="0" rIns="0" tIns="0" bIns="0" anchor="t">
            <a:spAutoFit/>
          </a:bodyPr>
          <a:lstStyle/>
          <a:p>
            <a:pPr algn="l">
              <a:lnSpc>
                <a:spcPct val="106000"/>
              </a:lnSpc>
              <a:spcAft>
                <a:spcPts val="0"/>
              </a:spcAft>
            </a:pPr>
            <a:r>
              <a:rPr sz="1150" b="1" i="0">
                <a:solidFill>
                  <a:srgbClr val="777777"/>
                </a:solidFill>
                <a:latin typeface="Calibri"/>
              </a:rPr>
              <a:t>With the defense</a:t>
            </a:r>
          </a:p>
        </p:txBody>
      </p:sp>
      <p:sp>
        <p:nvSpPr>
          <p:cNvPr id="9" name="TextBox 8"/>
          <p:cNvSpPr txBox="1"/>
          <p:nvPr/>
        </p:nvSpPr>
        <p:spPr>
          <a:xfrm>
            <a:off x="10698480" y="2267712"/>
            <a:ext cx="1097280" cy="274320"/>
          </a:xfrm>
          <a:prstGeom prst="rect">
            <a:avLst/>
          </a:prstGeom>
          <a:noFill/>
        </p:spPr>
        <p:txBody>
          <a:bodyPr wrap="square" lIns="0" rIns="0" tIns="0" bIns="0" anchor="t">
            <a:spAutoFit/>
          </a:bodyPr>
          <a:lstStyle/>
          <a:p>
            <a:pPr algn="l">
              <a:lnSpc>
                <a:spcPct val="106000"/>
              </a:lnSpc>
              <a:spcAft>
                <a:spcPts val="0"/>
              </a:spcAft>
            </a:pPr>
            <a:r>
              <a:rPr sz="1150" b="1" i="0">
                <a:solidFill>
                  <a:srgbClr val="777777"/>
                </a:solidFill>
                <a:latin typeface="Calibri"/>
              </a:rPr>
              <a:t>Poisoned</a:t>
            </a:r>
          </a:p>
        </p:txBody>
      </p:sp>
      <p:sp>
        <p:nvSpPr>
          <p:cNvPr id="10" name="TextBox 9"/>
          <p:cNvSpPr txBox="1"/>
          <p:nvPr/>
        </p:nvSpPr>
        <p:spPr>
          <a:xfrm>
            <a:off x="731520" y="2615184"/>
            <a:ext cx="393192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CK-PLUG</a:t>
            </a:r>
          </a:p>
        </p:txBody>
      </p:sp>
      <p:sp>
        <p:nvSpPr>
          <p:cNvPr id="11" name="TextBox 10"/>
          <p:cNvSpPr txBox="1"/>
          <p:nvPr/>
        </p:nvSpPr>
        <p:spPr>
          <a:xfrm>
            <a:off x="4754880" y="2615184"/>
            <a:ext cx="210312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tone steering</a:t>
            </a:r>
          </a:p>
        </p:txBody>
      </p:sp>
      <p:sp>
        <p:nvSpPr>
          <p:cNvPr id="12" name="TextBox 11"/>
          <p:cNvSpPr txBox="1"/>
          <p:nvPr/>
        </p:nvSpPr>
        <p:spPr>
          <a:xfrm>
            <a:off x="7040880" y="2615184"/>
            <a:ext cx="146304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0.0 %</a:t>
            </a:r>
          </a:p>
        </p:txBody>
      </p:sp>
      <p:sp>
        <p:nvSpPr>
          <p:cNvPr id="13" name="TextBox 12"/>
          <p:cNvSpPr txBox="1"/>
          <p:nvPr/>
        </p:nvSpPr>
        <p:spPr>
          <a:xfrm>
            <a:off x="8686800" y="2615184"/>
            <a:ext cx="18288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78.2 %</a:t>
            </a:r>
          </a:p>
        </p:txBody>
      </p:sp>
      <p:sp>
        <p:nvSpPr>
          <p:cNvPr id="14" name="TextBox 13"/>
          <p:cNvSpPr txBox="1"/>
          <p:nvPr/>
        </p:nvSpPr>
        <p:spPr>
          <a:xfrm>
            <a:off x="10698480" y="2615184"/>
            <a:ext cx="109728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1 of 10</a:t>
            </a:r>
          </a:p>
        </p:txBody>
      </p:sp>
      <p:sp>
        <p:nvSpPr>
          <p:cNvPr id="15" name="TextBox 14"/>
          <p:cNvSpPr txBox="1"/>
          <p:nvPr/>
        </p:nvSpPr>
        <p:spPr>
          <a:xfrm>
            <a:off x="731520" y="3090672"/>
            <a:ext cx="393192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CK-PLUG</a:t>
            </a:r>
          </a:p>
        </p:txBody>
      </p:sp>
      <p:sp>
        <p:nvSpPr>
          <p:cNvPr id="16" name="TextBox 15"/>
          <p:cNvSpPr txBox="1"/>
          <p:nvPr/>
        </p:nvSpPr>
        <p:spPr>
          <a:xfrm>
            <a:off x="4754880" y="3090672"/>
            <a:ext cx="210312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tone steering</a:t>
            </a:r>
          </a:p>
        </p:txBody>
      </p:sp>
      <p:sp>
        <p:nvSpPr>
          <p:cNvPr id="17" name="TextBox 16"/>
          <p:cNvSpPr txBox="1"/>
          <p:nvPr/>
        </p:nvSpPr>
        <p:spPr>
          <a:xfrm>
            <a:off x="7040880" y="3090672"/>
            <a:ext cx="146304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4.0 %</a:t>
            </a:r>
          </a:p>
        </p:txBody>
      </p:sp>
      <p:sp>
        <p:nvSpPr>
          <p:cNvPr id="18" name="TextBox 17"/>
          <p:cNvSpPr txBox="1"/>
          <p:nvPr/>
        </p:nvSpPr>
        <p:spPr>
          <a:xfrm>
            <a:off x="8686800" y="3090672"/>
            <a:ext cx="18288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99.0 %</a:t>
            </a:r>
          </a:p>
        </p:txBody>
      </p:sp>
      <p:sp>
        <p:nvSpPr>
          <p:cNvPr id="19" name="TextBox 18"/>
          <p:cNvSpPr txBox="1"/>
          <p:nvPr/>
        </p:nvSpPr>
        <p:spPr>
          <a:xfrm>
            <a:off x="10698480" y="3090672"/>
            <a:ext cx="109728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10 of 10</a:t>
            </a:r>
          </a:p>
        </p:txBody>
      </p:sp>
      <p:sp>
        <p:nvSpPr>
          <p:cNvPr id="20" name="TextBox 19"/>
          <p:cNvSpPr txBox="1"/>
          <p:nvPr/>
        </p:nvSpPr>
        <p:spPr>
          <a:xfrm>
            <a:off x="731520" y="3566160"/>
            <a:ext cx="393192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RobustRAG, on Llama-3</a:t>
            </a:r>
          </a:p>
        </p:txBody>
      </p:sp>
      <p:sp>
        <p:nvSpPr>
          <p:cNvPr id="21" name="TextBox 20"/>
          <p:cNvSpPr txBox="1"/>
          <p:nvPr/>
        </p:nvSpPr>
        <p:spPr>
          <a:xfrm>
            <a:off x="4754880" y="3566160"/>
            <a:ext cx="210312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refusal</a:t>
            </a:r>
          </a:p>
        </p:txBody>
      </p:sp>
      <p:sp>
        <p:nvSpPr>
          <p:cNvPr id="22" name="TextBox 21"/>
          <p:cNvSpPr txBox="1"/>
          <p:nvPr/>
        </p:nvSpPr>
        <p:spPr>
          <a:xfrm>
            <a:off x="7040880" y="3566160"/>
            <a:ext cx="146304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0.0 %</a:t>
            </a:r>
          </a:p>
        </p:txBody>
      </p:sp>
      <p:sp>
        <p:nvSpPr>
          <p:cNvPr id="23" name="TextBox 22"/>
          <p:cNvSpPr txBox="1"/>
          <p:nvPr/>
        </p:nvSpPr>
        <p:spPr>
          <a:xfrm>
            <a:off x="8686800" y="3566160"/>
            <a:ext cx="18288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85.0 %</a:t>
            </a:r>
          </a:p>
        </p:txBody>
      </p:sp>
      <p:sp>
        <p:nvSpPr>
          <p:cNvPr id="24" name="TextBox 23"/>
          <p:cNvSpPr txBox="1"/>
          <p:nvPr/>
        </p:nvSpPr>
        <p:spPr>
          <a:xfrm>
            <a:off x="10698480" y="3566160"/>
            <a:ext cx="109728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9 of 10</a:t>
            </a:r>
          </a:p>
        </p:txBody>
      </p:sp>
      <p:sp>
        <p:nvSpPr>
          <p:cNvPr id="25" name="TextBox 24"/>
          <p:cNvSpPr txBox="1"/>
          <p:nvPr/>
        </p:nvSpPr>
        <p:spPr>
          <a:xfrm>
            <a:off x="731520" y="4041648"/>
            <a:ext cx="393192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RobustRAG, on Mistral</a:t>
            </a:r>
          </a:p>
        </p:txBody>
      </p:sp>
      <p:sp>
        <p:nvSpPr>
          <p:cNvPr id="26" name="TextBox 25"/>
          <p:cNvSpPr txBox="1"/>
          <p:nvPr/>
        </p:nvSpPr>
        <p:spPr>
          <a:xfrm>
            <a:off x="4754880" y="4041648"/>
            <a:ext cx="210312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refusal</a:t>
            </a:r>
          </a:p>
        </p:txBody>
      </p:sp>
      <p:sp>
        <p:nvSpPr>
          <p:cNvPr id="27" name="TextBox 26"/>
          <p:cNvSpPr txBox="1"/>
          <p:nvPr/>
        </p:nvSpPr>
        <p:spPr>
          <a:xfrm>
            <a:off x="7040880" y="4041648"/>
            <a:ext cx="146304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0.0 %</a:t>
            </a:r>
          </a:p>
        </p:txBody>
      </p:sp>
      <p:sp>
        <p:nvSpPr>
          <p:cNvPr id="28" name="TextBox 27"/>
          <p:cNvSpPr txBox="1"/>
          <p:nvPr/>
        </p:nvSpPr>
        <p:spPr>
          <a:xfrm>
            <a:off x="8686800" y="4041648"/>
            <a:ext cx="1828800" cy="310896"/>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5.7 %</a:t>
            </a:r>
          </a:p>
        </p:txBody>
      </p:sp>
      <p:sp>
        <p:nvSpPr>
          <p:cNvPr id="29" name="TextBox 28"/>
          <p:cNvSpPr txBox="1"/>
          <p:nvPr/>
        </p:nvSpPr>
        <p:spPr>
          <a:xfrm>
            <a:off x="10698480" y="4041648"/>
            <a:ext cx="1097280" cy="310896"/>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9 of 10</a:t>
            </a:r>
          </a:p>
        </p:txBody>
      </p:sp>
      <p:sp>
        <p:nvSpPr>
          <p:cNvPr id="30" name="TextBox 29"/>
          <p:cNvSpPr txBox="1"/>
          <p:nvPr/>
        </p:nvSpPr>
        <p:spPr>
          <a:xfrm>
            <a:off x="731520" y="4709160"/>
            <a:ext cx="10725912" cy="1691639"/>
          </a:xfrm>
          <a:prstGeom prst="rect">
            <a:avLst/>
          </a:prstGeom>
          <a:noFill/>
        </p:spPr>
        <p:txBody>
          <a:bodyPr wrap="square" lIns="0" rIns="0" tIns="0" bIns="0" anchor="t">
            <a:spAutoFit/>
          </a:bodyPr>
          <a:lstStyle/>
          <a:p>
            <a:pPr algn="l">
              <a:lnSpc>
                <a:spcPct val="110000"/>
              </a:lnSpc>
              <a:spcAft>
                <a:spcPts val="1100"/>
              </a:spcAft>
            </a:pPr>
            <a:r>
              <a:rPr sz="1500" b="1" i="0">
                <a:solidFill>
                  <a:srgbClr val="111111"/>
                </a:solidFill>
                <a:latin typeface="Calibri"/>
              </a:rPr>
              <a:t>With no defense the attack stays at or near zero. It only works once the defense is switched on.</a:t>
            </a:r>
          </a:p>
          <a:p>
            <a:pPr>
              <a:lnSpc>
                <a:spcPct val="110000"/>
              </a:lnSpc>
              <a:spcAft>
                <a:spcPts val="1100"/>
              </a:spcAft>
            </a:pPr>
            <a:r>
              <a:rPr sz="1500" b="0" i="0">
                <a:solidFill>
                  <a:srgbClr val="444444"/>
                </a:solidFill>
                <a:latin typeface="Calibri"/>
              </a:rPr>
              <a:t>Tone steering does not change the answer, so a defense that pushes the model to follow the retrieved text follows the slant as well, and scores itself as working.</a:t>
            </a:r>
          </a:p>
          <a:p>
            <a:pPr>
              <a:lnSpc>
                <a:spcPct val="110000"/>
              </a:lnSpc>
              <a:spcAft>
                <a:spcPts val="1100"/>
              </a:spcAft>
            </a:pPr>
            <a:r>
              <a:rPr sz="1500" b="1" i="0">
                <a:solidFill>
                  <a:srgbClr val="111111"/>
                </a:solidFill>
                <a:latin typeface="Calibri"/>
              </a:rPr>
              <a:t>The last two rows are the same defense and the same attack on two models. It protects on one and does harm on the other. The model is part of the threat model.</a:t>
            </a:r>
          </a:p>
        </p:txBody>
      </p:sp>
      <p:sp>
        <p:nvSpPr>
          <p:cNvPr id="31" name="TextBox 30"/>
          <p:cNvSpPr txBox="1"/>
          <p:nvPr/>
        </p:nvSpPr>
        <p:spPr>
          <a:xfrm>
            <a:off x="731520" y="6400800"/>
            <a:ext cx="10040112" cy="402336"/>
          </a:xfrm>
          <a:prstGeom prst="rect">
            <a:avLst/>
          </a:prstGeom>
          <a:noFill/>
        </p:spPr>
        <p:txBody>
          <a:bodyPr wrap="square" lIns="0" rIns="0" tIns="0" bIns="0" anchor="t">
            <a:spAutoFit/>
          </a:bodyPr>
          <a:lstStyle/>
          <a:p>
            <a:pPr algn="l">
              <a:lnSpc>
                <a:spcPct val="115000"/>
              </a:lnSpc>
              <a:spcAft>
                <a:spcPts val="0"/>
              </a:spcAft>
            </a:pPr>
            <a:r>
              <a:rPr sz="850" b="0" i="0">
                <a:solidFill>
                  <a:srgbClr val="999999"/>
                </a:solidFill>
                <a:latin typeface="Calibri"/>
              </a:rPr>
              <a:t>BadRAG Xue et al., 2024, arXiv:2406.00083   ·   RobustRAG Xiang et al., 2024, arXiv:2405.15556   ·   Measurements: this 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RESULT 3</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Two versions of one defense give opposite answers</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13</a:t>
            </a:r>
          </a:p>
        </p:txBody>
      </p:sp>
      <p:sp>
        <p:nvSpPr>
          <p:cNvPr id="5" name="TextBox 4"/>
          <p:cNvSpPr txBox="1"/>
          <p:nvPr/>
        </p:nvSpPr>
        <p:spPr>
          <a:xfrm>
            <a:off x="731520" y="2240280"/>
            <a:ext cx="10725912" cy="365760"/>
          </a:xfrm>
          <a:prstGeom prst="rect">
            <a:avLst/>
          </a:prstGeom>
          <a:noFill/>
        </p:spPr>
        <p:txBody>
          <a:bodyPr wrap="square" lIns="0" rIns="0" tIns="0" bIns="0" anchor="t">
            <a:spAutoFit/>
          </a:bodyPr>
          <a:lstStyle/>
          <a:p>
            <a:pPr algn="l">
              <a:lnSpc>
                <a:spcPct val="106000"/>
              </a:lnSpc>
              <a:spcAft>
                <a:spcPts val="0"/>
              </a:spcAft>
            </a:pPr>
            <a:r>
              <a:rPr sz="1400" b="0" i="0">
                <a:solidFill>
                  <a:srgbClr val="444444"/>
                </a:solidFill>
                <a:latin typeface="Calibri"/>
              </a:rPr>
              <a:t>Both ship in the same paper. They isolate the same way. They differ only in how they join the answers.</a:t>
            </a:r>
          </a:p>
        </p:txBody>
      </p:sp>
      <p:sp>
        <p:nvSpPr>
          <p:cNvPr id="6" name="TextBox 5"/>
          <p:cNvSpPr txBox="1"/>
          <p:nvPr/>
        </p:nvSpPr>
        <p:spPr>
          <a:xfrm>
            <a:off x="731520" y="2697480"/>
            <a:ext cx="3291840" cy="274320"/>
          </a:xfrm>
          <a:prstGeom prst="rect">
            <a:avLst/>
          </a:prstGeom>
          <a:noFill/>
        </p:spPr>
        <p:txBody>
          <a:bodyPr wrap="square" lIns="0" rIns="0" tIns="0" bIns="0" anchor="t">
            <a:spAutoFit/>
          </a:bodyPr>
          <a:lstStyle/>
          <a:p>
            <a:pPr algn="l">
              <a:lnSpc>
                <a:spcPct val="106000"/>
              </a:lnSpc>
              <a:spcAft>
                <a:spcPts val="0"/>
              </a:spcAft>
            </a:pPr>
            <a:r>
              <a:rPr sz="1200" b="1" i="0">
                <a:solidFill>
                  <a:srgbClr val="777777"/>
                </a:solidFill>
                <a:latin typeface="Calibri"/>
              </a:rPr>
              <a:t>Poisoned passages of 10</a:t>
            </a:r>
          </a:p>
        </p:txBody>
      </p:sp>
      <p:sp>
        <p:nvSpPr>
          <p:cNvPr id="7" name="TextBox 6"/>
          <p:cNvSpPr txBox="1"/>
          <p:nvPr/>
        </p:nvSpPr>
        <p:spPr>
          <a:xfrm>
            <a:off x="4297680" y="2697480"/>
            <a:ext cx="914400" cy="274320"/>
          </a:xfrm>
          <a:prstGeom prst="rect">
            <a:avLst/>
          </a:prstGeom>
          <a:noFill/>
        </p:spPr>
        <p:txBody>
          <a:bodyPr wrap="square" lIns="0" rIns="0" tIns="0" bIns="0" anchor="t">
            <a:spAutoFit/>
          </a:bodyPr>
          <a:lstStyle/>
          <a:p>
            <a:pPr algn="ctr">
              <a:lnSpc>
                <a:spcPct val="106000"/>
              </a:lnSpc>
              <a:spcAft>
                <a:spcPts val="0"/>
              </a:spcAft>
            </a:pPr>
            <a:r>
              <a:rPr sz="1200" b="1" i="0">
                <a:solidFill>
                  <a:srgbClr val="777777"/>
                </a:solidFill>
                <a:latin typeface="Calibri"/>
              </a:rPr>
              <a:t>1</a:t>
            </a:r>
          </a:p>
        </p:txBody>
      </p:sp>
      <p:sp>
        <p:nvSpPr>
          <p:cNvPr id="8" name="TextBox 7"/>
          <p:cNvSpPr txBox="1"/>
          <p:nvPr/>
        </p:nvSpPr>
        <p:spPr>
          <a:xfrm>
            <a:off x="5330952" y="2697480"/>
            <a:ext cx="914400" cy="274320"/>
          </a:xfrm>
          <a:prstGeom prst="rect">
            <a:avLst/>
          </a:prstGeom>
          <a:noFill/>
        </p:spPr>
        <p:txBody>
          <a:bodyPr wrap="square" lIns="0" rIns="0" tIns="0" bIns="0" anchor="t">
            <a:spAutoFit/>
          </a:bodyPr>
          <a:lstStyle/>
          <a:p>
            <a:pPr algn="ctr">
              <a:lnSpc>
                <a:spcPct val="106000"/>
              </a:lnSpc>
              <a:spcAft>
                <a:spcPts val="0"/>
              </a:spcAft>
            </a:pPr>
            <a:r>
              <a:rPr sz="1200" b="1" i="0">
                <a:solidFill>
                  <a:srgbClr val="777777"/>
                </a:solidFill>
                <a:latin typeface="Calibri"/>
              </a:rPr>
              <a:t>5</a:t>
            </a:r>
          </a:p>
        </p:txBody>
      </p:sp>
      <p:sp>
        <p:nvSpPr>
          <p:cNvPr id="9" name="TextBox 8"/>
          <p:cNvSpPr txBox="1"/>
          <p:nvPr/>
        </p:nvSpPr>
        <p:spPr>
          <a:xfrm>
            <a:off x="6364224" y="2697480"/>
            <a:ext cx="914400" cy="274320"/>
          </a:xfrm>
          <a:prstGeom prst="rect">
            <a:avLst/>
          </a:prstGeom>
          <a:noFill/>
        </p:spPr>
        <p:txBody>
          <a:bodyPr wrap="square" lIns="0" rIns="0" tIns="0" bIns="0" anchor="t">
            <a:spAutoFit/>
          </a:bodyPr>
          <a:lstStyle/>
          <a:p>
            <a:pPr algn="ctr">
              <a:lnSpc>
                <a:spcPct val="106000"/>
              </a:lnSpc>
              <a:spcAft>
                <a:spcPts val="0"/>
              </a:spcAft>
            </a:pPr>
            <a:r>
              <a:rPr sz="1200" b="1" i="0">
                <a:solidFill>
                  <a:srgbClr val="777777"/>
                </a:solidFill>
                <a:latin typeface="Calibri"/>
              </a:rPr>
              <a:t>6</a:t>
            </a:r>
          </a:p>
        </p:txBody>
      </p:sp>
      <p:sp>
        <p:nvSpPr>
          <p:cNvPr id="10" name="TextBox 9"/>
          <p:cNvSpPr txBox="1"/>
          <p:nvPr/>
        </p:nvSpPr>
        <p:spPr>
          <a:xfrm>
            <a:off x="7397496" y="2697480"/>
            <a:ext cx="914400" cy="274320"/>
          </a:xfrm>
          <a:prstGeom prst="rect">
            <a:avLst/>
          </a:prstGeom>
          <a:noFill/>
        </p:spPr>
        <p:txBody>
          <a:bodyPr wrap="square" lIns="0" rIns="0" tIns="0" bIns="0" anchor="t">
            <a:spAutoFit/>
          </a:bodyPr>
          <a:lstStyle/>
          <a:p>
            <a:pPr algn="ctr">
              <a:lnSpc>
                <a:spcPct val="106000"/>
              </a:lnSpc>
              <a:spcAft>
                <a:spcPts val="0"/>
              </a:spcAft>
            </a:pPr>
            <a:r>
              <a:rPr sz="1200" b="1" i="0">
                <a:solidFill>
                  <a:srgbClr val="777777"/>
                </a:solidFill>
                <a:latin typeface="Calibri"/>
              </a:rPr>
              <a:t>7</a:t>
            </a:r>
          </a:p>
        </p:txBody>
      </p:sp>
      <p:sp>
        <p:nvSpPr>
          <p:cNvPr id="11" name="TextBox 10"/>
          <p:cNvSpPr txBox="1"/>
          <p:nvPr/>
        </p:nvSpPr>
        <p:spPr>
          <a:xfrm>
            <a:off x="8430767" y="2697480"/>
            <a:ext cx="914400" cy="274320"/>
          </a:xfrm>
          <a:prstGeom prst="rect">
            <a:avLst/>
          </a:prstGeom>
          <a:noFill/>
        </p:spPr>
        <p:txBody>
          <a:bodyPr wrap="square" lIns="0" rIns="0" tIns="0" bIns="0" anchor="t">
            <a:spAutoFit/>
          </a:bodyPr>
          <a:lstStyle/>
          <a:p>
            <a:pPr algn="ctr">
              <a:lnSpc>
                <a:spcPct val="106000"/>
              </a:lnSpc>
              <a:spcAft>
                <a:spcPts val="0"/>
              </a:spcAft>
            </a:pPr>
            <a:r>
              <a:rPr sz="1200" b="1" i="0">
                <a:solidFill>
                  <a:srgbClr val="777777"/>
                </a:solidFill>
                <a:latin typeface="Calibri"/>
              </a:rPr>
              <a:t>8</a:t>
            </a:r>
          </a:p>
        </p:txBody>
      </p:sp>
      <p:sp>
        <p:nvSpPr>
          <p:cNvPr id="12" name="TextBox 11"/>
          <p:cNvSpPr txBox="1"/>
          <p:nvPr/>
        </p:nvSpPr>
        <p:spPr>
          <a:xfrm>
            <a:off x="9464040" y="2697480"/>
            <a:ext cx="914400" cy="274320"/>
          </a:xfrm>
          <a:prstGeom prst="rect">
            <a:avLst/>
          </a:prstGeom>
          <a:noFill/>
        </p:spPr>
        <p:txBody>
          <a:bodyPr wrap="square" lIns="0" rIns="0" tIns="0" bIns="0" anchor="t">
            <a:spAutoFit/>
          </a:bodyPr>
          <a:lstStyle/>
          <a:p>
            <a:pPr algn="ctr">
              <a:lnSpc>
                <a:spcPct val="106000"/>
              </a:lnSpc>
              <a:spcAft>
                <a:spcPts val="0"/>
              </a:spcAft>
            </a:pPr>
            <a:r>
              <a:rPr sz="1200" b="1" i="0">
                <a:solidFill>
                  <a:srgbClr val="777777"/>
                </a:solidFill>
                <a:latin typeface="Calibri"/>
              </a:rPr>
              <a:t>9</a:t>
            </a:r>
          </a:p>
        </p:txBody>
      </p:sp>
      <p:sp>
        <p:nvSpPr>
          <p:cNvPr id="13" name="TextBox 12"/>
          <p:cNvSpPr txBox="1"/>
          <p:nvPr/>
        </p:nvSpPr>
        <p:spPr>
          <a:xfrm>
            <a:off x="10497312" y="2697480"/>
            <a:ext cx="914400" cy="274320"/>
          </a:xfrm>
          <a:prstGeom prst="rect">
            <a:avLst/>
          </a:prstGeom>
          <a:noFill/>
        </p:spPr>
        <p:txBody>
          <a:bodyPr wrap="square" lIns="0" rIns="0" tIns="0" bIns="0" anchor="t">
            <a:spAutoFit/>
          </a:bodyPr>
          <a:lstStyle/>
          <a:p>
            <a:pPr algn="ctr">
              <a:lnSpc>
                <a:spcPct val="106000"/>
              </a:lnSpc>
              <a:spcAft>
                <a:spcPts val="0"/>
              </a:spcAft>
            </a:pPr>
            <a:r>
              <a:rPr sz="1200" b="1" i="0">
                <a:solidFill>
                  <a:srgbClr val="777777"/>
                </a:solidFill>
                <a:latin typeface="Calibri"/>
              </a:rPr>
              <a:t>10</a:t>
            </a:r>
          </a:p>
        </p:txBody>
      </p:sp>
      <p:sp>
        <p:nvSpPr>
          <p:cNvPr id="14" name="TextBox 13"/>
          <p:cNvSpPr txBox="1"/>
          <p:nvPr/>
        </p:nvSpPr>
        <p:spPr>
          <a:xfrm>
            <a:off x="731520" y="3090672"/>
            <a:ext cx="3291840" cy="292608"/>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Keyword filter</a:t>
            </a:r>
          </a:p>
        </p:txBody>
      </p:sp>
      <p:sp>
        <p:nvSpPr>
          <p:cNvPr id="15" name="TextBox 14"/>
          <p:cNvSpPr txBox="1"/>
          <p:nvPr/>
        </p:nvSpPr>
        <p:spPr>
          <a:xfrm>
            <a:off x="4297680" y="3090672"/>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+7.3</a:t>
            </a:r>
          </a:p>
        </p:txBody>
      </p:sp>
      <p:sp>
        <p:nvSpPr>
          <p:cNvPr id="16" name="TextBox 15"/>
          <p:cNvSpPr txBox="1"/>
          <p:nvPr/>
        </p:nvSpPr>
        <p:spPr>
          <a:xfrm>
            <a:off x="5330952" y="3090672"/>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+4.0</a:t>
            </a:r>
          </a:p>
        </p:txBody>
      </p:sp>
      <p:sp>
        <p:nvSpPr>
          <p:cNvPr id="17" name="TextBox 16"/>
          <p:cNvSpPr txBox="1"/>
          <p:nvPr/>
        </p:nvSpPr>
        <p:spPr>
          <a:xfrm>
            <a:off x="6364224" y="3090672"/>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+4.0</a:t>
            </a:r>
          </a:p>
        </p:txBody>
      </p:sp>
      <p:sp>
        <p:nvSpPr>
          <p:cNvPr id="18" name="TextBox 17"/>
          <p:cNvSpPr txBox="1"/>
          <p:nvPr/>
        </p:nvSpPr>
        <p:spPr>
          <a:xfrm>
            <a:off x="7397496" y="3090672"/>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+5.7</a:t>
            </a:r>
          </a:p>
        </p:txBody>
      </p:sp>
      <p:sp>
        <p:nvSpPr>
          <p:cNvPr id="19" name="TextBox 18"/>
          <p:cNvSpPr txBox="1"/>
          <p:nvPr/>
        </p:nvSpPr>
        <p:spPr>
          <a:xfrm>
            <a:off x="8430767" y="3090672"/>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+6.7</a:t>
            </a:r>
          </a:p>
        </p:txBody>
      </p:sp>
      <p:sp>
        <p:nvSpPr>
          <p:cNvPr id="20" name="TextBox 19"/>
          <p:cNvSpPr txBox="1"/>
          <p:nvPr/>
        </p:nvSpPr>
        <p:spPr>
          <a:xfrm>
            <a:off x="9464040" y="3090672"/>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+12.3</a:t>
            </a:r>
          </a:p>
        </p:txBody>
      </p:sp>
      <p:sp>
        <p:nvSpPr>
          <p:cNvPr id="21" name="TextBox 20"/>
          <p:cNvSpPr txBox="1"/>
          <p:nvPr/>
        </p:nvSpPr>
        <p:spPr>
          <a:xfrm>
            <a:off x="10497312" y="3090672"/>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-5.7</a:t>
            </a:r>
          </a:p>
        </p:txBody>
      </p:sp>
      <p:sp>
        <p:nvSpPr>
          <p:cNvPr id="22" name="TextBox 21"/>
          <p:cNvSpPr txBox="1"/>
          <p:nvPr/>
        </p:nvSpPr>
        <p:spPr>
          <a:xfrm>
            <a:off x="731520" y="3511296"/>
            <a:ext cx="3291840" cy="292608"/>
          </a:xfrm>
          <a:prstGeom prst="rect">
            <a:avLst/>
          </a:prstGeom>
          <a:noFill/>
        </p:spPr>
        <p:txBody>
          <a:bodyPr wrap="square" lIns="0" rIns="0" tIns="0" bIns="0" anchor="t">
            <a:spAutoFit/>
          </a:bodyPr>
          <a:lstStyle/>
          <a:p>
            <a:pPr algn="l">
              <a:lnSpc>
                <a:spcPct val="106000"/>
              </a:lnSpc>
              <a:spcAft>
                <a:spcPts val="0"/>
              </a:spcAft>
            </a:pPr>
            <a:r>
              <a:rPr sz="1350" b="0" i="0">
                <a:solidFill>
                  <a:srgbClr val="444444"/>
                </a:solidFill>
                <a:latin typeface="Calibri"/>
              </a:rPr>
              <a:t>Averaged output</a:t>
            </a:r>
          </a:p>
        </p:txBody>
      </p:sp>
      <p:sp>
        <p:nvSpPr>
          <p:cNvPr id="23" name="TextBox 22"/>
          <p:cNvSpPr txBox="1"/>
          <p:nvPr/>
        </p:nvSpPr>
        <p:spPr>
          <a:xfrm>
            <a:off x="4297680" y="3511296"/>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+8.7</a:t>
            </a:r>
          </a:p>
        </p:txBody>
      </p:sp>
      <p:sp>
        <p:nvSpPr>
          <p:cNvPr id="24" name="TextBox 23"/>
          <p:cNvSpPr txBox="1"/>
          <p:nvPr/>
        </p:nvSpPr>
        <p:spPr>
          <a:xfrm>
            <a:off x="5330952" y="3511296"/>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-9.0</a:t>
            </a:r>
          </a:p>
        </p:txBody>
      </p:sp>
      <p:sp>
        <p:nvSpPr>
          <p:cNvPr id="25" name="TextBox 24"/>
          <p:cNvSpPr txBox="1"/>
          <p:nvPr/>
        </p:nvSpPr>
        <p:spPr>
          <a:xfrm>
            <a:off x="6364224" y="3511296"/>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-14.0</a:t>
            </a:r>
          </a:p>
        </p:txBody>
      </p:sp>
      <p:sp>
        <p:nvSpPr>
          <p:cNvPr id="26" name="TextBox 25"/>
          <p:cNvSpPr txBox="1"/>
          <p:nvPr/>
        </p:nvSpPr>
        <p:spPr>
          <a:xfrm>
            <a:off x="7397496" y="3511296"/>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-18.3</a:t>
            </a:r>
          </a:p>
        </p:txBody>
      </p:sp>
      <p:sp>
        <p:nvSpPr>
          <p:cNvPr id="27" name="TextBox 26"/>
          <p:cNvSpPr txBox="1"/>
          <p:nvPr/>
        </p:nvSpPr>
        <p:spPr>
          <a:xfrm>
            <a:off x="8430767" y="3511296"/>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-20.3</a:t>
            </a:r>
          </a:p>
        </p:txBody>
      </p:sp>
      <p:sp>
        <p:nvSpPr>
          <p:cNvPr id="28" name="TextBox 27"/>
          <p:cNvSpPr txBox="1"/>
          <p:nvPr/>
        </p:nvSpPr>
        <p:spPr>
          <a:xfrm>
            <a:off x="9464040" y="3511296"/>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-17.3</a:t>
            </a:r>
          </a:p>
        </p:txBody>
      </p:sp>
      <p:sp>
        <p:nvSpPr>
          <p:cNvPr id="29" name="TextBox 28"/>
          <p:cNvSpPr txBox="1"/>
          <p:nvPr/>
        </p:nvSpPr>
        <p:spPr>
          <a:xfrm>
            <a:off x="10497312" y="3511296"/>
            <a:ext cx="914400" cy="292608"/>
          </a:xfrm>
          <a:prstGeom prst="rect">
            <a:avLst/>
          </a:prstGeom>
          <a:noFill/>
        </p:spPr>
        <p:txBody>
          <a:bodyPr wrap="square" lIns="0" rIns="0" tIns="0" bIns="0" anchor="t">
            <a:spAutoFit/>
          </a:bodyPr>
          <a:lstStyle/>
          <a:p>
            <a:pPr algn="ctr">
              <a:lnSpc>
                <a:spcPct val="106000"/>
              </a:lnSpc>
              <a:spcAft>
                <a:spcPts val="0"/>
              </a:spcAft>
            </a:pPr>
            <a:r>
              <a:rPr sz="1350" b="0" i="0">
                <a:solidFill>
                  <a:srgbClr val="444444"/>
                </a:solidFill>
                <a:latin typeface="Calibri"/>
              </a:rPr>
              <a:t>-4.0</a:t>
            </a:r>
          </a:p>
        </p:txBody>
      </p:sp>
      <p:sp>
        <p:nvSpPr>
          <p:cNvPr id="30" name="TextBox 29"/>
          <p:cNvSpPr txBox="1"/>
          <p:nvPr/>
        </p:nvSpPr>
        <p:spPr>
          <a:xfrm>
            <a:off x="731520" y="3931920"/>
            <a:ext cx="3291840" cy="292608"/>
          </a:xfrm>
          <a:prstGeom prst="rect">
            <a:avLst/>
          </a:prstGeom>
          <a:noFill/>
        </p:spPr>
        <p:txBody>
          <a:bodyPr wrap="square" lIns="0" rIns="0" tIns="0" bIns="0" anchor="t">
            <a:spAutoFit/>
          </a:bodyPr>
          <a:lstStyle/>
          <a:p>
            <a:pPr algn="l">
              <a:lnSpc>
                <a:spcPct val="106000"/>
              </a:lnSpc>
              <a:spcAft>
                <a:spcPts val="0"/>
              </a:spcAft>
            </a:pPr>
            <a:r>
              <a:rPr sz="1350" b="1" i="0">
                <a:solidFill>
                  <a:srgbClr val="111111"/>
                </a:solidFill>
                <a:latin typeface="Calibri"/>
              </a:rPr>
              <a:t>Difference</a:t>
            </a:r>
          </a:p>
        </p:txBody>
      </p:sp>
      <p:sp>
        <p:nvSpPr>
          <p:cNvPr id="31" name="TextBox 30"/>
          <p:cNvSpPr txBox="1"/>
          <p:nvPr/>
        </p:nvSpPr>
        <p:spPr>
          <a:xfrm>
            <a:off x="4297680" y="3931920"/>
            <a:ext cx="914400" cy="292608"/>
          </a:xfrm>
          <a:prstGeom prst="rect">
            <a:avLst/>
          </a:prstGeom>
          <a:noFill/>
        </p:spPr>
        <p:txBody>
          <a:bodyPr wrap="square" lIns="0" rIns="0" tIns="0" bIns="0" anchor="t">
            <a:spAutoFit/>
          </a:bodyPr>
          <a:lstStyle/>
          <a:p>
            <a:pPr algn="ctr">
              <a:lnSpc>
                <a:spcPct val="106000"/>
              </a:lnSpc>
              <a:spcAft>
                <a:spcPts val="0"/>
              </a:spcAft>
            </a:pPr>
            <a:r>
              <a:rPr sz="1350" b="1" i="0">
                <a:solidFill>
                  <a:srgbClr val="111111"/>
                </a:solidFill>
                <a:latin typeface="Calibri"/>
              </a:rPr>
              <a:t>1.4</a:t>
            </a:r>
          </a:p>
        </p:txBody>
      </p:sp>
      <p:sp>
        <p:nvSpPr>
          <p:cNvPr id="32" name="TextBox 31"/>
          <p:cNvSpPr txBox="1"/>
          <p:nvPr/>
        </p:nvSpPr>
        <p:spPr>
          <a:xfrm>
            <a:off x="5330952" y="3931920"/>
            <a:ext cx="914400" cy="292608"/>
          </a:xfrm>
          <a:prstGeom prst="rect">
            <a:avLst/>
          </a:prstGeom>
          <a:noFill/>
        </p:spPr>
        <p:txBody>
          <a:bodyPr wrap="square" lIns="0" rIns="0" tIns="0" bIns="0" anchor="t">
            <a:spAutoFit/>
          </a:bodyPr>
          <a:lstStyle/>
          <a:p>
            <a:pPr algn="ctr">
              <a:lnSpc>
                <a:spcPct val="106000"/>
              </a:lnSpc>
              <a:spcAft>
                <a:spcPts val="0"/>
              </a:spcAft>
            </a:pPr>
            <a:r>
              <a:rPr sz="1350" b="1" i="0">
                <a:solidFill>
                  <a:srgbClr val="111111"/>
                </a:solidFill>
                <a:latin typeface="Calibri"/>
              </a:rPr>
              <a:t>13.0</a:t>
            </a:r>
          </a:p>
        </p:txBody>
      </p:sp>
      <p:sp>
        <p:nvSpPr>
          <p:cNvPr id="33" name="TextBox 32"/>
          <p:cNvSpPr txBox="1"/>
          <p:nvPr/>
        </p:nvSpPr>
        <p:spPr>
          <a:xfrm>
            <a:off x="6364224" y="3931920"/>
            <a:ext cx="914400" cy="292608"/>
          </a:xfrm>
          <a:prstGeom prst="rect">
            <a:avLst/>
          </a:prstGeom>
          <a:noFill/>
        </p:spPr>
        <p:txBody>
          <a:bodyPr wrap="square" lIns="0" rIns="0" tIns="0" bIns="0" anchor="t">
            <a:spAutoFit/>
          </a:bodyPr>
          <a:lstStyle/>
          <a:p>
            <a:pPr algn="ctr">
              <a:lnSpc>
                <a:spcPct val="106000"/>
              </a:lnSpc>
              <a:spcAft>
                <a:spcPts val="0"/>
              </a:spcAft>
            </a:pPr>
            <a:r>
              <a:rPr sz="1350" b="1" i="0">
                <a:solidFill>
                  <a:srgbClr val="111111"/>
                </a:solidFill>
                <a:latin typeface="Calibri"/>
              </a:rPr>
              <a:t>18.0</a:t>
            </a:r>
          </a:p>
        </p:txBody>
      </p:sp>
      <p:sp>
        <p:nvSpPr>
          <p:cNvPr id="34" name="TextBox 33"/>
          <p:cNvSpPr txBox="1"/>
          <p:nvPr/>
        </p:nvSpPr>
        <p:spPr>
          <a:xfrm>
            <a:off x="7397496" y="3931920"/>
            <a:ext cx="914400" cy="292608"/>
          </a:xfrm>
          <a:prstGeom prst="rect">
            <a:avLst/>
          </a:prstGeom>
          <a:noFill/>
        </p:spPr>
        <p:txBody>
          <a:bodyPr wrap="square" lIns="0" rIns="0" tIns="0" bIns="0" anchor="t">
            <a:spAutoFit/>
          </a:bodyPr>
          <a:lstStyle/>
          <a:p>
            <a:pPr algn="ctr">
              <a:lnSpc>
                <a:spcPct val="106000"/>
              </a:lnSpc>
              <a:spcAft>
                <a:spcPts val="0"/>
              </a:spcAft>
            </a:pPr>
            <a:r>
              <a:rPr sz="1350" b="1" i="0">
                <a:solidFill>
                  <a:srgbClr val="111111"/>
                </a:solidFill>
                <a:latin typeface="Calibri"/>
              </a:rPr>
              <a:t>24.0</a:t>
            </a:r>
          </a:p>
        </p:txBody>
      </p:sp>
      <p:sp>
        <p:nvSpPr>
          <p:cNvPr id="35" name="TextBox 34"/>
          <p:cNvSpPr txBox="1"/>
          <p:nvPr/>
        </p:nvSpPr>
        <p:spPr>
          <a:xfrm>
            <a:off x="8430767" y="3931920"/>
            <a:ext cx="914400" cy="292608"/>
          </a:xfrm>
          <a:prstGeom prst="rect">
            <a:avLst/>
          </a:prstGeom>
          <a:noFill/>
        </p:spPr>
        <p:txBody>
          <a:bodyPr wrap="square" lIns="0" rIns="0" tIns="0" bIns="0" anchor="t">
            <a:spAutoFit/>
          </a:bodyPr>
          <a:lstStyle/>
          <a:p>
            <a:pPr algn="ctr">
              <a:lnSpc>
                <a:spcPct val="106000"/>
              </a:lnSpc>
              <a:spcAft>
                <a:spcPts val="0"/>
              </a:spcAft>
            </a:pPr>
            <a:r>
              <a:rPr sz="1350" b="1" i="0">
                <a:solidFill>
                  <a:srgbClr val="111111"/>
                </a:solidFill>
                <a:latin typeface="Calibri"/>
              </a:rPr>
              <a:t>27.0</a:t>
            </a:r>
          </a:p>
        </p:txBody>
      </p:sp>
      <p:sp>
        <p:nvSpPr>
          <p:cNvPr id="36" name="TextBox 35"/>
          <p:cNvSpPr txBox="1"/>
          <p:nvPr/>
        </p:nvSpPr>
        <p:spPr>
          <a:xfrm>
            <a:off x="9464040" y="3931920"/>
            <a:ext cx="914400" cy="292608"/>
          </a:xfrm>
          <a:prstGeom prst="rect">
            <a:avLst/>
          </a:prstGeom>
          <a:noFill/>
        </p:spPr>
        <p:txBody>
          <a:bodyPr wrap="square" lIns="0" rIns="0" tIns="0" bIns="0" anchor="t">
            <a:spAutoFit/>
          </a:bodyPr>
          <a:lstStyle/>
          <a:p>
            <a:pPr algn="ctr">
              <a:lnSpc>
                <a:spcPct val="106000"/>
              </a:lnSpc>
              <a:spcAft>
                <a:spcPts val="0"/>
              </a:spcAft>
            </a:pPr>
            <a:r>
              <a:rPr sz="1350" b="1" i="0">
                <a:solidFill>
                  <a:srgbClr val="111111"/>
                </a:solidFill>
                <a:latin typeface="Calibri"/>
              </a:rPr>
              <a:t>29.6</a:t>
            </a:r>
          </a:p>
        </p:txBody>
      </p:sp>
      <p:sp>
        <p:nvSpPr>
          <p:cNvPr id="37" name="TextBox 36"/>
          <p:cNvSpPr txBox="1"/>
          <p:nvPr/>
        </p:nvSpPr>
        <p:spPr>
          <a:xfrm>
            <a:off x="10497312" y="3931920"/>
            <a:ext cx="914400" cy="292608"/>
          </a:xfrm>
          <a:prstGeom prst="rect">
            <a:avLst/>
          </a:prstGeom>
          <a:noFill/>
        </p:spPr>
        <p:txBody>
          <a:bodyPr wrap="square" lIns="0" rIns="0" tIns="0" bIns="0" anchor="t">
            <a:spAutoFit/>
          </a:bodyPr>
          <a:lstStyle/>
          <a:p>
            <a:pPr algn="ctr">
              <a:lnSpc>
                <a:spcPct val="106000"/>
              </a:lnSpc>
              <a:spcAft>
                <a:spcPts val="0"/>
              </a:spcAft>
            </a:pPr>
            <a:r>
              <a:rPr sz="1350" b="1" i="0">
                <a:solidFill>
                  <a:srgbClr val="111111"/>
                </a:solidFill>
                <a:latin typeface="Calibri"/>
              </a:rPr>
              <a:t>1.7</a:t>
            </a:r>
          </a:p>
        </p:txBody>
      </p:sp>
      <p:sp>
        <p:nvSpPr>
          <p:cNvPr id="38" name="TextBox 37"/>
          <p:cNvSpPr txBox="1"/>
          <p:nvPr/>
        </p:nvSpPr>
        <p:spPr>
          <a:xfrm>
            <a:off x="731520" y="4389120"/>
            <a:ext cx="10725912" cy="274320"/>
          </a:xfrm>
          <a:prstGeom prst="rect">
            <a:avLst/>
          </a:prstGeom>
          <a:noFill/>
        </p:spPr>
        <p:txBody>
          <a:bodyPr wrap="square" lIns="0" rIns="0" tIns="0" bIns="0" anchor="t">
            <a:spAutoFit/>
          </a:bodyPr>
          <a:lstStyle/>
          <a:p>
            <a:pPr algn="l">
              <a:lnSpc>
                <a:spcPct val="106000"/>
              </a:lnSpc>
              <a:spcAft>
                <a:spcPts val="0"/>
              </a:spcAft>
            </a:pPr>
            <a:r>
              <a:rPr sz="1150" b="0" i="0">
                <a:solidFill>
                  <a:srgbClr val="777777"/>
                </a:solidFill>
                <a:latin typeface="Calibri"/>
              </a:rPr>
              <a:t>change in accuracy, in points, against the undefended model</a:t>
            </a:r>
          </a:p>
        </p:txBody>
      </p:sp>
      <p:sp>
        <p:nvSpPr>
          <p:cNvPr id="39" name="TextBox 38"/>
          <p:cNvSpPr txBox="1"/>
          <p:nvPr/>
        </p:nvSpPr>
        <p:spPr>
          <a:xfrm>
            <a:off x="731520" y="4590288"/>
            <a:ext cx="10725912" cy="1810512"/>
          </a:xfrm>
          <a:prstGeom prst="rect">
            <a:avLst/>
          </a:prstGeom>
          <a:noFill/>
        </p:spPr>
        <p:txBody>
          <a:bodyPr wrap="square" lIns="0" rIns="0" tIns="0" bIns="0" anchor="t">
            <a:spAutoFit/>
          </a:bodyPr>
          <a:lstStyle/>
          <a:p>
            <a:pPr algn="l">
              <a:lnSpc>
                <a:spcPct val="110000"/>
              </a:lnSpc>
              <a:spcAft>
                <a:spcPts val="800"/>
              </a:spcAft>
            </a:pPr>
            <a:r>
              <a:rPr sz="1500" b="1" i="0">
                <a:solidFill>
                  <a:srgbClr val="111111"/>
                </a:solidFill>
                <a:latin typeface="Calibri"/>
              </a:rPr>
              <a:t>At nine poisoned passages of ten, one version helps and the other does harm. They are 29.6 points apart.</a:t>
            </a:r>
          </a:p>
          <a:p>
            <a:pPr>
              <a:lnSpc>
                <a:spcPct val="110000"/>
              </a:lnSpc>
              <a:spcAft>
                <a:spcPts val="800"/>
              </a:spcAft>
            </a:pPr>
            <a:r>
              <a:rPr sz="1500" b="0" i="0">
                <a:solidFill>
                  <a:srgbClr val="444444"/>
                </a:solidFill>
                <a:latin typeface="Calibri"/>
              </a:rPr>
              <a:t>We wrote the cause down before we ran the test. A keyword filter throws away a passage that carries no answer, so one honest passage still carries it. An average lets nine bad passages drown it.</a:t>
            </a:r>
          </a:p>
          <a:p>
            <a:pPr>
              <a:lnSpc>
                <a:spcPct val="110000"/>
              </a:lnSpc>
              <a:spcAft>
                <a:spcPts val="800"/>
              </a:spcAft>
            </a:pPr>
            <a:r>
              <a:rPr sz="1500" b="1" i="0">
                <a:solidFill>
                  <a:srgbClr val="111111"/>
                </a:solidFill>
                <a:latin typeface="Calibri"/>
              </a:rPr>
              <a:t>The difference should therefore grow as honest passages are removed, and vanish when none are left. It does both.</a:t>
            </a:r>
          </a:p>
        </p:txBody>
      </p:sp>
      <p:sp>
        <p:nvSpPr>
          <p:cNvPr id="40" name="TextBox 39"/>
          <p:cNvSpPr txBox="1"/>
          <p:nvPr/>
        </p:nvSpPr>
        <p:spPr>
          <a:xfrm>
            <a:off x="731520" y="6400800"/>
            <a:ext cx="10040112" cy="402336"/>
          </a:xfrm>
          <a:prstGeom prst="rect">
            <a:avLst/>
          </a:prstGeom>
          <a:noFill/>
        </p:spPr>
        <p:txBody>
          <a:bodyPr wrap="square" lIns="0" rIns="0" tIns="0" bIns="0" anchor="t">
            <a:spAutoFit/>
          </a:bodyPr>
          <a:lstStyle/>
          <a:p>
            <a:pPr algn="l">
              <a:lnSpc>
                <a:spcPct val="115000"/>
              </a:lnSpc>
              <a:spcAft>
                <a:spcPts val="0"/>
              </a:spcAft>
            </a:pPr>
            <a:r>
              <a:rPr sz="850" b="0" i="0">
                <a:solidFill>
                  <a:srgbClr val="999999"/>
                </a:solidFill>
                <a:latin typeface="Calibri"/>
              </a:rPr>
              <a:t>Both versions ship in Xiang et al., 2024, arXiv:2405.15556   ·   BadRAG Xue et al., 2024, arXiv:2406.00083   ·   Measurements: this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75488"/>
            <a:ext cx="10725912" cy="274320"/>
          </a:xfrm>
          <a:prstGeom prst="rect">
            <a:avLst/>
          </a:prstGeom>
          <a:noFill/>
        </p:spPr>
        <p:txBody>
          <a:bodyPr wrap="square" lIns="0" rIns="0" tIns="0" bIns="0" anchor="t">
            <a:spAutoFit/>
          </a:bodyPr>
          <a:lstStyle/>
          <a:p>
            <a:pPr algn="l">
              <a:lnSpc>
                <a:spcPct val="106000"/>
              </a:lnSpc>
              <a:spcAft>
                <a:spcPts val="0"/>
              </a:spcAft>
            </a:pPr>
            <a:r>
              <a:rPr sz="1050" b="1" i="0">
                <a:solidFill>
                  <a:srgbClr val="777777"/>
                </a:solidFill>
                <a:latin typeface="Calibri"/>
              </a:rPr>
              <a:t>WHY THIS IS WORTH FINISHING</a:t>
            </a:r>
          </a:p>
        </p:txBody>
      </p:sp>
      <p:sp>
        <p:nvSpPr>
          <p:cNvPr id="3" name="TextBox 2"/>
          <p:cNvSpPr txBox="1"/>
          <p:nvPr/>
        </p:nvSpPr>
        <p:spPr>
          <a:xfrm>
            <a:off x="731520" y="841248"/>
            <a:ext cx="10725912" cy="868680"/>
          </a:xfrm>
          <a:prstGeom prst="rect">
            <a:avLst/>
          </a:prstGeom>
          <a:noFill/>
        </p:spPr>
        <p:txBody>
          <a:bodyPr wrap="square" lIns="0" rIns="0" tIns="0" bIns="0" anchor="t">
            <a:spAutoFit/>
          </a:bodyPr>
          <a:lstStyle/>
          <a:p>
            <a:pPr algn="l">
              <a:lnSpc>
                <a:spcPct val="102000"/>
              </a:lnSpc>
              <a:spcAft>
                <a:spcPts val="0"/>
              </a:spcAft>
            </a:pPr>
            <a:r>
              <a:rPr sz="2800" b="1" i="0">
                <a:solidFill>
                  <a:srgbClr val="111111"/>
                </a:solidFill>
                <a:latin typeface="Cambria"/>
              </a:rPr>
              <a:t>A survey found the gap. Running the code showed what is in it.</a:t>
            </a:r>
          </a:p>
        </p:txBody>
      </p:sp>
      <p:sp>
        <p:nvSpPr>
          <p:cNvPr id="4" name="TextBox 3"/>
          <p:cNvSpPr txBox="1"/>
          <p:nvPr/>
        </p:nvSpPr>
        <p:spPr>
          <a:xfrm>
            <a:off x="11201400" y="6419088"/>
            <a:ext cx="457200" cy="274320"/>
          </a:xfrm>
          <a:prstGeom prst="rect">
            <a:avLst/>
          </a:prstGeom>
          <a:noFill/>
        </p:spPr>
        <p:txBody>
          <a:bodyPr wrap="square" lIns="0" rIns="0" tIns="0" bIns="0" anchor="t">
            <a:spAutoFit/>
          </a:bodyPr>
          <a:lstStyle/>
          <a:p>
            <a:pPr algn="r">
              <a:lnSpc>
                <a:spcPct val="106000"/>
              </a:lnSpc>
              <a:spcAft>
                <a:spcPts val="0"/>
              </a:spcAft>
            </a:pPr>
            <a:r>
              <a:rPr sz="900" b="0" i="0">
                <a:solidFill>
                  <a:srgbClr val="999999"/>
                </a:solidFill>
                <a:latin typeface="Calibri"/>
              </a:rPr>
              <a:t>14</a:t>
            </a:r>
          </a:p>
        </p:txBody>
      </p:sp>
      <p:sp>
        <p:nvSpPr>
          <p:cNvPr id="5" name="TextBox 4"/>
          <p:cNvSpPr txBox="1"/>
          <p:nvPr/>
        </p:nvSpPr>
        <p:spPr>
          <a:xfrm>
            <a:off x="731520" y="2011680"/>
            <a:ext cx="3566160" cy="310896"/>
          </a:xfrm>
          <a:prstGeom prst="rect">
            <a:avLst/>
          </a:prstGeom>
          <a:noFill/>
        </p:spPr>
        <p:txBody>
          <a:bodyPr wrap="square" lIns="0" rIns="0" tIns="0" bIns="0" anchor="t">
            <a:spAutoFit/>
          </a:bodyPr>
          <a:lstStyle/>
          <a:p>
            <a:pPr algn="l">
              <a:lnSpc>
                <a:spcPct val="106000"/>
              </a:lnSpc>
              <a:spcAft>
                <a:spcPts val="0"/>
              </a:spcAft>
            </a:pPr>
            <a:r>
              <a:rPr sz="1450" b="1" i="0">
                <a:solidFill>
                  <a:srgbClr val="111111"/>
                </a:solidFill>
                <a:latin typeface="Calibri"/>
              </a:rPr>
              <a:t>It is new evidence</a:t>
            </a:r>
          </a:p>
        </p:txBody>
      </p:sp>
      <p:sp>
        <p:nvSpPr>
          <p:cNvPr id="6" name="TextBox 5"/>
          <p:cNvSpPr txBox="1"/>
          <p:nvPr/>
        </p:nvSpPr>
        <p:spPr>
          <a:xfrm>
            <a:off x="4297680" y="2011680"/>
            <a:ext cx="7159752" cy="310896"/>
          </a:xfrm>
          <a:prstGeom prst="rect">
            <a:avLst/>
          </a:prstGeom>
          <a:noFill/>
        </p:spPr>
        <p:txBody>
          <a:bodyPr wrap="square" lIns="0" rIns="0" tIns="0" bIns="0" anchor="t">
            <a:spAutoFit/>
          </a:bodyPr>
          <a:lstStyle/>
          <a:p>
            <a:pPr algn="l">
              <a:lnSpc>
                <a:spcPct val="106000"/>
              </a:lnSpc>
              <a:spcAft>
                <a:spcPts val="0"/>
              </a:spcAft>
            </a:pPr>
            <a:r>
              <a:rPr sz="1450" b="0" i="0">
                <a:solidFill>
                  <a:srgbClr val="444444"/>
                </a:solidFill>
                <a:latin typeface="Calibri"/>
              </a:rPr>
              <a:t>16 defense and attack pairs that exist in no paper. The numbers are ours, not quoted.</a:t>
            </a:r>
          </a:p>
        </p:txBody>
      </p:sp>
      <p:sp>
        <p:nvSpPr>
          <p:cNvPr id="7" name="TextBox 6"/>
          <p:cNvSpPr txBox="1"/>
          <p:nvPr/>
        </p:nvSpPr>
        <p:spPr>
          <a:xfrm>
            <a:off x="731520" y="2651760"/>
            <a:ext cx="3566160" cy="310896"/>
          </a:xfrm>
          <a:prstGeom prst="rect">
            <a:avLst/>
          </a:prstGeom>
          <a:noFill/>
        </p:spPr>
        <p:txBody>
          <a:bodyPr wrap="square" lIns="0" rIns="0" tIns="0" bIns="0" anchor="t">
            <a:spAutoFit/>
          </a:bodyPr>
          <a:lstStyle/>
          <a:p>
            <a:pPr algn="l">
              <a:lnSpc>
                <a:spcPct val="106000"/>
              </a:lnSpc>
              <a:spcAft>
                <a:spcPts val="0"/>
              </a:spcAft>
            </a:pPr>
            <a:r>
              <a:rPr sz="1450" b="1" i="0">
                <a:solidFill>
                  <a:srgbClr val="111111"/>
                </a:solidFill>
                <a:latin typeface="Calibri"/>
              </a:rPr>
              <a:t>It changes the threat model</a:t>
            </a:r>
          </a:p>
        </p:txBody>
      </p:sp>
      <p:sp>
        <p:nvSpPr>
          <p:cNvPr id="8" name="TextBox 7"/>
          <p:cNvSpPr txBox="1"/>
          <p:nvPr/>
        </p:nvSpPr>
        <p:spPr>
          <a:xfrm>
            <a:off x="4297680" y="2651760"/>
            <a:ext cx="7159752" cy="310896"/>
          </a:xfrm>
          <a:prstGeom prst="rect">
            <a:avLst/>
          </a:prstGeom>
          <a:noFill/>
        </p:spPr>
        <p:txBody>
          <a:bodyPr wrap="square" lIns="0" rIns="0" tIns="0" bIns="0" anchor="t">
            <a:spAutoFit/>
          </a:bodyPr>
          <a:lstStyle/>
          <a:p>
            <a:pPr algn="l">
              <a:lnSpc>
                <a:spcPct val="106000"/>
              </a:lnSpc>
              <a:spcAft>
                <a:spcPts val="0"/>
              </a:spcAft>
            </a:pPr>
            <a:r>
              <a:rPr sz="1450" b="0" i="0">
                <a:solidFill>
                  <a:srgbClr val="444444"/>
                </a:solidFill>
                <a:latin typeface="Calibri"/>
              </a:rPr>
              <a:t>A defense can be the reason an attack works. That is a security claim, not a performance note.</a:t>
            </a:r>
          </a:p>
        </p:txBody>
      </p:sp>
      <p:sp>
        <p:nvSpPr>
          <p:cNvPr id="9" name="TextBox 8"/>
          <p:cNvSpPr txBox="1"/>
          <p:nvPr/>
        </p:nvSpPr>
        <p:spPr>
          <a:xfrm>
            <a:off x="731520" y="3291840"/>
            <a:ext cx="3566160" cy="310896"/>
          </a:xfrm>
          <a:prstGeom prst="rect">
            <a:avLst/>
          </a:prstGeom>
          <a:noFill/>
        </p:spPr>
        <p:txBody>
          <a:bodyPr wrap="square" lIns="0" rIns="0" tIns="0" bIns="0" anchor="t">
            <a:spAutoFit/>
          </a:bodyPr>
          <a:lstStyle/>
          <a:p>
            <a:pPr algn="l">
              <a:lnSpc>
                <a:spcPct val="106000"/>
              </a:lnSpc>
              <a:spcAft>
                <a:spcPts val="0"/>
              </a:spcAft>
            </a:pPr>
            <a:r>
              <a:rPr sz="1450" b="1" i="0">
                <a:solidFill>
                  <a:srgbClr val="111111"/>
                </a:solidFill>
                <a:latin typeface="Calibri"/>
              </a:rPr>
              <a:t>It gives a design rule</a:t>
            </a:r>
          </a:p>
        </p:txBody>
      </p:sp>
      <p:sp>
        <p:nvSpPr>
          <p:cNvPr id="10" name="TextBox 9"/>
          <p:cNvSpPr txBox="1"/>
          <p:nvPr/>
        </p:nvSpPr>
        <p:spPr>
          <a:xfrm>
            <a:off x="4297680" y="3291840"/>
            <a:ext cx="7159752" cy="310896"/>
          </a:xfrm>
          <a:prstGeom prst="rect">
            <a:avLst/>
          </a:prstGeom>
          <a:noFill/>
        </p:spPr>
        <p:txBody>
          <a:bodyPr wrap="square" lIns="0" rIns="0" tIns="0" bIns="0" anchor="t">
            <a:spAutoFit/>
          </a:bodyPr>
          <a:lstStyle/>
          <a:p>
            <a:pPr algn="l">
              <a:lnSpc>
                <a:spcPct val="106000"/>
              </a:lnSpc>
              <a:spcAft>
                <a:spcPts val="0"/>
              </a:spcAft>
            </a:pPr>
            <a:r>
              <a:rPr sz="1450" b="0" i="0">
                <a:solidFill>
                  <a:srgbClr val="444444"/>
                </a:solidFill>
                <a:latin typeface="Calibri"/>
              </a:rPr>
              <a:t>Do not suppress the model's own memory. Held across two families and five implementations.</a:t>
            </a:r>
          </a:p>
        </p:txBody>
      </p:sp>
      <p:sp>
        <p:nvSpPr>
          <p:cNvPr id="11" name="TextBox 10"/>
          <p:cNvSpPr txBox="1"/>
          <p:nvPr/>
        </p:nvSpPr>
        <p:spPr>
          <a:xfrm>
            <a:off x="731520" y="3931920"/>
            <a:ext cx="3566160" cy="310896"/>
          </a:xfrm>
          <a:prstGeom prst="rect">
            <a:avLst/>
          </a:prstGeom>
          <a:noFill/>
        </p:spPr>
        <p:txBody>
          <a:bodyPr wrap="square" lIns="0" rIns="0" tIns="0" bIns="0" anchor="t">
            <a:spAutoFit/>
          </a:bodyPr>
          <a:lstStyle/>
          <a:p>
            <a:pPr algn="l">
              <a:lnSpc>
                <a:spcPct val="106000"/>
              </a:lnSpc>
              <a:spcAft>
                <a:spcPts val="0"/>
              </a:spcAft>
            </a:pPr>
            <a:r>
              <a:rPr sz="1450" b="1" i="0">
                <a:solidFill>
                  <a:srgbClr val="111111"/>
                </a:solidFill>
                <a:latin typeface="Calibri"/>
              </a:rPr>
              <a:t>It predicted and then held</a:t>
            </a:r>
          </a:p>
        </p:txBody>
      </p:sp>
      <p:sp>
        <p:nvSpPr>
          <p:cNvPr id="12" name="TextBox 11"/>
          <p:cNvSpPr txBox="1"/>
          <p:nvPr/>
        </p:nvSpPr>
        <p:spPr>
          <a:xfrm>
            <a:off x="4297680" y="3931920"/>
            <a:ext cx="7159752" cy="310896"/>
          </a:xfrm>
          <a:prstGeom prst="rect">
            <a:avLst/>
          </a:prstGeom>
          <a:noFill/>
        </p:spPr>
        <p:txBody>
          <a:bodyPr wrap="square" lIns="0" rIns="0" tIns="0" bIns="0" anchor="t">
            <a:spAutoFit/>
          </a:bodyPr>
          <a:lstStyle/>
          <a:p>
            <a:pPr algn="l">
              <a:lnSpc>
                <a:spcPct val="106000"/>
              </a:lnSpc>
              <a:spcAft>
                <a:spcPts val="0"/>
              </a:spcAft>
            </a:pPr>
            <a:r>
              <a:rPr sz="1450" b="0" i="0">
                <a:solidFill>
                  <a:srgbClr val="444444"/>
                </a:solidFill>
                <a:latin typeface="Calibri"/>
              </a:rPr>
              <a:t>We stated the cause before the test. The measurement followed the predicted shape.</a:t>
            </a:r>
          </a:p>
        </p:txBody>
      </p:sp>
      <p:sp>
        <p:nvSpPr>
          <p:cNvPr id="13" name="TextBox 12"/>
          <p:cNvSpPr txBox="1"/>
          <p:nvPr/>
        </p:nvSpPr>
        <p:spPr>
          <a:xfrm>
            <a:off x="731520" y="4800600"/>
            <a:ext cx="10725912" cy="320040"/>
          </a:xfrm>
          <a:prstGeom prst="rect">
            <a:avLst/>
          </a:prstGeom>
          <a:noFill/>
        </p:spPr>
        <p:txBody>
          <a:bodyPr wrap="square" lIns="0" rIns="0" tIns="0" bIns="0" anchor="t">
            <a:spAutoFit/>
          </a:bodyPr>
          <a:lstStyle/>
          <a:p>
            <a:pPr algn="l">
              <a:lnSpc>
                <a:spcPct val="106000"/>
              </a:lnSpc>
              <a:spcAft>
                <a:spcPts val="800"/>
              </a:spcAft>
            </a:pPr>
            <a:r>
              <a:rPr sz="1500" b="1" i="0">
                <a:solidFill>
                  <a:srgbClr val="111111"/>
                </a:solidFill>
                <a:latin typeface="Calibri"/>
              </a:rPr>
              <a:t>What is left</a:t>
            </a:r>
          </a:p>
        </p:txBody>
      </p:sp>
      <p:sp>
        <p:nvSpPr>
          <p:cNvPr id="14" name="TextBox 13"/>
          <p:cNvSpPr txBox="1"/>
          <p:nvPr/>
        </p:nvSpPr>
        <p:spPr>
          <a:xfrm>
            <a:off x="731520" y="5129784"/>
            <a:ext cx="10725912" cy="1271015"/>
          </a:xfrm>
          <a:prstGeom prst="rect">
            <a:avLst/>
          </a:prstGeom>
          <a:noFill/>
        </p:spPr>
        <p:txBody>
          <a:bodyPr wrap="square" lIns="0" rIns="0" tIns="0" bIns="0" anchor="t">
            <a:spAutoFit/>
          </a:bodyPr>
          <a:lstStyle/>
          <a:p>
            <a:pPr algn="l">
              <a:lnSpc>
                <a:spcPct val="110000"/>
              </a:lnSpc>
              <a:spcAft>
                <a:spcPts val="700"/>
              </a:spcAft>
            </a:pPr>
            <a:r>
              <a:rPr sz="1400" b="0" i="0">
                <a:solidFill>
                  <a:srgbClr val="444444"/>
                </a:solidFill>
                <a:latin typeface="Calibri"/>
              </a:rPr>
              <a:t>Finish the model comparison, add a third attack, and find an aggregation defense from another group.</a:t>
            </a:r>
          </a:p>
          <a:p>
            <a:pPr>
              <a:lnSpc>
                <a:spcPct val="110000"/>
              </a:lnSpc>
              <a:spcAft>
                <a:spcPts val="700"/>
              </a:spcAft>
            </a:pPr>
            <a:r>
              <a:rPr sz="1400" b="0" i="0">
                <a:solidFill>
                  <a:srgbClr val="444444"/>
                </a:solidFill>
                <a:latin typeface="Calibri"/>
              </a:rPr>
              <a:t>Then the matrix is closed and the paper is written.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