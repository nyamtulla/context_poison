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48840"/>
            <a:ext cx="10725912" cy="1280160"/>
          </a:xfrm>
          <a:prstGeom prst="rect">
            <a:avLst/>
          </a:prstGeom>
          <a:noFill/>
        </p:spPr>
        <p:txBody>
          <a:bodyPr wrap="square" lIns="0" rIns="0" tIns="0" bIns="0" anchor="t">
            <a:spAutoFit/>
          </a:bodyPr>
          <a:lstStyle/>
          <a:p>
            <a:pPr algn="l">
              <a:lnSpc>
                <a:spcPct val="106000"/>
              </a:lnSpc>
              <a:spcAft>
                <a:spcPts val="1400"/>
              </a:spcAft>
            </a:pPr>
            <a:r>
              <a:rPr sz="3600" b="1" i="0">
                <a:solidFill>
                  <a:srgbClr val="111111"/>
                </a:solidFill>
                <a:latin typeface="Cambria"/>
              </a:rPr>
              <a:t>Context Integrity in LLM Agents</a:t>
            </a:r>
          </a:p>
        </p:txBody>
      </p:sp>
      <p:sp>
        <p:nvSpPr>
          <p:cNvPr id="3" name="TextBox 2"/>
          <p:cNvSpPr txBox="1"/>
          <p:nvPr/>
        </p:nvSpPr>
        <p:spPr>
          <a:xfrm>
            <a:off x="731520" y="3246120"/>
            <a:ext cx="10725912" cy="822960"/>
          </a:xfrm>
          <a:prstGeom prst="rect">
            <a:avLst/>
          </a:prstGeom>
          <a:noFill/>
        </p:spPr>
        <p:txBody>
          <a:bodyPr wrap="square" lIns="0" rIns="0" tIns="0" bIns="0" anchor="t">
            <a:spAutoFit/>
          </a:bodyPr>
          <a:lstStyle/>
          <a:p>
            <a:pPr algn="l">
              <a:lnSpc>
                <a:spcPct val="130000"/>
              </a:lnSpc>
              <a:spcAft>
                <a:spcPts val="0"/>
              </a:spcAft>
            </a:pPr>
            <a:r>
              <a:rPr sz="1600" b="0" i="0">
                <a:solidFill>
                  <a:srgbClr val="444444"/>
                </a:solidFill>
                <a:latin typeface="Calibri"/>
              </a:rPr>
              <a:t>Two research communities study the same failure. Neither tests the other's work.
We measured what that costs.</a:t>
            </a:r>
          </a:p>
        </p:txBody>
      </p:sp>
      <p:sp>
        <p:nvSpPr>
          <p:cNvPr id="4" name="TextBox 3"/>
          <p:cNvSpPr txBox="1"/>
          <p:nvPr/>
        </p:nvSpPr>
        <p:spPr>
          <a:xfrm>
            <a:off x="731520" y="5394960"/>
            <a:ext cx="10725912" cy="548640"/>
          </a:xfrm>
          <a:prstGeom prst="rect">
            <a:avLst/>
          </a:prstGeom>
          <a:noFill/>
        </p:spPr>
        <p:txBody>
          <a:bodyPr wrap="square" lIns="0" rIns="0" tIns="0" bIns="0" anchor="t">
            <a:spAutoFit/>
          </a:bodyPr>
          <a:lstStyle/>
          <a:p>
            <a:pPr algn="l">
              <a:lnSpc>
                <a:spcPct val="106000"/>
              </a:lnSpc>
              <a:spcAft>
                <a:spcPts val="0"/>
              </a:spcAft>
            </a:pPr>
            <a:r>
              <a:rPr sz="1250" b="0" i="0">
                <a:solidFill>
                  <a:srgbClr val="777777"/>
                </a:solidFill>
                <a:latin typeface="Calibri"/>
              </a:rPr>
              <a:t>Nyamtulla    ·    Advisor meeting    ·    7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PROBLEM</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An agent believes everything in its context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2</a:t>
            </a:r>
          </a:p>
        </p:txBody>
      </p:sp>
      <p:sp>
        <p:nvSpPr>
          <p:cNvPr id="5" name="TextBox 4"/>
          <p:cNvSpPr txBox="1"/>
          <p:nvPr/>
        </p:nvSpPr>
        <p:spPr>
          <a:xfrm>
            <a:off x="731520" y="1938528"/>
            <a:ext cx="10725912" cy="4462272"/>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An LLM agent reads one block of text and then acts. We call this block the context window.</a:t>
            </a:r>
          </a:p>
          <a:p>
            <a:pPr>
              <a:lnSpc>
                <a:spcPct val="110000"/>
              </a:lnSpc>
              <a:spcAft>
                <a:spcPts val="1100"/>
              </a:spcAft>
            </a:pPr>
            <a:r>
              <a:rPr sz="1500" b="0" i="0">
                <a:solidFill>
                  <a:srgbClr val="444444"/>
                </a:solidFill>
                <a:latin typeface="Calibri"/>
              </a:rPr>
              <a:t>The block holds the user's question. It also holds a page a tool returned, a document a search step found, and a note the agent stored last week.</a:t>
            </a:r>
          </a:p>
          <a:p>
            <a:pPr>
              <a:lnSpc>
                <a:spcPct val="110000"/>
              </a:lnSpc>
              <a:spcAft>
                <a:spcPts val="1100"/>
              </a:spcAft>
            </a:pPr>
            <a:r>
              <a:rPr sz="1500" b="1" i="0">
                <a:solidFill>
                  <a:srgbClr val="111111"/>
                </a:solidFill>
                <a:latin typeface="Calibri"/>
              </a:rPr>
              <a:t>The model cannot tell these apart. Everything in the block looks the same to it.</a:t>
            </a:r>
          </a:p>
          <a:p>
            <a:pPr>
              <a:lnSpc>
                <a:spcPct val="110000"/>
              </a:lnSpc>
              <a:spcAft>
                <a:spcPts val="1100"/>
              </a:spcAft>
            </a:pPr>
            <a:r>
              <a:rPr sz="1500" b="0" i="0">
                <a:solidFill>
                  <a:srgbClr val="444444"/>
                </a:solidFill>
                <a:latin typeface="Calibri"/>
              </a:rPr>
              <a:t>So any text that reaches the block can change what the agent does. The text does not need to come from the user. It only needs to arrive.</a:t>
            </a:r>
          </a:p>
          <a:p>
            <a:pPr>
              <a:lnSpc>
                <a:spcPct val="110000"/>
              </a:lnSpc>
              <a:spcAft>
                <a:spcPts val="1100"/>
              </a:spcAft>
            </a:pPr>
            <a:r>
              <a:rPr sz="1500" b="0" i="0">
                <a:solidFill>
                  <a:srgbClr val="444444"/>
                </a:solidFill>
                <a:latin typeface="Calibri"/>
              </a:rPr>
              <a:t>This is not about training data. It is about what enters the context while the agent runs.</a:t>
            </a:r>
          </a:p>
        </p:txBody>
      </p:sp>
      <p:sp>
        <p:nvSpPr>
          <p:cNvPr id="6" name="TextBox 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Text in the context acts on the agent: Greshake et al., AISec@CCS 2023, arXiv:2302.12173   ·   Long context degrades how the model uses it: Liu et al., TACL 2023, arXiv:2307.03172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SPLIT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Two communities. One failure. No contact.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3</a:t>
            </a:r>
          </a:p>
        </p:txBody>
      </p:sp>
      <p:sp>
        <p:nvSpPr>
          <p:cNvPr id="5" name="TextBox 4"/>
          <p:cNvSpPr txBox="1"/>
          <p:nvPr/>
        </p:nvSpPr>
        <p:spPr>
          <a:xfrm>
            <a:off x="731520" y="1920240"/>
            <a:ext cx="5212080" cy="320040"/>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The security literature</a:t>
            </a:r>
          </a:p>
        </p:txBody>
      </p:sp>
      <p:sp>
        <p:nvSpPr>
          <p:cNvPr id="6" name="TextBox 5"/>
          <p:cNvSpPr txBox="1"/>
          <p:nvPr/>
        </p:nvSpPr>
        <p:spPr>
          <a:xfrm>
            <a:off x="731520" y="2286000"/>
            <a:ext cx="5029200" cy="4114800"/>
          </a:xfrm>
          <a:prstGeom prst="rect">
            <a:avLst/>
          </a:prstGeom>
          <a:noFill/>
        </p:spPr>
        <p:txBody>
          <a:bodyPr wrap="square" lIns="0" rIns="0" tIns="0" bIns="0" anchor="t">
            <a:spAutoFit/>
          </a:bodyPr>
          <a:lstStyle/>
          <a:p>
            <a:pPr algn="l">
              <a:lnSpc>
                <a:spcPct val="110000"/>
              </a:lnSpc>
              <a:spcAft>
                <a:spcPts val="900"/>
              </a:spcAft>
            </a:pPr>
            <a:r>
              <a:rPr sz="1400" b="0" i="0">
                <a:solidFill>
                  <a:srgbClr val="444444"/>
                </a:solidFill>
                <a:latin typeface="Calibri"/>
              </a:rPr>
              <a:t>It treats the text as an attack. Someone wrote it to take the agent over.</a:t>
            </a:r>
          </a:p>
          <a:p>
            <a:pPr>
              <a:lnSpc>
                <a:spcPct val="110000"/>
              </a:lnSpc>
              <a:spcAft>
                <a:spcPts val="900"/>
              </a:spcAft>
            </a:pPr>
            <a:r>
              <a:rPr sz="1400" b="0" i="0">
                <a:solidFill>
                  <a:srgbClr val="444444"/>
                </a:solidFill>
                <a:latin typeface="Calibri"/>
              </a:rPr>
              <a:t>Indirect prompt injection. Poisoned retrieval. Poisoned memory.</a:t>
            </a:r>
          </a:p>
        </p:txBody>
      </p:sp>
      <p:sp>
        <p:nvSpPr>
          <p:cNvPr id="7" name="TextBox 6"/>
          <p:cNvSpPr txBox="1"/>
          <p:nvPr/>
        </p:nvSpPr>
        <p:spPr>
          <a:xfrm>
            <a:off x="6583680" y="1920240"/>
            <a:ext cx="5212080" cy="320040"/>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The machine learning literature</a:t>
            </a:r>
          </a:p>
        </p:txBody>
      </p:sp>
      <p:sp>
        <p:nvSpPr>
          <p:cNvPr id="8" name="TextBox 7"/>
          <p:cNvSpPr txBox="1"/>
          <p:nvPr/>
        </p:nvSpPr>
        <p:spPr>
          <a:xfrm>
            <a:off x="6583680" y="2286000"/>
            <a:ext cx="5029200" cy="4114800"/>
          </a:xfrm>
          <a:prstGeom prst="rect">
            <a:avLst/>
          </a:prstGeom>
          <a:noFill/>
        </p:spPr>
        <p:txBody>
          <a:bodyPr wrap="square" lIns="0" rIns="0" tIns="0" bIns="0" anchor="t">
            <a:spAutoFit/>
          </a:bodyPr>
          <a:lstStyle/>
          <a:p>
            <a:pPr algn="l">
              <a:lnSpc>
                <a:spcPct val="110000"/>
              </a:lnSpc>
              <a:spcAft>
                <a:spcPts val="900"/>
              </a:spcAft>
            </a:pPr>
            <a:r>
              <a:rPr sz="1400" b="0" i="0">
                <a:solidFill>
                  <a:srgbClr val="444444"/>
                </a:solidFill>
                <a:latin typeface="Calibri"/>
              </a:rPr>
              <a:t>It treats the same corruption as an accident. Nobody wrote it to cause harm.</a:t>
            </a:r>
          </a:p>
          <a:p>
            <a:pPr>
              <a:lnSpc>
                <a:spcPct val="110000"/>
              </a:lnSpc>
              <a:spcAft>
                <a:spcPts val="900"/>
              </a:spcAft>
            </a:pPr>
            <a:r>
              <a:rPr sz="1400" b="0" i="0">
                <a:solidFill>
                  <a:srgbClr val="444444"/>
                </a:solidFill>
                <a:latin typeface="Calibri"/>
              </a:rPr>
              <a:t>Lost in the middle. Distraction by irrelevant text. Knowledge conflict.</a:t>
            </a:r>
          </a:p>
        </p:txBody>
      </p:sp>
      <p:sp>
        <p:nvSpPr>
          <p:cNvPr id="9" name="TextBox 8"/>
          <p:cNvSpPr txBox="1"/>
          <p:nvPr/>
        </p:nvSpPr>
        <p:spPr>
          <a:xfrm>
            <a:off x="731520" y="3703320"/>
            <a:ext cx="10725912" cy="2697480"/>
          </a:xfrm>
          <a:prstGeom prst="rect">
            <a:avLst/>
          </a:prstGeom>
          <a:noFill/>
        </p:spPr>
        <p:txBody>
          <a:bodyPr wrap="square" lIns="0" rIns="0" tIns="0" bIns="0" anchor="t">
            <a:spAutoFit/>
          </a:bodyPr>
          <a:lstStyle/>
          <a:p>
            <a:pPr algn="l">
              <a:lnSpc>
                <a:spcPct val="110000"/>
              </a:lnSpc>
              <a:spcAft>
                <a:spcPts val="1100"/>
              </a:spcAft>
            </a:pPr>
            <a:r>
              <a:rPr sz="1500" b="1" i="0">
                <a:solidFill>
                  <a:srgbClr val="111111"/>
                </a:solidFill>
                <a:latin typeface="Calibri"/>
              </a:rPr>
              <a:t>Both build defenses. Each side tests its defenses on its own failures.</a:t>
            </a:r>
          </a:p>
          <a:p>
            <a:pPr>
              <a:lnSpc>
                <a:spcPct val="110000"/>
              </a:lnSpc>
              <a:spcAft>
                <a:spcPts val="1100"/>
              </a:spcAft>
            </a:pPr>
            <a:r>
              <a:rPr sz="1500" b="0" i="0">
                <a:solidFill>
                  <a:srgbClr val="444444"/>
                </a:solidFill>
                <a:latin typeface="Calibri"/>
              </a:rPr>
              <a:t>A tool returns a page with a hidden order. A tool returns a page that is ten times too long. Both arrive through the same route. Both end in the same window. One has an author and one does not, and that is the only difference.</a:t>
            </a:r>
          </a:p>
          <a:p>
            <a:pPr>
              <a:lnSpc>
                <a:spcPct val="110000"/>
              </a:lnSpc>
              <a:spcAft>
                <a:spcPts val="1100"/>
              </a:spcAft>
            </a:pPr>
            <a:r>
              <a:rPr sz="1500" b="1" i="0">
                <a:solidFill>
                  <a:srgbClr val="111111"/>
                </a:solidFill>
                <a:latin typeface="Calibri"/>
              </a:rPr>
              <a:t>Our question: does that difference justify two separate sets of defenses?</a:t>
            </a:r>
          </a:p>
        </p:txBody>
      </p:sp>
      <p:sp>
        <p:nvSpPr>
          <p:cNvPr id="10" name="TextBox 9"/>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Security end: Greshake et al., AISec@CCS 2023, arXiv:2302.12173   ·   ML end: Liu et al., TACL 2023, arXiv:2307.03172; Shi et al., ICML 2023, arXiv:2302.00093   ·   Knowledge conflict: Xu et al., EMNLP 2024, arXiv:2403.08319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FRAMEWORK</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We describe every case with three questions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4</a:t>
            </a:r>
          </a:p>
        </p:txBody>
      </p:sp>
      <p:sp>
        <p:nvSpPr>
          <p:cNvPr id="5" name="TextBox 4"/>
          <p:cNvSpPr txBox="1"/>
          <p:nvPr/>
        </p:nvSpPr>
        <p:spPr>
          <a:xfrm>
            <a:off x="731520" y="2057400"/>
            <a:ext cx="23774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TAG</a:t>
            </a:r>
          </a:p>
        </p:txBody>
      </p:sp>
      <p:sp>
        <p:nvSpPr>
          <p:cNvPr id="6" name="TextBox 5"/>
          <p:cNvSpPr txBox="1"/>
          <p:nvPr/>
        </p:nvSpPr>
        <p:spPr>
          <a:xfrm>
            <a:off x="3108960" y="2057400"/>
            <a:ext cx="66751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QUESTION IT ANSWERS</a:t>
            </a:r>
          </a:p>
        </p:txBody>
      </p:sp>
      <p:sp>
        <p:nvSpPr>
          <p:cNvPr id="7" name="TextBox 6"/>
          <p:cNvSpPr txBox="1"/>
          <p:nvPr/>
        </p:nvSpPr>
        <p:spPr>
          <a:xfrm>
            <a:off x="9784080" y="2057400"/>
            <a:ext cx="138988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VALUES</a:t>
            </a:r>
          </a:p>
        </p:txBody>
      </p:sp>
      <p:sp>
        <p:nvSpPr>
          <p:cNvPr id="8" name="Rectangle 7"/>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4144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Channel</a:t>
            </a:r>
          </a:p>
        </p:txBody>
      </p:sp>
      <p:sp>
        <p:nvSpPr>
          <p:cNvPr id="10" name="TextBox 9"/>
          <p:cNvSpPr txBox="1"/>
          <p:nvPr/>
        </p:nvSpPr>
        <p:spPr>
          <a:xfrm>
            <a:off x="3108960" y="244144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How did the text get in? Which route did it travel?</a:t>
            </a:r>
          </a:p>
        </p:txBody>
      </p:sp>
      <p:sp>
        <p:nvSpPr>
          <p:cNvPr id="11" name="TextBox 10"/>
          <p:cNvSpPr txBox="1"/>
          <p:nvPr/>
        </p:nvSpPr>
        <p:spPr>
          <a:xfrm>
            <a:off x="9784080" y="244144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a:t>
            </a:r>
          </a:p>
        </p:txBody>
      </p:sp>
      <p:sp>
        <p:nvSpPr>
          <p:cNvPr id="12" name="TextBox 11"/>
          <p:cNvSpPr txBox="1"/>
          <p:nvPr/>
        </p:nvSpPr>
        <p:spPr>
          <a:xfrm>
            <a:off x="731520" y="299008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Intent</a:t>
            </a:r>
          </a:p>
        </p:txBody>
      </p:sp>
      <p:sp>
        <p:nvSpPr>
          <p:cNvPr id="13" name="TextBox 12"/>
          <p:cNvSpPr txBox="1"/>
          <p:nvPr/>
        </p:nvSpPr>
        <p:spPr>
          <a:xfrm>
            <a:off x="3108960" y="299008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Did a person put it there on purpose, or not?</a:t>
            </a:r>
          </a:p>
        </p:txBody>
      </p:sp>
      <p:sp>
        <p:nvSpPr>
          <p:cNvPr id="14" name="TextBox 13"/>
          <p:cNvSpPr txBox="1"/>
          <p:nvPr/>
        </p:nvSpPr>
        <p:spPr>
          <a:xfrm>
            <a:off x="9784080" y="299008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3</a:t>
            </a:r>
          </a:p>
        </p:txBody>
      </p:sp>
      <p:sp>
        <p:nvSpPr>
          <p:cNvPr id="15" name="TextBox 14"/>
          <p:cNvSpPr txBox="1"/>
          <p:nvPr/>
        </p:nvSpPr>
        <p:spPr>
          <a:xfrm>
            <a:off x="731520" y="3538728"/>
            <a:ext cx="237744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Consequence</a:t>
            </a:r>
          </a:p>
        </p:txBody>
      </p:sp>
      <p:sp>
        <p:nvSpPr>
          <p:cNvPr id="16" name="TextBox 15"/>
          <p:cNvSpPr txBox="1"/>
          <p:nvPr/>
        </p:nvSpPr>
        <p:spPr>
          <a:xfrm>
            <a:off x="3108960" y="3538728"/>
            <a:ext cx="66751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What went wrong once the text was in the window?</a:t>
            </a:r>
          </a:p>
        </p:txBody>
      </p:sp>
      <p:sp>
        <p:nvSpPr>
          <p:cNvPr id="17" name="TextBox 16"/>
          <p:cNvSpPr txBox="1"/>
          <p:nvPr/>
        </p:nvSpPr>
        <p:spPr>
          <a:xfrm>
            <a:off x="9784080" y="3538728"/>
            <a:ext cx="1389888"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6</a:t>
            </a:r>
          </a:p>
        </p:txBody>
      </p:sp>
      <p:sp>
        <p:nvSpPr>
          <p:cNvPr id="18" name="TextBox 17"/>
          <p:cNvSpPr txBox="1"/>
          <p:nvPr/>
        </p:nvSpPr>
        <p:spPr>
          <a:xfrm>
            <a:off x="731520" y="4114800"/>
            <a:ext cx="10725912" cy="237743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9 channels x 3 intents x 6 consequences = 162 combinations.</a:t>
            </a:r>
          </a:p>
          <a:p>
            <a:pPr>
              <a:lnSpc>
                <a:spcPct val="112000"/>
              </a:lnSpc>
              <a:spcAft>
                <a:spcPts val="900"/>
              </a:spcAft>
            </a:pPr>
            <a:r>
              <a:rPr sz="1400" b="0" i="0">
                <a:solidFill>
                  <a:srgbClr val="444444"/>
                </a:solidFill>
                <a:latin typeface="Calibri"/>
              </a:rPr>
              <a:t>—  A combination with no paper in it is a question the field has never asked. 98 of the 162 are empty.</a:t>
            </a:r>
          </a:p>
          <a:p>
            <a:pPr>
              <a:lnSpc>
                <a:spcPct val="112000"/>
              </a:lnSpc>
              <a:spcAft>
                <a:spcPts val="900"/>
              </a:spcAft>
            </a:pPr>
            <a:r>
              <a:rPr sz="1400" b="0" i="0">
                <a:solidFill>
                  <a:srgbClr val="444444"/>
                </a:solidFill>
                <a:latin typeface="Calibri"/>
              </a:rPr>
              <a:t>—  The framework tells us what is known, and it tells us where to look next.</a:t>
            </a:r>
          </a:p>
        </p:txBody>
      </p:sp>
      <p:sp>
        <p:nvSpPr>
          <p:cNvPr id="19" name="TextBox 18"/>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Framework: this work   ·   Adversarial end: Greshake et al., AISec@CCS 2023, arXiv:2302.12173   ·   Incidental end: Liu et al., TACL 2023, arXiv:2307.03172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CHANNEL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Nine routes carry text into the window</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5</a:t>
            </a:r>
          </a:p>
        </p:txBody>
      </p:sp>
      <p:sp>
        <p:nvSpPr>
          <p:cNvPr id="5" name="TextBox 4"/>
          <p:cNvSpPr txBox="1"/>
          <p:nvPr/>
        </p:nvSpPr>
        <p:spPr>
          <a:xfrm>
            <a:off x="731520" y="2029968"/>
            <a:ext cx="23774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ROUTE</a:t>
            </a:r>
          </a:p>
        </p:txBody>
      </p:sp>
      <p:sp>
        <p:nvSpPr>
          <p:cNvPr id="6" name="TextBox 5"/>
          <p:cNvSpPr txBox="1"/>
          <p:nvPr/>
        </p:nvSpPr>
        <p:spPr>
          <a:xfrm>
            <a:off x="3108960" y="2029968"/>
            <a:ext cx="64922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ARRIVES THIS WAY</a:t>
            </a:r>
          </a:p>
        </p:txBody>
      </p:sp>
      <p:sp>
        <p:nvSpPr>
          <p:cNvPr id="7" name="TextBox 6"/>
          <p:cNvSpPr txBox="1"/>
          <p:nvPr/>
        </p:nvSpPr>
        <p:spPr>
          <a:xfrm>
            <a:off x="9601200" y="2029968"/>
            <a:ext cx="15727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NAMED ATTACKS</a:t>
            </a:r>
          </a:p>
        </p:txBody>
      </p:sp>
      <p:sp>
        <p:nvSpPr>
          <p:cNvPr id="8" name="Rectangle 7"/>
          <p:cNvSpPr/>
          <p:nvPr/>
        </p:nvSpPr>
        <p:spPr>
          <a:xfrm>
            <a:off x="731520" y="230428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14016"/>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10" name="TextBox 9"/>
          <p:cNvSpPr txBox="1"/>
          <p:nvPr/>
        </p:nvSpPr>
        <p:spPr>
          <a:xfrm>
            <a:off x="3108960" y="2414016"/>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web page, an email, a file the agent opened</a:t>
            </a:r>
          </a:p>
        </p:txBody>
      </p:sp>
      <p:sp>
        <p:nvSpPr>
          <p:cNvPr id="11" name="TextBox 10"/>
          <p:cNvSpPr txBox="1"/>
          <p:nvPr/>
        </p:nvSpPr>
        <p:spPr>
          <a:xfrm>
            <a:off x="9601200" y="2414016"/>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75</a:t>
            </a:r>
          </a:p>
        </p:txBody>
      </p:sp>
      <p:sp>
        <p:nvSpPr>
          <p:cNvPr id="12" name="TextBox 11"/>
          <p:cNvSpPr txBox="1"/>
          <p:nvPr/>
        </p:nvSpPr>
        <p:spPr>
          <a:xfrm>
            <a:off x="731520" y="2816352"/>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3" name="TextBox 12"/>
          <p:cNvSpPr txBox="1"/>
          <p:nvPr/>
        </p:nvSpPr>
        <p:spPr>
          <a:xfrm>
            <a:off x="3108960" y="2816352"/>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prompt itself, or the system prompt above it</a:t>
            </a:r>
          </a:p>
        </p:txBody>
      </p:sp>
      <p:sp>
        <p:nvSpPr>
          <p:cNvPr id="14" name="TextBox 13"/>
          <p:cNvSpPr txBox="1"/>
          <p:nvPr/>
        </p:nvSpPr>
        <p:spPr>
          <a:xfrm>
            <a:off x="9601200" y="2816352"/>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67</a:t>
            </a:r>
          </a:p>
        </p:txBody>
      </p:sp>
      <p:sp>
        <p:nvSpPr>
          <p:cNvPr id="15" name="TextBox 14"/>
          <p:cNvSpPr txBox="1"/>
          <p:nvPr/>
        </p:nvSpPr>
        <p:spPr>
          <a:xfrm>
            <a:off x="731520" y="3218688"/>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6" name="TextBox 15"/>
          <p:cNvSpPr txBox="1"/>
          <p:nvPr/>
        </p:nvSpPr>
        <p:spPr>
          <a:xfrm>
            <a:off x="3108960" y="3218688"/>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document a search step pulled from a corpus</a:t>
            </a:r>
          </a:p>
        </p:txBody>
      </p:sp>
      <p:sp>
        <p:nvSpPr>
          <p:cNvPr id="17" name="TextBox 16"/>
          <p:cNvSpPr txBox="1"/>
          <p:nvPr/>
        </p:nvSpPr>
        <p:spPr>
          <a:xfrm>
            <a:off x="9601200" y="321868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28</a:t>
            </a:r>
          </a:p>
        </p:txBody>
      </p:sp>
      <p:sp>
        <p:nvSpPr>
          <p:cNvPr id="18" name="TextBox 17"/>
          <p:cNvSpPr txBox="1"/>
          <p:nvPr/>
        </p:nvSpPr>
        <p:spPr>
          <a:xfrm>
            <a:off x="731520" y="3621024"/>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cross-modal</a:t>
            </a:r>
          </a:p>
        </p:txBody>
      </p:sp>
      <p:sp>
        <p:nvSpPr>
          <p:cNvPr id="19" name="TextBox 18"/>
          <p:cNvSpPr txBox="1"/>
          <p:nvPr/>
        </p:nvSpPr>
        <p:spPr>
          <a:xfrm>
            <a:off x="3108960" y="3621024"/>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text inside an image, audio or video</a:t>
            </a:r>
          </a:p>
        </p:txBody>
      </p:sp>
      <p:sp>
        <p:nvSpPr>
          <p:cNvPr id="20" name="TextBox 19"/>
          <p:cNvSpPr txBox="1"/>
          <p:nvPr/>
        </p:nvSpPr>
        <p:spPr>
          <a:xfrm>
            <a:off x="9601200" y="3621024"/>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18</a:t>
            </a:r>
          </a:p>
        </p:txBody>
      </p:sp>
      <p:sp>
        <p:nvSpPr>
          <p:cNvPr id="21" name="TextBox 20"/>
          <p:cNvSpPr txBox="1"/>
          <p:nvPr/>
        </p:nvSpPr>
        <p:spPr>
          <a:xfrm>
            <a:off x="731520" y="4023360"/>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22" name="TextBox 21"/>
          <p:cNvSpPr txBox="1"/>
          <p:nvPr/>
        </p:nvSpPr>
        <p:spPr>
          <a:xfrm>
            <a:off x="3108960" y="4023360"/>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something the agent stored earlier and reads again</a:t>
            </a:r>
          </a:p>
        </p:txBody>
      </p:sp>
      <p:sp>
        <p:nvSpPr>
          <p:cNvPr id="23" name="TextBox 22"/>
          <p:cNvSpPr txBox="1"/>
          <p:nvPr/>
        </p:nvSpPr>
        <p:spPr>
          <a:xfrm>
            <a:off x="9601200" y="4023360"/>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16</a:t>
            </a:r>
          </a:p>
        </p:txBody>
      </p:sp>
      <p:sp>
        <p:nvSpPr>
          <p:cNvPr id="24" name="TextBox 23"/>
          <p:cNvSpPr txBox="1"/>
          <p:nvPr/>
        </p:nvSpPr>
        <p:spPr>
          <a:xfrm>
            <a:off x="731520" y="4425696"/>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tool-metadata</a:t>
            </a:r>
          </a:p>
        </p:txBody>
      </p:sp>
      <p:sp>
        <p:nvSpPr>
          <p:cNvPr id="25" name="TextBox 24"/>
          <p:cNvSpPr txBox="1"/>
          <p:nvPr/>
        </p:nvSpPr>
        <p:spPr>
          <a:xfrm>
            <a:off x="3108960" y="4425696"/>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description of a tool, not its output</a:t>
            </a:r>
          </a:p>
        </p:txBody>
      </p:sp>
      <p:sp>
        <p:nvSpPr>
          <p:cNvPr id="26" name="TextBox 25"/>
          <p:cNvSpPr txBox="1"/>
          <p:nvPr/>
        </p:nvSpPr>
        <p:spPr>
          <a:xfrm>
            <a:off x="9601200" y="4425696"/>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13</a:t>
            </a:r>
          </a:p>
        </p:txBody>
      </p:sp>
      <p:sp>
        <p:nvSpPr>
          <p:cNvPr id="27" name="TextBox 26"/>
          <p:cNvSpPr txBox="1"/>
          <p:nvPr/>
        </p:nvSpPr>
        <p:spPr>
          <a:xfrm>
            <a:off x="731520" y="4828032"/>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multi-agent</a:t>
            </a:r>
          </a:p>
        </p:txBody>
      </p:sp>
      <p:sp>
        <p:nvSpPr>
          <p:cNvPr id="28" name="TextBox 27"/>
          <p:cNvSpPr txBox="1"/>
          <p:nvPr/>
        </p:nvSpPr>
        <p:spPr>
          <a:xfrm>
            <a:off x="3108960" y="4828032"/>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message from another agent</a:t>
            </a:r>
          </a:p>
        </p:txBody>
      </p:sp>
      <p:sp>
        <p:nvSpPr>
          <p:cNvPr id="29" name="TextBox 28"/>
          <p:cNvSpPr txBox="1"/>
          <p:nvPr/>
        </p:nvSpPr>
        <p:spPr>
          <a:xfrm>
            <a:off x="9601200" y="4828032"/>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10</a:t>
            </a:r>
          </a:p>
        </p:txBody>
      </p:sp>
      <p:sp>
        <p:nvSpPr>
          <p:cNvPr id="30" name="TextBox 29"/>
          <p:cNvSpPr txBox="1"/>
          <p:nvPr/>
        </p:nvSpPr>
        <p:spPr>
          <a:xfrm>
            <a:off x="731520" y="5230368"/>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supply-chain</a:t>
            </a:r>
          </a:p>
        </p:txBody>
      </p:sp>
      <p:sp>
        <p:nvSpPr>
          <p:cNvPr id="31" name="TextBox 30"/>
          <p:cNvSpPr txBox="1"/>
          <p:nvPr/>
        </p:nvSpPr>
        <p:spPr>
          <a:xfrm>
            <a:off x="3108960" y="5230368"/>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package or template inherited before the run</a:t>
            </a:r>
          </a:p>
        </p:txBody>
      </p:sp>
      <p:sp>
        <p:nvSpPr>
          <p:cNvPr id="32" name="TextBox 31"/>
          <p:cNvSpPr txBox="1"/>
          <p:nvPr/>
        </p:nvSpPr>
        <p:spPr>
          <a:xfrm>
            <a:off x="9601200" y="52303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6</a:t>
            </a:r>
          </a:p>
        </p:txBody>
      </p:sp>
      <p:sp>
        <p:nvSpPr>
          <p:cNvPr id="33" name="TextBox 32"/>
          <p:cNvSpPr txBox="1"/>
          <p:nvPr/>
        </p:nvSpPr>
        <p:spPr>
          <a:xfrm>
            <a:off x="731520" y="5632704"/>
            <a:ext cx="23774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skill</a:t>
            </a:r>
          </a:p>
        </p:txBody>
      </p:sp>
      <p:sp>
        <p:nvSpPr>
          <p:cNvPr id="34" name="TextBox 33"/>
          <p:cNvSpPr txBox="1"/>
          <p:nvPr/>
        </p:nvSpPr>
        <p:spPr>
          <a:xfrm>
            <a:off x="3108960" y="5632704"/>
            <a:ext cx="649224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 stored procedure the agent loads and follows</a:t>
            </a:r>
          </a:p>
        </p:txBody>
      </p:sp>
      <p:sp>
        <p:nvSpPr>
          <p:cNvPr id="35" name="TextBox 34"/>
          <p:cNvSpPr txBox="1"/>
          <p:nvPr/>
        </p:nvSpPr>
        <p:spPr>
          <a:xfrm>
            <a:off x="9601200" y="5632704"/>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a:t>
            </a:r>
          </a:p>
        </p:txBody>
      </p:sp>
      <p:sp>
        <p:nvSpPr>
          <p:cNvPr id="36" name="TextBox 35"/>
          <p:cNvSpPr txBox="1"/>
          <p:nvPr/>
        </p:nvSpPr>
        <p:spPr>
          <a:xfrm>
            <a:off x="731520" y="6364224"/>
            <a:ext cx="10040112" cy="420624"/>
          </a:xfrm>
          <a:prstGeom prst="rect">
            <a:avLst/>
          </a:prstGeom>
          <a:noFill/>
        </p:spPr>
        <p:txBody>
          <a:bodyPr wrap="square" lIns="0" rIns="0" tIns="0" bIns="0" anchor="t">
            <a:spAutoFit/>
          </a:bodyPr>
          <a:lstStyle/>
          <a:p>
            <a:pPr algn="l">
              <a:lnSpc>
                <a:spcPct val="120000"/>
              </a:lnSpc>
              <a:spcAft>
                <a:spcPts val="0"/>
              </a:spcAft>
            </a:pPr>
            <a:r>
              <a:rPr sz="750" b="0" i="0">
                <a:solidFill>
                  <a:srgbClr val="999999"/>
                </a:solidFill>
                <a:latin typeface="Calibri"/>
              </a:rPr>
              <a:t>tool-output Greshake et al., AISec@CCS 2023  ·  direct-input Liu et al., 2023  ·  RAG Zou et al., USENIX Security 2024  ·  memory Chen et al., NeurIPS 2024  ·  cross-modal Wang et al., EMNLP 2025</a:t>
            </a:r>
          </a:p>
          <a:p>
            <a:pPr>
              <a:lnSpc>
                <a:spcPct val="120000"/>
              </a:lnSpc>
              <a:spcAft>
                <a:spcPts val="0"/>
              </a:spcAft>
            </a:pPr>
            <a:r>
              <a:rPr sz="750" b="0" i="0">
                <a:solidFill>
                  <a:srgbClr val="999999"/>
                </a:solidFill>
                <a:latin typeface="Calibri"/>
              </a:rPr>
              <a:t>tool-metadata Wang et al., AAAI 2026  ·  multi-agent Lee et al., ESORICS 2025  ·  supply-chain Qu et al., 2026  ·  skill Jia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CONSEQUENCE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Six ways the agent then fails</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6</a:t>
            </a:r>
          </a:p>
        </p:txBody>
      </p:sp>
      <p:sp>
        <p:nvSpPr>
          <p:cNvPr id="5" name="TextBox 4"/>
          <p:cNvSpPr txBox="1"/>
          <p:nvPr/>
        </p:nvSpPr>
        <p:spPr>
          <a:xfrm>
            <a:off x="731520" y="2103120"/>
            <a:ext cx="3017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FAILURE</a:t>
            </a:r>
          </a:p>
        </p:txBody>
      </p:sp>
      <p:sp>
        <p:nvSpPr>
          <p:cNvPr id="6" name="TextBox 5"/>
          <p:cNvSpPr txBox="1"/>
          <p:nvPr/>
        </p:nvSpPr>
        <p:spPr>
          <a:xfrm>
            <a:off x="3749039" y="2103120"/>
            <a:ext cx="5852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7" name="TextBox 6"/>
          <p:cNvSpPr txBox="1"/>
          <p:nvPr/>
        </p:nvSpPr>
        <p:spPr>
          <a:xfrm>
            <a:off x="9601200" y="2103120"/>
            <a:ext cx="157276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NAMED ATTACKS</a:t>
            </a:r>
          </a:p>
        </p:txBody>
      </p:sp>
      <p:sp>
        <p:nvSpPr>
          <p:cNvPr id="8" name="Rectangle 7"/>
          <p:cNvSpPr/>
          <p:nvPr/>
        </p:nvSpPr>
        <p:spPr>
          <a:xfrm>
            <a:off x="731520" y="237743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8716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10" name="TextBox 9"/>
          <p:cNvSpPr txBox="1"/>
          <p:nvPr/>
        </p:nvSpPr>
        <p:spPr>
          <a:xfrm>
            <a:off x="3749039" y="248716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does another person's task; text in the window gives an order and it obeys</a:t>
            </a:r>
          </a:p>
        </p:txBody>
      </p:sp>
      <p:sp>
        <p:nvSpPr>
          <p:cNvPr id="11" name="TextBox 10"/>
          <p:cNvSpPr txBox="1"/>
          <p:nvPr/>
        </p:nvSpPr>
        <p:spPr>
          <a:xfrm>
            <a:off x="9601200" y="24871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136</a:t>
            </a:r>
          </a:p>
        </p:txBody>
      </p:sp>
      <p:sp>
        <p:nvSpPr>
          <p:cNvPr id="12" name="TextBox 11"/>
          <p:cNvSpPr txBox="1"/>
          <p:nvPr/>
        </p:nvSpPr>
        <p:spPr>
          <a:xfrm>
            <a:off x="731520" y="303580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3749039" y="303580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every word is true, but the window is too long or too cluttered to use well</a:t>
            </a:r>
          </a:p>
        </p:txBody>
      </p:sp>
      <p:sp>
        <p:nvSpPr>
          <p:cNvPr id="14" name="TextBox 13"/>
          <p:cNvSpPr txBox="1"/>
          <p:nvPr/>
        </p:nvSpPr>
        <p:spPr>
          <a:xfrm>
            <a:off x="9601200" y="303580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46</a:t>
            </a:r>
          </a:p>
        </p:txBody>
      </p:sp>
      <p:sp>
        <p:nvSpPr>
          <p:cNvPr id="15" name="TextBox 14"/>
          <p:cNvSpPr txBox="1"/>
          <p:nvPr/>
        </p:nvSpPr>
        <p:spPr>
          <a:xfrm>
            <a:off x="731520" y="358444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6" name="TextBox 15"/>
          <p:cNvSpPr txBox="1"/>
          <p:nvPr/>
        </p:nvSpPr>
        <p:spPr>
          <a:xfrm>
            <a:off x="3749039" y="358444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answers from false content; nobody gave it a new task</a:t>
            </a:r>
          </a:p>
        </p:txBody>
      </p:sp>
      <p:sp>
        <p:nvSpPr>
          <p:cNvPr id="17" name="TextBox 16"/>
          <p:cNvSpPr txBox="1"/>
          <p:nvPr/>
        </p:nvSpPr>
        <p:spPr>
          <a:xfrm>
            <a:off x="9601200" y="358444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21</a:t>
            </a:r>
          </a:p>
        </p:txBody>
      </p:sp>
      <p:sp>
        <p:nvSpPr>
          <p:cNvPr id="18" name="TextBox 17"/>
          <p:cNvSpPr txBox="1"/>
          <p:nvPr/>
        </p:nvSpPr>
        <p:spPr>
          <a:xfrm>
            <a:off x="731520" y="4133087"/>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19" name="TextBox 18"/>
          <p:cNvSpPr txBox="1"/>
          <p:nvPr/>
        </p:nvSpPr>
        <p:spPr>
          <a:xfrm>
            <a:off x="3749039" y="4133087"/>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bad content is stored and fires on a later run</a:t>
            </a:r>
          </a:p>
        </p:txBody>
      </p:sp>
      <p:sp>
        <p:nvSpPr>
          <p:cNvPr id="20" name="TextBox 19"/>
          <p:cNvSpPr txBox="1"/>
          <p:nvPr/>
        </p:nvSpPr>
        <p:spPr>
          <a:xfrm>
            <a:off x="9601200" y="4133087"/>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16</a:t>
            </a:r>
          </a:p>
        </p:txBody>
      </p:sp>
      <p:sp>
        <p:nvSpPr>
          <p:cNvPr id="21" name="TextBox 20"/>
          <p:cNvSpPr txBox="1"/>
          <p:nvPr/>
        </p:nvSpPr>
        <p:spPr>
          <a:xfrm>
            <a:off x="731520" y="4681727"/>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data-exfiltration</a:t>
            </a:r>
          </a:p>
        </p:txBody>
      </p:sp>
      <p:sp>
        <p:nvSpPr>
          <p:cNvPr id="22" name="TextBox 21"/>
          <p:cNvSpPr txBox="1"/>
          <p:nvPr/>
        </p:nvSpPr>
        <p:spPr>
          <a:xfrm>
            <a:off x="3749039" y="4681727"/>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sends out what it can read</a:t>
            </a:r>
          </a:p>
        </p:txBody>
      </p:sp>
      <p:sp>
        <p:nvSpPr>
          <p:cNvPr id="23" name="TextBox 22"/>
          <p:cNvSpPr txBox="1"/>
          <p:nvPr/>
        </p:nvSpPr>
        <p:spPr>
          <a:xfrm>
            <a:off x="9601200" y="4681727"/>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14</a:t>
            </a:r>
          </a:p>
        </p:txBody>
      </p:sp>
      <p:sp>
        <p:nvSpPr>
          <p:cNvPr id="24" name="TextBox 23"/>
          <p:cNvSpPr txBox="1"/>
          <p:nvPr/>
        </p:nvSpPr>
        <p:spPr>
          <a:xfrm>
            <a:off x="731520" y="5230368"/>
            <a:ext cx="3017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resource-abuse</a:t>
            </a:r>
          </a:p>
        </p:txBody>
      </p:sp>
      <p:sp>
        <p:nvSpPr>
          <p:cNvPr id="25" name="TextBox 24"/>
          <p:cNvSpPr txBox="1"/>
          <p:nvPr/>
        </p:nvSpPr>
        <p:spPr>
          <a:xfrm>
            <a:off x="3749039" y="5230368"/>
            <a:ext cx="58521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agent burns time, or refuses to answer at all</a:t>
            </a:r>
          </a:p>
        </p:txBody>
      </p:sp>
      <p:sp>
        <p:nvSpPr>
          <p:cNvPr id="26" name="TextBox 25"/>
          <p:cNvSpPr txBox="1"/>
          <p:nvPr/>
        </p:nvSpPr>
        <p:spPr>
          <a:xfrm>
            <a:off x="9601200" y="5230368"/>
            <a:ext cx="157276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a:t>
            </a:r>
          </a:p>
        </p:txBody>
      </p:sp>
      <p:sp>
        <p:nvSpPr>
          <p:cNvPr id="27" name="TextBox 26"/>
          <p:cNvSpPr txBox="1"/>
          <p:nvPr/>
        </p:nvSpPr>
        <p:spPr>
          <a:xfrm>
            <a:off x="731520" y="5760720"/>
            <a:ext cx="10725912" cy="365760"/>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second row is the machine learning literature. The other five are the security literature. That is the split, in one column.</a:t>
            </a:r>
          </a:p>
        </p:txBody>
      </p:sp>
      <p:sp>
        <p:nvSpPr>
          <p:cNvPr id="28" name="TextBox 27"/>
          <p:cNvSpPr txBox="1"/>
          <p:nvPr/>
        </p:nvSpPr>
        <p:spPr>
          <a:xfrm>
            <a:off x="731520" y="6327648"/>
            <a:ext cx="10040112" cy="475488"/>
          </a:xfrm>
          <a:prstGeom prst="rect">
            <a:avLst/>
          </a:prstGeom>
          <a:noFill/>
        </p:spPr>
        <p:txBody>
          <a:bodyPr wrap="square" lIns="0" rIns="0" tIns="0" bIns="0" anchor="t">
            <a:spAutoFit/>
          </a:bodyPr>
          <a:lstStyle/>
          <a:p>
            <a:pPr algn="l">
              <a:lnSpc>
                <a:spcPct val="115000"/>
              </a:lnSpc>
              <a:spcAft>
                <a:spcPts val="0"/>
              </a:spcAft>
            </a:pPr>
            <a:r>
              <a:rPr sz="750" b="0" i="0">
                <a:solidFill>
                  <a:srgbClr val="999999"/>
                </a:solidFill>
                <a:latin typeface="Calibri"/>
              </a:rPr>
              <a:t>goal-hijack Greshake et al., AISec@CCS 2023   ·   reasoning-corruption Liu et al., TACL 2023; Shi et al., ICML 2023   ·   silent-corruption Xie et al., ICLR 2023   ·   persistence-backdoor Chen et al., NeurIPS 2024   ·   data-exfiltration Qi et al., ICLR 2024   ·   resource-abuse Xue et al.,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BUILT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A map of every attack and every defense in the field</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7</a:t>
            </a:r>
          </a:p>
        </p:txBody>
      </p:sp>
      <p:sp>
        <p:nvSpPr>
          <p:cNvPr id="5" name="TextBox 4"/>
          <p:cNvSpPr txBox="1"/>
          <p:nvPr/>
        </p:nvSpPr>
        <p:spPr>
          <a:xfrm>
            <a:off x="731520" y="2057400"/>
            <a:ext cx="2743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COUNT</a:t>
            </a:r>
          </a:p>
        </p:txBody>
      </p:sp>
      <p:sp>
        <p:nvSpPr>
          <p:cNvPr id="6" name="TextBox 5"/>
          <p:cNvSpPr txBox="1"/>
          <p:nvPr/>
        </p:nvSpPr>
        <p:spPr>
          <a:xfrm>
            <a:off x="3474720" y="2057400"/>
            <a:ext cx="7955279"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IS</a:t>
            </a:r>
          </a:p>
        </p:txBody>
      </p:sp>
      <p:sp>
        <p:nvSpPr>
          <p:cNvPr id="7" name="Rectangle 6"/>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441448"/>
            <a:ext cx="274320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1,026 papers</a:t>
            </a:r>
          </a:p>
        </p:txBody>
      </p:sp>
      <p:sp>
        <p:nvSpPr>
          <p:cNvPr id="9" name="TextBox 8"/>
          <p:cNvSpPr txBox="1"/>
          <p:nvPr/>
        </p:nvSpPr>
        <p:spPr>
          <a:xfrm>
            <a:off x="3474720" y="2441448"/>
            <a:ext cx="7955279"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read in full and coded, drawn from about 26,000 candidates</a:t>
            </a:r>
          </a:p>
        </p:txBody>
      </p:sp>
      <p:sp>
        <p:nvSpPr>
          <p:cNvPr id="10" name="TextBox 9"/>
          <p:cNvSpPr txBox="1"/>
          <p:nvPr/>
        </p:nvSpPr>
        <p:spPr>
          <a:xfrm>
            <a:off x="731520" y="2971800"/>
            <a:ext cx="274320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237 attacks</a:t>
            </a:r>
          </a:p>
        </p:txBody>
      </p:sp>
      <p:sp>
        <p:nvSpPr>
          <p:cNvPr id="11" name="TextBox 10"/>
          <p:cNvSpPr txBox="1"/>
          <p:nvPr/>
        </p:nvSpPr>
        <p:spPr>
          <a:xfrm>
            <a:off x="3474720" y="2971800"/>
            <a:ext cx="7955279"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distinct named ways to corrupt a context window</a:t>
            </a:r>
          </a:p>
        </p:txBody>
      </p:sp>
      <p:sp>
        <p:nvSpPr>
          <p:cNvPr id="12" name="TextBox 11"/>
          <p:cNvSpPr txBox="1"/>
          <p:nvPr/>
        </p:nvSpPr>
        <p:spPr>
          <a:xfrm>
            <a:off x="731520" y="3502152"/>
            <a:ext cx="274320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534 defenses</a:t>
            </a:r>
          </a:p>
        </p:txBody>
      </p:sp>
      <p:sp>
        <p:nvSpPr>
          <p:cNvPr id="13" name="TextBox 12"/>
          <p:cNvSpPr txBox="1"/>
          <p:nvPr/>
        </p:nvSpPr>
        <p:spPr>
          <a:xfrm>
            <a:off x="3474720" y="3502152"/>
            <a:ext cx="7955279"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distinct named ways the field protects against them</a:t>
            </a:r>
          </a:p>
        </p:txBody>
      </p:sp>
      <p:sp>
        <p:nvSpPr>
          <p:cNvPr id="14" name="TextBox 13"/>
          <p:cNvSpPr txBox="1"/>
          <p:nvPr/>
        </p:nvSpPr>
        <p:spPr>
          <a:xfrm>
            <a:off x="731520" y="4032504"/>
            <a:ext cx="274320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349 pairs</a:t>
            </a:r>
          </a:p>
        </p:txBody>
      </p:sp>
      <p:sp>
        <p:nvSpPr>
          <p:cNvPr id="15" name="TextBox 14"/>
          <p:cNvSpPr txBox="1"/>
          <p:nvPr/>
        </p:nvSpPr>
        <p:spPr>
          <a:xfrm>
            <a:off x="3474720" y="4032504"/>
            <a:ext cx="7955279"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every case where a paper tested one defense against one attack</a:t>
            </a:r>
          </a:p>
        </p:txBody>
      </p:sp>
      <p:sp>
        <p:nvSpPr>
          <p:cNvPr id="16" name="TextBox 15"/>
          <p:cNvSpPr txBox="1"/>
          <p:nvPr/>
        </p:nvSpPr>
        <p:spPr>
          <a:xfrm>
            <a:off x="731520" y="4526280"/>
            <a:ext cx="10725912" cy="196595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No prior survey holds both literatures. The closest reviews 78 papers, 37 attacks and 41 defenses, and stays on the security side.</a:t>
            </a:r>
          </a:p>
          <a:p>
            <a:pPr>
              <a:lnSpc>
                <a:spcPct val="112000"/>
              </a:lnSpc>
              <a:spcAft>
                <a:spcPts val="900"/>
              </a:spcAft>
            </a:pPr>
            <a:r>
              <a:rPr sz="1400" b="0" i="0">
                <a:solidFill>
                  <a:srgbClr val="444444"/>
                </a:solidFill>
                <a:latin typeface="Calibri"/>
              </a:rPr>
              <a:t>—  That map is the instrument. Everything that follows is read off it.</a:t>
            </a:r>
          </a:p>
        </p:txBody>
      </p:sp>
      <p:sp>
        <p:nvSpPr>
          <p:cNvPr id="17" name="TextBox 16"/>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Closest prior survey: Wang et al., 2026, arXiv:2602.10453   ·   Review protocol follows Woesle et al., IEEE Access 2026 and Geng et al., Computers, Materials &amp; Continua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THE MAP IS</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One row for every attack and every defense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8</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800"/>
              </a:spcAft>
            </a:pPr>
            <a:r>
              <a:rPr sz="1400" b="1" i="0">
                <a:solidFill>
                  <a:srgbClr val="111111"/>
                </a:solidFill>
                <a:latin typeface="Calibri"/>
              </a:rPr>
              <a:t>—  The map is a table, not a picture. One row for each named attack, one row for each named defense, 771 rows in all.</a:t>
            </a:r>
          </a:p>
          <a:p>
            <a:pPr>
              <a:lnSpc>
                <a:spcPct val="112000"/>
              </a:lnSpc>
              <a:spcAft>
                <a:spcPts val="800"/>
              </a:spcAft>
            </a:pPr>
            <a:r>
              <a:rPr sz="1400" b="0" i="0">
                <a:solidFill>
                  <a:srgbClr val="444444"/>
                </a:solidFill>
                <a:latin typeface="Calibri"/>
              </a:rPr>
              <a:t>—  Every row carries the same three tags. We read them from the paper's full text, not its title, and they come from fixed lists, so two papers describing the same thing land in the same place.</a:t>
            </a:r>
          </a:p>
        </p:txBody>
      </p:sp>
      <p:sp>
        <p:nvSpPr>
          <p:cNvPr id="6" name="TextBox 5"/>
          <p:cNvSpPr txBox="1"/>
          <p:nvPr/>
        </p:nvSpPr>
        <p:spPr>
          <a:xfrm>
            <a:off x="731520" y="3291840"/>
            <a:ext cx="26517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FIELD</a:t>
            </a:r>
          </a:p>
        </p:txBody>
      </p:sp>
      <p:sp>
        <p:nvSpPr>
          <p:cNvPr id="7" name="TextBox 6"/>
          <p:cNvSpPr txBox="1"/>
          <p:nvPr/>
        </p:nvSpPr>
        <p:spPr>
          <a:xfrm>
            <a:off x="3383280" y="329184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AN ATTACK ROW</a:t>
            </a:r>
          </a:p>
        </p:txBody>
      </p:sp>
      <p:sp>
        <p:nvSpPr>
          <p:cNvPr id="8" name="TextBox 7"/>
          <p:cNvSpPr txBox="1"/>
          <p:nvPr/>
        </p:nvSpPr>
        <p:spPr>
          <a:xfrm>
            <a:off x="7406640" y="329184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 DEFENSE ROW</a:t>
            </a:r>
          </a:p>
        </p:txBody>
      </p:sp>
      <p:sp>
        <p:nvSpPr>
          <p:cNvPr id="9" name="Rectangle 8"/>
          <p:cNvSpPr/>
          <p:nvPr/>
        </p:nvSpPr>
        <p:spPr>
          <a:xfrm>
            <a:off x="731520" y="356616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675888"/>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Name</a:t>
            </a:r>
          </a:p>
        </p:txBody>
      </p:sp>
      <p:sp>
        <p:nvSpPr>
          <p:cNvPr id="11" name="TextBox 10"/>
          <p:cNvSpPr txBox="1"/>
          <p:nvPr/>
        </p:nvSpPr>
        <p:spPr>
          <a:xfrm>
            <a:off x="3383280" y="3675888"/>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12" name="TextBox 11"/>
          <p:cNvSpPr txBox="1"/>
          <p:nvPr/>
        </p:nvSpPr>
        <p:spPr>
          <a:xfrm>
            <a:off x="7406640" y="3675888"/>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ParamMute</a:t>
            </a:r>
          </a:p>
        </p:txBody>
      </p:sp>
      <p:sp>
        <p:nvSpPr>
          <p:cNvPr id="13" name="TextBox 12"/>
          <p:cNvSpPr txBox="1"/>
          <p:nvPr/>
        </p:nvSpPr>
        <p:spPr>
          <a:xfrm>
            <a:off x="731520" y="4059936"/>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Route in</a:t>
            </a:r>
          </a:p>
        </p:txBody>
      </p:sp>
      <p:sp>
        <p:nvSpPr>
          <p:cNvPr id="14" name="TextBox 13"/>
          <p:cNvSpPr txBox="1"/>
          <p:nvPr/>
        </p:nvSpPr>
        <p:spPr>
          <a:xfrm>
            <a:off x="3383280" y="4059936"/>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5" name="TextBox 14"/>
          <p:cNvSpPr txBox="1"/>
          <p:nvPr/>
        </p:nvSpPr>
        <p:spPr>
          <a:xfrm>
            <a:off x="7406640" y="4059936"/>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6" name="TextBox 15"/>
          <p:cNvSpPr txBox="1"/>
          <p:nvPr/>
        </p:nvSpPr>
        <p:spPr>
          <a:xfrm>
            <a:off x="731520" y="4443984"/>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What goes wrong</a:t>
            </a:r>
          </a:p>
        </p:txBody>
      </p:sp>
      <p:sp>
        <p:nvSpPr>
          <p:cNvPr id="17" name="TextBox 16"/>
          <p:cNvSpPr txBox="1"/>
          <p:nvPr/>
        </p:nvSpPr>
        <p:spPr>
          <a:xfrm>
            <a:off x="3383280" y="4443984"/>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7406640" y="4443984"/>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9" name="TextBox 18"/>
          <p:cNvSpPr txBox="1"/>
          <p:nvPr/>
        </p:nvSpPr>
        <p:spPr>
          <a:xfrm>
            <a:off x="731520" y="4828032"/>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Caused by a person</a:t>
            </a:r>
          </a:p>
        </p:txBody>
      </p:sp>
      <p:sp>
        <p:nvSpPr>
          <p:cNvPr id="20" name="TextBox 19"/>
          <p:cNvSpPr txBox="1"/>
          <p:nvPr/>
        </p:nvSpPr>
        <p:spPr>
          <a:xfrm>
            <a:off x="3383280" y="4828032"/>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yes</a:t>
            </a:r>
          </a:p>
        </p:txBody>
      </p:sp>
      <p:sp>
        <p:nvSpPr>
          <p:cNvPr id="21" name="TextBox 20"/>
          <p:cNvSpPr txBox="1"/>
          <p:nvPr/>
        </p:nvSpPr>
        <p:spPr>
          <a:xfrm>
            <a:off x="7406640" y="4828032"/>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no - built for the accident</a:t>
            </a:r>
          </a:p>
        </p:txBody>
      </p:sp>
      <p:sp>
        <p:nvSpPr>
          <p:cNvPr id="22" name="TextBox 21"/>
          <p:cNvSpPr txBox="1"/>
          <p:nvPr/>
        </p:nvSpPr>
        <p:spPr>
          <a:xfrm>
            <a:off x="731520" y="5212080"/>
            <a:ext cx="26517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From</a:t>
            </a:r>
          </a:p>
        </p:txBody>
      </p:sp>
      <p:sp>
        <p:nvSpPr>
          <p:cNvPr id="23" name="TextBox 22"/>
          <p:cNvSpPr txBox="1"/>
          <p:nvPr/>
        </p:nvSpPr>
        <p:spPr>
          <a:xfrm>
            <a:off x="3383280" y="5212080"/>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Zhong et al., EMNLP 2023</a:t>
            </a:r>
          </a:p>
        </p:txBody>
      </p:sp>
      <p:sp>
        <p:nvSpPr>
          <p:cNvPr id="24" name="TextBox 23"/>
          <p:cNvSpPr txBox="1"/>
          <p:nvPr/>
        </p:nvSpPr>
        <p:spPr>
          <a:xfrm>
            <a:off x="7406640" y="5212080"/>
            <a:ext cx="4023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Huang et al., NeurIPS 2025</a:t>
            </a:r>
          </a:p>
        </p:txBody>
      </p:sp>
      <p:sp>
        <p:nvSpPr>
          <p:cNvPr id="25" name="TextBox 24"/>
          <p:cNvSpPr txBox="1"/>
          <p:nvPr/>
        </p:nvSpPr>
        <p:spPr>
          <a:xfrm>
            <a:off x="731520" y="5532120"/>
            <a:ext cx="10725912" cy="960119"/>
          </a:xfrm>
          <a:prstGeom prst="rect">
            <a:avLst/>
          </a:prstGeom>
          <a:noFill/>
        </p:spPr>
        <p:txBody>
          <a:bodyPr wrap="square" lIns="0" rIns="0" tIns="0" bIns="0" anchor="t">
            <a:spAutoFit/>
          </a:bodyPr>
          <a:lstStyle/>
          <a:p>
            <a:pPr algn="l">
              <a:lnSpc>
                <a:spcPct val="112000"/>
              </a:lnSpc>
              <a:spcAft>
                <a:spcPts val="700"/>
              </a:spcAft>
            </a:pPr>
            <a:r>
              <a:rPr sz="1400" b="1" i="0">
                <a:solidFill>
                  <a:srgbClr val="111111"/>
                </a:solidFill>
                <a:latin typeface="Calibri"/>
              </a:rPr>
              <a:t>—  Same route, same failure, so the two rows share a cell and the defense has a claim to answer that attack.</a:t>
            </a:r>
          </a:p>
          <a:p>
            <a:pPr>
              <a:lnSpc>
                <a:spcPct val="112000"/>
              </a:lnSpc>
              <a:spcAft>
                <a:spcPts val="700"/>
              </a:spcAft>
            </a:pPr>
            <a:r>
              <a:rPr sz="1400" b="0" i="0">
                <a:solidFill>
                  <a:srgbClr val="444444"/>
                </a:solidFill>
                <a:latin typeface="Calibri"/>
              </a:rPr>
              <a:t>—  Nobody had ever run them against each other. We did.</a:t>
            </a:r>
          </a:p>
        </p:txBody>
      </p:sp>
      <p:sp>
        <p:nvSpPr>
          <p:cNvPr id="26" name="TextBox 25"/>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corpus poisoning Zhong et al., EMNLP 2023   ·   ParamMute Huang et al., NeurIPS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1</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two communities do not read each other</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9</a:t>
            </a:r>
          </a:p>
        </p:txBody>
      </p:sp>
      <p:sp>
        <p:nvSpPr>
          <p:cNvPr id="5" name="TextBox 4"/>
          <p:cNvSpPr txBox="1"/>
          <p:nvPr/>
        </p:nvSpPr>
        <p:spPr>
          <a:xfrm>
            <a:off x="731520" y="2057400"/>
            <a:ext cx="7680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MEASURE</a:t>
            </a:r>
          </a:p>
        </p:txBody>
      </p:sp>
      <p:sp>
        <p:nvSpPr>
          <p:cNvPr id="6" name="TextBox 5"/>
          <p:cNvSpPr txBox="1"/>
          <p:nvPr/>
        </p:nvSpPr>
        <p:spPr>
          <a:xfrm>
            <a:off x="8412480" y="2057400"/>
            <a:ext cx="276148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VALUE</a:t>
            </a:r>
          </a:p>
        </p:txBody>
      </p:sp>
      <p:sp>
        <p:nvSpPr>
          <p:cNvPr id="7" name="Rectangle 6"/>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44144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Security papers citing at least one machine learning paper</a:t>
            </a:r>
          </a:p>
        </p:txBody>
      </p:sp>
      <p:sp>
        <p:nvSpPr>
          <p:cNvPr id="9" name="TextBox 8"/>
          <p:cNvSpPr txBox="1"/>
          <p:nvPr/>
        </p:nvSpPr>
        <p:spPr>
          <a:xfrm>
            <a:off x="8412480" y="244144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11.7 %</a:t>
            </a:r>
          </a:p>
        </p:txBody>
      </p:sp>
      <p:sp>
        <p:nvSpPr>
          <p:cNvPr id="10" name="TextBox 9"/>
          <p:cNvSpPr txBox="1"/>
          <p:nvPr/>
        </p:nvSpPr>
        <p:spPr>
          <a:xfrm>
            <a:off x="731520" y="299008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Machine learning papers citing at least one security paper</a:t>
            </a:r>
          </a:p>
        </p:txBody>
      </p:sp>
      <p:sp>
        <p:nvSpPr>
          <p:cNvPr id="11" name="TextBox 10"/>
          <p:cNvSpPr txBox="1"/>
          <p:nvPr/>
        </p:nvSpPr>
        <p:spPr>
          <a:xfrm>
            <a:off x="8412480" y="299008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9.1 %</a:t>
            </a:r>
          </a:p>
        </p:txBody>
      </p:sp>
      <p:sp>
        <p:nvSpPr>
          <p:cNvPr id="12" name="TextBox 11"/>
          <p:cNvSpPr txBox="1"/>
          <p:nvPr/>
        </p:nvSpPr>
        <p:spPr>
          <a:xfrm>
            <a:off x="731520" y="353872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Tested pairs that stay inside one literature</a:t>
            </a:r>
          </a:p>
        </p:txBody>
      </p:sp>
      <p:sp>
        <p:nvSpPr>
          <p:cNvPr id="13" name="TextBox 12"/>
          <p:cNvSpPr txBox="1"/>
          <p:nvPr/>
        </p:nvSpPr>
        <p:spPr>
          <a:xfrm>
            <a:off x="8412480" y="353872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98.0 %</a:t>
            </a:r>
          </a:p>
        </p:txBody>
      </p:sp>
      <p:sp>
        <p:nvSpPr>
          <p:cNvPr id="14" name="TextBox 13"/>
          <p:cNvSpPr txBox="1"/>
          <p:nvPr/>
        </p:nvSpPr>
        <p:spPr>
          <a:xfrm>
            <a:off x="731520" y="4087368"/>
            <a:ext cx="76809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Combinations in the framework nobody has studied</a:t>
            </a:r>
          </a:p>
        </p:txBody>
      </p:sp>
      <p:sp>
        <p:nvSpPr>
          <p:cNvPr id="15" name="TextBox 14"/>
          <p:cNvSpPr txBox="1"/>
          <p:nvPr/>
        </p:nvSpPr>
        <p:spPr>
          <a:xfrm>
            <a:off x="8412480" y="4087368"/>
            <a:ext cx="2761487" cy="310896"/>
          </a:xfrm>
          <a:prstGeom prst="rect">
            <a:avLst/>
          </a:prstGeom>
          <a:noFill/>
        </p:spPr>
        <p:txBody>
          <a:bodyPr wrap="square" lIns="0" rIns="0" tIns="0" bIns="0" anchor="t">
            <a:spAutoFit/>
          </a:bodyPr>
          <a:lstStyle/>
          <a:p>
            <a:pPr algn="r">
              <a:lnSpc>
                <a:spcPct val="106000"/>
              </a:lnSpc>
              <a:spcAft>
                <a:spcPts val="0"/>
              </a:spcAft>
            </a:pPr>
            <a:r>
              <a:rPr sz="1500" b="0" i="0">
                <a:solidFill>
                  <a:srgbClr val="444444"/>
                </a:solidFill>
                <a:latin typeface="Calibri"/>
              </a:rPr>
              <a:t>60.5 %</a:t>
            </a:r>
          </a:p>
        </p:txBody>
      </p:sp>
      <p:sp>
        <p:nvSpPr>
          <p:cNvPr id="16" name="TextBox 15"/>
          <p:cNvSpPr txBox="1"/>
          <p:nvPr/>
        </p:nvSpPr>
        <p:spPr>
          <a:xfrm>
            <a:off x="731520" y="4617720"/>
            <a:ext cx="10725912" cy="187451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Nine of ten papers never cross. Seven pairs in the whole field do.</a:t>
            </a:r>
          </a:p>
          <a:p>
            <a:pPr>
              <a:lnSpc>
                <a:spcPct val="112000"/>
              </a:lnSpc>
              <a:spcAft>
                <a:spcPts val="900"/>
              </a:spcAft>
            </a:pPr>
            <a:r>
              <a:rPr sz="1400" b="0" i="0">
                <a:solidFill>
                  <a:srgbClr val="444444"/>
                </a:solidFill>
                <a:latin typeface="Calibri"/>
              </a:rPr>
              <a:t>—  This is not a sample. We resolved every citation edge in the corpus.</a:t>
            </a:r>
          </a:p>
          <a:p>
            <a:pPr>
              <a:lnSpc>
                <a:spcPct val="112000"/>
              </a:lnSpc>
              <a:spcAft>
                <a:spcPts val="900"/>
              </a:spcAft>
            </a:pPr>
            <a:r>
              <a:rPr sz="1400" b="1" i="0">
                <a:solidFill>
                  <a:srgbClr val="111111"/>
                </a:solidFill>
                <a:latin typeface="Calibri"/>
              </a:rPr>
              <a:t>—  So every claim that a defense is robust holds inside one threat model. Nobody has checked the other 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119 attacks that no defense has been run against</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10</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800"/>
              </a:spcAft>
            </a:pPr>
            <a:r>
              <a:rPr sz="1400" b="1" i="0">
                <a:solidFill>
                  <a:srgbClr val="111111"/>
                </a:solidFill>
                <a:latin typeface="Calibri"/>
              </a:rPr>
              <a:t>—  Of 237 named attacks, 119 have no tested defense at all.</a:t>
            </a:r>
          </a:p>
          <a:p>
            <a:pPr>
              <a:lnSpc>
                <a:spcPct val="112000"/>
              </a:lnSpc>
              <a:spcAft>
                <a:spcPts val="800"/>
              </a:spcAft>
            </a:pPr>
            <a:r>
              <a:rPr sz="1400" b="0" i="0">
                <a:solidFill>
                  <a:srgbClr val="444444"/>
                </a:solidFill>
                <a:latin typeface="Calibri"/>
              </a:rPr>
              <a:t>—  That does not mean the attack is unproven. Each paper shows the attack working. It shows it working against a system with no defense switched on.</a:t>
            </a:r>
          </a:p>
          <a:p>
            <a:pPr>
              <a:lnSpc>
                <a:spcPct val="112000"/>
              </a:lnSpc>
              <a:spcAft>
                <a:spcPts val="800"/>
              </a:spcAft>
            </a:pPr>
            <a:r>
              <a:rPr sz="1400" b="0" i="0">
                <a:solidFill>
                  <a:srgbClr val="444444"/>
                </a:solidFill>
                <a:latin typeface="Calibri"/>
              </a:rPr>
              <a:t>—  What those papers compare against is other attacks, not defenses:</a:t>
            </a:r>
          </a:p>
        </p:txBody>
      </p:sp>
      <p:sp>
        <p:nvSpPr>
          <p:cNvPr id="6" name="TextBox 5"/>
          <p:cNvSpPr txBox="1"/>
          <p:nvPr/>
        </p:nvSpPr>
        <p:spPr>
          <a:xfrm>
            <a:off x="731520" y="3419856"/>
            <a:ext cx="39319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ATTACK</a:t>
            </a:r>
          </a:p>
        </p:txBody>
      </p:sp>
      <p:sp>
        <p:nvSpPr>
          <p:cNvPr id="7" name="TextBox 6"/>
          <p:cNvSpPr txBox="1"/>
          <p:nvPr/>
        </p:nvSpPr>
        <p:spPr>
          <a:xfrm>
            <a:off x="4663440" y="3419856"/>
            <a:ext cx="67665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ITS PAPER COMPARES AGAINST</a:t>
            </a:r>
          </a:p>
        </p:txBody>
      </p:sp>
      <p:sp>
        <p:nvSpPr>
          <p:cNvPr id="8" name="Rectangle 7"/>
          <p:cNvSpPr/>
          <p:nvPr/>
        </p:nvSpPr>
        <p:spPr>
          <a:xfrm>
            <a:off x="731520" y="3694176"/>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803904"/>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HOUYI</a:t>
            </a:r>
          </a:p>
        </p:txBody>
      </p:sp>
      <p:sp>
        <p:nvSpPr>
          <p:cNvPr id="10" name="TextBox 9"/>
          <p:cNvSpPr txBox="1"/>
          <p:nvPr/>
        </p:nvSpPr>
        <p:spPr>
          <a:xfrm>
            <a:off x="4663440" y="3803904"/>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three earlier prompt injection techniques</a:t>
            </a:r>
          </a:p>
        </p:txBody>
      </p:sp>
      <p:sp>
        <p:nvSpPr>
          <p:cNvPr id="11" name="TextBox 10"/>
          <p:cNvSpPr txBox="1"/>
          <p:nvPr/>
        </p:nvSpPr>
        <p:spPr>
          <a:xfrm>
            <a:off x="731520" y="4206240"/>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JudgeDeceiver</a:t>
            </a:r>
          </a:p>
        </p:txBody>
      </p:sp>
      <p:sp>
        <p:nvSpPr>
          <p:cNvPr id="12" name="TextBox 11"/>
          <p:cNvSpPr txBox="1"/>
          <p:nvPr/>
        </p:nvSpPr>
        <p:spPr>
          <a:xfrm>
            <a:off x="4663440" y="4206240"/>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six manual prompt injection attacks</a:t>
            </a:r>
          </a:p>
        </p:txBody>
      </p:sp>
      <p:sp>
        <p:nvSpPr>
          <p:cNvPr id="13" name="TextBox 12"/>
          <p:cNvSpPr txBox="1"/>
          <p:nvPr/>
        </p:nvSpPr>
        <p:spPr>
          <a:xfrm>
            <a:off x="731520" y="4608576"/>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ASB: Plan-of-Thought backdoor</a:t>
            </a:r>
          </a:p>
        </p:txBody>
      </p:sp>
      <p:sp>
        <p:nvSpPr>
          <p:cNvPr id="14" name="TextBox 13"/>
          <p:cNvSpPr txBox="1"/>
          <p:nvPr/>
        </p:nvSpPr>
        <p:spPr>
          <a:xfrm>
            <a:off x="4663440" y="4608576"/>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five injection variants and five other attacks</a:t>
            </a:r>
          </a:p>
        </p:txBody>
      </p:sp>
      <p:sp>
        <p:nvSpPr>
          <p:cNvPr id="15" name="TextBox 14"/>
          <p:cNvSpPr txBox="1"/>
          <p:nvPr/>
        </p:nvSpPr>
        <p:spPr>
          <a:xfrm>
            <a:off x="731520" y="5010912"/>
            <a:ext cx="39319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Virtual Prompt Injection</a:t>
            </a:r>
          </a:p>
        </p:txBody>
      </p:sp>
      <p:sp>
        <p:nvSpPr>
          <p:cNvPr id="16" name="TextBox 15"/>
          <p:cNvSpPr txBox="1"/>
          <p:nvPr/>
        </p:nvSpPr>
        <p:spPr>
          <a:xfrm>
            <a:off x="4663440" y="5010912"/>
            <a:ext cx="67665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clean training data and one concurrent poisoning method</a:t>
            </a:r>
          </a:p>
        </p:txBody>
      </p:sp>
      <p:sp>
        <p:nvSpPr>
          <p:cNvPr id="17" name="TextBox 16"/>
          <p:cNvSpPr txBox="1"/>
          <p:nvPr/>
        </p:nvSpPr>
        <p:spPr>
          <a:xfrm>
            <a:off x="731520" y="5394960"/>
            <a:ext cx="10725912" cy="1097279"/>
          </a:xfrm>
          <a:prstGeom prst="rect">
            <a:avLst/>
          </a:prstGeom>
          <a:noFill/>
        </p:spPr>
        <p:txBody>
          <a:bodyPr wrap="square" lIns="0" rIns="0" tIns="0" bIns="0" anchor="t">
            <a:spAutoFit/>
          </a:bodyPr>
          <a:lstStyle/>
          <a:p>
            <a:pPr algn="l">
              <a:lnSpc>
                <a:spcPct val="112000"/>
              </a:lnSpc>
              <a:spcAft>
                <a:spcPts val="900"/>
              </a:spcAft>
            </a:pPr>
            <a:r>
              <a:rPr sz="1400" b="1" i="0">
                <a:solidFill>
                  <a:srgbClr val="111111"/>
                </a:solidFill>
                <a:latin typeface="Calibri"/>
              </a:rPr>
              <a:t>—  Each paper asks whether its attack beats the last attack. Whether any published defense stops it is never asked.</a:t>
            </a:r>
          </a:p>
        </p:txBody>
      </p:sp>
      <p:sp>
        <p:nvSpPr>
          <p:cNvPr id="18" name="TextBox 17"/>
          <p:cNvSpPr txBox="1"/>
          <p:nvPr/>
        </p:nvSpPr>
        <p:spPr>
          <a:xfrm>
            <a:off x="731520" y="6400800"/>
            <a:ext cx="10040112" cy="402336"/>
          </a:xfrm>
          <a:prstGeom prst="rect">
            <a:avLst/>
          </a:prstGeom>
          <a:noFill/>
        </p:spPr>
        <p:txBody>
          <a:bodyPr wrap="square" lIns="0" rIns="0" tIns="0" bIns="0" anchor="t">
            <a:spAutoFit/>
          </a:bodyPr>
          <a:lstStyle/>
          <a:p>
            <a:pPr algn="l">
              <a:lnSpc>
                <a:spcPct val="115000"/>
              </a:lnSpc>
              <a:spcAft>
                <a:spcPts val="0"/>
              </a:spcAft>
            </a:pPr>
            <a:r>
              <a:rPr sz="850" b="0" i="0">
                <a:solidFill>
                  <a:srgbClr val="999999"/>
                </a:solidFill>
                <a:latin typeface="Calibri"/>
              </a:rPr>
              <a:t>HOUYI Liu et al., 2023   ·   JudgeDeceiver Shi et al., ACM CCS 2024   ·   ASB Zhang et al., ICLR 2024   ·   VPI Yan et al., NAACL 2023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FINDING 2, THE OTHER SIDE</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320 defenses with no attack behind them</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11</a:t>
            </a:r>
          </a:p>
        </p:txBody>
      </p:sp>
      <p:sp>
        <p:nvSpPr>
          <p:cNvPr id="5" name="TextBox 4"/>
          <p:cNvSpPr txBox="1"/>
          <p:nvPr/>
        </p:nvSpPr>
        <p:spPr>
          <a:xfrm>
            <a:off x="731520" y="1938528"/>
            <a:ext cx="10725912" cy="4553712"/>
          </a:xfrm>
          <a:prstGeom prst="rect">
            <a:avLst/>
          </a:prstGeom>
          <a:noFill/>
        </p:spPr>
        <p:txBody>
          <a:bodyPr wrap="square" lIns="0" rIns="0" tIns="0" bIns="0" anchor="t">
            <a:spAutoFit/>
          </a:bodyPr>
          <a:lstStyle/>
          <a:p>
            <a:pPr algn="l">
              <a:lnSpc>
                <a:spcPct val="112000"/>
              </a:lnSpc>
              <a:spcAft>
                <a:spcPts val="600"/>
              </a:spcAft>
            </a:pPr>
            <a:r>
              <a:rPr sz="1400" b="1" i="0">
                <a:solidFill>
                  <a:srgbClr val="111111"/>
                </a:solidFill>
                <a:latin typeface="Calibri"/>
              </a:rPr>
              <a:t>—  Of 534 defenses, 320 were never tested against any attack we can name. We read all 320 to find out what they were defending.</a:t>
            </a:r>
          </a:p>
        </p:txBody>
      </p:sp>
      <p:sp>
        <p:nvSpPr>
          <p:cNvPr id="6" name="TextBox 5"/>
          <p:cNvSpPr txBox="1"/>
          <p:nvPr/>
        </p:nvSpPr>
        <p:spPr>
          <a:xfrm>
            <a:off x="731520" y="2852928"/>
            <a:ext cx="41148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WE FOUND</a:t>
            </a:r>
          </a:p>
        </p:txBody>
      </p:sp>
      <p:sp>
        <p:nvSpPr>
          <p:cNvPr id="7" name="TextBox 6"/>
          <p:cNvSpPr txBox="1"/>
          <p:nvPr/>
        </p:nvSpPr>
        <p:spPr>
          <a:xfrm>
            <a:off x="4846320" y="2852928"/>
            <a:ext cx="932688"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COUNT</a:t>
            </a:r>
          </a:p>
        </p:txBody>
      </p:sp>
      <p:sp>
        <p:nvSpPr>
          <p:cNvPr id="8" name="TextBox 7"/>
          <p:cNvSpPr txBox="1"/>
          <p:nvPr/>
        </p:nvSpPr>
        <p:spPr>
          <a:xfrm>
            <a:off x="6035040" y="2852928"/>
            <a:ext cx="5394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9" name="Rectangle 8"/>
          <p:cNvSpPr/>
          <p:nvPr/>
        </p:nvSpPr>
        <p:spPr>
          <a:xfrm>
            <a:off x="731520" y="312724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236976"/>
            <a:ext cx="411480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No threat model at all</a:t>
            </a:r>
          </a:p>
        </p:txBody>
      </p:sp>
      <p:sp>
        <p:nvSpPr>
          <p:cNvPr id="11" name="TextBox 10"/>
          <p:cNvSpPr txBox="1"/>
          <p:nvPr/>
        </p:nvSpPr>
        <p:spPr>
          <a:xfrm>
            <a:off x="4846320" y="3236976"/>
            <a:ext cx="93268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126</a:t>
            </a:r>
          </a:p>
        </p:txBody>
      </p:sp>
      <p:sp>
        <p:nvSpPr>
          <p:cNvPr id="12" name="TextBox 11"/>
          <p:cNvSpPr txBox="1"/>
          <p:nvPr/>
        </p:nvSpPr>
        <p:spPr>
          <a:xfrm>
            <a:off x="6035040" y="3236976"/>
            <a:ext cx="5394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reliability or efficiency work; no adversary is claimed</a:t>
            </a:r>
          </a:p>
        </p:txBody>
      </p:sp>
      <p:sp>
        <p:nvSpPr>
          <p:cNvPr id="13" name="TextBox 12"/>
          <p:cNvSpPr txBox="1"/>
          <p:nvPr/>
        </p:nvSpPr>
        <p:spPr>
          <a:xfrm>
            <a:off x="731520" y="3639312"/>
            <a:ext cx="411480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Names an attack, never tests it</a:t>
            </a:r>
          </a:p>
        </p:txBody>
      </p:sp>
      <p:sp>
        <p:nvSpPr>
          <p:cNvPr id="14" name="TextBox 13"/>
          <p:cNvSpPr txBox="1"/>
          <p:nvPr/>
        </p:nvSpPr>
        <p:spPr>
          <a:xfrm>
            <a:off x="4846320" y="3639312"/>
            <a:ext cx="93268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99</a:t>
            </a:r>
          </a:p>
        </p:txBody>
      </p:sp>
      <p:sp>
        <p:nvSpPr>
          <p:cNvPr id="15" name="TextBox 14"/>
          <p:cNvSpPr txBox="1"/>
          <p:nvPr/>
        </p:nvSpPr>
        <p:spPr>
          <a:xfrm>
            <a:off x="6035040" y="3639312"/>
            <a:ext cx="5394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the attack is on our map; the experiment is missing</a:t>
            </a:r>
          </a:p>
        </p:txBody>
      </p:sp>
      <p:sp>
        <p:nvSpPr>
          <p:cNvPr id="16" name="TextBox 15"/>
          <p:cNvSpPr txBox="1"/>
          <p:nvPr/>
        </p:nvSpPr>
        <p:spPr>
          <a:xfrm>
            <a:off x="731520" y="4041648"/>
            <a:ext cx="411480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Threat described in prose only</a:t>
            </a:r>
          </a:p>
        </p:txBody>
      </p:sp>
      <p:sp>
        <p:nvSpPr>
          <p:cNvPr id="17" name="TextBox 16"/>
          <p:cNvSpPr txBox="1"/>
          <p:nvPr/>
        </p:nvSpPr>
        <p:spPr>
          <a:xfrm>
            <a:off x="4846320" y="4041648"/>
            <a:ext cx="93268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41</a:t>
            </a:r>
          </a:p>
        </p:txBody>
      </p:sp>
      <p:sp>
        <p:nvSpPr>
          <p:cNvPr id="18" name="TextBox 17"/>
          <p:cNvSpPr txBox="1"/>
          <p:nvPr/>
        </p:nvSpPr>
        <p:spPr>
          <a:xfrm>
            <a:off x="6035040" y="4041648"/>
            <a:ext cx="5394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an adversary is named; no experiment follows</a:t>
            </a:r>
          </a:p>
        </p:txBody>
      </p:sp>
      <p:sp>
        <p:nvSpPr>
          <p:cNvPr id="19" name="TextBox 18"/>
          <p:cNvSpPr txBox="1"/>
          <p:nvPr/>
        </p:nvSpPr>
        <p:spPr>
          <a:xfrm>
            <a:off x="731520" y="4443984"/>
            <a:ext cx="411480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Tests an attack it invented</a:t>
            </a:r>
          </a:p>
        </p:txBody>
      </p:sp>
      <p:sp>
        <p:nvSpPr>
          <p:cNvPr id="20" name="TextBox 19"/>
          <p:cNvSpPr txBox="1"/>
          <p:nvPr/>
        </p:nvSpPr>
        <p:spPr>
          <a:xfrm>
            <a:off x="4846320" y="4443984"/>
            <a:ext cx="93268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22</a:t>
            </a:r>
          </a:p>
        </p:txBody>
      </p:sp>
      <p:sp>
        <p:nvSpPr>
          <p:cNvPr id="21" name="TextBox 20"/>
          <p:cNvSpPr txBox="1"/>
          <p:nvPr/>
        </p:nvSpPr>
        <p:spPr>
          <a:xfrm>
            <a:off x="6035040" y="4443984"/>
            <a:ext cx="5394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evaluated only against the authors' own construction</a:t>
            </a:r>
          </a:p>
        </p:txBody>
      </p:sp>
      <p:sp>
        <p:nvSpPr>
          <p:cNvPr id="22" name="TextBox 21"/>
          <p:cNvSpPr txBox="1"/>
          <p:nvPr/>
        </p:nvSpPr>
        <p:spPr>
          <a:xfrm>
            <a:off x="731520" y="4846320"/>
            <a:ext cx="411480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Names a benchmark, not a mechanism</a:t>
            </a:r>
          </a:p>
        </p:txBody>
      </p:sp>
      <p:sp>
        <p:nvSpPr>
          <p:cNvPr id="23" name="TextBox 22"/>
          <p:cNvSpPr txBox="1"/>
          <p:nvPr/>
        </p:nvSpPr>
        <p:spPr>
          <a:xfrm>
            <a:off x="4846320" y="4846320"/>
            <a:ext cx="93268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11</a:t>
            </a:r>
          </a:p>
        </p:txBody>
      </p:sp>
      <p:sp>
        <p:nvSpPr>
          <p:cNvPr id="24" name="TextBox 23"/>
          <p:cNvSpPr txBox="1"/>
          <p:nvPr/>
        </p:nvSpPr>
        <p:spPr>
          <a:xfrm>
            <a:off x="6035040" y="4846320"/>
            <a:ext cx="5394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reports a score, not a defense outcome</a:t>
            </a:r>
          </a:p>
        </p:txBody>
      </p:sp>
      <p:sp>
        <p:nvSpPr>
          <p:cNvPr id="25" name="TextBox 24"/>
          <p:cNvSpPr txBox="1"/>
          <p:nvPr/>
        </p:nvSpPr>
        <p:spPr>
          <a:xfrm>
            <a:off x="731520" y="5248656"/>
            <a:ext cx="411480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Could not tell</a:t>
            </a:r>
          </a:p>
        </p:txBody>
      </p:sp>
      <p:sp>
        <p:nvSpPr>
          <p:cNvPr id="26" name="TextBox 25"/>
          <p:cNvSpPr txBox="1"/>
          <p:nvPr/>
        </p:nvSpPr>
        <p:spPr>
          <a:xfrm>
            <a:off x="4846320" y="5248656"/>
            <a:ext cx="932688" cy="310896"/>
          </a:xfrm>
          <a:prstGeom prst="rect">
            <a:avLst/>
          </a:prstGeom>
          <a:noFill/>
        </p:spPr>
        <p:txBody>
          <a:bodyPr wrap="square" lIns="0" rIns="0" tIns="0" bIns="0" anchor="t">
            <a:spAutoFit/>
          </a:bodyPr>
          <a:lstStyle/>
          <a:p>
            <a:pPr algn="r">
              <a:lnSpc>
                <a:spcPct val="106000"/>
              </a:lnSpc>
              <a:spcAft>
                <a:spcPts val="0"/>
              </a:spcAft>
            </a:pPr>
            <a:r>
              <a:rPr sz="1300" b="0" i="0">
                <a:solidFill>
                  <a:srgbClr val="444444"/>
                </a:solidFill>
                <a:latin typeface="Calibri"/>
              </a:rPr>
              <a:t>21</a:t>
            </a:r>
          </a:p>
        </p:txBody>
      </p:sp>
      <p:sp>
        <p:nvSpPr>
          <p:cNvPr id="27" name="TextBox 26"/>
          <p:cNvSpPr txBox="1"/>
          <p:nvPr/>
        </p:nvSpPr>
        <p:spPr>
          <a:xfrm>
            <a:off x="6035040" y="5248656"/>
            <a:ext cx="5394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not enough extracted text to decide</a:t>
            </a:r>
          </a:p>
        </p:txBody>
      </p:sp>
      <p:sp>
        <p:nvSpPr>
          <p:cNvPr id="28" name="TextBox 27"/>
          <p:cNvSpPr txBox="1"/>
          <p:nvPr/>
        </p:nvSpPr>
        <p:spPr>
          <a:xfrm>
            <a:off x="731520" y="5632704"/>
            <a:ext cx="10725912" cy="859535"/>
          </a:xfrm>
          <a:prstGeom prst="rect">
            <a:avLst/>
          </a:prstGeom>
          <a:noFill/>
        </p:spPr>
        <p:txBody>
          <a:bodyPr wrap="square" lIns="0" rIns="0" tIns="0" bIns="0" anchor="t">
            <a:spAutoFit/>
          </a:bodyPr>
          <a:lstStyle/>
          <a:p>
            <a:pPr algn="l">
              <a:lnSpc>
                <a:spcPct val="112000"/>
              </a:lnSpc>
              <a:spcAft>
                <a:spcPts val="600"/>
              </a:spcAft>
            </a:pPr>
            <a:r>
              <a:rPr sz="1350" b="1" i="0">
                <a:solidFill>
                  <a:srgbClr val="111111"/>
                </a:solidFill>
                <a:latin typeface="Calibri"/>
              </a:rPr>
              <a:t>—  The 320 are not all alike. 126 never claimed to stop an attack. 99 named one and stopped short of testing it.</a:t>
            </a:r>
          </a:p>
          <a:p>
            <a:pPr>
              <a:lnSpc>
                <a:spcPct val="112000"/>
              </a:lnSpc>
              <a:spcAft>
                <a:spcPts val="600"/>
              </a:spcAft>
            </a:pPr>
            <a:r>
              <a:rPr sz="1350" b="0" i="0">
                <a:solidFill>
                  <a:srgbClr val="444444"/>
                </a:solidFill>
                <a:latin typeface="Calibri"/>
              </a:rPr>
              <a:t>—  Those 99 are the strongest lead in the corpus, and they are where we go next.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GAP, IN DETAIL</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Where an untested pair is waiting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12</a:t>
            </a:r>
          </a:p>
        </p:txBody>
      </p:sp>
      <p:sp>
        <p:nvSpPr>
          <p:cNvPr id="5" name="TextBox 4"/>
          <p:cNvSpPr txBox="1"/>
          <p:nvPr/>
        </p:nvSpPr>
        <p:spPr>
          <a:xfrm>
            <a:off x="731520" y="1920240"/>
            <a:ext cx="10725912" cy="41148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Each row is one route and one failure. The attacks are the deliberate ones. The defenses are the ones built for the same failure happening by accident.</a:t>
            </a:r>
          </a:p>
        </p:txBody>
      </p:sp>
      <p:sp>
        <p:nvSpPr>
          <p:cNvPr id="6" name="TextBox 5"/>
          <p:cNvSpPr txBox="1"/>
          <p:nvPr/>
        </p:nvSpPr>
        <p:spPr>
          <a:xfrm>
            <a:off x="731520" y="2414016"/>
            <a:ext cx="24688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Route in</a:t>
            </a:r>
          </a:p>
        </p:txBody>
      </p:sp>
      <p:sp>
        <p:nvSpPr>
          <p:cNvPr id="7" name="TextBox 6"/>
          <p:cNvSpPr txBox="1"/>
          <p:nvPr/>
        </p:nvSpPr>
        <p:spPr>
          <a:xfrm>
            <a:off x="3291839" y="2414016"/>
            <a:ext cx="301752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What goes wrong</a:t>
            </a:r>
          </a:p>
        </p:txBody>
      </p:sp>
      <p:sp>
        <p:nvSpPr>
          <p:cNvPr id="8" name="TextBox 7"/>
          <p:cNvSpPr txBox="1"/>
          <p:nvPr/>
        </p:nvSpPr>
        <p:spPr>
          <a:xfrm>
            <a:off x="6492240" y="2414016"/>
            <a:ext cx="137160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Deliberate</a:t>
            </a:r>
          </a:p>
          <a:p>
            <a:pPr>
              <a:lnSpc>
                <a:spcPct val="110000"/>
              </a:lnSpc>
              <a:spcAft>
                <a:spcPts val="0"/>
              </a:spcAft>
            </a:pPr>
            <a:r>
              <a:rPr sz="1150" b="1" i="0">
                <a:solidFill>
                  <a:srgbClr val="777777"/>
                </a:solidFill>
                <a:latin typeface="Calibri"/>
              </a:rPr>
              <a:t>attacks</a:t>
            </a:r>
          </a:p>
        </p:txBody>
      </p:sp>
      <p:sp>
        <p:nvSpPr>
          <p:cNvPr id="9" name="TextBox 8"/>
          <p:cNvSpPr txBox="1"/>
          <p:nvPr/>
        </p:nvSpPr>
        <p:spPr>
          <a:xfrm>
            <a:off x="8046720" y="2414016"/>
            <a:ext cx="146304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Accidental</a:t>
            </a:r>
          </a:p>
          <a:p>
            <a:pPr>
              <a:lnSpc>
                <a:spcPct val="110000"/>
              </a:lnSpc>
              <a:spcAft>
                <a:spcPts val="0"/>
              </a:spcAft>
            </a:pPr>
            <a:r>
              <a:rPr sz="1150" b="1" i="0">
                <a:solidFill>
                  <a:srgbClr val="777777"/>
                </a:solidFill>
                <a:latin typeface="Calibri"/>
              </a:rPr>
              <a:t>defenses</a:t>
            </a:r>
          </a:p>
        </p:txBody>
      </p:sp>
      <p:sp>
        <p:nvSpPr>
          <p:cNvPr id="10" name="TextBox 9"/>
          <p:cNvSpPr txBox="1"/>
          <p:nvPr/>
        </p:nvSpPr>
        <p:spPr>
          <a:xfrm>
            <a:off x="9692640" y="2414016"/>
            <a:ext cx="2011680" cy="457200"/>
          </a:xfrm>
          <a:prstGeom prst="rect">
            <a:avLst/>
          </a:prstGeom>
          <a:noFill/>
        </p:spPr>
        <p:txBody>
          <a:bodyPr wrap="square" lIns="0" rIns="0" tIns="0" bIns="0" anchor="t">
            <a:spAutoFit/>
          </a:bodyPr>
          <a:lstStyle/>
          <a:p>
            <a:pPr algn="l">
              <a:lnSpc>
                <a:spcPct val="110000"/>
              </a:lnSpc>
              <a:spcAft>
                <a:spcPts val="0"/>
              </a:spcAft>
            </a:pPr>
            <a:r>
              <a:rPr sz="1150" b="1" i="0">
                <a:solidFill>
                  <a:srgbClr val="777777"/>
                </a:solidFill>
                <a:latin typeface="Calibri"/>
              </a:rPr>
              <a:t>Ever tested</a:t>
            </a:r>
          </a:p>
          <a:p>
            <a:pPr>
              <a:lnSpc>
                <a:spcPct val="110000"/>
              </a:lnSpc>
              <a:spcAft>
                <a:spcPts val="0"/>
              </a:spcAft>
            </a:pPr>
            <a:r>
              <a:rPr sz="1150" b="1" i="0">
                <a:solidFill>
                  <a:srgbClr val="777777"/>
                </a:solidFill>
                <a:latin typeface="Calibri"/>
              </a:rPr>
              <a:t>against each other</a:t>
            </a:r>
          </a:p>
        </p:txBody>
      </p:sp>
      <p:sp>
        <p:nvSpPr>
          <p:cNvPr id="11" name="TextBox 10"/>
          <p:cNvSpPr txBox="1"/>
          <p:nvPr/>
        </p:nvSpPr>
        <p:spPr>
          <a:xfrm>
            <a:off x="731520" y="29260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12" name="TextBox 11"/>
          <p:cNvSpPr txBox="1"/>
          <p:nvPr/>
        </p:nvSpPr>
        <p:spPr>
          <a:xfrm>
            <a:off x="3291839" y="29260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13" name="TextBox 12"/>
          <p:cNvSpPr txBox="1"/>
          <p:nvPr/>
        </p:nvSpPr>
        <p:spPr>
          <a:xfrm>
            <a:off x="6492240" y="29260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a:t>
            </a:r>
          </a:p>
        </p:txBody>
      </p:sp>
      <p:sp>
        <p:nvSpPr>
          <p:cNvPr id="14" name="TextBox 13"/>
          <p:cNvSpPr txBox="1"/>
          <p:nvPr/>
        </p:nvSpPr>
        <p:spPr>
          <a:xfrm>
            <a:off x="8046720" y="29260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79</a:t>
            </a:r>
          </a:p>
        </p:txBody>
      </p:sp>
      <p:sp>
        <p:nvSpPr>
          <p:cNvPr id="15" name="TextBox 14"/>
          <p:cNvSpPr txBox="1"/>
          <p:nvPr/>
        </p:nvSpPr>
        <p:spPr>
          <a:xfrm>
            <a:off x="9692640" y="29260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16" name="TextBox 15"/>
          <p:cNvSpPr txBox="1"/>
          <p:nvPr/>
        </p:nvSpPr>
        <p:spPr>
          <a:xfrm>
            <a:off x="731520" y="32918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17" name="TextBox 16"/>
          <p:cNvSpPr txBox="1"/>
          <p:nvPr/>
        </p:nvSpPr>
        <p:spPr>
          <a:xfrm>
            <a:off x="3291839" y="32918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18" name="TextBox 17"/>
          <p:cNvSpPr txBox="1"/>
          <p:nvPr/>
        </p:nvSpPr>
        <p:spPr>
          <a:xfrm>
            <a:off x="6492240" y="32918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a:t>
            </a:r>
          </a:p>
        </p:txBody>
      </p:sp>
      <p:sp>
        <p:nvSpPr>
          <p:cNvPr id="19" name="TextBox 18"/>
          <p:cNvSpPr txBox="1"/>
          <p:nvPr/>
        </p:nvSpPr>
        <p:spPr>
          <a:xfrm>
            <a:off x="8046720" y="32918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42</a:t>
            </a:r>
          </a:p>
        </p:txBody>
      </p:sp>
      <p:sp>
        <p:nvSpPr>
          <p:cNvPr id="20" name="TextBox 19"/>
          <p:cNvSpPr txBox="1"/>
          <p:nvPr/>
        </p:nvSpPr>
        <p:spPr>
          <a:xfrm>
            <a:off x="9692640" y="32918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1" name="TextBox 20"/>
          <p:cNvSpPr txBox="1"/>
          <p:nvPr/>
        </p:nvSpPr>
        <p:spPr>
          <a:xfrm>
            <a:off x="731520" y="365760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tool-output</a:t>
            </a:r>
          </a:p>
        </p:txBody>
      </p:sp>
      <p:sp>
        <p:nvSpPr>
          <p:cNvPr id="22" name="TextBox 21"/>
          <p:cNvSpPr txBox="1"/>
          <p:nvPr/>
        </p:nvSpPr>
        <p:spPr>
          <a:xfrm>
            <a:off x="3291839" y="365760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23" name="TextBox 22"/>
          <p:cNvSpPr txBox="1"/>
          <p:nvPr/>
        </p:nvSpPr>
        <p:spPr>
          <a:xfrm>
            <a:off x="6492240" y="365760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61</a:t>
            </a:r>
          </a:p>
        </p:txBody>
      </p:sp>
      <p:sp>
        <p:nvSpPr>
          <p:cNvPr id="24" name="TextBox 23"/>
          <p:cNvSpPr txBox="1"/>
          <p:nvPr/>
        </p:nvSpPr>
        <p:spPr>
          <a:xfrm>
            <a:off x="8046720" y="365760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25" name="TextBox 24"/>
          <p:cNvSpPr txBox="1"/>
          <p:nvPr/>
        </p:nvSpPr>
        <p:spPr>
          <a:xfrm>
            <a:off x="9692640" y="365760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26" name="TextBox 25"/>
          <p:cNvSpPr txBox="1"/>
          <p:nvPr/>
        </p:nvSpPr>
        <p:spPr>
          <a:xfrm>
            <a:off x="731520" y="402336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RAG</a:t>
            </a:r>
          </a:p>
        </p:txBody>
      </p:sp>
      <p:sp>
        <p:nvSpPr>
          <p:cNvPr id="27" name="TextBox 26"/>
          <p:cNvSpPr txBox="1"/>
          <p:nvPr/>
        </p:nvSpPr>
        <p:spPr>
          <a:xfrm>
            <a:off x="3291839" y="402336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reasoning-corruption</a:t>
            </a:r>
          </a:p>
        </p:txBody>
      </p:sp>
      <p:sp>
        <p:nvSpPr>
          <p:cNvPr id="28" name="TextBox 27"/>
          <p:cNvSpPr txBox="1"/>
          <p:nvPr/>
        </p:nvSpPr>
        <p:spPr>
          <a:xfrm>
            <a:off x="6492240" y="402336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a:t>
            </a:r>
          </a:p>
        </p:txBody>
      </p:sp>
      <p:sp>
        <p:nvSpPr>
          <p:cNvPr id="29" name="TextBox 28"/>
          <p:cNvSpPr txBox="1"/>
          <p:nvPr/>
        </p:nvSpPr>
        <p:spPr>
          <a:xfrm>
            <a:off x="8046720" y="402336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17</a:t>
            </a:r>
          </a:p>
        </p:txBody>
      </p:sp>
      <p:sp>
        <p:nvSpPr>
          <p:cNvPr id="30" name="TextBox 29"/>
          <p:cNvSpPr txBox="1"/>
          <p:nvPr/>
        </p:nvSpPr>
        <p:spPr>
          <a:xfrm>
            <a:off x="9692640" y="402336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1" name="TextBox 30"/>
          <p:cNvSpPr txBox="1"/>
          <p:nvPr/>
        </p:nvSpPr>
        <p:spPr>
          <a:xfrm>
            <a:off x="731520" y="438912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2" name="TextBox 31"/>
          <p:cNvSpPr txBox="1"/>
          <p:nvPr/>
        </p:nvSpPr>
        <p:spPr>
          <a:xfrm>
            <a:off x="3291839" y="438912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goal-hijack</a:t>
            </a:r>
          </a:p>
        </p:txBody>
      </p:sp>
      <p:sp>
        <p:nvSpPr>
          <p:cNvPr id="33" name="TextBox 32"/>
          <p:cNvSpPr txBox="1"/>
          <p:nvPr/>
        </p:nvSpPr>
        <p:spPr>
          <a:xfrm>
            <a:off x="6492240" y="438912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27</a:t>
            </a:r>
          </a:p>
        </p:txBody>
      </p:sp>
      <p:sp>
        <p:nvSpPr>
          <p:cNvPr id="34" name="TextBox 33"/>
          <p:cNvSpPr txBox="1"/>
          <p:nvPr/>
        </p:nvSpPr>
        <p:spPr>
          <a:xfrm>
            <a:off x="8046720" y="438912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5" name="TextBox 34"/>
          <p:cNvSpPr txBox="1"/>
          <p:nvPr/>
        </p:nvSpPr>
        <p:spPr>
          <a:xfrm>
            <a:off x="9692640" y="438912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36" name="TextBox 35"/>
          <p:cNvSpPr txBox="1"/>
          <p:nvPr/>
        </p:nvSpPr>
        <p:spPr>
          <a:xfrm>
            <a:off x="731520" y="475488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direct-input</a:t>
            </a:r>
          </a:p>
        </p:txBody>
      </p:sp>
      <p:sp>
        <p:nvSpPr>
          <p:cNvPr id="37" name="TextBox 36"/>
          <p:cNvSpPr txBox="1"/>
          <p:nvPr/>
        </p:nvSpPr>
        <p:spPr>
          <a:xfrm>
            <a:off x="3291839" y="475488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silent-corruption</a:t>
            </a:r>
          </a:p>
        </p:txBody>
      </p:sp>
      <p:sp>
        <p:nvSpPr>
          <p:cNvPr id="38" name="TextBox 37"/>
          <p:cNvSpPr txBox="1"/>
          <p:nvPr/>
        </p:nvSpPr>
        <p:spPr>
          <a:xfrm>
            <a:off x="6492240" y="475488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39" name="TextBox 38"/>
          <p:cNvSpPr txBox="1"/>
          <p:nvPr/>
        </p:nvSpPr>
        <p:spPr>
          <a:xfrm>
            <a:off x="8046720" y="475488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11</a:t>
            </a:r>
          </a:p>
        </p:txBody>
      </p:sp>
      <p:sp>
        <p:nvSpPr>
          <p:cNvPr id="40" name="TextBox 39"/>
          <p:cNvSpPr txBox="1"/>
          <p:nvPr/>
        </p:nvSpPr>
        <p:spPr>
          <a:xfrm>
            <a:off x="9692640" y="475488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1" name="TextBox 40"/>
          <p:cNvSpPr txBox="1"/>
          <p:nvPr/>
        </p:nvSpPr>
        <p:spPr>
          <a:xfrm>
            <a:off x="731520" y="5120640"/>
            <a:ext cx="246888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memory</a:t>
            </a:r>
          </a:p>
        </p:txBody>
      </p:sp>
      <p:sp>
        <p:nvSpPr>
          <p:cNvPr id="42" name="TextBox 41"/>
          <p:cNvSpPr txBox="1"/>
          <p:nvPr/>
        </p:nvSpPr>
        <p:spPr>
          <a:xfrm>
            <a:off x="3291839" y="5120640"/>
            <a:ext cx="301752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persistence-backdoor</a:t>
            </a:r>
          </a:p>
        </p:txBody>
      </p:sp>
      <p:sp>
        <p:nvSpPr>
          <p:cNvPr id="43" name="TextBox 42"/>
          <p:cNvSpPr txBox="1"/>
          <p:nvPr/>
        </p:nvSpPr>
        <p:spPr>
          <a:xfrm>
            <a:off x="6492240" y="5120640"/>
            <a:ext cx="137160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7</a:t>
            </a:r>
          </a:p>
        </p:txBody>
      </p:sp>
      <p:sp>
        <p:nvSpPr>
          <p:cNvPr id="44" name="TextBox 43"/>
          <p:cNvSpPr txBox="1"/>
          <p:nvPr/>
        </p:nvSpPr>
        <p:spPr>
          <a:xfrm>
            <a:off x="8046720" y="5120640"/>
            <a:ext cx="1463040" cy="292608"/>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a:t>
            </a:r>
          </a:p>
        </p:txBody>
      </p:sp>
      <p:sp>
        <p:nvSpPr>
          <p:cNvPr id="45" name="TextBox 44"/>
          <p:cNvSpPr txBox="1"/>
          <p:nvPr/>
        </p:nvSpPr>
        <p:spPr>
          <a:xfrm>
            <a:off x="9692640" y="5120640"/>
            <a:ext cx="2011680" cy="292608"/>
          </a:xfrm>
          <a:prstGeom prst="rect">
            <a:avLst/>
          </a:prstGeom>
          <a:noFill/>
        </p:spPr>
        <p:txBody>
          <a:bodyPr wrap="square" lIns="0" rIns="0" tIns="0" bIns="0" anchor="t">
            <a:spAutoFit/>
          </a:bodyPr>
          <a:lstStyle/>
          <a:p>
            <a:pPr algn="l">
              <a:lnSpc>
                <a:spcPct val="106000"/>
              </a:lnSpc>
              <a:spcAft>
                <a:spcPts val="0"/>
              </a:spcAft>
            </a:pPr>
            <a:r>
              <a:rPr sz="1300" b="1" i="0">
                <a:solidFill>
                  <a:srgbClr val="111111"/>
                </a:solidFill>
                <a:latin typeface="Calibri"/>
              </a:rPr>
              <a:t>0</a:t>
            </a:r>
          </a:p>
        </p:txBody>
      </p:sp>
      <p:sp>
        <p:nvSpPr>
          <p:cNvPr id="46" name="TextBox 45"/>
          <p:cNvSpPr txBox="1"/>
          <p:nvPr/>
        </p:nvSpPr>
        <p:spPr>
          <a:xfrm>
            <a:off x="731520" y="5504688"/>
            <a:ext cx="10725912" cy="896112"/>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Every row is zero. Not one of these pairs has been tested by anybody.</a:t>
            </a:r>
          </a:p>
          <a:p>
            <a:pPr>
              <a:lnSpc>
                <a:spcPct val="110000"/>
              </a:lnSpc>
              <a:spcAft>
                <a:spcPts val="600"/>
              </a:spcAft>
            </a:pPr>
            <a:r>
              <a:rPr sz="1350" b="0" i="0">
                <a:solidFill>
                  <a:srgbClr val="444444"/>
                </a:solidFill>
                <a:latin typeface="Calibri"/>
              </a:rPr>
              <a:t>These cells are not ignored. tool-output and goal-hijack alone holds 169 tested pairs. But each one is a security defense against a security attack, or an accident defense against an accident. Nothing crosses.</a:t>
            </a:r>
          </a:p>
          <a:p>
            <a:pPr>
              <a:lnSpc>
                <a:spcPct val="110000"/>
              </a:lnSpc>
              <a:spcAft>
                <a:spcPts val="600"/>
              </a:spcAft>
            </a:pPr>
            <a:r>
              <a:rPr sz="1350" b="0" i="0">
                <a:solidFill>
                  <a:srgbClr val="444444"/>
                </a:solidFill>
                <a:latin typeface="Calibri"/>
              </a:rPr>
              <a:t>The RAG row is 3 attacks against 42 defenses. 126 possible tests. None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CAN REBUILD</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Released code is not the same as working code</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13</a:t>
            </a:r>
          </a:p>
        </p:txBody>
      </p:sp>
      <p:sp>
        <p:nvSpPr>
          <p:cNvPr id="5" name="TextBox 4"/>
          <p:cNvSpPr txBox="1"/>
          <p:nvPr/>
        </p:nvSpPr>
        <p:spPr>
          <a:xfrm>
            <a:off x="731520" y="1920240"/>
            <a:ext cx="10725912" cy="365760"/>
          </a:xfrm>
          <a:prstGeom prst="rect">
            <a:avLst/>
          </a:prstGeom>
          <a:noFill/>
        </p:spPr>
        <p:txBody>
          <a:bodyPr wrap="square" lIns="0" rIns="0" tIns="0" bIns="0" anchor="t">
            <a:spAutoFit/>
          </a:bodyPr>
          <a:lstStyle/>
          <a:p>
            <a:pPr algn="l">
              <a:lnSpc>
                <a:spcPct val="106000"/>
              </a:lnSpc>
              <a:spcAft>
                <a:spcPts val="0"/>
              </a:spcAft>
            </a:pPr>
            <a:r>
              <a:rPr sz="1400" b="0" i="0">
                <a:solidFill>
                  <a:srgbClr val="444444"/>
                </a:solidFill>
                <a:latin typeface="Calibri"/>
              </a:rPr>
              <a:t>We only report a number if we can run the authors' own code. So the first question is which code runs at all.</a:t>
            </a:r>
          </a:p>
        </p:txBody>
      </p:sp>
      <p:sp>
        <p:nvSpPr>
          <p:cNvPr id="6" name="TextBox 5"/>
          <p:cNvSpPr txBox="1"/>
          <p:nvPr/>
        </p:nvSpPr>
        <p:spPr>
          <a:xfrm>
            <a:off x="731520" y="2377440"/>
            <a:ext cx="3108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ATTACKS WE REBUILT</a:t>
            </a:r>
          </a:p>
        </p:txBody>
      </p:sp>
      <p:sp>
        <p:nvSpPr>
          <p:cNvPr id="7" name="TextBox 6"/>
          <p:cNvSpPr txBox="1"/>
          <p:nvPr/>
        </p:nvSpPr>
        <p:spPr>
          <a:xfrm>
            <a:off x="3840480" y="2377440"/>
            <a:ext cx="7589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DOES TO THE ANSWER</a:t>
            </a:r>
          </a:p>
        </p:txBody>
      </p:sp>
      <p:sp>
        <p:nvSpPr>
          <p:cNvPr id="8" name="Rectangle 7"/>
          <p:cNvSpPr/>
          <p:nvPr/>
        </p:nvSpPr>
        <p:spPr>
          <a:xfrm>
            <a:off x="731520" y="265176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761488"/>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corpus poisoning</a:t>
            </a:r>
          </a:p>
        </p:txBody>
      </p:sp>
      <p:sp>
        <p:nvSpPr>
          <p:cNvPr id="10" name="TextBox 9"/>
          <p:cNvSpPr txBox="1"/>
          <p:nvPr/>
        </p:nvSpPr>
        <p:spPr>
          <a:xfrm>
            <a:off x="3840480" y="2761488"/>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removes the answer from the retrieved set</a:t>
            </a:r>
          </a:p>
        </p:txBody>
      </p:sp>
      <p:sp>
        <p:nvSpPr>
          <p:cNvPr id="11" name="TextBox 10"/>
          <p:cNvSpPr txBox="1"/>
          <p:nvPr/>
        </p:nvSpPr>
        <p:spPr>
          <a:xfrm>
            <a:off x="731520" y="3163824"/>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PoisonedRAG</a:t>
            </a:r>
          </a:p>
        </p:txBody>
      </p:sp>
      <p:sp>
        <p:nvSpPr>
          <p:cNvPr id="12" name="TextBox 11"/>
          <p:cNvSpPr txBox="1"/>
          <p:nvPr/>
        </p:nvSpPr>
        <p:spPr>
          <a:xfrm>
            <a:off x="3840480" y="3163824"/>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inserts a false answer</a:t>
            </a:r>
          </a:p>
        </p:txBody>
      </p:sp>
      <p:sp>
        <p:nvSpPr>
          <p:cNvPr id="13" name="TextBox 12"/>
          <p:cNvSpPr txBox="1"/>
          <p:nvPr/>
        </p:nvSpPr>
        <p:spPr>
          <a:xfrm>
            <a:off x="731520" y="3566160"/>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DoS</a:t>
            </a:r>
          </a:p>
        </p:txBody>
      </p:sp>
      <p:sp>
        <p:nvSpPr>
          <p:cNvPr id="14" name="TextBox 13"/>
          <p:cNvSpPr txBox="1"/>
          <p:nvPr/>
        </p:nvSpPr>
        <p:spPr>
          <a:xfrm>
            <a:off x="3840480" y="3566160"/>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makes the agent refuse</a:t>
            </a:r>
          </a:p>
        </p:txBody>
      </p:sp>
      <p:sp>
        <p:nvSpPr>
          <p:cNvPr id="15" name="TextBox 14"/>
          <p:cNvSpPr txBox="1"/>
          <p:nvPr/>
        </p:nvSpPr>
        <p:spPr>
          <a:xfrm>
            <a:off x="731520" y="3968496"/>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BadRAG Selective-Fact</a:t>
            </a:r>
          </a:p>
        </p:txBody>
      </p:sp>
      <p:sp>
        <p:nvSpPr>
          <p:cNvPr id="16" name="TextBox 15"/>
          <p:cNvSpPr txBox="1"/>
          <p:nvPr/>
        </p:nvSpPr>
        <p:spPr>
          <a:xfrm>
            <a:off x="3840480" y="3968496"/>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changes only the tone of a correct answer</a:t>
            </a:r>
          </a:p>
        </p:txBody>
      </p:sp>
      <p:sp>
        <p:nvSpPr>
          <p:cNvPr id="17" name="TextBox 16"/>
          <p:cNvSpPr txBox="1"/>
          <p:nvPr/>
        </p:nvSpPr>
        <p:spPr>
          <a:xfrm>
            <a:off x="731520" y="4279392"/>
            <a:ext cx="31089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DEFENSE CODEBASES WE OPENED</a:t>
            </a:r>
          </a:p>
        </p:txBody>
      </p:sp>
      <p:sp>
        <p:nvSpPr>
          <p:cNvPr id="18" name="TextBox 17"/>
          <p:cNvSpPr txBox="1"/>
          <p:nvPr/>
        </p:nvSpPr>
        <p:spPr>
          <a:xfrm>
            <a:off x="3840480" y="4279392"/>
            <a:ext cx="75895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OUTCOME</a:t>
            </a:r>
          </a:p>
        </p:txBody>
      </p:sp>
      <p:sp>
        <p:nvSpPr>
          <p:cNvPr id="19" name="Rectangle 18"/>
          <p:cNvSpPr/>
          <p:nvPr/>
        </p:nvSpPr>
        <p:spPr>
          <a:xfrm>
            <a:off x="731520" y="4553712"/>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663440"/>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 of 9</a:t>
            </a:r>
          </a:p>
        </p:txBody>
      </p:sp>
      <p:sp>
        <p:nvSpPr>
          <p:cNvPr id="21" name="TextBox 20"/>
          <p:cNvSpPr txBox="1"/>
          <p:nvPr/>
        </p:nvSpPr>
        <p:spPr>
          <a:xfrm>
            <a:off x="3840480" y="4663440"/>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run, and give a usable measurement</a:t>
            </a:r>
          </a:p>
        </p:txBody>
      </p:sp>
      <p:sp>
        <p:nvSpPr>
          <p:cNvPr id="22" name="TextBox 21"/>
          <p:cNvSpPr txBox="1"/>
          <p:nvPr/>
        </p:nvSpPr>
        <p:spPr>
          <a:xfrm>
            <a:off x="731520" y="5065776"/>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 of 9</a:t>
            </a:r>
          </a:p>
        </p:txBody>
      </p:sp>
      <p:sp>
        <p:nvSpPr>
          <p:cNvPr id="23" name="TextBox 22"/>
          <p:cNvSpPr txBox="1"/>
          <p:nvPr/>
        </p:nvSpPr>
        <p:spPr>
          <a:xfrm>
            <a:off x="3840480" y="5065776"/>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runs, but cannot reproduce its own published benefit</a:t>
            </a:r>
          </a:p>
        </p:txBody>
      </p:sp>
      <p:sp>
        <p:nvSpPr>
          <p:cNvPr id="24" name="TextBox 23"/>
          <p:cNvSpPr txBox="1"/>
          <p:nvPr/>
        </p:nvSpPr>
        <p:spPr>
          <a:xfrm>
            <a:off x="731520" y="5468112"/>
            <a:ext cx="31089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4 of 9</a:t>
            </a:r>
          </a:p>
        </p:txBody>
      </p:sp>
      <p:sp>
        <p:nvSpPr>
          <p:cNvPr id="25" name="TextBox 24"/>
          <p:cNvSpPr txBox="1"/>
          <p:nvPr/>
        </p:nvSpPr>
        <p:spPr>
          <a:xfrm>
            <a:off x="3840480" y="5468112"/>
            <a:ext cx="75895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do not run: missing data, a missing prompt file, a checkpoint with no tokenizer</a:t>
            </a:r>
          </a:p>
        </p:txBody>
      </p:sp>
      <p:sp>
        <p:nvSpPr>
          <p:cNvPr id="26" name="TextBox 25"/>
          <p:cNvSpPr txBox="1"/>
          <p:nvPr/>
        </p:nvSpPr>
        <p:spPr>
          <a:xfrm>
            <a:off x="731520" y="4937760"/>
            <a:ext cx="10725912" cy="146303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Nine defense codebases attempted. Four produced a measurement.</a:t>
            </a:r>
          </a:p>
          <a:p>
            <a:pPr>
              <a:lnSpc>
                <a:spcPct val="110000"/>
              </a:lnSpc>
              <a:spcAft>
                <a:spcPts val="800"/>
              </a:spcAft>
            </a:pPr>
            <a:r>
              <a:rPr sz="1500" b="0" i="0">
                <a:solidFill>
                  <a:srgbClr val="444444"/>
                </a:solidFill>
                <a:latin typeface="Calibri"/>
              </a:rPr>
              <a:t>That is not a complaint about other people's repositories. It sets the size of what this work can honestly cover, and it is a result the field should know.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HOW WE CHOOSE A PAIR</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map tells us which pairs can even be run</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14</a:t>
            </a:r>
          </a:p>
        </p:txBody>
      </p:sp>
      <p:sp>
        <p:nvSpPr>
          <p:cNvPr id="5" name="TextBox 4"/>
          <p:cNvSpPr txBox="1"/>
          <p:nvPr/>
        </p:nvSpPr>
        <p:spPr>
          <a:xfrm>
            <a:off x="731520" y="1920240"/>
            <a:ext cx="10725912" cy="448056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and an attack belong together when they sit in the same place on the map: the same route in, and the same thing going wrong.</a:t>
            </a:r>
          </a:p>
          <a:p>
            <a:pPr>
              <a:lnSpc>
                <a:spcPct val="110000"/>
              </a:lnSpc>
              <a:spcAft>
                <a:spcPts val="900"/>
              </a:spcAft>
            </a:pPr>
            <a:r>
              <a:rPr sz="1500" b="0" i="0">
                <a:solidFill>
                  <a:srgbClr val="444444"/>
                </a:solidFill>
                <a:latin typeface="Calibri"/>
              </a:rPr>
              <a:t>If a defense was built for a failure that happens by accident, and an attack causes the same failure on purpose through the same route, then the defense has a claim to answer. Nobody has made it answer.</a:t>
            </a:r>
          </a:p>
        </p:txBody>
      </p:sp>
      <p:sp>
        <p:nvSpPr>
          <p:cNvPr id="6" name="TextBox 5"/>
          <p:cNvSpPr txBox="1"/>
          <p:nvPr/>
        </p:nvSpPr>
        <p:spPr>
          <a:xfrm>
            <a:off x="731520" y="3218688"/>
            <a:ext cx="338328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THE CELL WE STARTED IN</a:t>
            </a:r>
          </a:p>
        </p:txBody>
      </p:sp>
      <p:sp>
        <p:nvSpPr>
          <p:cNvPr id="7" name="TextBox 6"/>
          <p:cNvSpPr txBox="1"/>
          <p:nvPr/>
        </p:nvSpPr>
        <p:spPr>
          <a:xfrm>
            <a:off x="4114800" y="3218688"/>
            <a:ext cx="731520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8" name="Rectangle 7"/>
          <p:cNvSpPr/>
          <p:nvPr/>
        </p:nvSpPr>
        <p:spPr>
          <a:xfrm>
            <a:off x="731520" y="3493008"/>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602736"/>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Route in</a:t>
            </a:r>
          </a:p>
        </p:txBody>
      </p:sp>
      <p:sp>
        <p:nvSpPr>
          <p:cNvPr id="10" name="TextBox 9"/>
          <p:cNvSpPr txBox="1"/>
          <p:nvPr/>
        </p:nvSpPr>
        <p:spPr>
          <a:xfrm>
            <a:off x="4114800" y="3602736"/>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a document returned by a search step</a:t>
            </a:r>
          </a:p>
        </p:txBody>
      </p:sp>
      <p:sp>
        <p:nvSpPr>
          <p:cNvPr id="11" name="TextBox 10"/>
          <p:cNvSpPr txBox="1"/>
          <p:nvPr/>
        </p:nvSpPr>
        <p:spPr>
          <a:xfrm>
            <a:off x="731520" y="4023360"/>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What goes wrong</a:t>
            </a:r>
          </a:p>
        </p:txBody>
      </p:sp>
      <p:sp>
        <p:nvSpPr>
          <p:cNvPr id="12" name="TextBox 11"/>
          <p:cNvSpPr txBox="1"/>
          <p:nvPr/>
        </p:nvSpPr>
        <p:spPr>
          <a:xfrm>
            <a:off x="4114800" y="4023360"/>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the agent answers from false content and nothing signals it</a:t>
            </a:r>
          </a:p>
        </p:txBody>
      </p:sp>
      <p:sp>
        <p:nvSpPr>
          <p:cNvPr id="13" name="TextBox 12"/>
          <p:cNvSpPr txBox="1"/>
          <p:nvPr/>
        </p:nvSpPr>
        <p:spPr>
          <a:xfrm>
            <a:off x="731520" y="4443984"/>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 the attack side</a:t>
            </a:r>
          </a:p>
        </p:txBody>
      </p:sp>
      <p:sp>
        <p:nvSpPr>
          <p:cNvPr id="14" name="TextBox 13"/>
          <p:cNvSpPr txBox="1"/>
          <p:nvPr/>
        </p:nvSpPr>
        <p:spPr>
          <a:xfrm>
            <a:off x="4114800" y="4443984"/>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3 named attacks, all deliberate</a:t>
            </a:r>
          </a:p>
        </p:txBody>
      </p:sp>
      <p:sp>
        <p:nvSpPr>
          <p:cNvPr id="15" name="TextBox 14"/>
          <p:cNvSpPr txBox="1"/>
          <p:nvPr/>
        </p:nvSpPr>
        <p:spPr>
          <a:xfrm>
            <a:off x="731520" y="4864608"/>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On the defense side</a:t>
            </a:r>
          </a:p>
        </p:txBody>
      </p:sp>
      <p:sp>
        <p:nvSpPr>
          <p:cNvPr id="16" name="TextBox 15"/>
          <p:cNvSpPr txBox="1"/>
          <p:nvPr/>
        </p:nvSpPr>
        <p:spPr>
          <a:xfrm>
            <a:off x="4114800" y="4864608"/>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42 named defenses, all built for the accidental version</a:t>
            </a:r>
          </a:p>
        </p:txBody>
      </p:sp>
      <p:sp>
        <p:nvSpPr>
          <p:cNvPr id="17" name="TextBox 16"/>
          <p:cNvSpPr txBox="1"/>
          <p:nvPr/>
        </p:nvSpPr>
        <p:spPr>
          <a:xfrm>
            <a:off x="731520" y="5285232"/>
            <a:ext cx="338328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Tested against each other</a:t>
            </a:r>
          </a:p>
        </p:txBody>
      </p:sp>
      <p:sp>
        <p:nvSpPr>
          <p:cNvPr id="18" name="TextBox 17"/>
          <p:cNvSpPr txBox="1"/>
          <p:nvPr/>
        </p:nvSpPr>
        <p:spPr>
          <a:xfrm>
            <a:off x="4114800" y="5285232"/>
            <a:ext cx="7315200" cy="310896"/>
          </a:xfrm>
          <a:prstGeom prst="rect">
            <a:avLst/>
          </a:prstGeom>
          <a:noFill/>
        </p:spPr>
        <p:txBody>
          <a:bodyPr wrap="square" lIns="0" rIns="0" tIns="0" bIns="0" anchor="t">
            <a:spAutoFit/>
          </a:bodyPr>
          <a:lstStyle/>
          <a:p>
            <a:pPr algn="l">
              <a:lnSpc>
                <a:spcPct val="106000"/>
              </a:lnSpc>
              <a:spcAft>
                <a:spcPts val="0"/>
              </a:spcAft>
            </a:pPr>
            <a:r>
              <a:rPr sz="1350" b="0" i="0">
                <a:solidFill>
                  <a:srgbClr val="444444"/>
                </a:solidFill>
                <a:latin typeface="Calibri"/>
              </a:rPr>
              <a:t>none of them, by anyone</a:t>
            </a:r>
          </a:p>
        </p:txBody>
      </p:sp>
      <p:sp>
        <p:nvSpPr>
          <p:cNvPr id="19" name="TextBox 18"/>
          <p:cNvSpPr txBox="1"/>
          <p:nvPr/>
        </p:nvSpPr>
        <p:spPr>
          <a:xfrm>
            <a:off x="731520" y="5742432"/>
            <a:ext cx="10725912" cy="658367"/>
          </a:xfrm>
          <a:prstGeom prst="rect">
            <a:avLst/>
          </a:prstGeom>
          <a:noFill/>
        </p:spPr>
        <p:txBody>
          <a:bodyPr wrap="square" lIns="0" rIns="0" tIns="0" bIns="0" anchor="t">
            <a:spAutoFit/>
          </a:bodyPr>
          <a:lstStyle/>
          <a:p>
            <a:pPr algn="l">
              <a:lnSpc>
                <a:spcPct val="110000"/>
              </a:lnSpc>
              <a:spcAft>
                <a:spcPts val="600"/>
              </a:spcAft>
            </a:pPr>
            <a:r>
              <a:rPr sz="1350" b="1" i="0">
                <a:solidFill>
                  <a:srgbClr val="111111"/>
                </a:solidFill>
                <a:latin typeface="Calibri"/>
              </a:rPr>
              <a:t>The map picked the first experiments, not us. Three of the four defenses we ran sit in that cell. The fourth answers the same failure arriving by a different route.</a:t>
            </a:r>
          </a:p>
          <a:p>
            <a:pPr>
              <a:lnSpc>
                <a:spcPct val="110000"/>
              </a:lnSpc>
              <a:spcAft>
                <a:spcPts val="600"/>
              </a:spcAft>
            </a:pPr>
            <a:r>
              <a:rPr sz="1350" b="0" i="0">
                <a:solidFill>
                  <a:srgbClr val="444444"/>
                </a:solidFill>
                <a:latin typeface="Calibri"/>
              </a:rPr>
              <a:t>We then widened the attack set along the same route. Two more attacks also poison a retrieved document, and testing those as well is how we checked that a result was about the defense and not about one attack.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WHAT WE RAN</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The first measurements anyone has taken in that cell</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15</a:t>
            </a:r>
          </a:p>
        </p:txBody>
      </p:sp>
      <p:sp>
        <p:nvSpPr>
          <p:cNvPr id="5" name="TextBox 4"/>
          <p:cNvSpPr txBox="1"/>
          <p:nvPr/>
        </p:nvSpPr>
        <p:spPr>
          <a:xfrm>
            <a:off x="731520" y="1965960"/>
            <a:ext cx="25603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WE RAN</a:t>
            </a:r>
          </a:p>
        </p:txBody>
      </p:sp>
      <p:sp>
        <p:nvSpPr>
          <p:cNvPr id="6" name="TextBox 5"/>
          <p:cNvSpPr txBox="1"/>
          <p:nvPr/>
        </p:nvSpPr>
        <p:spPr>
          <a:xfrm>
            <a:off x="3291839" y="1965960"/>
            <a:ext cx="81381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DETAIL</a:t>
            </a:r>
          </a:p>
        </p:txBody>
      </p:sp>
      <p:sp>
        <p:nvSpPr>
          <p:cNvPr id="7" name="Rectangle 6"/>
          <p:cNvSpPr/>
          <p:nvPr/>
        </p:nvSpPr>
        <p:spPr>
          <a:xfrm>
            <a:off x="731520" y="2240279"/>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50008"/>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4 attacks</a:t>
            </a:r>
          </a:p>
        </p:txBody>
      </p:sp>
      <p:sp>
        <p:nvSpPr>
          <p:cNvPr id="9" name="TextBox 8"/>
          <p:cNvSpPr txBox="1"/>
          <p:nvPr/>
        </p:nvSpPr>
        <p:spPr>
          <a:xfrm>
            <a:off x="3291839" y="2350008"/>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rebuilt from released code and papers</a:t>
            </a:r>
          </a:p>
        </p:txBody>
      </p:sp>
      <p:sp>
        <p:nvSpPr>
          <p:cNvPr id="10" name="TextBox 9"/>
          <p:cNvSpPr txBox="1"/>
          <p:nvPr/>
        </p:nvSpPr>
        <p:spPr>
          <a:xfrm>
            <a:off x="731520" y="2916936"/>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5 defenses</a:t>
            </a:r>
          </a:p>
        </p:txBody>
      </p:sp>
      <p:sp>
        <p:nvSpPr>
          <p:cNvPr id="11" name="TextBox 10"/>
          <p:cNvSpPr txBox="1"/>
          <p:nvPr/>
        </p:nvSpPr>
        <p:spPr>
          <a:xfrm>
            <a:off x="3291839" y="2916936"/>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counting two versions of one of them, all from released code</a:t>
            </a:r>
          </a:p>
        </p:txBody>
      </p:sp>
      <p:sp>
        <p:nvSpPr>
          <p:cNvPr id="12" name="TextBox 11"/>
          <p:cNvSpPr txBox="1"/>
          <p:nvPr/>
        </p:nvSpPr>
        <p:spPr>
          <a:xfrm>
            <a:off x="731520" y="3483863"/>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19 pairs</a:t>
            </a:r>
          </a:p>
        </p:txBody>
      </p:sp>
      <p:sp>
        <p:nvSpPr>
          <p:cNvPr id="13" name="TextBox 12"/>
          <p:cNvSpPr txBox="1"/>
          <p:nvPr/>
        </p:nvSpPr>
        <p:spPr>
          <a:xfrm>
            <a:off x="3291839" y="3483863"/>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defense against attack, on three models, none of them reported anywhere</a:t>
            </a:r>
          </a:p>
        </p:txBody>
      </p:sp>
      <p:sp>
        <p:nvSpPr>
          <p:cNvPr id="14" name="TextBox 13"/>
          <p:cNvSpPr txBox="1"/>
          <p:nvPr/>
        </p:nvSpPr>
        <p:spPr>
          <a:xfrm>
            <a:off x="731520" y="4050791"/>
            <a:ext cx="256032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109 conditions</a:t>
            </a:r>
          </a:p>
        </p:txBody>
      </p:sp>
      <p:sp>
        <p:nvSpPr>
          <p:cNvPr id="15" name="TextBox 14"/>
          <p:cNvSpPr txBox="1"/>
          <p:nvPr/>
        </p:nvSpPr>
        <p:spPr>
          <a:xfrm>
            <a:off x="3291839" y="4050791"/>
            <a:ext cx="8138160" cy="310896"/>
          </a:xfrm>
          <a:prstGeom prst="rect">
            <a:avLst/>
          </a:prstGeom>
          <a:noFill/>
        </p:spPr>
        <p:txBody>
          <a:bodyPr wrap="square" lIns="0" rIns="0" tIns="0" bIns="0" anchor="t">
            <a:spAutoFit/>
          </a:bodyPr>
          <a:lstStyle/>
          <a:p>
            <a:pPr algn="l">
              <a:lnSpc>
                <a:spcPct val="106000"/>
              </a:lnSpc>
              <a:spcAft>
                <a:spcPts val="0"/>
              </a:spcAft>
            </a:pPr>
            <a:r>
              <a:rPr sz="1500" b="0" i="0">
                <a:solidFill>
                  <a:srgbClr val="444444"/>
                </a:solidFill>
                <a:latin typeface="Calibri"/>
              </a:rPr>
              <a:t>each pair run at several attack strengths, not one</a:t>
            </a:r>
          </a:p>
        </p:txBody>
      </p:sp>
      <p:sp>
        <p:nvSpPr>
          <p:cNvPr id="16" name="TextBox 15"/>
          <p:cNvSpPr txBox="1"/>
          <p:nvPr/>
        </p:nvSpPr>
        <p:spPr>
          <a:xfrm>
            <a:off x="731520" y="4526280"/>
            <a:ext cx="10725912" cy="1874519"/>
          </a:xfrm>
          <a:prstGeom prst="rect">
            <a:avLst/>
          </a:prstGeom>
          <a:noFill/>
        </p:spPr>
        <p:txBody>
          <a:bodyPr wrap="square" lIns="0" rIns="0" tIns="0" bIns="0" anchor="t">
            <a:spAutoFit/>
          </a:bodyPr>
          <a:lstStyle/>
          <a:p>
            <a:pPr algn="l">
              <a:lnSpc>
                <a:spcPct val="110000"/>
              </a:lnSpc>
              <a:spcAft>
                <a:spcPts val="800"/>
              </a:spcAft>
            </a:pPr>
            <a:r>
              <a:rPr sz="1500" b="1" i="0">
                <a:solidFill>
                  <a:srgbClr val="111111"/>
                </a:solidFill>
                <a:latin typeface="Calibri"/>
              </a:rPr>
              <a:t>Two rules decide whether we are allowed to claim anything.</a:t>
            </a:r>
          </a:p>
          <a:p>
            <a:pPr>
              <a:lnSpc>
                <a:spcPct val="110000"/>
              </a:lnSpc>
              <a:spcAft>
                <a:spcPts val="800"/>
              </a:spcAft>
            </a:pPr>
            <a:r>
              <a:rPr sz="1500" b="0" i="0">
                <a:solidFill>
                  <a:srgbClr val="444444"/>
                </a:solidFill>
                <a:latin typeface="Calibri"/>
              </a:rPr>
              <a:t>A defense must first show its own benefit on its own task. If it cannot, we report nothing from it.</a:t>
            </a:r>
          </a:p>
          <a:p>
            <a:pPr>
              <a:lnSpc>
                <a:spcPct val="110000"/>
              </a:lnSpc>
              <a:spcAft>
                <a:spcPts val="800"/>
              </a:spcAft>
            </a:pPr>
            <a:r>
              <a:rPr sz="1500" b="0" i="0">
                <a:solidFill>
                  <a:srgbClr val="444444"/>
                </a:solidFill>
                <a:latin typeface="Calibri"/>
              </a:rPr>
              <a:t>We fix in advance the smallest change the sample can detect. Below that we say nothing, in either direction.</a:t>
            </a:r>
          </a:p>
          <a:p>
            <a:pPr>
              <a:lnSpc>
                <a:spcPct val="110000"/>
              </a:lnSpc>
              <a:spcAft>
                <a:spcPts val="800"/>
              </a:spcAft>
            </a:pPr>
            <a:r>
              <a:rPr sz="1500" b="0" i="0">
                <a:solidFill>
                  <a:srgbClr val="444444"/>
                </a:solidFill>
                <a:latin typeface="Calibri"/>
              </a:rPr>
              <a:t>Scoring is the authors' own code, unchanged.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THE RESULT</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Does the defense stop the attack?</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16</a:t>
            </a:r>
          </a:p>
        </p:txBody>
      </p:sp>
      <p:sp>
        <p:nvSpPr>
          <p:cNvPr id="5" name="TextBox 4"/>
          <p:cNvSpPr txBox="1"/>
          <p:nvPr/>
        </p:nvSpPr>
        <p:spPr>
          <a:xfrm>
            <a:off x="731520" y="2057400"/>
            <a:ext cx="4023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OUTCOME</a:t>
            </a:r>
          </a:p>
        </p:txBody>
      </p:sp>
      <p:sp>
        <p:nvSpPr>
          <p:cNvPr id="6" name="TextBox 5"/>
          <p:cNvSpPr txBox="1"/>
          <p:nvPr/>
        </p:nvSpPr>
        <p:spPr>
          <a:xfrm>
            <a:off x="4754880" y="2057400"/>
            <a:ext cx="557784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WHAT IT MEANS</a:t>
            </a:r>
          </a:p>
        </p:txBody>
      </p:sp>
      <p:sp>
        <p:nvSpPr>
          <p:cNvPr id="7" name="TextBox 6"/>
          <p:cNvSpPr txBox="1"/>
          <p:nvPr/>
        </p:nvSpPr>
        <p:spPr>
          <a:xfrm>
            <a:off x="10332720" y="2057400"/>
            <a:ext cx="841247" cy="274320"/>
          </a:xfrm>
          <a:prstGeom prst="rect">
            <a:avLst/>
          </a:prstGeom>
          <a:noFill/>
        </p:spPr>
        <p:txBody>
          <a:bodyPr wrap="square" lIns="0" rIns="0" tIns="0" bIns="0" anchor="t">
            <a:spAutoFit/>
          </a:bodyPr>
          <a:lstStyle/>
          <a:p>
            <a:pPr algn="r">
              <a:lnSpc>
                <a:spcPct val="106000"/>
              </a:lnSpc>
              <a:spcAft>
                <a:spcPts val="0"/>
              </a:spcAft>
            </a:pPr>
            <a:r>
              <a:rPr sz="1000" b="1" i="0">
                <a:solidFill>
                  <a:srgbClr val="777777"/>
                </a:solidFill>
                <a:latin typeface="Calibri"/>
              </a:rPr>
              <a:t>PAIRS</a:t>
            </a:r>
          </a:p>
        </p:txBody>
      </p:sp>
      <p:sp>
        <p:nvSpPr>
          <p:cNvPr id="8" name="Rectangle 7"/>
          <p:cNvSpPr/>
          <p:nvPr/>
        </p:nvSpPr>
        <p:spPr>
          <a:xfrm>
            <a:off x="731520" y="2331720"/>
            <a:ext cx="106984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41448"/>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stops the attack</a:t>
            </a:r>
          </a:p>
        </p:txBody>
      </p:sp>
      <p:sp>
        <p:nvSpPr>
          <p:cNvPr id="10" name="TextBox 9"/>
          <p:cNvSpPr txBox="1"/>
          <p:nvPr/>
        </p:nvSpPr>
        <p:spPr>
          <a:xfrm>
            <a:off x="4754880" y="2441448"/>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less often with the defense switched on</a:t>
            </a:r>
          </a:p>
        </p:txBody>
      </p:sp>
      <p:sp>
        <p:nvSpPr>
          <p:cNvPr id="11" name="TextBox 10"/>
          <p:cNvSpPr txBox="1"/>
          <p:nvPr/>
        </p:nvSpPr>
        <p:spPr>
          <a:xfrm>
            <a:off x="10332720" y="2441448"/>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4</a:t>
            </a:r>
          </a:p>
        </p:txBody>
      </p:sp>
      <p:sp>
        <p:nvSpPr>
          <p:cNvPr id="12" name="TextBox 11"/>
          <p:cNvSpPr txBox="1"/>
          <p:nvPr/>
        </p:nvSpPr>
        <p:spPr>
          <a:xfrm>
            <a:off x="731520" y="3136391"/>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does nothing</a:t>
            </a:r>
          </a:p>
        </p:txBody>
      </p:sp>
      <p:sp>
        <p:nvSpPr>
          <p:cNvPr id="13" name="TextBox 12"/>
          <p:cNvSpPr txBox="1"/>
          <p:nvPr/>
        </p:nvSpPr>
        <p:spPr>
          <a:xfrm>
            <a:off x="4754880" y="3136391"/>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no readable difference either way</a:t>
            </a:r>
          </a:p>
        </p:txBody>
      </p:sp>
      <p:sp>
        <p:nvSpPr>
          <p:cNvPr id="14" name="TextBox 13"/>
          <p:cNvSpPr txBox="1"/>
          <p:nvPr/>
        </p:nvSpPr>
        <p:spPr>
          <a:xfrm>
            <a:off x="10332720" y="3136391"/>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7</a:t>
            </a:r>
          </a:p>
        </p:txBody>
      </p:sp>
      <p:sp>
        <p:nvSpPr>
          <p:cNvPr id="15" name="TextBox 14"/>
          <p:cNvSpPr txBox="1"/>
          <p:nvPr/>
        </p:nvSpPr>
        <p:spPr>
          <a:xfrm>
            <a:off x="731520" y="3831335"/>
            <a:ext cx="402336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It makes the attack worse</a:t>
            </a:r>
          </a:p>
        </p:txBody>
      </p:sp>
      <p:sp>
        <p:nvSpPr>
          <p:cNvPr id="16" name="TextBox 15"/>
          <p:cNvSpPr txBox="1"/>
          <p:nvPr/>
        </p:nvSpPr>
        <p:spPr>
          <a:xfrm>
            <a:off x="4754880" y="3831335"/>
            <a:ext cx="5577840" cy="310896"/>
          </a:xfrm>
          <a:prstGeom prst="rect">
            <a:avLst/>
          </a:prstGeom>
          <a:noFill/>
        </p:spPr>
        <p:txBody>
          <a:bodyPr wrap="square" lIns="0" rIns="0" tIns="0" bIns="0" anchor="t">
            <a:spAutoFit/>
          </a:bodyPr>
          <a:lstStyle/>
          <a:p>
            <a:pPr algn="l">
              <a:lnSpc>
                <a:spcPct val="106000"/>
              </a:lnSpc>
              <a:spcAft>
                <a:spcPts val="0"/>
              </a:spcAft>
            </a:pPr>
            <a:r>
              <a:rPr sz="1550" b="0" i="0">
                <a:solidFill>
                  <a:srgbClr val="444444"/>
                </a:solidFill>
                <a:latin typeface="Calibri"/>
              </a:rPr>
              <a:t>the attack succeeds MORE often with the defense switched on</a:t>
            </a:r>
          </a:p>
        </p:txBody>
      </p:sp>
      <p:sp>
        <p:nvSpPr>
          <p:cNvPr id="17" name="TextBox 16"/>
          <p:cNvSpPr txBox="1"/>
          <p:nvPr/>
        </p:nvSpPr>
        <p:spPr>
          <a:xfrm>
            <a:off x="10332720" y="3831335"/>
            <a:ext cx="841247" cy="310896"/>
          </a:xfrm>
          <a:prstGeom prst="rect">
            <a:avLst/>
          </a:prstGeom>
          <a:noFill/>
        </p:spPr>
        <p:txBody>
          <a:bodyPr wrap="square" lIns="0" rIns="0" tIns="0" bIns="0" anchor="t">
            <a:spAutoFit/>
          </a:bodyPr>
          <a:lstStyle/>
          <a:p>
            <a:pPr algn="r">
              <a:lnSpc>
                <a:spcPct val="106000"/>
              </a:lnSpc>
              <a:spcAft>
                <a:spcPts val="0"/>
              </a:spcAft>
            </a:pPr>
            <a:r>
              <a:rPr sz="1550" b="0" i="0">
                <a:solidFill>
                  <a:srgbClr val="444444"/>
                </a:solidFill>
                <a:latin typeface="Calibri"/>
              </a:rPr>
              <a:t>8</a:t>
            </a:r>
          </a:p>
        </p:txBody>
      </p:sp>
      <p:sp>
        <p:nvSpPr>
          <p:cNvPr id="18" name="TextBox 17"/>
          <p:cNvSpPr txBox="1"/>
          <p:nvPr/>
        </p:nvSpPr>
        <p:spPr>
          <a:xfrm>
            <a:off x="731520" y="4315968"/>
            <a:ext cx="10725912" cy="274320"/>
          </a:xfrm>
          <a:prstGeom prst="rect">
            <a:avLst/>
          </a:prstGeom>
          <a:noFill/>
        </p:spPr>
        <p:txBody>
          <a:bodyPr wrap="square" lIns="0" rIns="0" tIns="0" bIns="0" anchor="t">
            <a:spAutoFit/>
          </a:bodyPr>
          <a:lstStyle/>
          <a:p>
            <a:pPr algn="l">
              <a:lnSpc>
                <a:spcPct val="106000"/>
              </a:lnSpc>
              <a:spcAft>
                <a:spcPts val="0"/>
              </a:spcAft>
            </a:pPr>
            <a:r>
              <a:rPr sz="1150" b="0" i="0">
                <a:solidFill>
                  <a:srgbClr val="777777"/>
                </a:solidFill>
                <a:latin typeface="Calibri"/>
              </a:rPr>
              <a:t>out of 19 pairs measured</a:t>
            </a:r>
          </a:p>
        </p:txBody>
      </p:sp>
      <p:sp>
        <p:nvSpPr>
          <p:cNvPr id="19" name="TextBox 18"/>
          <p:cNvSpPr txBox="1"/>
          <p:nvPr/>
        </p:nvSpPr>
        <p:spPr>
          <a:xfrm>
            <a:off x="731520" y="4617720"/>
            <a:ext cx="10725912" cy="1783080"/>
          </a:xfrm>
          <a:prstGeom prst="rect">
            <a:avLst/>
          </a:prstGeom>
          <a:noFill/>
        </p:spPr>
        <p:txBody>
          <a:bodyPr wrap="square" lIns="0" rIns="0" tIns="0" bIns="0" anchor="t">
            <a:spAutoFit/>
          </a:bodyPr>
          <a:lstStyle/>
          <a:p>
            <a:pPr algn="l">
              <a:lnSpc>
                <a:spcPct val="110000"/>
              </a:lnSpc>
              <a:spcAft>
                <a:spcPts val="900"/>
              </a:spcAft>
            </a:pPr>
            <a:r>
              <a:rPr sz="1500" b="1" i="0">
                <a:solidFill>
                  <a:srgbClr val="111111"/>
                </a:solidFill>
                <a:latin typeface="Calibri"/>
              </a:rPr>
              <a:t>A defense helped in four cases out of eighteen. In seven it made the attack work better than no defense at all.</a:t>
            </a:r>
          </a:p>
          <a:p>
            <a:pPr>
              <a:lnSpc>
                <a:spcPct val="110000"/>
              </a:lnSpc>
              <a:spcAft>
                <a:spcPts val="900"/>
              </a:spcAft>
            </a:pPr>
            <a:r>
              <a:rPr sz="1500" b="0" i="0">
                <a:solidFill>
                  <a:srgbClr val="444444"/>
                </a:solidFill>
                <a:latin typeface="Calibri"/>
              </a:rPr>
              <a:t>In 5 of those seven the attack does almost nothing to a model with no defense at all. The defense is what makes it work.</a:t>
            </a:r>
          </a:p>
          <a:p>
            <a:pPr>
              <a:lnSpc>
                <a:spcPct val="110000"/>
              </a:lnSpc>
              <a:spcAft>
                <a:spcPts val="900"/>
              </a:spcAft>
            </a:pPr>
            <a:r>
              <a:rPr sz="1500" b="1" i="0">
                <a:solidFill>
                  <a:srgbClr val="111111"/>
                </a:solidFill>
                <a:latin typeface="Calibri"/>
              </a:rPr>
              <a:t>That is the finding. A defense built for one kind of failure is not neutral against the other kind. It can be the reason the attack succeeds.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75488"/>
            <a:ext cx="10725912" cy="274320"/>
          </a:xfrm>
          <a:prstGeom prst="rect">
            <a:avLst/>
          </a:prstGeom>
          <a:noFill/>
        </p:spPr>
        <p:txBody>
          <a:bodyPr wrap="square" lIns="0" rIns="0" tIns="0" bIns="0" anchor="t">
            <a:spAutoFit/>
          </a:bodyPr>
          <a:lstStyle/>
          <a:p>
            <a:pPr algn="l">
              <a:lnSpc>
                <a:spcPct val="106000"/>
              </a:lnSpc>
              <a:spcAft>
                <a:spcPts val="0"/>
              </a:spcAft>
            </a:pPr>
            <a:r>
              <a:rPr sz="1050" b="1" i="0">
                <a:solidFill>
                  <a:srgbClr val="777777"/>
                </a:solidFill>
                <a:latin typeface="Calibri"/>
              </a:rPr>
              <a:t>WHERE WE ARE NOW</a:t>
            </a:r>
          </a:p>
        </p:txBody>
      </p:sp>
      <p:sp>
        <p:nvSpPr>
          <p:cNvPr id="3" name="TextBox 2"/>
          <p:cNvSpPr txBox="1"/>
          <p:nvPr/>
        </p:nvSpPr>
        <p:spPr>
          <a:xfrm>
            <a:off x="731520" y="841248"/>
            <a:ext cx="10725912" cy="868680"/>
          </a:xfrm>
          <a:prstGeom prst="rect">
            <a:avLst/>
          </a:prstGeom>
          <a:noFill/>
        </p:spPr>
        <p:txBody>
          <a:bodyPr wrap="square" lIns="0" rIns="0" tIns="0" bIns="0" anchor="t">
            <a:spAutoFit/>
          </a:bodyPr>
          <a:lstStyle/>
          <a:p>
            <a:pPr algn="l">
              <a:lnSpc>
                <a:spcPct val="102000"/>
              </a:lnSpc>
              <a:spcAft>
                <a:spcPts val="0"/>
              </a:spcAft>
            </a:pPr>
            <a:r>
              <a:rPr sz="2800" b="1" i="0">
                <a:solidFill>
                  <a:srgbClr val="111111"/>
                </a:solidFill>
                <a:latin typeface="Cambria"/>
              </a:rPr>
              <a:t>What is finished and what is still running</a:t>
            </a:r>
          </a:p>
        </p:txBody>
      </p:sp>
      <p:sp>
        <p:nvSpPr>
          <p:cNvPr id="4" name="TextBox 3"/>
          <p:cNvSpPr txBox="1"/>
          <p:nvPr/>
        </p:nvSpPr>
        <p:spPr>
          <a:xfrm>
            <a:off x="11201400" y="6419088"/>
            <a:ext cx="457200" cy="274320"/>
          </a:xfrm>
          <a:prstGeom prst="rect">
            <a:avLst/>
          </a:prstGeom>
          <a:noFill/>
        </p:spPr>
        <p:txBody>
          <a:bodyPr wrap="square" lIns="0" rIns="0" tIns="0" bIns="0" anchor="t">
            <a:spAutoFit/>
          </a:bodyPr>
          <a:lstStyle/>
          <a:p>
            <a:pPr algn="r">
              <a:lnSpc>
                <a:spcPct val="106000"/>
              </a:lnSpc>
              <a:spcAft>
                <a:spcPts val="0"/>
              </a:spcAft>
            </a:pPr>
            <a:r>
              <a:rPr sz="900" b="0" i="0">
                <a:solidFill>
                  <a:srgbClr val="999999"/>
                </a:solidFill>
                <a:latin typeface="Calibri"/>
              </a:rPr>
              <a:t>17</a:t>
            </a:r>
          </a:p>
        </p:txBody>
      </p:sp>
      <p:sp>
        <p:nvSpPr>
          <p:cNvPr id="5" name="TextBox 4"/>
          <p:cNvSpPr txBox="1"/>
          <p:nvPr/>
        </p:nvSpPr>
        <p:spPr>
          <a:xfrm>
            <a:off x="731520" y="2011680"/>
            <a:ext cx="1737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DONE</a:t>
            </a:r>
          </a:p>
        </p:txBody>
      </p:sp>
      <p:sp>
        <p:nvSpPr>
          <p:cNvPr id="6" name="TextBox 5"/>
          <p:cNvSpPr txBox="1"/>
          <p:nvPr/>
        </p:nvSpPr>
        <p:spPr>
          <a:xfrm>
            <a:off x="2468880" y="2011680"/>
            <a:ext cx="34747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7" name="Rectangle 6"/>
          <p:cNvSpPr/>
          <p:nvPr/>
        </p:nvSpPr>
        <p:spPr>
          <a:xfrm>
            <a:off x="731520" y="2286000"/>
            <a:ext cx="5212079"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9572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 cell</a:t>
            </a:r>
          </a:p>
        </p:txBody>
      </p:sp>
      <p:sp>
        <p:nvSpPr>
          <p:cNvPr id="9" name="TextBox 8"/>
          <p:cNvSpPr txBox="1"/>
          <p:nvPr/>
        </p:nvSpPr>
        <p:spPr>
          <a:xfrm>
            <a:off x="2468880" y="239572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worked through: the retrieved document, answering from false content</a:t>
            </a:r>
          </a:p>
        </p:txBody>
      </p:sp>
      <p:sp>
        <p:nvSpPr>
          <p:cNvPr id="10" name="TextBox 9"/>
          <p:cNvSpPr txBox="1"/>
          <p:nvPr/>
        </p:nvSpPr>
        <p:spPr>
          <a:xfrm>
            <a:off x="731520" y="294436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19 pairs</a:t>
            </a:r>
          </a:p>
        </p:txBody>
      </p:sp>
      <p:sp>
        <p:nvSpPr>
          <p:cNvPr id="11" name="TextBox 10"/>
          <p:cNvSpPr txBox="1"/>
          <p:nvPr/>
        </p:nvSpPr>
        <p:spPr>
          <a:xfrm>
            <a:off x="2468880" y="294436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measured, none of them previously tested</a:t>
            </a:r>
          </a:p>
        </p:txBody>
      </p:sp>
      <p:sp>
        <p:nvSpPr>
          <p:cNvPr id="12" name="TextBox 11"/>
          <p:cNvSpPr txBox="1"/>
          <p:nvPr/>
        </p:nvSpPr>
        <p:spPr>
          <a:xfrm>
            <a:off x="731520" y="349300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3 models</a:t>
            </a:r>
          </a:p>
        </p:txBody>
      </p:sp>
      <p:sp>
        <p:nvSpPr>
          <p:cNvPr id="13" name="TextBox 12"/>
          <p:cNvSpPr txBox="1"/>
          <p:nvPr/>
        </p:nvSpPr>
        <p:spPr>
          <a:xfrm>
            <a:off x="2468880" y="349300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including a controlled repeat of the same pair on a second model</a:t>
            </a:r>
          </a:p>
        </p:txBody>
      </p:sp>
      <p:sp>
        <p:nvSpPr>
          <p:cNvPr id="14" name="TextBox 13"/>
          <p:cNvSpPr txBox="1"/>
          <p:nvPr/>
        </p:nvSpPr>
        <p:spPr>
          <a:xfrm>
            <a:off x="731520" y="4114800"/>
            <a:ext cx="173736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RUNNING NOW</a:t>
            </a:r>
          </a:p>
        </p:txBody>
      </p:sp>
      <p:sp>
        <p:nvSpPr>
          <p:cNvPr id="15" name="TextBox 14"/>
          <p:cNvSpPr txBox="1"/>
          <p:nvPr/>
        </p:nvSpPr>
        <p:spPr>
          <a:xfrm>
            <a:off x="2468880" y="4114800"/>
            <a:ext cx="3474720" cy="274320"/>
          </a:xfrm>
          <a:prstGeom prst="rect">
            <a:avLst/>
          </a:prstGeom>
          <a:noFill/>
        </p:spPr>
        <p:txBody>
          <a:bodyPr wrap="square" lIns="0" rIns="0" tIns="0" bIns="0" anchor="t">
            <a:spAutoFit/>
          </a:bodyPr>
          <a:lstStyle/>
          <a:p>
            <a:pPr algn="l">
              <a:lnSpc>
                <a:spcPct val="106000"/>
              </a:lnSpc>
              <a:spcAft>
                <a:spcPts val="0"/>
              </a:spcAft>
            </a:pPr>
            <a:r>
              <a:rPr sz="1000" b="1" i="0">
                <a:solidFill>
                  <a:srgbClr val="777777"/>
                </a:solidFill>
                <a:latin typeface="Calibri"/>
              </a:rPr>
              <a:t/>
            </a:r>
          </a:p>
        </p:txBody>
      </p:sp>
      <p:sp>
        <p:nvSpPr>
          <p:cNvPr id="16" name="Rectangle 15"/>
          <p:cNvSpPr/>
          <p:nvPr/>
        </p:nvSpPr>
        <p:spPr>
          <a:xfrm>
            <a:off x="731520" y="4389120"/>
            <a:ext cx="5212079"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498848"/>
            <a:ext cx="173736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5 models</a:t>
            </a:r>
          </a:p>
        </p:txBody>
      </p:sp>
      <p:sp>
        <p:nvSpPr>
          <p:cNvPr id="18" name="TextBox 17"/>
          <p:cNvSpPr txBox="1"/>
          <p:nvPr/>
        </p:nvSpPr>
        <p:spPr>
          <a:xfrm>
            <a:off x="2468880" y="4498848"/>
            <a:ext cx="3474720" cy="310896"/>
          </a:xfrm>
          <a:prstGeom prst="rect">
            <a:avLst/>
          </a:prstGeom>
          <a:noFill/>
        </p:spPr>
        <p:txBody>
          <a:bodyPr wrap="square" lIns="0" rIns="0" tIns="0" bIns="0" anchor="t">
            <a:spAutoFit/>
          </a:bodyPr>
          <a:lstStyle/>
          <a:p>
            <a:pPr algn="l">
              <a:lnSpc>
                <a:spcPct val="106000"/>
              </a:lnSpc>
              <a:spcAft>
                <a:spcPts val="0"/>
              </a:spcAft>
            </a:pPr>
            <a:r>
              <a:rPr sz="1300" b="0" i="0">
                <a:solidFill>
                  <a:srgbClr val="444444"/>
                </a:solidFill>
                <a:latin typeface="Calibri"/>
              </a:rPr>
              <a:t>testing why one model breaks and another does not</a:t>
            </a:r>
          </a:p>
        </p:txBody>
      </p:sp>
      <p:sp>
        <p:nvSpPr>
          <p:cNvPr id="19" name="TextBox 18"/>
          <p:cNvSpPr txBox="1"/>
          <p:nvPr/>
        </p:nvSpPr>
        <p:spPr>
          <a:xfrm>
            <a:off x="6766559" y="1920240"/>
            <a:ext cx="5029200" cy="292608"/>
          </a:xfrm>
          <a:prstGeom prst="rect">
            <a:avLst/>
          </a:prstGeom>
          <a:noFill/>
        </p:spPr>
        <p:txBody>
          <a:bodyPr wrap="square" lIns="0" rIns="0" tIns="0" bIns="0" anchor="t">
            <a:spAutoFit/>
          </a:bodyPr>
          <a:lstStyle/>
          <a:p>
            <a:pPr algn="l">
              <a:lnSpc>
                <a:spcPct val="106000"/>
              </a:lnSpc>
              <a:spcAft>
                <a:spcPts val="600"/>
              </a:spcAft>
            </a:pPr>
            <a:r>
              <a:rPr sz="1500" b="1" i="0">
                <a:solidFill>
                  <a:srgbClr val="111111"/>
                </a:solidFill>
                <a:latin typeface="Calibri"/>
              </a:rPr>
              <a:t>Left to do</a:t>
            </a:r>
          </a:p>
        </p:txBody>
      </p:sp>
      <p:sp>
        <p:nvSpPr>
          <p:cNvPr id="20" name="TextBox 19"/>
          <p:cNvSpPr txBox="1"/>
          <p:nvPr/>
        </p:nvSpPr>
        <p:spPr>
          <a:xfrm>
            <a:off x="6766559" y="2267712"/>
            <a:ext cx="5029200" cy="4133087"/>
          </a:xfrm>
          <a:prstGeom prst="rect">
            <a:avLst/>
          </a:prstGeom>
          <a:noFill/>
        </p:spPr>
        <p:txBody>
          <a:bodyPr wrap="square" lIns="0" rIns="0" tIns="0" bIns="0" anchor="t">
            <a:spAutoFit/>
          </a:bodyPr>
          <a:lstStyle/>
          <a:p>
            <a:pPr algn="l">
              <a:lnSpc>
                <a:spcPct val="110000"/>
              </a:lnSpc>
              <a:spcAft>
                <a:spcPts val="1000"/>
              </a:spcAft>
            </a:pPr>
            <a:r>
              <a:rPr sz="1300" b="0" i="0">
                <a:solidFill>
                  <a:srgbClr val="444444"/>
                </a:solidFill>
                <a:latin typeface="Calibri"/>
              </a:rPr>
              <a:t>One more attack in this cell: a third poisoning method with released code.</a:t>
            </a:r>
          </a:p>
          <a:p>
            <a:pPr>
              <a:lnSpc>
                <a:spcPct val="110000"/>
              </a:lnSpc>
              <a:spcAft>
                <a:spcPts val="1000"/>
              </a:spcAft>
            </a:pPr>
            <a:r>
              <a:rPr sz="1300" b="0" i="0">
                <a:solidFill>
                  <a:srgbClr val="444444"/>
                </a:solidFill>
                <a:latin typeface="Calibri"/>
              </a:rPr>
              <a:t>An aggregation defense from a different research group, to check the rule is not one laboratory's habit.</a:t>
            </a:r>
          </a:p>
          <a:p>
            <a:pPr>
              <a:lnSpc>
                <a:spcPct val="110000"/>
              </a:lnSpc>
              <a:spcAft>
                <a:spcPts val="1000"/>
              </a:spcAft>
            </a:pPr>
            <a:r>
              <a:rPr sz="1300" b="0" i="0">
                <a:solidFill>
                  <a:srgbClr val="444444"/>
                </a:solidFill>
                <a:latin typeface="Calibri"/>
              </a:rPr>
              <a:t>Then the next cell on the map. The largest untested pool is a different route in, with four attacks and seventy-nine defenses facing each other and nothing between them.</a:t>
            </a:r>
          </a:p>
          <a:p>
            <a:pPr>
              <a:lnSpc>
                <a:spcPct val="110000"/>
              </a:lnSpc>
              <a:spcAft>
                <a:spcPts val="1000"/>
              </a:spcAft>
            </a:pPr>
            <a:r>
              <a:rPr sz="1300" b="0" i="0">
                <a:solidFill>
                  <a:srgbClr val="444444"/>
                </a:solidFill>
                <a:latin typeface="Calibri"/>
              </a:rPr>
              <a:t>99 defense papers name an attack on our map and never test against it. Those are the next candidates after that.</a:t>
            </a:r>
          </a:p>
        </p:txBody>
      </p:sp>
      <p:sp>
        <p:nvSpPr>
          <p:cNvPr id="21" name="TextBox 20"/>
          <p:cNvSpPr txBox="1"/>
          <p:nvPr/>
        </p:nvSpPr>
        <p:spPr>
          <a:xfrm>
            <a:off x="731520" y="5120640"/>
            <a:ext cx="10725912"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11111"/>
                </a:solidFill>
                <a:latin typeface="Calibri"/>
              </a:rPr>
              <a:t>The cell we finished took four attacks and five defenses. The map holds 10 more cells with both sides present and nothing tested between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