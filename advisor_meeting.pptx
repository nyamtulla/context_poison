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148840"/>
            <a:ext cx="10725912" cy="1280160"/>
          </a:xfrm>
          <a:prstGeom prst="rect">
            <a:avLst/>
          </a:prstGeom>
          <a:noFill/>
        </p:spPr>
        <p:txBody>
          <a:bodyPr wrap="square" lIns="0" rIns="0" tIns="0" bIns="0" anchor="t">
            <a:spAutoFit/>
          </a:bodyPr>
          <a:lstStyle/>
          <a:p>
            <a:pPr algn="l">
              <a:lnSpc>
                <a:spcPct val="106000"/>
              </a:lnSpc>
              <a:spcAft>
                <a:spcPts val="1400"/>
              </a:spcAft>
            </a:pPr>
            <a:r>
              <a:rPr sz="3600" b="1" i="0">
                <a:solidFill>
                  <a:srgbClr val="111111"/>
                </a:solidFill>
                <a:latin typeface="Cambria"/>
              </a:rPr>
              <a:t>Context Integrity in LLM Agents</a:t>
            </a:r>
          </a:p>
        </p:txBody>
      </p:sp>
      <p:sp>
        <p:nvSpPr>
          <p:cNvPr id="3" name="TextBox 2"/>
          <p:cNvSpPr txBox="1"/>
          <p:nvPr/>
        </p:nvSpPr>
        <p:spPr>
          <a:xfrm>
            <a:off x="731520" y="3246120"/>
            <a:ext cx="10725912" cy="822960"/>
          </a:xfrm>
          <a:prstGeom prst="rect">
            <a:avLst/>
          </a:prstGeom>
          <a:noFill/>
        </p:spPr>
        <p:txBody>
          <a:bodyPr wrap="square" lIns="0" rIns="0" tIns="0" bIns="0" anchor="t">
            <a:spAutoFit/>
          </a:bodyPr>
          <a:lstStyle/>
          <a:p>
            <a:pPr algn="l">
              <a:lnSpc>
                <a:spcPct val="130000"/>
              </a:lnSpc>
              <a:spcAft>
                <a:spcPts val="0"/>
              </a:spcAft>
            </a:pPr>
            <a:r>
              <a:rPr sz="1600" b="0" i="0">
                <a:solidFill>
                  <a:srgbClr val="444444"/>
                </a:solidFill>
                <a:latin typeface="Calibri"/>
              </a:rPr>
              <a:t>Two research communities study the same failure. Neither tests the other's work.
We measured what that costs.</a:t>
            </a:r>
          </a:p>
        </p:txBody>
      </p:sp>
      <p:sp>
        <p:nvSpPr>
          <p:cNvPr id="4" name="TextBox 3"/>
          <p:cNvSpPr txBox="1"/>
          <p:nvPr/>
        </p:nvSpPr>
        <p:spPr>
          <a:xfrm>
            <a:off x="731520" y="5394960"/>
            <a:ext cx="10725912" cy="548640"/>
          </a:xfrm>
          <a:prstGeom prst="rect">
            <a:avLst/>
          </a:prstGeom>
          <a:noFill/>
        </p:spPr>
        <p:txBody>
          <a:bodyPr wrap="square" lIns="0" rIns="0" tIns="0" bIns="0" anchor="t">
            <a:spAutoFit/>
          </a:bodyPr>
          <a:lstStyle/>
          <a:p>
            <a:pPr algn="l">
              <a:lnSpc>
                <a:spcPct val="106000"/>
              </a:lnSpc>
              <a:spcAft>
                <a:spcPts val="0"/>
              </a:spcAft>
            </a:pPr>
            <a:r>
              <a:rPr sz="1250" b="0" i="0">
                <a:solidFill>
                  <a:srgbClr val="777777"/>
                </a:solidFill>
                <a:latin typeface="Calibri"/>
              </a:rPr>
              <a:t>Nyamtulla    ·    Advisor meeting    ·    7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THE PROBLEM</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An agent believes everything in its context window</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2</a:t>
            </a:r>
          </a:p>
        </p:txBody>
      </p:sp>
      <p:sp>
        <p:nvSpPr>
          <p:cNvPr id="5" name="TextBox 4"/>
          <p:cNvSpPr txBox="1"/>
          <p:nvPr/>
        </p:nvSpPr>
        <p:spPr>
          <a:xfrm>
            <a:off x="731520" y="1938528"/>
            <a:ext cx="10725912" cy="4462272"/>
          </a:xfrm>
          <a:prstGeom prst="rect">
            <a:avLst/>
          </a:prstGeom>
          <a:noFill/>
        </p:spPr>
        <p:txBody>
          <a:bodyPr wrap="square" lIns="0" rIns="0" tIns="0" bIns="0" anchor="t">
            <a:spAutoFit/>
          </a:bodyPr>
          <a:lstStyle/>
          <a:p>
            <a:pPr algn="l">
              <a:lnSpc>
                <a:spcPct val="110000"/>
              </a:lnSpc>
              <a:spcAft>
                <a:spcPts val="1100"/>
              </a:spcAft>
            </a:pPr>
            <a:r>
              <a:rPr sz="1500" b="1" i="0">
                <a:solidFill>
                  <a:srgbClr val="111111"/>
                </a:solidFill>
                <a:latin typeface="Calibri"/>
              </a:rPr>
              <a:t>An LLM agent reads one block of text and then acts. We call this block the context window.</a:t>
            </a:r>
          </a:p>
          <a:p>
            <a:pPr>
              <a:lnSpc>
                <a:spcPct val="110000"/>
              </a:lnSpc>
              <a:spcAft>
                <a:spcPts val="1100"/>
              </a:spcAft>
            </a:pPr>
            <a:r>
              <a:rPr sz="1500" b="0" i="0">
                <a:solidFill>
                  <a:srgbClr val="444444"/>
                </a:solidFill>
                <a:latin typeface="Calibri"/>
              </a:rPr>
              <a:t>The block holds the user's question. It also holds a page a tool returned, a document a search step found, and a note the agent stored last week.</a:t>
            </a:r>
          </a:p>
          <a:p>
            <a:pPr>
              <a:lnSpc>
                <a:spcPct val="110000"/>
              </a:lnSpc>
              <a:spcAft>
                <a:spcPts val="1100"/>
              </a:spcAft>
            </a:pPr>
            <a:r>
              <a:rPr sz="1500" b="1" i="0">
                <a:solidFill>
                  <a:srgbClr val="111111"/>
                </a:solidFill>
                <a:latin typeface="Calibri"/>
              </a:rPr>
              <a:t>The model cannot tell these apart. Everything in the block looks the same to it.</a:t>
            </a:r>
          </a:p>
          <a:p>
            <a:pPr>
              <a:lnSpc>
                <a:spcPct val="110000"/>
              </a:lnSpc>
              <a:spcAft>
                <a:spcPts val="1100"/>
              </a:spcAft>
            </a:pPr>
            <a:r>
              <a:rPr sz="1500" b="0" i="0">
                <a:solidFill>
                  <a:srgbClr val="444444"/>
                </a:solidFill>
                <a:latin typeface="Calibri"/>
              </a:rPr>
              <a:t>So any text that reaches the block can change what the agent does. The text does not need to come from the user. It only needs to arrive.</a:t>
            </a:r>
          </a:p>
          <a:p>
            <a:pPr>
              <a:lnSpc>
                <a:spcPct val="110000"/>
              </a:lnSpc>
              <a:spcAft>
                <a:spcPts val="1100"/>
              </a:spcAft>
            </a:pPr>
            <a:r>
              <a:rPr sz="1500" b="0" i="0">
                <a:solidFill>
                  <a:srgbClr val="444444"/>
                </a:solidFill>
                <a:latin typeface="Calibri"/>
              </a:rPr>
              <a:t>This is not about training data. It is about what enters the context while the agent runs.</a:t>
            </a:r>
          </a:p>
        </p:txBody>
      </p:sp>
      <p:sp>
        <p:nvSpPr>
          <p:cNvPr id="6" name="TextBox 5"/>
          <p:cNvSpPr txBox="1"/>
          <p:nvPr/>
        </p:nvSpPr>
        <p:spPr>
          <a:xfrm>
            <a:off x="731520" y="6400800"/>
            <a:ext cx="10040112" cy="402336"/>
          </a:xfrm>
          <a:prstGeom prst="rect">
            <a:avLst/>
          </a:prstGeom>
          <a:noFill/>
        </p:spPr>
        <p:txBody>
          <a:bodyPr wrap="square" lIns="0" rIns="0" tIns="0" bIns="0" anchor="t">
            <a:spAutoFit/>
          </a:bodyPr>
          <a:lstStyle/>
          <a:p>
            <a:pPr algn="l">
              <a:lnSpc>
                <a:spcPct val="115000"/>
              </a:lnSpc>
              <a:spcAft>
                <a:spcPts val="0"/>
              </a:spcAft>
            </a:pPr>
            <a:r>
              <a:rPr sz="850" b="0" i="0">
                <a:solidFill>
                  <a:srgbClr val="999999"/>
                </a:solidFill>
                <a:latin typeface="Calibri"/>
              </a:rPr>
              <a:t>Text in the context acts on the agent: Greshake et al., AISec@CCS 2023, arXiv:2302.12173   ·   Long context degrades how the model uses it: Liu et al., TACL 2023, arXiv:2307.03172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THE SPLIT</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Two communities, two vocabularies, one failure</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3</a:t>
            </a:r>
          </a:p>
        </p:txBody>
      </p:sp>
      <p:sp>
        <p:nvSpPr>
          <p:cNvPr id="5" name="TextBox 4"/>
          <p:cNvSpPr txBox="1"/>
          <p:nvPr/>
        </p:nvSpPr>
        <p:spPr>
          <a:xfrm>
            <a:off x="731520" y="2011680"/>
            <a:ext cx="329184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
            </a:r>
          </a:p>
        </p:txBody>
      </p:sp>
      <p:sp>
        <p:nvSpPr>
          <p:cNvPr id="6" name="TextBox 5"/>
          <p:cNvSpPr txBox="1"/>
          <p:nvPr/>
        </p:nvSpPr>
        <p:spPr>
          <a:xfrm>
            <a:off x="4023360" y="2011680"/>
            <a:ext cx="3749039"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THE SECURITY SIDE</a:t>
            </a:r>
          </a:p>
        </p:txBody>
      </p:sp>
      <p:sp>
        <p:nvSpPr>
          <p:cNvPr id="7" name="TextBox 6"/>
          <p:cNvSpPr txBox="1"/>
          <p:nvPr/>
        </p:nvSpPr>
        <p:spPr>
          <a:xfrm>
            <a:off x="7772400" y="2011680"/>
            <a:ext cx="365760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THE MACHINE LEARNING SIDE</a:t>
            </a:r>
          </a:p>
        </p:txBody>
      </p:sp>
      <p:sp>
        <p:nvSpPr>
          <p:cNvPr id="8" name="Rectangle 7"/>
          <p:cNvSpPr/>
          <p:nvPr/>
        </p:nvSpPr>
        <p:spPr>
          <a:xfrm>
            <a:off x="731520" y="2286000"/>
            <a:ext cx="10698480"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395728"/>
            <a:ext cx="329184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What corrupts the context</a:t>
            </a:r>
          </a:p>
        </p:txBody>
      </p:sp>
      <p:sp>
        <p:nvSpPr>
          <p:cNvPr id="10" name="TextBox 9"/>
          <p:cNvSpPr txBox="1"/>
          <p:nvPr/>
        </p:nvSpPr>
        <p:spPr>
          <a:xfrm>
            <a:off x="4023360" y="2395728"/>
            <a:ext cx="3749039"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an attack  (182)</a:t>
            </a:r>
          </a:p>
        </p:txBody>
      </p:sp>
      <p:sp>
        <p:nvSpPr>
          <p:cNvPr id="11" name="TextBox 10"/>
          <p:cNvSpPr txBox="1"/>
          <p:nvPr/>
        </p:nvSpPr>
        <p:spPr>
          <a:xfrm>
            <a:off x="7772400" y="2395728"/>
            <a:ext cx="365760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an incidental mechanism  (55)</a:t>
            </a:r>
          </a:p>
        </p:txBody>
      </p:sp>
      <p:sp>
        <p:nvSpPr>
          <p:cNvPr id="12" name="TextBox 11"/>
          <p:cNvSpPr txBox="1"/>
          <p:nvPr/>
        </p:nvSpPr>
        <p:spPr>
          <a:xfrm>
            <a:off x="731520" y="2871216"/>
            <a:ext cx="329184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What the field builds against it</a:t>
            </a:r>
          </a:p>
        </p:txBody>
      </p:sp>
      <p:sp>
        <p:nvSpPr>
          <p:cNvPr id="13" name="TextBox 12"/>
          <p:cNvSpPr txBox="1"/>
          <p:nvPr/>
        </p:nvSpPr>
        <p:spPr>
          <a:xfrm>
            <a:off x="4023360" y="2871216"/>
            <a:ext cx="3749039"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a defense  (263)</a:t>
            </a:r>
          </a:p>
        </p:txBody>
      </p:sp>
      <p:sp>
        <p:nvSpPr>
          <p:cNvPr id="14" name="TextBox 13"/>
          <p:cNvSpPr txBox="1"/>
          <p:nvPr/>
        </p:nvSpPr>
        <p:spPr>
          <a:xfrm>
            <a:off x="7772400" y="2871216"/>
            <a:ext cx="365760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a fix  (266)</a:t>
            </a:r>
          </a:p>
        </p:txBody>
      </p:sp>
      <p:sp>
        <p:nvSpPr>
          <p:cNvPr id="15" name="TextBox 14"/>
          <p:cNvSpPr txBox="1"/>
          <p:nvPr/>
        </p:nvSpPr>
        <p:spPr>
          <a:xfrm>
            <a:off x="731520" y="3346704"/>
            <a:ext cx="329184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Who put it there</a:t>
            </a:r>
          </a:p>
        </p:txBody>
      </p:sp>
      <p:sp>
        <p:nvSpPr>
          <p:cNvPr id="16" name="TextBox 15"/>
          <p:cNvSpPr txBox="1"/>
          <p:nvPr/>
        </p:nvSpPr>
        <p:spPr>
          <a:xfrm>
            <a:off x="4023360" y="3346704"/>
            <a:ext cx="3749039"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a person, on purpose</a:t>
            </a:r>
          </a:p>
        </p:txBody>
      </p:sp>
      <p:sp>
        <p:nvSpPr>
          <p:cNvPr id="17" name="TextBox 16"/>
          <p:cNvSpPr txBox="1"/>
          <p:nvPr/>
        </p:nvSpPr>
        <p:spPr>
          <a:xfrm>
            <a:off x="7772400" y="3346704"/>
            <a:ext cx="365760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nobody</a:t>
            </a:r>
          </a:p>
        </p:txBody>
      </p:sp>
      <p:sp>
        <p:nvSpPr>
          <p:cNvPr id="18" name="TextBox 17"/>
          <p:cNvSpPr txBox="1"/>
          <p:nvPr/>
        </p:nvSpPr>
        <p:spPr>
          <a:xfrm>
            <a:off x="731520" y="3822191"/>
            <a:ext cx="329184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Examples</a:t>
            </a:r>
          </a:p>
        </p:txBody>
      </p:sp>
      <p:sp>
        <p:nvSpPr>
          <p:cNvPr id="19" name="TextBox 18"/>
          <p:cNvSpPr txBox="1"/>
          <p:nvPr/>
        </p:nvSpPr>
        <p:spPr>
          <a:xfrm>
            <a:off x="4023360" y="3822191"/>
            <a:ext cx="3749039"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indirect prompt injection, poisoned retrieval</a:t>
            </a:r>
          </a:p>
        </p:txBody>
      </p:sp>
      <p:sp>
        <p:nvSpPr>
          <p:cNvPr id="20" name="TextBox 19"/>
          <p:cNvSpPr txBox="1"/>
          <p:nvPr/>
        </p:nvSpPr>
        <p:spPr>
          <a:xfrm>
            <a:off x="7772400" y="3822191"/>
            <a:ext cx="365760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lost in the middle, knowledge conflict</a:t>
            </a:r>
          </a:p>
        </p:txBody>
      </p:sp>
      <p:sp>
        <p:nvSpPr>
          <p:cNvPr id="21" name="TextBox 20"/>
          <p:cNvSpPr txBox="1"/>
          <p:nvPr/>
        </p:nvSpPr>
        <p:spPr>
          <a:xfrm>
            <a:off x="731520" y="4480560"/>
            <a:ext cx="10725912" cy="2011679"/>
          </a:xfrm>
          <a:prstGeom prst="rect">
            <a:avLst/>
          </a:prstGeom>
          <a:noFill/>
        </p:spPr>
        <p:txBody>
          <a:bodyPr wrap="square" lIns="0" rIns="0" tIns="0" bIns="0" anchor="t">
            <a:spAutoFit/>
          </a:bodyPr>
          <a:lstStyle/>
          <a:p>
            <a:pPr algn="l">
              <a:lnSpc>
                <a:spcPct val="112000"/>
              </a:lnSpc>
              <a:spcAft>
                <a:spcPts val="900"/>
              </a:spcAft>
            </a:pPr>
            <a:r>
              <a:rPr sz="1400" b="1" i="0">
                <a:solidFill>
                  <a:srgbClr val="111111"/>
                </a:solidFill>
                <a:latin typeface="Calibri"/>
              </a:rPr>
              <a:t>—  We keep both sets of words, because the two sides are not doing the same thing. A fix was never built to stop an adversary.</a:t>
            </a:r>
          </a:p>
          <a:p>
            <a:pPr>
              <a:lnSpc>
                <a:spcPct val="112000"/>
              </a:lnSpc>
              <a:spcAft>
                <a:spcPts val="900"/>
              </a:spcAft>
            </a:pPr>
            <a:r>
              <a:rPr sz="1400" b="0" i="0">
                <a:solidFill>
                  <a:srgbClr val="444444"/>
                </a:solidFill>
                <a:latin typeface="Calibri"/>
              </a:rPr>
              <a:t>—  A tool returns a page with a hidden order. A tool returns a page that is ten times too long. Both arrive by the same route and end in the same window. One has an author.</a:t>
            </a:r>
          </a:p>
          <a:p>
            <a:pPr>
              <a:lnSpc>
                <a:spcPct val="112000"/>
              </a:lnSpc>
              <a:spcAft>
                <a:spcPts val="900"/>
              </a:spcAft>
            </a:pPr>
            <a:r>
              <a:rPr sz="1400" b="1" i="0">
                <a:solidFill>
                  <a:srgbClr val="111111"/>
                </a:solidFill>
                <a:latin typeface="Calibri"/>
              </a:rPr>
              <a:t>—  Our question: does that difference justify two separate sets of protection?</a:t>
            </a:r>
          </a:p>
        </p:txBody>
      </p:sp>
      <p:sp>
        <p:nvSpPr>
          <p:cNvPr id="22" name="TextBox 21"/>
          <p:cNvSpPr txBox="1"/>
          <p:nvPr/>
        </p:nvSpPr>
        <p:spPr>
          <a:xfrm>
            <a:off x="731520" y="6400800"/>
            <a:ext cx="10040112" cy="402336"/>
          </a:xfrm>
          <a:prstGeom prst="rect">
            <a:avLst/>
          </a:prstGeom>
          <a:noFill/>
        </p:spPr>
        <p:txBody>
          <a:bodyPr wrap="square" lIns="0" rIns="0" tIns="0" bIns="0" anchor="t">
            <a:spAutoFit/>
          </a:bodyPr>
          <a:lstStyle/>
          <a:p>
            <a:pPr algn="l">
              <a:lnSpc>
                <a:spcPct val="115000"/>
              </a:lnSpc>
              <a:spcAft>
                <a:spcPts val="0"/>
              </a:spcAft>
            </a:pPr>
            <a:r>
              <a:rPr sz="850" b="0" i="0">
                <a:solidFill>
                  <a:srgbClr val="999999"/>
                </a:solidFill>
                <a:latin typeface="Calibri"/>
              </a:rPr>
              <a:t>Security side: Greshake et al., AISec@CCS 2023, arXiv:2302.12173   ·   ML side: Liu et al., TACL 2023, arXiv:2307.03172; Shi et al., ICML 2023, arXiv:2302.00093   ·   Knowledge conflict: Xu et al., EMNLP 2024, arXiv:2403.08319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THE FRAMEWORK</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We describe every case with three questions</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4</a:t>
            </a:r>
          </a:p>
        </p:txBody>
      </p:sp>
      <p:sp>
        <p:nvSpPr>
          <p:cNvPr id="5" name="TextBox 4"/>
          <p:cNvSpPr txBox="1"/>
          <p:nvPr/>
        </p:nvSpPr>
        <p:spPr>
          <a:xfrm>
            <a:off x="731520" y="2057400"/>
            <a:ext cx="237744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TAG</a:t>
            </a:r>
          </a:p>
        </p:txBody>
      </p:sp>
      <p:sp>
        <p:nvSpPr>
          <p:cNvPr id="6" name="TextBox 5"/>
          <p:cNvSpPr txBox="1"/>
          <p:nvPr/>
        </p:nvSpPr>
        <p:spPr>
          <a:xfrm>
            <a:off x="3108960" y="2057400"/>
            <a:ext cx="667512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THE QUESTION IT ANSWERS</a:t>
            </a:r>
          </a:p>
        </p:txBody>
      </p:sp>
      <p:sp>
        <p:nvSpPr>
          <p:cNvPr id="7" name="TextBox 6"/>
          <p:cNvSpPr txBox="1"/>
          <p:nvPr/>
        </p:nvSpPr>
        <p:spPr>
          <a:xfrm>
            <a:off x="9784080" y="2057400"/>
            <a:ext cx="1389888" cy="274320"/>
          </a:xfrm>
          <a:prstGeom prst="rect">
            <a:avLst/>
          </a:prstGeom>
          <a:noFill/>
        </p:spPr>
        <p:txBody>
          <a:bodyPr wrap="square" lIns="0" rIns="0" tIns="0" bIns="0" anchor="t">
            <a:spAutoFit/>
          </a:bodyPr>
          <a:lstStyle/>
          <a:p>
            <a:pPr algn="r">
              <a:lnSpc>
                <a:spcPct val="106000"/>
              </a:lnSpc>
              <a:spcAft>
                <a:spcPts val="0"/>
              </a:spcAft>
            </a:pPr>
            <a:r>
              <a:rPr sz="1000" b="1" i="0">
                <a:solidFill>
                  <a:srgbClr val="777777"/>
                </a:solidFill>
                <a:latin typeface="Calibri"/>
              </a:rPr>
              <a:t>VALUES</a:t>
            </a:r>
          </a:p>
        </p:txBody>
      </p:sp>
      <p:sp>
        <p:nvSpPr>
          <p:cNvPr id="8" name="Rectangle 7"/>
          <p:cNvSpPr/>
          <p:nvPr/>
        </p:nvSpPr>
        <p:spPr>
          <a:xfrm>
            <a:off x="731520" y="2331720"/>
            <a:ext cx="10698480"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441448"/>
            <a:ext cx="2377440"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Channel</a:t>
            </a:r>
          </a:p>
        </p:txBody>
      </p:sp>
      <p:sp>
        <p:nvSpPr>
          <p:cNvPr id="10" name="TextBox 9"/>
          <p:cNvSpPr txBox="1"/>
          <p:nvPr/>
        </p:nvSpPr>
        <p:spPr>
          <a:xfrm>
            <a:off x="3108960" y="2441448"/>
            <a:ext cx="6675120"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How did the text get in? Which route did it travel?</a:t>
            </a:r>
          </a:p>
        </p:txBody>
      </p:sp>
      <p:sp>
        <p:nvSpPr>
          <p:cNvPr id="11" name="TextBox 10"/>
          <p:cNvSpPr txBox="1"/>
          <p:nvPr/>
        </p:nvSpPr>
        <p:spPr>
          <a:xfrm>
            <a:off x="9784080" y="2441448"/>
            <a:ext cx="1389888" cy="310896"/>
          </a:xfrm>
          <a:prstGeom prst="rect">
            <a:avLst/>
          </a:prstGeom>
          <a:noFill/>
        </p:spPr>
        <p:txBody>
          <a:bodyPr wrap="square" lIns="0" rIns="0" tIns="0" bIns="0" anchor="t">
            <a:spAutoFit/>
          </a:bodyPr>
          <a:lstStyle/>
          <a:p>
            <a:pPr algn="r">
              <a:lnSpc>
                <a:spcPct val="106000"/>
              </a:lnSpc>
              <a:spcAft>
                <a:spcPts val="0"/>
              </a:spcAft>
            </a:pPr>
            <a:r>
              <a:rPr sz="1500" b="0" i="0">
                <a:solidFill>
                  <a:srgbClr val="444444"/>
                </a:solidFill>
                <a:latin typeface="Calibri"/>
              </a:rPr>
              <a:t>9</a:t>
            </a:r>
          </a:p>
        </p:txBody>
      </p:sp>
      <p:sp>
        <p:nvSpPr>
          <p:cNvPr id="12" name="TextBox 11"/>
          <p:cNvSpPr txBox="1"/>
          <p:nvPr/>
        </p:nvSpPr>
        <p:spPr>
          <a:xfrm>
            <a:off x="731520" y="2990088"/>
            <a:ext cx="2377440"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Intent</a:t>
            </a:r>
          </a:p>
        </p:txBody>
      </p:sp>
      <p:sp>
        <p:nvSpPr>
          <p:cNvPr id="13" name="TextBox 12"/>
          <p:cNvSpPr txBox="1"/>
          <p:nvPr/>
        </p:nvSpPr>
        <p:spPr>
          <a:xfrm>
            <a:off x="3108960" y="2990088"/>
            <a:ext cx="6675120"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Did a person put it there on purpose, or not?</a:t>
            </a:r>
          </a:p>
        </p:txBody>
      </p:sp>
      <p:sp>
        <p:nvSpPr>
          <p:cNvPr id="14" name="TextBox 13"/>
          <p:cNvSpPr txBox="1"/>
          <p:nvPr/>
        </p:nvSpPr>
        <p:spPr>
          <a:xfrm>
            <a:off x="9784080" y="2990088"/>
            <a:ext cx="1389888" cy="310896"/>
          </a:xfrm>
          <a:prstGeom prst="rect">
            <a:avLst/>
          </a:prstGeom>
          <a:noFill/>
        </p:spPr>
        <p:txBody>
          <a:bodyPr wrap="square" lIns="0" rIns="0" tIns="0" bIns="0" anchor="t">
            <a:spAutoFit/>
          </a:bodyPr>
          <a:lstStyle/>
          <a:p>
            <a:pPr algn="r">
              <a:lnSpc>
                <a:spcPct val="106000"/>
              </a:lnSpc>
              <a:spcAft>
                <a:spcPts val="0"/>
              </a:spcAft>
            </a:pPr>
            <a:r>
              <a:rPr sz="1500" b="0" i="0">
                <a:solidFill>
                  <a:srgbClr val="444444"/>
                </a:solidFill>
                <a:latin typeface="Calibri"/>
              </a:rPr>
              <a:t>3</a:t>
            </a:r>
          </a:p>
        </p:txBody>
      </p:sp>
      <p:sp>
        <p:nvSpPr>
          <p:cNvPr id="15" name="TextBox 14"/>
          <p:cNvSpPr txBox="1"/>
          <p:nvPr/>
        </p:nvSpPr>
        <p:spPr>
          <a:xfrm>
            <a:off x="731520" y="3538728"/>
            <a:ext cx="2377440"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Consequence</a:t>
            </a:r>
          </a:p>
        </p:txBody>
      </p:sp>
      <p:sp>
        <p:nvSpPr>
          <p:cNvPr id="16" name="TextBox 15"/>
          <p:cNvSpPr txBox="1"/>
          <p:nvPr/>
        </p:nvSpPr>
        <p:spPr>
          <a:xfrm>
            <a:off x="3108960" y="3538728"/>
            <a:ext cx="6675120"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What went wrong once the text was in the window?</a:t>
            </a:r>
          </a:p>
        </p:txBody>
      </p:sp>
      <p:sp>
        <p:nvSpPr>
          <p:cNvPr id="17" name="TextBox 16"/>
          <p:cNvSpPr txBox="1"/>
          <p:nvPr/>
        </p:nvSpPr>
        <p:spPr>
          <a:xfrm>
            <a:off x="9784080" y="3538728"/>
            <a:ext cx="1389888" cy="310896"/>
          </a:xfrm>
          <a:prstGeom prst="rect">
            <a:avLst/>
          </a:prstGeom>
          <a:noFill/>
        </p:spPr>
        <p:txBody>
          <a:bodyPr wrap="square" lIns="0" rIns="0" tIns="0" bIns="0" anchor="t">
            <a:spAutoFit/>
          </a:bodyPr>
          <a:lstStyle/>
          <a:p>
            <a:pPr algn="r">
              <a:lnSpc>
                <a:spcPct val="106000"/>
              </a:lnSpc>
              <a:spcAft>
                <a:spcPts val="0"/>
              </a:spcAft>
            </a:pPr>
            <a:r>
              <a:rPr sz="1500" b="0" i="0">
                <a:solidFill>
                  <a:srgbClr val="444444"/>
                </a:solidFill>
                <a:latin typeface="Calibri"/>
              </a:rPr>
              <a:t>6</a:t>
            </a:r>
          </a:p>
        </p:txBody>
      </p:sp>
      <p:sp>
        <p:nvSpPr>
          <p:cNvPr id="18" name="TextBox 17"/>
          <p:cNvSpPr txBox="1"/>
          <p:nvPr/>
        </p:nvSpPr>
        <p:spPr>
          <a:xfrm>
            <a:off x="731520" y="4114800"/>
            <a:ext cx="10725912" cy="2377439"/>
          </a:xfrm>
          <a:prstGeom prst="rect">
            <a:avLst/>
          </a:prstGeom>
          <a:noFill/>
        </p:spPr>
        <p:txBody>
          <a:bodyPr wrap="square" lIns="0" rIns="0" tIns="0" bIns="0" anchor="t">
            <a:spAutoFit/>
          </a:bodyPr>
          <a:lstStyle/>
          <a:p>
            <a:pPr algn="l">
              <a:lnSpc>
                <a:spcPct val="112000"/>
              </a:lnSpc>
              <a:spcAft>
                <a:spcPts val="900"/>
              </a:spcAft>
            </a:pPr>
            <a:r>
              <a:rPr sz="1400" b="1" i="0">
                <a:solidFill>
                  <a:srgbClr val="111111"/>
                </a:solidFill>
                <a:latin typeface="Calibri"/>
              </a:rPr>
              <a:t>—  9 channels x 3 intents x 6 consequences = 162 combinations.</a:t>
            </a:r>
          </a:p>
          <a:p>
            <a:pPr>
              <a:lnSpc>
                <a:spcPct val="112000"/>
              </a:lnSpc>
              <a:spcAft>
                <a:spcPts val="900"/>
              </a:spcAft>
            </a:pPr>
            <a:r>
              <a:rPr sz="1400" b="0" i="0">
                <a:solidFill>
                  <a:srgbClr val="444444"/>
                </a:solidFill>
                <a:latin typeface="Calibri"/>
              </a:rPr>
              <a:t>—  A combination with no paper in it is a question the field has never asked. 98 of the 162 are empty.</a:t>
            </a:r>
          </a:p>
          <a:p>
            <a:pPr>
              <a:lnSpc>
                <a:spcPct val="112000"/>
              </a:lnSpc>
              <a:spcAft>
                <a:spcPts val="900"/>
              </a:spcAft>
            </a:pPr>
            <a:r>
              <a:rPr sz="1400" b="0" i="0">
                <a:solidFill>
                  <a:srgbClr val="444444"/>
                </a:solidFill>
                <a:latin typeface="Calibri"/>
              </a:rPr>
              <a:t>—  The framework tells us what is known, and it tells us where to look next.</a:t>
            </a:r>
          </a:p>
        </p:txBody>
      </p:sp>
      <p:sp>
        <p:nvSpPr>
          <p:cNvPr id="19" name="TextBox 18"/>
          <p:cNvSpPr txBox="1"/>
          <p:nvPr/>
        </p:nvSpPr>
        <p:spPr>
          <a:xfrm>
            <a:off x="731520" y="6400800"/>
            <a:ext cx="10040112" cy="402336"/>
          </a:xfrm>
          <a:prstGeom prst="rect">
            <a:avLst/>
          </a:prstGeom>
          <a:noFill/>
        </p:spPr>
        <p:txBody>
          <a:bodyPr wrap="square" lIns="0" rIns="0" tIns="0" bIns="0" anchor="t">
            <a:spAutoFit/>
          </a:bodyPr>
          <a:lstStyle/>
          <a:p>
            <a:pPr algn="l">
              <a:lnSpc>
                <a:spcPct val="115000"/>
              </a:lnSpc>
              <a:spcAft>
                <a:spcPts val="0"/>
              </a:spcAft>
            </a:pPr>
            <a:r>
              <a:rPr sz="850" b="0" i="0">
                <a:solidFill>
                  <a:srgbClr val="999999"/>
                </a:solidFill>
                <a:latin typeface="Calibri"/>
              </a:rPr>
              <a:t>Framework: this work   ·   Adversarial end: Greshake et al., AISec@CCS 2023, arXiv:2302.12173   ·   Incidental end: Liu et al., TACL 2023, arXiv:2307.03172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CHANNEL</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Nine routes carry text into the window</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5</a:t>
            </a:r>
          </a:p>
        </p:txBody>
      </p:sp>
      <p:sp>
        <p:nvSpPr>
          <p:cNvPr id="5" name="TextBox 4"/>
          <p:cNvSpPr txBox="1"/>
          <p:nvPr/>
        </p:nvSpPr>
        <p:spPr>
          <a:xfrm>
            <a:off x="731520" y="2029968"/>
            <a:ext cx="237744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ROUTE</a:t>
            </a:r>
          </a:p>
        </p:txBody>
      </p:sp>
      <p:sp>
        <p:nvSpPr>
          <p:cNvPr id="6" name="TextBox 5"/>
          <p:cNvSpPr txBox="1"/>
          <p:nvPr/>
        </p:nvSpPr>
        <p:spPr>
          <a:xfrm>
            <a:off x="3108960" y="2029968"/>
            <a:ext cx="649224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WHAT ARRIVES THIS WAY</a:t>
            </a:r>
          </a:p>
        </p:txBody>
      </p:sp>
      <p:sp>
        <p:nvSpPr>
          <p:cNvPr id="7" name="TextBox 6"/>
          <p:cNvSpPr txBox="1"/>
          <p:nvPr/>
        </p:nvSpPr>
        <p:spPr>
          <a:xfrm>
            <a:off x="9601200" y="2029968"/>
            <a:ext cx="1572768" cy="274320"/>
          </a:xfrm>
          <a:prstGeom prst="rect">
            <a:avLst/>
          </a:prstGeom>
          <a:noFill/>
        </p:spPr>
        <p:txBody>
          <a:bodyPr wrap="square" lIns="0" rIns="0" tIns="0" bIns="0" anchor="t">
            <a:spAutoFit/>
          </a:bodyPr>
          <a:lstStyle/>
          <a:p>
            <a:pPr algn="r">
              <a:lnSpc>
                <a:spcPct val="106000"/>
              </a:lnSpc>
              <a:spcAft>
                <a:spcPts val="0"/>
              </a:spcAft>
            </a:pPr>
            <a:r>
              <a:rPr sz="1000" b="1" i="0">
                <a:solidFill>
                  <a:srgbClr val="777777"/>
                </a:solidFill>
                <a:latin typeface="Calibri"/>
              </a:rPr>
              <a:t>NAMED ATTACKS</a:t>
            </a:r>
          </a:p>
        </p:txBody>
      </p:sp>
      <p:sp>
        <p:nvSpPr>
          <p:cNvPr id="8" name="Rectangle 7"/>
          <p:cNvSpPr/>
          <p:nvPr/>
        </p:nvSpPr>
        <p:spPr>
          <a:xfrm>
            <a:off x="731520" y="2304288"/>
            <a:ext cx="10698480"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414016"/>
            <a:ext cx="237744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tool-output</a:t>
            </a:r>
          </a:p>
        </p:txBody>
      </p:sp>
      <p:sp>
        <p:nvSpPr>
          <p:cNvPr id="10" name="TextBox 9"/>
          <p:cNvSpPr txBox="1"/>
          <p:nvPr/>
        </p:nvSpPr>
        <p:spPr>
          <a:xfrm>
            <a:off x="3108960" y="2414016"/>
            <a:ext cx="649224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a web page, an email, a file the agent opened</a:t>
            </a:r>
          </a:p>
        </p:txBody>
      </p:sp>
      <p:sp>
        <p:nvSpPr>
          <p:cNvPr id="11" name="TextBox 10"/>
          <p:cNvSpPr txBox="1"/>
          <p:nvPr/>
        </p:nvSpPr>
        <p:spPr>
          <a:xfrm>
            <a:off x="9601200" y="2414016"/>
            <a:ext cx="1572768" cy="310896"/>
          </a:xfrm>
          <a:prstGeom prst="rect">
            <a:avLst/>
          </a:prstGeom>
          <a:noFill/>
        </p:spPr>
        <p:txBody>
          <a:bodyPr wrap="square" lIns="0" rIns="0" tIns="0" bIns="0" anchor="t">
            <a:spAutoFit/>
          </a:bodyPr>
          <a:lstStyle/>
          <a:p>
            <a:pPr algn="r">
              <a:lnSpc>
                <a:spcPct val="106000"/>
              </a:lnSpc>
              <a:spcAft>
                <a:spcPts val="0"/>
              </a:spcAft>
            </a:pPr>
            <a:r>
              <a:rPr sz="1300" b="0" i="0">
                <a:solidFill>
                  <a:srgbClr val="444444"/>
                </a:solidFill>
                <a:latin typeface="Calibri"/>
              </a:rPr>
              <a:t>75</a:t>
            </a:r>
          </a:p>
        </p:txBody>
      </p:sp>
      <p:sp>
        <p:nvSpPr>
          <p:cNvPr id="12" name="TextBox 11"/>
          <p:cNvSpPr txBox="1"/>
          <p:nvPr/>
        </p:nvSpPr>
        <p:spPr>
          <a:xfrm>
            <a:off x="731520" y="2816352"/>
            <a:ext cx="237744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direct-input</a:t>
            </a:r>
          </a:p>
        </p:txBody>
      </p:sp>
      <p:sp>
        <p:nvSpPr>
          <p:cNvPr id="13" name="TextBox 12"/>
          <p:cNvSpPr txBox="1"/>
          <p:nvPr/>
        </p:nvSpPr>
        <p:spPr>
          <a:xfrm>
            <a:off x="3108960" y="2816352"/>
            <a:ext cx="649224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the prompt itself, or the system prompt above it</a:t>
            </a:r>
          </a:p>
        </p:txBody>
      </p:sp>
      <p:sp>
        <p:nvSpPr>
          <p:cNvPr id="14" name="TextBox 13"/>
          <p:cNvSpPr txBox="1"/>
          <p:nvPr/>
        </p:nvSpPr>
        <p:spPr>
          <a:xfrm>
            <a:off x="9601200" y="2816352"/>
            <a:ext cx="1572768" cy="310896"/>
          </a:xfrm>
          <a:prstGeom prst="rect">
            <a:avLst/>
          </a:prstGeom>
          <a:noFill/>
        </p:spPr>
        <p:txBody>
          <a:bodyPr wrap="square" lIns="0" rIns="0" tIns="0" bIns="0" anchor="t">
            <a:spAutoFit/>
          </a:bodyPr>
          <a:lstStyle/>
          <a:p>
            <a:pPr algn="r">
              <a:lnSpc>
                <a:spcPct val="106000"/>
              </a:lnSpc>
              <a:spcAft>
                <a:spcPts val="0"/>
              </a:spcAft>
            </a:pPr>
            <a:r>
              <a:rPr sz="1300" b="0" i="0">
                <a:solidFill>
                  <a:srgbClr val="444444"/>
                </a:solidFill>
                <a:latin typeface="Calibri"/>
              </a:rPr>
              <a:t>67</a:t>
            </a:r>
          </a:p>
        </p:txBody>
      </p:sp>
      <p:sp>
        <p:nvSpPr>
          <p:cNvPr id="15" name="TextBox 14"/>
          <p:cNvSpPr txBox="1"/>
          <p:nvPr/>
        </p:nvSpPr>
        <p:spPr>
          <a:xfrm>
            <a:off x="731520" y="3218688"/>
            <a:ext cx="237744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RAG</a:t>
            </a:r>
          </a:p>
        </p:txBody>
      </p:sp>
      <p:sp>
        <p:nvSpPr>
          <p:cNvPr id="16" name="TextBox 15"/>
          <p:cNvSpPr txBox="1"/>
          <p:nvPr/>
        </p:nvSpPr>
        <p:spPr>
          <a:xfrm>
            <a:off x="3108960" y="3218688"/>
            <a:ext cx="649224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a document a search step pulled from a corpus</a:t>
            </a:r>
          </a:p>
        </p:txBody>
      </p:sp>
      <p:sp>
        <p:nvSpPr>
          <p:cNvPr id="17" name="TextBox 16"/>
          <p:cNvSpPr txBox="1"/>
          <p:nvPr/>
        </p:nvSpPr>
        <p:spPr>
          <a:xfrm>
            <a:off x="9601200" y="3218688"/>
            <a:ext cx="1572768" cy="310896"/>
          </a:xfrm>
          <a:prstGeom prst="rect">
            <a:avLst/>
          </a:prstGeom>
          <a:noFill/>
        </p:spPr>
        <p:txBody>
          <a:bodyPr wrap="square" lIns="0" rIns="0" tIns="0" bIns="0" anchor="t">
            <a:spAutoFit/>
          </a:bodyPr>
          <a:lstStyle/>
          <a:p>
            <a:pPr algn="r">
              <a:lnSpc>
                <a:spcPct val="106000"/>
              </a:lnSpc>
              <a:spcAft>
                <a:spcPts val="0"/>
              </a:spcAft>
            </a:pPr>
            <a:r>
              <a:rPr sz="1300" b="0" i="0">
                <a:solidFill>
                  <a:srgbClr val="444444"/>
                </a:solidFill>
                <a:latin typeface="Calibri"/>
              </a:rPr>
              <a:t>28</a:t>
            </a:r>
          </a:p>
        </p:txBody>
      </p:sp>
      <p:sp>
        <p:nvSpPr>
          <p:cNvPr id="18" name="TextBox 17"/>
          <p:cNvSpPr txBox="1"/>
          <p:nvPr/>
        </p:nvSpPr>
        <p:spPr>
          <a:xfrm>
            <a:off x="731520" y="3621024"/>
            <a:ext cx="237744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cross-modal</a:t>
            </a:r>
          </a:p>
        </p:txBody>
      </p:sp>
      <p:sp>
        <p:nvSpPr>
          <p:cNvPr id="19" name="TextBox 18"/>
          <p:cNvSpPr txBox="1"/>
          <p:nvPr/>
        </p:nvSpPr>
        <p:spPr>
          <a:xfrm>
            <a:off x="3108960" y="3621024"/>
            <a:ext cx="649224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text inside an image, audio or video</a:t>
            </a:r>
          </a:p>
        </p:txBody>
      </p:sp>
      <p:sp>
        <p:nvSpPr>
          <p:cNvPr id="20" name="TextBox 19"/>
          <p:cNvSpPr txBox="1"/>
          <p:nvPr/>
        </p:nvSpPr>
        <p:spPr>
          <a:xfrm>
            <a:off x="9601200" y="3621024"/>
            <a:ext cx="1572768" cy="310896"/>
          </a:xfrm>
          <a:prstGeom prst="rect">
            <a:avLst/>
          </a:prstGeom>
          <a:noFill/>
        </p:spPr>
        <p:txBody>
          <a:bodyPr wrap="square" lIns="0" rIns="0" tIns="0" bIns="0" anchor="t">
            <a:spAutoFit/>
          </a:bodyPr>
          <a:lstStyle/>
          <a:p>
            <a:pPr algn="r">
              <a:lnSpc>
                <a:spcPct val="106000"/>
              </a:lnSpc>
              <a:spcAft>
                <a:spcPts val="0"/>
              </a:spcAft>
            </a:pPr>
            <a:r>
              <a:rPr sz="1300" b="0" i="0">
                <a:solidFill>
                  <a:srgbClr val="444444"/>
                </a:solidFill>
                <a:latin typeface="Calibri"/>
              </a:rPr>
              <a:t>18</a:t>
            </a:r>
          </a:p>
        </p:txBody>
      </p:sp>
      <p:sp>
        <p:nvSpPr>
          <p:cNvPr id="21" name="TextBox 20"/>
          <p:cNvSpPr txBox="1"/>
          <p:nvPr/>
        </p:nvSpPr>
        <p:spPr>
          <a:xfrm>
            <a:off x="731520" y="4023360"/>
            <a:ext cx="237744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memory</a:t>
            </a:r>
          </a:p>
        </p:txBody>
      </p:sp>
      <p:sp>
        <p:nvSpPr>
          <p:cNvPr id="22" name="TextBox 21"/>
          <p:cNvSpPr txBox="1"/>
          <p:nvPr/>
        </p:nvSpPr>
        <p:spPr>
          <a:xfrm>
            <a:off x="3108960" y="4023360"/>
            <a:ext cx="649224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something the agent stored earlier and reads again</a:t>
            </a:r>
          </a:p>
        </p:txBody>
      </p:sp>
      <p:sp>
        <p:nvSpPr>
          <p:cNvPr id="23" name="TextBox 22"/>
          <p:cNvSpPr txBox="1"/>
          <p:nvPr/>
        </p:nvSpPr>
        <p:spPr>
          <a:xfrm>
            <a:off x="9601200" y="4023360"/>
            <a:ext cx="1572768" cy="310896"/>
          </a:xfrm>
          <a:prstGeom prst="rect">
            <a:avLst/>
          </a:prstGeom>
          <a:noFill/>
        </p:spPr>
        <p:txBody>
          <a:bodyPr wrap="square" lIns="0" rIns="0" tIns="0" bIns="0" anchor="t">
            <a:spAutoFit/>
          </a:bodyPr>
          <a:lstStyle/>
          <a:p>
            <a:pPr algn="r">
              <a:lnSpc>
                <a:spcPct val="106000"/>
              </a:lnSpc>
              <a:spcAft>
                <a:spcPts val="0"/>
              </a:spcAft>
            </a:pPr>
            <a:r>
              <a:rPr sz="1300" b="0" i="0">
                <a:solidFill>
                  <a:srgbClr val="444444"/>
                </a:solidFill>
                <a:latin typeface="Calibri"/>
              </a:rPr>
              <a:t>16</a:t>
            </a:r>
          </a:p>
        </p:txBody>
      </p:sp>
      <p:sp>
        <p:nvSpPr>
          <p:cNvPr id="24" name="TextBox 23"/>
          <p:cNvSpPr txBox="1"/>
          <p:nvPr/>
        </p:nvSpPr>
        <p:spPr>
          <a:xfrm>
            <a:off x="731520" y="4425696"/>
            <a:ext cx="237744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tool-metadata</a:t>
            </a:r>
          </a:p>
        </p:txBody>
      </p:sp>
      <p:sp>
        <p:nvSpPr>
          <p:cNvPr id="25" name="TextBox 24"/>
          <p:cNvSpPr txBox="1"/>
          <p:nvPr/>
        </p:nvSpPr>
        <p:spPr>
          <a:xfrm>
            <a:off x="3108960" y="4425696"/>
            <a:ext cx="649224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the description of a tool, not its output</a:t>
            </a:r>
          </a:p>
        </p:txBody>
      </p:sp>
      <p:sp>
        <p:nvSpPr>
          <p:cNvPr id="26" name="TextBox 25"/>
          <p:cNvSpPr txBox="1"/>
          <p:nvPr/>
        </p:nvSpPr>
        <p:spPr>
          <a:xfrm>
            <a:off x="9601200" y="4425696"/>
            <a:ext cx="1572768" cy="310896"/>
          </a:xfrm>
          <a:prstGeom prst="rect">
            <a:avLst/>
          </a:prstGeom>
          <a:noFill/>
        </p:spPr>
        <p:txBody>
          <a:bodyPr wrap="square" lIns="0" rIns="0" tIns="0" bIns="0" anchor="t">
            <a:spAutoFit/>
          </a:bodyPr>
          <a:lstStyle/>
          <a:p>
            <a:pPr algn="r">
              <a:lnSpc>
                <a:spcPct val="106000"/>
              </a:lnSpc>
              <a:spcAft>
                <a:spcPts val="0"/>
              </a:spcAft>
            </a:pPr>
            <a:r>
              <a:rPr sz="1300" b="0" i="0">
                <a:solidFill>
                  <a:srgbClr val="444444"/>
                </a:solidFill>
                <a:latin typeface="Calibri"/>
              </a:rPr>
              <a:t>13</a:t>
            </a:r>
          </a:p>
        </p:txBody>
      </p:sp>
      <p:sp>
        <p:nvSpPr>
          <p:cNvPr id="27" name="TextBox 26"/>
          <p:cNvSpPr txBox="1"/>
          <p:nvPr/>
        </p:nvSpPr>
        <p:spPr>
          <a:xfrm>
            <a:off x="731520" y="4828032"/>
            <a:ext cx="237744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multi-agent</a:t>
            </a:r>
          </a:p>
        </p:txBody>
      </p:sp>
      <p:sp>
        <p:nvSpPr>
          <p:cNvPr id="28" name="TextBox 27"/>
          <p:cNvSpPr txBox="1"/>
          <p:nvPr/>
        </p:nvSpPr>
        <p:spPr>
          <a:xfrm>
            <a:off x="3108960" y="4828032"/>
            <a:ext cx="649224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a message from another agent</a:t>
            </a:r>
          </a:p>
        </p:txBody>
      </p:sp>
      <p:sp>
        <p:nvSpPr>
          <p:cNvPr id="29" name="TextBox 28"/>
          <p:cNvSpPr txBox="1"/>
          <p:nvPr/>
        </p:nvSpPr>
        <p:spPr>
          <a:xfrm>
            <a:off x="9601200" y="4828032"/>
            <a:ext cx="1572768" cy="310896"/>
          </a:xfrm>
          <a:prstGeom prst="rect">
            <a:avLst/>
          </a:prstGeom>
          <a:noFill/>
        </p:spPr>
        <p:txBody>
          <a:bodyPr wrap="square" lIns="0" rIns="0" tIns="0" bIns="0" anchor="t">
            <a:spAutoFit/>
          </a:bodyPr>
          <a:lstStyle/>
          <a:p>
            <a:pPr algn="r">
              <a:lnSpc>
                <a:spcPct val="106000"/>
              </a:lnSpc>
              <a:spcAft>
                <a:spcPts val="0"/>
              </a:spcAft>
            </a:pPr>
            <a:r>
              <a:rPr sz="1300" b="0" i="0">
                <a:solidFill>
                  <a:srgbClr val="444444"/>
                </a:solidFill>
                <a:latin typeface="Calibri"/>
              </a:rPr>
              <a:t>10</a:t>
            </a:r>
          </a:p>
        </p:txBody>
      </p:sp>
      <p:sp>
        <p:nvSpPr>
          <p:cNvPr id="30" name="TextBox 29"/>
          <p:cNvSpPr txBox="1"/>
          <p:nvPr/>
        </p:nvSpPr>
        <p:spPr>
          <a:xfrm>
            <a:off x="731520" y="5230368"/>
            <a:ext cx="237744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supply-chain</a:t>
            </a:r>
          </a:p>
        </p:txBody>
      </p:sp>
      <p:sp>
        <p:nvSpPr>
          <p:cNvPr id="31" name="TextBox 30"/>
          <p:cNvSpPr txBox="1"/>
          <p:nvPr/>
        </p:nvSpPr>
        <p:spPr>
          <a:xfrm>
            <a:off x="3108960" y="5230368"/>
            <a:ext cx="649224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a package or template inherited before the run</a:t>
            </a:r>
          </a:p>
        </p:txBody>
      </p:sp>
      <p:sp>
        <p:nvSpPr>
          <p:cNvPr id="32" name="TextBox 31"/>
          <p:cNvSpPr txBox="1"/>
          <p:nvPr/>
        </p:nvSpPr>
        <p:spPr>
          <a:xfrm>
            <a:off x="9601200" y="5230368"/>
            <a:ext cx="1572768" cy="310896"/>
          </a:xfrm>
          <a:prstGeom prst="rect">
            <a:avLst/>
          </a:prstGeom>
          <a:noFill/>
        </p:spPr>
        <p:txBody>
          <a:bodyPr wrap="square" lIns="0" rIns="0" tIns="0" bIns="0" anchor="t">
            <a:spAutoFit/>
          </a:bodyPr>
          <a:lstStyle/>
          <a:p>
            <a:pPr algn="r">
              <a:lnSpc>
                <a:spcPct val="106000"/>
              </a:lnSpc>
              <a:spcAft>
                <a:spcPts val="0"/>
              </a:spcAft>
            </a:pPr>
            <a:r>
              <a:rPr sz="1300" b="0" i="0">
                <a:solidFill>
                  <a:srgbClr val="444444"/>
                </a:solidFill>
                <a:latin typeface="Calibri"/>
              </a:rPr>
              <a:t>6</a:t>
            </a:r>
          </a:p>
        </p:txBody>
      </p:sp>
      <p:sp>
        <p:nvSpPr>
          <p:cNvPr id="33" name="TextBox 32"/>
          <p:cNvSpPr txBox="1"/>
          <p:nvPr/>
        </p:nvSpPr>
        <p:spPr>
          <a:xfrm>
            <a:off x="731520" y="5632704"/>
            <a:ext cx="237744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skill</a:t>
            </a:r>
          </a:p>
        </p:txBody>
      </p:sp>
      <p:sp>
        <p:nvSpPr>
          <p:cNvPr id="34" name="TextBox 33"/>
          <p:cNvSpPr txBox="1"/>
          <p:nvPr/>
        </p:nvSpPr>
        <p:spPr>
          <a:xfrm>
            <a:off x="3108960" y="5632704"/>
            <a:ext cx="649224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a stored procedure the agent loads and follows</a:t>
            </a:r>
          </a:p>
        </p:txBody>
      </p:sp>
      <p:sp>
        <p:nvSpPr>
          <p:cNvPr id="35" name="TextBox 34"/>
          <p:cNvSpPr txBox="1"/>
          <p:nvPr/>
        </p:nvSpPr>
        <p:spPr>
          <a:xfrm>
            <a:off x="9601200" y="5632704"/>
            <a:ext cx="1572768" cy="310896"/>
          </a:xfrm>
          <a:prstGeom prst="rect">
            <a:avLst/>
          </a:prstGeom>
          <a:noFill/>
        </p:spPr>
        <p:txBody>
          <a:bodyPr wrap="square" lIns="0" rIns="0" tIns="0" bIns="0" anchor="t">
            <a:spAutoFit/>
          </a:bodyPr>
          <a:lstStyle/>
          <a:p>
            <a:pPr algn="r">
              <a:lnSpc>
                <a:spcPct val="106000"/>
              </a:lnSpc>
              <a:spcAft>
                <a:spcPts val="0"/>
              </a:spcAft>
            </a:pPr>
            <a:r>
              <a:rPr sz="1300" b="0" i="0">
                <a:solidFill>
                  <a:srgbClr val="444444"/>
                </a:solidFill>
                <a:latin typeface="Calibri"/>
              </a:rPr>
              <a:t>4</a:t>
            </a:r>
          </a:p>
        </p:txBody>
      </p:sp>
      <p:sp>
        <p:nvSpPr>
          <p:cNvPr id="36" name="TextBox 35"/>
          <p:cNvSpPr txBox="1"/>
          <p:nvPr/>
        </p:nvSpPr>
        <p:spPr>
          <a:xfrm>
            <a:off x="731520" y="6364224"/>
            <a:ext cx="10040112" cy="420624"/>
          </a:xfrm>
          <a:prstGeom prst="rect">
            <a:avLst/>
          </a:prstGeom>
          <a:noFill/>
        </p:spPr>
        <p:txBody>
          <a:bodyPr wrap="square" lIns="0" rIns="0" tIns="0" bIns="0" anchor="t">
            <a:spAutoFit/>
          </a:bodyPr>
          <a:lstStyle/>
          <a:p>
            <a:pPr algn="l">
              <a:lnSpc>
                <a:spcPct val="120000"/>
              </a:lnSpc>
              <a:spcAft>
                <a:spcPts val="0"/>
              </a:spcAft>
            </a:pPr>
            <a:r>
              <a:rPr sz="750" b="0" i="0">
                <a:solidFill>
                  <a:srgbClr val="999999"/>
                </a:solidFill>
                <a:latin typeface="Calibri"/>
              </a:rPr>
              <a:t>tool-output Greshake et al., AISec@CCS 2023  ·  direct-input Liu et al., 2023  ·  RAG Zou et al., USENIX Security 2024  ·  memory Chen et al., NeurIPS 2024  ·  cross-modal Wang et al., EMNLP 2025</a:t>
            </a:r>
          </a:p>
          <a:p>
            <a:pPr>
              <a:lnSpc>
                <a:spcPct val="120000"/>
              </a:lnSpc>
              <a:spcAft>
                <a:spcPts val="0"/>
              </a:spcAft>
            </a:pPr>
            <a:r>
              <a:rPr sz="750" b="0" i="0">
                <a:solidFill>
                  <a:srgbClr val="999999"/>
                </a:solidFill>
                <a:latin typeface="Calibri"/>
              </a:rPr>
              <a:t>tool-metadata Wang et al., AAAI 2026  ·  multi-agent Lee et al., ESORICS 2025  ·  supply-chain Qu et al., 2026  ·  skill Jia et al., 2026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CONSEQUENCE</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Six ways the agent then fails</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6</a:t>
            </a:r>
          </a:p>
        </p:txBody>
      </p:sp>
      <p:sp>
        <p:nvSpPr>
          <p:cNvPr id="5" name="TextBox 4"/>
          <p:cNvSpPr txBox="1"/>
          <p:nvPr/>
        </p:nvSpPr>
        <p:spPr>
          <a:xfrm>
            <a:off x="731520" y="2103120"/>
            <a:ext cx="301752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FAILURE</a:t>
            </a:r>
          </a:p>
        </p:txBody>
      </p:sp>
      <p:sp>
        <p:nvSpPr>
          <p:cNvPr id="6" name="TextBox 5"/>
          <p:cNvSpPr txBox="1"/>
          <p:nvPr/>
        </p:nvSpPr>
        <p:spPr>
          <a:xfrm>
            <a:off x="3749039" y="2103120"/>
            <a:ext cx="585216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WHAT IT MEANS</a:t>
            </a:r>
          </a:p>
        </p:txBody>
      </p:sp>
      <p:sp>
        <p:nvSpPr>
          <p:cNvPr id="7" name="TextBox 6"/>
          <p:cNvSpPr txBox="1"/>
          <p:nvPr/>
        </p:nvSpPr>
        <p:spPr>
          <a:xfrm>
            <a:off x="9601200" y="2103120"/>
            <a:ext cx="1572768" cy="274320"/>
          </a:xfrm>
          <a:prstGeom prst="rect">
            <a:avLst/>
          </a:prstGeom>
          <a:noFill/>
        </p:spPr>
        <p:txBody>
          <a:bodyPr wrap="square" lIns="0" rIns="0" tIns="0" bIns="0" anchor="t">
            <a:spAutoFit/>
          </a:bodyPr>
          <a:lstStyle/>
          <a:p>
            <a:pPr algn="r">
              <a:lnSpc>
                <a:spcPct val="106000"/>
              </a:lnSpc>
              <a:spcAft>
                <a:spcPts val="0"/>
              </a:spcAft>
            </a:pPr>
            <a:r>
              <a:rPr sz="1000" b="1" i="0">
                <a:solidFill>
                  <a:srgbClr val="777777"/>
                </a:solidFill>
                <a:latin typeface="Calibri"/>
              </a:rPr>
              <a:t>NAMED ATTACKS</a:t>
            </a:r>
          </a:p>
        </p:txBody>
      </p:sp>
      <p:sp>
        <p:nvSpPr>
          <p:cNvPr id="8" name="Rectangle 7"/>
          <p:cNvSpPr/>
          <p:nvPr/>
        </p:nvSpPr>
        <p:spPr>
          <a:xfrm>
            <a:off x="731520" y="2377439"/>
            <a:ext cx="10698480"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487168"/>
            <a:ext cx="301752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goal-hijack</a:t>
            </a:r>
          </a:p>
        </p:txBody>
      </p:sp>
      <p:sp>
        <p:nvSpPr>
          <p:cNvPr id="10" name="TextBox 9"/>
          <p:cNvSpPr txBox="1"/>
          <p:nvPr/>
        </p:nvSpPr>
        <p:spPr>
          <a:xfrm>
            <a:off x="3749039" y="2487168"/>
            <a:ext cx="58521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the agent does another person's task; text in the window gives an order and it obeys</a:t>
            </a:r>
          </a:p>
        </p:txBody>
      </p:sp>
      <p:sp>
        <p:nvSpPr>
          <p:cNvPr id="11" name="TextBox 10"/>
          <p:cNvSpPr txBox="1"/>
          <p:nvPr/>
        </p:nvSpPr>
        <p:spPr>
          <a:xfrm>
            <a:off x="9601200" y="2487168"/>
            <a:ext cx="1572768" cy="310896"/>
          </a:xfrm>
          <a:prstGeom prst="rect">
            <a:avLst/>
          </a:prstGeom>
          <a:noFill/>
        </p:spPr>
        <p:txBody>
          <a:bodyPr wrap="square" lIns="0" rIns="0" tIns="0" bIns="0" anchor="t">
            <a:spAutoFit/>
          </a:bodyPr>
          <a:lstStyle/>
          <a:p>
            <a:pPr algn="r">
              <a:lnSpc>
                <a:spcPct val="106000"/>
              </a:lnSpc>
              <a:spcAft>
                <a:spcPts val="0"/>
              </a:spcAft>
            </a:pPr>
            <a:r>
              <a:rPr sz="1300" b="0" i="0">
                <a:solidFill>
                  <a:srgbClr val="444444"/>
                </a:solidFill>
                <a:latin typeface="Calibri"/>
              </a:rPr>
              <a:t>136</a:t>
            </a:r>
          </a:p>
        </p:txBody>
      </p:sp>
      <p:sp>
        <p:nvSpPr>
          <p:cNvPr id="12" name="TextBox 11"/>
          <p:cNvSpPr txBox="1"/>
          <p:nvPr/>
        </p:nvSpPr>
        <p:spPr>
          <a:xfrm>
            <a:off x="731520" y="3035808"/>
            <a:ext cx="301752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reasoning-corruption</a:t>
            </a:r>
          </a:p>
        </p:txBody>
      </p:sp>
      <p:sp>
        <p:nvSpPr>
          <p:cNvPr id="13" name="TextBox 12"/>
          <p:cNvSpPr txBox="1"/>
          <p:nvPr/>
        </p:nvSpPr>
        <p:spPr>
          <a:xfrm>
            <a:off x="3749039" y="3035808"/>
            <a:ext cx="58521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every word is true, but the window is too long or too cluttered to use well</a:t>
            </a:r>
          </a:p>
        </p:txBody>
      </p:sp>
      <p:sp>
        <p:nvSpPr>
          <p:cNvPr id="14" name="TextBox 13"/>
          <p:cNvSpPr txBox="1"/>
          <p:nvPr/>
        </p:nvSpPr>
        <p:spPr>
          <a:xfrm>
            <a:off x="9601200" y="3035808"/>
            <a:ext cx="1572768" cy="310896"/>
          </a:xfrm>
          <a:prstGeom prst="rect">
            <a:avLst/>
          </a:prstGeom>
          <a:noFill/>
        </p:spPr>
        <p:txBody>
          <a:bodyPr wrap="square" lIns="0" rIns="0" tIns="0" bIns="0" anchor="t">
            <a:spAutoFit/>
          </a:bodyPr>
          <a:lstStyle/>
          <a:p>
            <a:pPr algn="r">
              <a:lnSpc>
                <a:spcPct val="106000"/>
              </a:lnSpc>
              <a:spcAft>
                <a:spcPts val="0"/>
              </a:spcAft>
            </a:pPr>
            <a:r>
              <a:rPr sz="1300" b="0" i="0">
                <a:solidFill>
                  <a:srgbClr val="444444"/>
                </a:solidFill>
                <a:latin typeface="Calibri"/>
              </a:rPr>
              <a:t>46</a:t>
            </a:r>
          </a:p>
        </p:txBody>
      </p:sp>
      <p:sp>
        <p:nvSpPr>
          <p:cNvPr id="15" name="TextBox 14"/>
          <p:cNvSpPr txBox="1"/>
          <p:nvPr/>
        </p:nvSpPr>
        <p:spPr>
          <a:xfrm>
            <a:off x="731520" y="3584448"/>
            <a:ext cx="301752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silent-corruption</a:t>
            </a:r>
          </a:p>
        </p:txBody>
      </p:sp>
      <p:sp>
        <p:nvSpPr>
          <p:cNvPr id="16" name="TextBox 15"/>
          <p:cNvSpPr txBox="1"/>
          <p:nvPr/>
        </p:nvSpPr>
        <p:spPr>
          <a:xfrm>
            <a:off x="3749039" y="3584448"/>
            <a:ext cx="58521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the agent answers from false content; nobody gave it a new task</a:t>
            </a:r>
          </a:p>
        </p:txBody>
      </p:sp>
      <p:sp>
        <p:nvSpPr>
          <p:cNvPr id="17" name="TextBox 16"/>
          <p:cNvSpPr txBox="1"/>
          <p:nvPr/>
        </p:nvSpPr>
        <p:spPr>
          <a:xfrm>
            <a:off x="9601200" y="3584448"/>
            <a:ext cx="1572768" cy="310896"/>
          </a:xfrm>
          <a:prstGeom prst="rect">
            <a:avLst/>
          </a:prstGeom>
          <a:noFill/>
        </p:spPr>
        <p:txBody>
          <a:bodyPr wrap="square" lIns="0" rIns="0" tIns="0" bIns="0" anchor="t">
            <a:spAutoFit/>
          </a:bodyPr>
          <a:lstStyle/>
          <a:p>
            <a:pPr algn="r">
              <a:lnSpc>
                <a:spcPct val="106000"/>
              </a:lnSpc>
              <a:spcAft>
                <a:spcPts val="0"/>
              </a:spcAft>
            </a:pPr>
            <a:r>
              <a:rPr sz="1300" b="0" i="0">
                <a:solidFill>
                  <a:srgbClr val="444444"/>
                </a:solidFill>
                <a:latin typeface="Calibri"/>
              </a:rPr>
              <a:t>21</a:t>
            </a:r>
          </a:p>
        </p:txBody>
      </p:sp>
      <p:sp>
        <p:nvSpPr>
          <p:cNvPr id="18" name="TextBox 17"/>
          <p:cNvSpPr txBox="1"/>
          <p:nvPr/>
        </p:nvSpPr>
        <p:spPr>
          <a:xfrm>
            <a:off x="731520" y="4133087"/>
            <a:ext cx="301752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persistence-backdoor</a:t>
            </a:r>
          </a:p>
        </p:txBody>
      </p:sp>
      <p:sp>
        <p:nvSpPr>
          <p:cNvPr id="19" name="TextBox 18"/>
          <p:cNvSpPr txBox="1"/>
          <p:nvPr/>
        </p:nvSpPr>
        <p:spPr>
          <a:xfrm>
            <a:off x="3749039" y="4133087"/>
            <a:ext cx="58521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the bad content is stored and fires on a later run</a:t>
            </a:r>
          </a:p>
        </p:txBody>
      </p:sp>
      <p:sp>
        <p:nvSpPr>
          <p:cNvPr id="20" name="TextBox 19"/>
          <p:cNvSpPr txBox="1"/>
          <p:nvPr/>
        </p:nvSpPr>
        <p:spPr>
          <a:xfrm>
            <a:off x="9601200" y="4133087"/>
            <a:ext cx="1572768" cy="310896"/>
          </a:xfrm>
          <a:prstGeom prst="rect">
            <a:avLst/>
          </a:prstGeom>
          <a:noFill/>
        </p:spPr>
        <p:txBody>
          <a:bodyPr wrap="square" lIns="0" rIns="0" tIns="0" bIns="0" anchor="t">
            <a:spAutoFit/>
          </a:bodyPr>
          <a:lstStyle/>
          <a:p>
            <a:pPr algn="r">
              <a:lnSpc>
                <a:spcPct val="106000"/>
              </a:lnSpc>
              <a:spcAft>
                <a:spcPts val="0"/>
              </a:spcAft>
            </a:pPr>
            <a:r>
              <a:rPr sz="1300" b="0" i="0">
                <a:solidFill>
                  <a:srgbClr val="444444"/>
                </a:solidFill>
                <a:latin typeface="Calibri"/>
              </a:rPr>
              <a:t>16</a:t>
            </a:r>
          </a:p>
        </p:txBody>
      </p:sp>
      <p:sp>
        <p:nvSpPr>
          <p:cNvPr id="21" name="TextBox 20"/>
          <p:cNvSpPr txBox="1"/>
          <p:nvPr/>
        </p:nvSpPr>
        <p:spPr>
          <a:xfrm>
            <a:off x="731520" y="4681727"/>
            <a:ext cx="301752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data-exfiltration</a:t>
            </a:r>
          </a:p>
        </p:txBody>
      </p:sp>
      <p:sp>
        <p:nvSpPr>
          <p:cNvPr id="22" name="TextBox 21"/>
          <p:cNvSpPr txBox="1"/>
          <p:nvPr/>
        </p:nvSpPr>
        <p:spPr>
          <a:xfrm>
            <a:off x="3749039" y="4681727"/>
            <a:ext cx="58521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the agent sends out what it can read</a:t>
            </a:r>
          </a:p>
        </p:txBody>
      </p:sp>
      <p:sp>
        <p:nvSpPr>
          <p:cNvPr id="23" name="TextBox 22"/>
          <p:cNvSpPr txBox="1"/>
          <p:nvPr/>
        </p:nvSpPr>
        <p:spPr>
          <a:xfrm>
            <a:off x="9601200" y="4681727"/>
            <a:ext cx="1572768" cy="310896"/>
          </a:xfrm>
          <a:prstGeom prst="rect">
            <a:avLst/>
          </a:prstGeom>
          <a:noFill/>
        </p:spPr>
        <p:txBody>
          <a:bodyPr wrap="square" lIns="0" rIns="0" tIns="0" bIns="0" anchor="t">
            <a:spAutoFit/>
          </a:bodyPr>
          <a:lstStyle/>
          <a:p>
            <a:pPr algn="r">
              <a:lnSpc>
                <a:spcPct val="106000"/>
              </a:lnSpc>
              <a:spcAft>
                <a:spcPts val="0"/>
              </a:spcAft>
            </a:pPr>
            <a:r>
              <a:rPr sz="1300" b="0" i="0">
                <a:solidFill>
                  <a:srgbClr val="444444"/>
                </a:solidFill>
                <a:latin typeface="Calibri"/>
              </a:rPr>
              <a:t>14</a:t>
            </a:r>
          </a:p>
        </p:txBody>
      </p:sp>
      <p:sp>
        <p:nvSpPr>
          <p:cNvPr id="24" name="TextBox 23"/>
          <p:cNvSpPr txBox="1"/>
          <p:nvPr/>
        </p:nvSpPr>
        <p:spPr>
          <a:xfrm>
            <a:off x="731520" y="5230368"/>
            <a:ext cx="301752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resource-abuse</a:t>
            </a:r>
          </a:p>
        </p:txBody>
      </p:sp>
      <p:sp>
        <p:nvSpPr>
          <p:cNvPr id="25" name="TextBox 24"/>
          <p:cNvSpPr txBox="1"/>
          <p:nvPr/>
        </p:nvSpPr>
        <p:spPr>
          <a:xfrm>
            <a:off x="3749039" y="5230368"/>
            <a:ext cx="58521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the agent burns time, or refuses to answer at all</a:t>
            </a:r>
          </a:p>
        </p:txBody>
      </p:sp>
      <p:sp>
        <p:nvSpPr>
          <p:cNvPr id="26" name="TextBox 25"/>
          <p:cNvSpPr txBox="1"/>
          <p:nvPr/>
        </p:nvSpPr>
        <p:spPr>
          <a:xfrm>
            <a:off x="9601200" y="5230368"/>
            <a:ext cx="1572768" cy="310896"/>
          </a:xfrm>
          <a:prstGeom prst="rect">
            <a:avLst/>
          </a:prstGeom>
          <a:noFill/>
        </p:spPr>
        <p:txBody>
          <a:bodyPr wrap="square" lIns="0" rIns="0" tIns="0" bIns="0" anchor="t">
            <a:spAutoFit/>
          </a:bodyPr>
          <a:lstStyle/>
          <a:p>
            <a:pPr algn="r">
              <a:lnSpc>
                <a:spcPct val="106000"/>
              </a:lnSpc>
              <a:spcAft>
                <a:spcPts val="0"/>
              </a:spcAft>
            </a:pPr>
            <a:r>
              <a:rPr sz="1300" b="0" i="0">
                <a:solidFill>
                  <a:srgbClr val="444444"/>
                </a:solidFill>
                <a:latin typeface="Calibri"/>
              </a:rPr>
              <a:t>4</a:t>
            </a:r>
          </a:p>
        </p:txBody>
      </p:sp>
      <p:sp>
        <p:nvSpPr>
          <p:cNvPr id="27" name="TextBox 26"/>
          <p:cNvSpPr txBox="1"/>
          <p:nvPr/>
        </p:nvSpPr>
        <p:spPr>
          <a:xfrm>
            <a:off x="731520" y="5760720"/>
            <a:ext cx="10725912" cy="365760"/>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The second row is the machine learning literature. The other five are the security literature. That is the split, in one column.</a:t>
            </a:r>
          </a:p>
        </p:txBody>
      </p:sp>
      <p:sp>
        <p:nvSpPr>
          <p:cNvPr id="28" name="TextBox 27"/>
          <p:cNvSpPr txBox="1"/>
          <p:nvPr/>
        </p:nvSpPr>
        <p:spPr>
          <a:xfrm>
            <a:off x="731520" y="6327648"/>
            <a:ext cx="10040112" cy="475488"/>
          </a:xfrm>
          <a:prstGeom prst="rect">
            <a:avLst/>
          </a:prstGeom>
          <a:noFill/>
        </p:spPr>
        <p:txBody>
          <a:bodyPr wrap="square" lIns="0" rIns="0" tIns="0" bIns="0" anchor="t">
            <a:spAutoFit/>
          </a:bodyPr>
          <a:lstStyle/>
          <a:p>
            <a:pPr algn="l">
              <a:lnSpc>
                <a:spcPct val="115000"/>
              </a:lnSpc>
              <a:spcAft>
                <a:spcPts val="0"/>
              </a:spcAft>
            </a:pPr>
            <a:r>
              <a:rPr sz="750" b="0" i="0">
                <a:solidFill>
                  <a:srgbClr val="999999"/>
                </a:solidFill>
                <a:latin typeface="Calibri"/>
              </a:rPr>
              <a:t>goal-hijack Greshake et al., AISec@CCS 2023   ·   reasoning-corruption Liu et al., TACL 2023; Shi et al., ICML 2023   ·   silent-corruption Xie et al., ICLR 2023   ·   persistence-backdoor Chen et al., NeurIPS 2024   ·   data-exfiltration Qi et al., ICLR 2024   ·   resource-abuse Xue et al., 2024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WHAT WE BUILT</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A map of every attack and every defense in the field</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7</a:t>
            </a:r>
          </a:p>
        </p:txBody>
      </p:sp>
      <p:sp>
        <p:nvSpPr>
          <p:cNvPr id="5" name="TextBox 4"/>
          <p:cNvSpPr txBox="1"/>
          <p:nvPr/>
        </p:nvSpPr>
        <p:spPr>
          <a:xfrm>
            <a:off x="731520" y="2011680"/>
            <a:ext cx="274320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COUNT</a:t>
            </a:r>
          </a:p>
        </p:txBody>
      </p:sp>
      <p:sp>
        <p:nvSpPr>
          <p:cNvPr id="6" name="TextBox 5"/>
          <p:cNvSpPr txBox="1"/>
          <p:nvPr/>
        </p:nvSpPr>
        <p:spPr>
          <a:xfrm>
            <a:off x="3474720" y="2011680"/>
            <a:ext cx="7955279"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WHAT IT IS</a:t>
            </a:r>
          </a:p>
        </p:txBody>
      </p:sp>
      <p:sp>
        <p:nvSpPr>
          <p:cNvPr id="7" name="Rectangle 6"/>
          <p:cNvSpPr/>
          <p:nvPr/>
        </p:nvSpPr>
        <p:spPr>
          <a:xfrm>
            <a:off x="731520" y="2286000"/>
            <a:ext cx="10698480"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2395728"/>
            <a:ext cx="2743200" cy="310896"/>
          </a:xfrm>
          <a:prstGeom prst="rect">
            <a:avLst/>
          </a:prstGeom>
          <a:noFill/>
        </p:spPr>
        <p:txBody>
          <a:bodyPr wrap="square" lIns="0" rIns="0" tIns="0" bIns="0" anchor="t">
            <a:spAutoFit/>
          </a:bodyPr>
          <a:lstStyle/>
          <a:p>
            <a:pPr algn="l">
              <a:lnSpc>
                <a:spcPct val="106000"/>
              </a:lnSpc>
              <a:spcAft>
                <a:spcPts val="0"/>
              </a:spcAft>
            </a:pPr>
            <a:r>
              <a:rPr sz="1450" b="0" i="0">
                <a:solidFill>
                  <a:srgbClr val="444444"/>
                </a:solidFill>
                <a:latin typeface="Calibri"/>
              </a:rPr>
              <a:t>1,026 papers</a:t>
            </a:r>
          </a:p>
        </p:txBody>
      </p:sp>
      <p:sp>
        <p:nvSpPr>
          <p:cNvPr id="9" name="TextBox 8"/>
          <p:cNvSpPr txBox="1"/>
          <p:nvPr/>
        </p:nvSpPr>
        <p:spPr>
          <a:xfrm>
            <a:off x="3474720" y="2395728"/>
            <a:ext cx="7955279" cy="310896"/>
          </a:xfrm>
          <a:prstGeom prst="rect">
            <a:avLst/>
          </a:prstGeom>
          <a:noFill/>
        </p:spPr>
        <p:txBody>
          <a:bodyPr wrap="square" lIns="0" rIns="0" tIns="0" bIns="0" anchor="t">
            <a:spAutoFit/>
          </a:bodyPr>
          <a:lstStyle/>
          <a:p>
            <a:pPr algn="l">
              <a:lnSpc>
                <a:spcPct val="106000"/>
              </a:lnSpc>
              <a:spcAft>
                <a:spcPts val="0"/>
              </a:spcAft>
            </a:pPr>
            <a:r>
              <a:rPr sz="1450" b="0" i="0">
                <a:solidFill>
                  <a:srgbClr val="444444"/>
                </a:solidFill>
                <a:latin typeface="Calibri"/>
              </a:rPr>
              <a:t>read in full and coded, drawn from about 26,000 candidates</a:t>
            </a:r>
          </a:p>
        </p:txBody>
      </p:sp>
      <p:sp>
        <p:nvSpPr>
          <p:cNvPr id="10" name="TextBox 9"/>
          <p:cNvSpPr txBox="1"/>
          <p:nvPr/>
        </p:nvSpPr>
        <p:spPr>
          <a:xfrm>
            <a:off x="731520" y="2834640"/>
            <a:ext cx="2743200" cy="310896"/>
          </a:xfrm>
          <a:prstGeom prst="rect">
            <a:avLst/>
          </a:prstGeom>
          <a:noFill/>
        </p:spPr>
        <p:txBody>
          <a:bodyPr wrap="square" lIns="0" rIns="0" tIns="0" bIns="0" anchor="t">
            <a:spAutoFit/>
          </a:bodyPr>
          <a:lstStyle/>
          <a:p>
            <a:pPr algn="l">
              <a:lnSpc>
                <a:spcPct val="106000"/>
              </a:lnSpc>
              <a:spcAft>
                <a:spcPts val="0"/>
              </a:spcAft>
            </a:pPr>
            <a:r>
              <a:rPr sz="1450" b="0" i="0">
                <a:solidFill>
                  <a:srgbClr val="444444"/>
                </a:solidFill>
                <a:latin typeface="Calibri"/>
              </a:rPr>
              <a:t>182 attacks</a:t>
            </a:r>
          </a:p>
        </p:txBody>
      </p:sp>
      <p:sp>
        <p:nvSpPr>
          <p:cNvPr id="11" name="TextBox 10"/>
          <p:cNvSpPr txBox="1"/>
          <p:nvPr/>
        </p:nvSpPr>
        <p:spPr>
          <a:xfrm>
            <a:off x="3474720" y="2834640"/>
            <a:ext cx="7955279" cy="310896"/>
          </a:xfrm>
          <a:prstGeom prst="rect">
            <a:avLst/>
          </a:prstGeom>
          <a:noFill/>
        </p:spPr>
        <p:txBody>
          <a:bodyPr wrap="square" lIns="0" rIns="0" tIns="0" bIns="0" anchor="t">
            <a:spAutoFit/>
          </a:bodyPr>
          <a:lstStyle/>
          <a:p>
            <a:pPr algn="l">
              <a:lnSpc>
                <a:spcPct val="106000"/>
              </a:lnSpc>
              <a:spcAft>
                <a:spcPts val="0"/>
              </a:spcAft>
            </a:pPr>
            <a:r>
              <a:rPr sz="1450" b="0" i="0">
                <a:solidFill>
                  <a:srgbClr val="444444"/>
                </a:solidFill>
                <a:latin typeface="Calibri"/>
              </a:rPr>
              <a:t>deliberate ways to corrupt a context window</a:t>
            </a:r>
          </a:p>
        </p:txBody>
      </p:sp>
      <p:sp>
        <p:nvSpPr>
          <p:cNvPr id="12" name="TextBox 11"/>
          <p:cNvSpPr txBox="1"/>
          <p:nvPr/>
        </p:nvSpPr>
        <p:spPr>
          <a:xfrm>
            <a:off x="731520" y="3273552"/>
            <a:ext cx="2743200" cy="310896"/>
          </a:xfrm>
          <a:prstGeom prst="rect">
            <a:avLst/>
          </a:prstGeom>
          <a:noFill/>
        </p:spPr>
        <p:txBody>
          <a:bodyPr wrap="square" lIns="0" rIns="0" tIns="0" bIns="0" anchor="t">
            <a:spAutoFit/>
          </a:bodyPr>
          <a:lstStyle/>
          <a:p>
            <a:pPr algn="l">
              <a:lnSpc>
                <a:spcPct val="106000"/>
              </a:lnSpc>
              <a:spcAft>
                <a:spcPts val="0"/>
              </a:spcAft>
            </a:pPr>
            <a:r>
              <a:rPr sz="1450" b="0" i="0">
                <a:solidFill>
                  <a:srgbClr val="444444"/>
                </a:solidFill>
                <a:latin typeface="Calibri"/>
              </a:rPr>
              <a:t>55 mechanisms</a:t>
            </a:r>
          </a:p>
        </p:txBody>
      </p:sp>
      <p:sp>
        <p:nvSpPr>
          <p:cNvPr id="13" name="TextBox 12"/>
          <p:cNvSpPr txBox="1"/>
          <p:nvPr/>
        </p:nvSpPr>
        <p:spPr>
          <a:xfrm>
            <a:off x="3474720" y="3273552"/>
            <a:ext cx="7955279" cy="310896"/>
          </a:xfrm>
          <a:prstGeom prst="rect">
            <a:avLst/>
          </a:prstGeom>
          <a:noFill/>
        </p:spPr>
        <p:txBody>
          <a:bodyPr wrap="square" lIns="0" rIns="0" tIns="0" bIns="0" anchor="t">
            <a:spAutoFit/>
          </a:bodyPr>
          <a:lstStyle/>
          <a:p>
            <a:pPr algn="l">
              <a:lnSpc>
                <a:spcPct val="106000"/>
              </a:lnSpc>
              <a:spcAft>
                <a:spcPts val="0"/>
              </a:spcAft>
            </a:pPr>
            <a:r>
              <a:rPr sz="1450" b="0" i="0">
                <a:solidFill>
                  <a:srgbClr val="444444"/>
                </a:solidFill>
                <a:latin typeface="Calibri"/>
              </a:rPr>
              <a:t>the same corruption arriving by accident</a:t>
            </a:r>
          </a:p>
        </p:txBody>
      </p:sp>
      <p:sp>
        <p:nvSpPr>
          <p:cNvPr id="14" name="TextBox 13"/>
          <p:cNvSpPr txBox="1"/>
          <p:nvPr/>
        </p:nvSpPr>
        <p:spPr>
          <a:xfrm>
            <a:off x="731520" y="3712464"/>
            <a:ext cx="2743200" cy="310896"/>
          </a:xfrm>
          <a:prstGeom prst="rect">
            <a:avLst/>
          </a:prstGeom>
          <a:noFill/>
        </p:spPr>
        <p:txBody>
          <a:bodyPr wrap="square" lIns="0" rIns="0" tIns="0" bIns="0" anchor="t">
            <a:spAutoFit/>
          </a:bodyPr>
          <a:lstStyle/>
          <a:p>
            <a:pPr algn="l">
              <a:lnSpc>
                <a:spcPct val="106000"/>
              </a:lnSpc>
              <a:spcAft>
                <a:spcPts val="0"/>
              </a:spcAft>
            </a:pPr>
            <a:r>
              <a:rPr sz="1450" b="0" i="0">
                <a:solidFill>
                  <a:srgbClr val="444444"/>
                </a:solidFill>
                <a:latin typeface="Calibri"/>
              </a:rPr>
              <a:t>263 defenses</a:t>
            </a:r>
          </a:p>
        </p:txBody>
      </p:sp>
      <p:sp>
        <p:nvSpPr>
          <p:cNvPr id="15" name="TextBox 14"/>
          <p:cNvSpPr txBox="1"/>
          <p:nvPr/>
        </p:nvSpPr>
        <p:spPr>
          <a:xfrm>
            <a:off x="3474720" y="3712464"/>
            <a:ext cx="7955279" cy="310896"/>
          </a:xfrm>
          <a:prstGeom prst="rect">
            <a:avLst/>
          </a:prstGeom>
          <a:noFill/>
        </p:spPr>
        <p:txBody>
          <a:bodyPr wrap="square" lIns="0" rIns="0" tIns="0" bIns="0" anchor="t">
            <a:spAutoFit/>
          </a:bodyPr>
          <a:lstStyle/>
          <a:p>
            <a:pPr algn="l">
              <a:lnSpc>
                <a:spcPct val="106000"/>
              </a:lnSpc>
              <a:spcAft>
                <a:spcPts val="0"/>
              </a:spcAft>
            </a:pPr>
            <a:r>
              <a:rPr sz="1450" b="0" i="0">
                <a:solidFill>
                  <a:srgbClr val="444444"/>
                </a:solidFill>
                <a:latin typeface="Calibri"/>
              </a:rPr>
              <a:t>built to stop an adversary</a:t>
            </a:r>
          </a:p>
        </p:txBody>
      </p:sp>
      <p:sp>
        <p:nvSpPr>
          <p:cNvPr id="16" name="TextBox 15"/>
          <p:cNvSpPr txBox="1"/>
          <p:nvPr/>
        </p:nvSpPr>
        <p:spPr>
          <a:xfrm>
            <a:off x="731520" y="4151376"/>
            <a:ext cx="2743200" cy="310896"/>
          </a:xfrm>
          <a:prstGeom prst="rect">
            <a:avLst/>
          </a:prstGeom>
          <a:noFill/>
        </p:spPr>
        <p:txBody>
          <a:bodyPr wrap="square" lIns="0" rIns="0" tIns="0" bIns="0" anchor="t">
            <a:spAutoFit/>
          </a:bodyPr>
          <a:lstStyle/>
          <a:p>
            <a:pPr algn="l">
              <a:lnSpc>
                <a:spcPct val="106000"/>
              </a:lnSpc>
              <a:spcAft>
                <a:spcPts val="0"/>
              </a:spcAft>
            </a:pPr>
            <a:r>
              <a:rPr sz="1450" b="0" i="0">
                <a:solidFill>
                  <a:srgbClr val="444444"/>
                </a:solidFill>
                <a:latin typeface="Calibri"/>
              </a:rPr>
              <a:t>266 fixes</a:t>
            </a:r>
          </a:p>
        </p:txBody>
      </p:sp>
      <p:sp>
        <p:nvSpPr>
          <p:cNvPr id="17" name="TextBox 16"/>
          <p:cNvSpPr txBox="1"/>
          <p:nvPr/>
        </p:nvSpPr>
        <p:spPr>
          <a:xfrm>
            <a:off x="3474720" y="4151376"/>
            <a:ext cx="7955279" cy="310896"/>
          </a:xfrm>
          <a:prstGeom prst="rect">
            <a:avLst/>
          </a:prstGeom>
          <a:noFill/>
        </p:spPr>
        <p:txBody>
          <a:bodyPr wrap="square" lIns="0" rIns="0" tIns="0" bIns="0" anchor="t">
            <a:spAutoFit/>
          </a:bodyPr>
          <a:lstStyle/>
          <a:p>
            <a:pPr algn="l">
              <a:lnSpc>
                <a:spcPct val="106000"/>
              </a:lnSpc>
              <a:spcAft>
                <a:spcPts val="0"/>
              </a:spcAft>
            </a:pPr>
            <a:r>
              <a:rPr sz="1450" b="0" i="0">
                <a:solidFill>
                  <a:srgbClr val="444444"/>
                </a:solidFill>
                <a:latin typeface="Calibri"/>
              </a:rPr>
              <a:t>built to stop the accident</a:t>
            </a:r>
          </a:p>
        </p:txBody>
      </p:sp>
      <p:sp>
        <p:nvSpPr>
          <p:cNvPr id="18" name="TextBox 17"/>
          <p:cNvSpPr txBox="1"/>
          <p:nvPr/>
        </p:nvSpPr>
        <p:spPr>
          <a:xfrm>
            <a:off x="731520" y="4590288"/>
            <a:ext cx="2743200" cy="310896"/>
          </a:xfrm>
          <a:prstGeom prst="rect">
            <a:avLst/>
          </a:prstGeom>
          <a:noFill/>
        </p:spPr>
        <p:txBody>
          <a:bodyPr wrap="square" lIns="0" rIns="0" tIns="0" bIns="0" anchor="t">
            <a:spAutoFit/>
          </a:bodyPr>
          <a:lstStyle/>
          <a:p>
            <a:pPr algn="l">
              <a:lnSpc>
                <a:spcPct val="106000"/>
              </a:lnSpc>
              <a:spcAft>
                <a:spcPts val="0"/>
              </a:spcAft>
            </a:pPr>
            <a:r>
              <a:rPr sz="1450" b="0" i="0">
                <a:solidFill>
                  <a:srgbClr val="444444"/>
                </a:solidFill>
                <a:latin typeface="Calibri"/>
              </a:rPr>
              <a:t>349 pairs</a:t>
            </a:r>
          </a:p>
        </p:txBody>
      </p:sp>
      <p:sp>
        <p:nvSpPr>
          <p:cNvPr id="19" name="TextBox 18"/>
          <p:cNvSpPr txBox="1"/>
          <p:nvPr/>
        </p:nvSpPr>
        <p:spPr>
          <a:xfrm>
            <a:off x="3474720" y="4590288"/>
            <a:ext cx="7955279" cy="310896"/>
          </a:xfrm>
          <a:prstGeom prst="rect">
            <a:avLst/>
          </a:prstGeom>
          <a:noFill/>
        </p:spPr>
        <p:txBody>
          <a:bodyPr wrap="square" lIns="0" rIns="0" tIns="0" bIns="0" anchor="t">
            <a:spAutoFit/>
          </a:bodyPr>
          <a:lstStyle/>
          <a:p>
            <a:pPr algn="l">
              <a:lnSpc>
                <a:spcPct val="106000"/>
              </a:lnSpc>
              <a:spcAft>
                <a:spcPts val="0"/>
              </a:spcAft>
            </a:pPr>
            <a:r>
              <a:rPr sz="1450" b="0" i="0">
                <a:solidFill>
                  <a:srgbClr val="444444"/>
                </a:solidFill>
                <a:latin typeface="Calibri"/>
              </a:rPr>
              <a:t>every case where a paper tested one defense against one attack</a:t>
            </a:r>
          </a:p>
        </p:txBody>
      </p:sp>
      <p:sp>
        <p:nvSpPr>
          <p:cNvPr id="20" name="TextBox 19"/>
          <p:cNvSpPr txBox="1"/>
          <p:nvPr/>
        </p:nvSpPr>
        <p:spPr>
          <a:xfrm>
            <a:off x="731520" y="5120640"/>
            <a:ext cx="10725912" cy="1371600"/>
          </a:xfrm>
          <a:prstGeom prst="rect">
            <a:avLst/>
          </a:prstGeom>
          <a:noFill/>
        </p:spPr>
        <p:txBody>
          <a:bodyPr wrap="square" lIns="0" rIns="0" tIns="0" bIns="0" anchor="t">
            <a:spAutoFit/>
          </a:bodyPr>
          <a:lstStyle/>
          <a:p>
            <a:pPr algn="l">
              <a:lnSpc>
                <a:spcPct val="112000"/>
              </a:lnSpc>
              <a:spcAft>
                <a:spcPts val="900"/>
              </a:spcAft>
            </a:pPr>
            <a:r>
              <a:rPr sz="1400" b="1" i="0">
                <a:solidFill>
                  <a:srgbClr val="111111"/>
                </a:solidFill>
                <a:latin typeface="Calibri"/>
              </a:rPr>
              <a:t>—  No prior survey holds both literatures. The closest reviews 78 papers, 37 attacks and 41 defenses, and stays on the security side.</a:t>
            </a:r>
          </a:p>
          <a:p>
            <a:pPr>
              <a:lnSpc>
                <a:spcPct val="112000"/>
              </a:lnSpc>
              <a:spcAft>
                <a:spcPts val="900"/>
              </a:spcAft>
            </a:pPr>
            <a:r>
              <a:rPr sz="1400" b="0" i="0">
                <a:solidFill>
                  <a:srgbClr val="444444"/>
                </a:solidFill>
                <a:latin typeface="Calibri"/>
              </a:rPr>
              <a:t>—  That map is the instrument. Everything that follows is read off it.</a:t>
            </a:r>
          </a:p>
        </p:txBody>
      </p:sp>
      <p:sp>
        <p:nvSpPr>
          <p:cNvPr id="21" name="TextBox 20"/>
          <p:cNvSpPr txBox="1"/>
          <p:nvPr/>
        </p:nvSpPr>
        <p:spPr>
          <a:xfrm>
            <a:off x="731520" y="6400800"/>
            <a:ext cx="10040112" cy="402336"/>
          </a:xfrm>
          <a:prstGeom prst="rect">
            <a:avLst/>
          </a:prstGeom>
          <a:noFill/>
        </p:spPr>
        <p:txBody>
          <a:bodyPr wrap="square" lIns="0" rIns="0" tIns="0" bIns="0" anchor="t">
            <a:spAutoFit/>
          </a:bodyPr>
          <a:lstStyle/>
          <a:p>
            <a:pPr algn="l">
              <a:lnSpc>
                <a:spcPct val="115000"/>
              </a:lnSpc>
              <a:spcAft>
                <a:spcPts val="0"/>
              </a:spcAft>
            </a:pPr>
            <a:r>
              <a:rPr sz="850" b="0" i="0">
                <a:solidFill>
                  <a:srgbClr val="999999"/>
                </a:solidFill>
                <a:latin typeface="Calibri"/>
              </a:rPr>
              <a:t>Closest prior survey: Wang et al., 2026, arXiv:2602.10453   ·   Review protocol follows Woesle et al., IEEE Access 2026 and Geng et al., Computers, Materials &amp; Continua 2025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WHAT THE MAP IS</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One row for every attack and every defense</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8</a:t>
            </a:r>
          </a:p>
        </p:txBody>
      </p:sp>
      <p:sp>
        <p:nvSpPr>
          <p:cNvPr id="5" name="TextBox 4"/>
          <p:cNvSpPr txBox="1"/>
          <p:nvPr/>
        </p:nvSpPr>
        <p:spPr>
          <a:xfrm>
            <a:off x="731520" y="1938528"/>
            <a:ext cx="10725912" cy="4553712"/>
          </a:xfrm>
          <a:prstGeom prst="rect">
            <a:avLst/>
          </a:prstGeom>
          <a:noFill/>
        </p:spPr>
        <p:txBody>
          <a:bodyPr wrap="square" lIns="0" rIns="0" tIns="0" bIns="0" anchor="t">
            <a:spAutoFit/>
          </a:bodyPr>
          <a:lstStyle/>
          <a:p>
            <a:pPr algn="l">
              <a:lnSpc>
                <a:spcPct val="112000"/>
              </a:lnSpc>
              <a:spcAft>
                <a:spcPts val="800"/>
              </a:spcAft>
            </a:pPr>
            <a:r>
              <a:rPr sz="1400" b="1" i="0">
                <a:solidFill>
                  <a:srgbClr val="111111"/>
                </a:solidFill>
                <a:latin typeface="Calibri"/>
              </a:rPr>
              <a:t>—  The map is a table, not a picture. One row for each named attack, one row for each named defense, 771 rows in all.</a:t>
            </a:r>
          </a:p>
          <a:p>
            <a:pPr>
              <a:lnSpc>
                <a:spcPct val="112000"/>
              </a:lnSpc>
              <a:spcAft>
                <a:spcPts val="800"/>
              </a:spcAft>
            </a:pPr>
            <a:r>
              <a:rPr sz="1400" b="0" i="0">
                <a:solidFill>
                  <a:srgbClr val="444444"/>
                </a:solidFill>
                <a:latin typeface="Calibri"/>
              </a:rPr>
              <a:t>—  Every row carries the same three tags. We read them from the paper's full text, not its title, and they come from fixed lists, so two papers describing the same thing land in the same place.</a:t>
            </a:r>
          </a:p>
        </p:txBody>
      </p:sp>
      <p:sp>
        <p:nvSpPr>
          <p:cNvPr id="6" name="TextBox 5"/>
          <p:cNvSpPr txBox="1"/>
          <p:nvPr/>
        </p:nvSpPr>
        <p:spPr>
          <a:xfrm>
            <a:off x="731520" y="3291840"/>
            <a:ext cx="265176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FIELD</a:t>
            </a:r>
          </a:p>
        </p:txBody>
      </p:sp>
      <p:sp>
        <p:nvSpPr>
          <p:cNvPr id="7" name="TextBox 6"/>
          <p:cNvSpPr txBox="1"/>
          <p:nvPr/>
        </p:nvSpPr>
        <p:spPr>
          <a:xfrm>
            <a:off x="3383280" y="3291840"/>
            <a:ext cx="402336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AN ATTACK ROW</a:t>
            </a:r>
          </a:p>
        </p:txBody>
      </p:sp>
      <p:sp>
        <p:nvSpPr>
          <p:cNvPr id="8" name="TextBox 7"/>
          <p:cNvSpPr txBox="1"/>
          <p:nvPr/>
        </p:nvSpPr>
        <p:spPr>
          <a:xfrm>
            <a:off x="7406640" y="3291840"/>
            <a:ext cx="402336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A DEFENSE ROW</a:t>
            </a:r>
          </a:p>
        </p:txBody>
      </p:sp>
      <p:sp>
        <p:nvSpPr>
          <p:cNvPr id="9" name="Rectangle 8"/>
          <p:cNvSpPr/>
          <p:nvPr/>
        </p:nvSpPr>
        <p:spPr>
          <a:xfrm>
            <a:off x="731520" y="3566160"/>
            <a:ext cx="10698480"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3675888"/>
            <a:ext cx="26517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Name</a:t>
            </a:r>
          </a:p>
        </p:txBody>
      </p:sp>
      <p:sp>
        <p:nvSpPr>
          <p:cNvPr id="11" name="TextBox 10"/>
          <p:cNvSpPr txBox="1"/>
          <p:nvPr/>
        </p:nvSpPr>
        <p:spPr>
          <a:xfrm>
            <a:off x="3383280" y="3675888"/>
            <a:ext cx="40233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corpus poisoning</a:t>
            </a:r>
          </a:p>
        </p:txBody>
      </p:sp>
      <p:sp>
        <p:nvSpPr>
          <p:cNvPr id="12" name="TextBox 11"/>
          <p:cNvSpPr txBox="1"/>
          <p:nvPr/>
        </p:nvSpPr>
        <p:spPr>
          <a:xfrm>
            <a:off x="7406640" y="3675888"/>
            <a:ext cx="40233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ParamMute</a:t>
            </a:r>
          </a:p>
        </p:txBody>
      </p:sp>
      <p:sp>
        <p:nvSpPr>
          <p:cNvPr id="13" name="TextBox 12"/>
          <p:cNvSpPr txBox="1"/>
          <p:nvPr/>
        </p:nvSpPr>
        <p:spPr>
          <a:xfrm>
            <a:off x="731520" y="4059936"/>
            <a:ext cx="26517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Route in</a:t>
            </a:r>
          </a:p>
        </p:txBody>
      </p:sp>
      <p:sp>
        <p:nvSpPr>
          <p:cNvPr id="14" name="TextBox 13"/>
          <p:cNvSpPr txBox="1"/>
          <p:nvPr/>
        </p:nvSpPr>
        <p:spPr>
          <a:xfrm>
            <a:off x="3383280" y="4059936"/>
            <a:ext cx="40233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RAG</a:t>
            </a:r>
          </a:p>
        </p:txBody>
      </p:sp>
      <p:sp>
        <p:nvSpPr>
          <p:cNvPr id="15" name="TextBox 14"/>
          <p:cNvSpPr txBox="1"/>
          <p:nvPr/>
        </p:nvSpPr>
        <p:spPr>
          <a:xfrm>
            <a:off x="7406640" y="4059936"/>
            <a:ext cx="40233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RAG</a:t>
            </a:r>
          </a:p>
        </p:txBody>
      </p:sp>
      <p:sp>
        <p:nvSpPr>
          <p:cNvPr id="16" name="TextBox 15"/>
          <p:cNvSpPr txBox="1"/>
          <p:nvPr/>
        </p:nvSpPr>
        <p:spPr>
          <a:xfrm>
            <a:off x="731520" y="4443984"/>
            <a:ext cx="26517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What goes wrong</a:t>
            </a:r>
          </a:p>
        </p:txBody>
      </p:sp>
      <p:sp>
        <p:nvSpPr>
          <p:cNvPr id="17" name="TextBox 16"/>
          <p:cNvSpPr txBox="1"/>
          <p:nvPr/>
        </p:nvSpPr>
        <p:spPr>
          <a:xfrm>
            <a:off x="3383280" y="4443984"/>
            <a:ext cx="40233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silent-corruption</a:t>
            </a:r>
          </a:p>
        </p:txBody>
      </p:sp>
      <p:sp>
        <p:nvSpPr>
          <p:cNvPr id="18" name="TextBox 17"/>
          <p:cNvSpPr txBox="1"/>
          <p:nvPr/>
        </p:nvSpPr>
        <p:spPr>
          <a:xfrm>
            <a:off x="7406640" y="4443984"/>
            <a:ext cx="40233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silent-corruption</a:t>
            </a:r>
          </a:p>
        </p:txBody>
      </p:sp>
      <p:sp>
        <p:nvSpPr>
          <p:cNvPr id="19" name="TextBox 18"/>
          <p:cNvSpPr txBox="1"/>
          <p:nvPr/>
        </p:nvSpPr>
        <p:spPr>
          <a:xfrm>
            <a:off x="731520" y="4828032"/>
            <a:ext cx="26517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Caused by a person</a:t>
            </a:r>
          </a:p>
        </p:txBody>
      </p:sp>
      <p:sp>
        <p:nvSpPr>
          <p:cNvPr id="20" name="TextBox 19"/>
          <p:cNvSpPr txBox="1"/>
          <p:nvPr/>
        </p:nvSpPr>
        <p:spPr>
          <a:xfrm>
            <a:off x="3383280" y="4828032"/>
            <a:ext cx="40233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yes</a:t>
            </a:r>
          </a:p>
        </p:txBody>
      </p:sp>
      <p:sp>
        <p:nvSpPr>
          <p:cNvPr id="21" name="TextBox 20"/>
          <p:cNvSpPr txBox="1"/>
          <p:nvPr/>
        </p:nvSpPr>
        <p:spPr>
          <a:xfrm>
            <a:off x="7406640" y="4828032"/>
            <a:ext cx="40233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no - built for the accident</a:t>
            </a:r>
          </a:p>
        </p:txBody>
      </p:sp>
      <p:sp>
        <p:nvSpPr>
          <p:cNvPr id="22" name="TextBox 21"/>
          <p:cNvSpPr txBox="1"/>
          <p:nvPr/>
        </p:nvSpPr>
        <p:spPr>
          <a:xfrm>
            <a:off x="731520" y="5212080"/>
            <a:ext cx="26517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From</a:t>
            </a:r>
          </a:p>
        </p:txBody>
      </p:sp>
      <p:sp>
        <p:nvSpPr>
          <p:cNvPr id="23" name="TextBox 22"/>
          <p:cNvSpPr txBox="1"/>
          <p:nvPr/>
        </p:nvSpPr>
        <p:spPr>
          <a:xfrm>
            <a:off x="3383280" y="5212080"/>
            <a:ext cx="40233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Zhong et al., EMNLP 2023</a:t>
            </a:r>
          </a:p>
        </p:txBody>
      </p:sp>
      <p:sp>
        <p:nvSpPr>
          <p:cNvPr id="24" name="TextBox 23"/>
          <p:cNvSpPr txBox="1"/>
          <p:nvPr/>
        </p:nvSpPr>
        <p:spPr>
          <a:xfrm>
            <a:off x="7406640" y="5212080"/>
            <a:ext cx="40233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Huang et al., NeurIPS 2025</a:t>
            </a:r>
          </a:p>
        </p:txBody>
      </p:sp>
      <p:sp>
        <p:nvSpPr>
          <p:cNvPr id="25" name="TextBox 24"/>
          <p:cNvSpPr txBox="1"/>
          <p:nvPr/>
        </p:nvSpPr>
        <p:spPr>
          <a:xfrm>
            <a:off x="731520" y="5532120"/>
            <a:ext cx="10725912" cy="960119"/>
          </a:xfrm>
          <a:prstGeom prst="rect">
            <a:avLst/>
          </a:prstGeom>
          <a:noFill/>
        </p:spPr>
        <p:txBody>
          <a:bodyPr wrap="square" lIns="0" rIns="0" tIns="0" bIns="0" anchor="t">
            <a:spAutoFit/>
          </a:bodyPr>
          <a:lstStyle/>
          <a:p>
            <a:pPr algn="l">
              <a:lnSpc>
                <a:spcPct val="112000"/>
              </a:lnSpc>
              <a:spcAft>
                <a:spcPts val="700"/>
              </a:spcAft>
            </a:pPr>
            <a:r>
              <a:rPr sz="1400" b="1" i="0">
                <a:solidFill>
                  <a:srgbClr val="111111"/>
                </a:solidFill>
                <a:latin typeface="Calibri"/>
              </a:rPr>
              <a:t>—  Same route, same failure, so the two rows share a cell and the defense has a claim to answer that attack.</a:t>
            </a:r>
          </a:p>
          <a:p>
            <a:pPr>
              <a:lnSpc>
                <a:spcPct val="112000"/>
              </a:lnSpc>
              <a:spcAft>
                <a:spcPts val="700"/>
              </a:spcAft>
            </a:pPr>
            <a:r>
              <a:rPr sz="1400" b="0" i="0">
                <a:solidFill>
                  <a:srgbClr val="444444"/>
                </a:solidFill>
                <a:latin typeface="Calibri"/>
              </a:rPr>
              <a:t>—  Nobody had ever run them against each other. We did.</a:t>
            </a:r>
          </a:p>
        </p:txBody>
      </p:sp>
      <p:sp>
        <p:nvSpPr>
          <p:cNvPr id="26" name="TextBox 25"/>
          <p:cNvSpPr txBox="1"/>
          <p:nvPr/>
        </p:nvSpPr>
        <p:spPr>
          <a:xfrm>
            <a:off x="731520" y="6400800"/>
            <a:ext cx="10040112" cy="402336"/>
          </a:xfrm>
          <a:prstGeom prst="rect">
            <a:avLst/>
          </a:prstGeom>
          <a:noFill/>
        </p:spPr>
        <p:txBody>
          <a:bodyPr wrap="square" lIns="0" rIns="0" tIns="0" bIns="0" anchor="t">
            <a:spAutoFit/>
          </a:bodyPr>
          <a:lstStyle/>
          <a:p>
            <a:pPr algn="l">
              <a:lnSpc>
                <a:spcPct val="115000"/>
              </a:lnSpc>
              <a:spcAft>
                <a:spcPts val="0"/>
              </a:spcAft>
            </a:pPr>
            <a:r>
              <a:rPr sz="850" b="0" i="0">
                <a:solidFill>
                  <a:srgbClr val="999999"/>
                </a:solidFill>
                <a:latin typeface="Calibri"/>
              </a:rPr>
              <a:t>corpus poisoning Zhong et al., EMNLP 2023   ·   ParamMute Huang et al., NeurIPS 2025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FINDING 1</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The two communities do not read each other</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9</a:t>
            </a:r>
          </a:p>
        </p:txBody>
      </p:sp>
      <p:sp>
        <p:nvSpPr>
          <p:cNvPr id="5" name="TextBox 4"/>
          <p:cNvSpPr txBox="1"/>
          <p:nvPr/>
        </p:nvSpPr>
        <p:spPr>
          <a:xfrm>
            <a:off x="731520" y="2057400"/>
            <a:ext cx="768096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MEASURE</a:t>
            </a:r>
          </a:p>
        </p:txBody>
      </p:sp>
      <p:sp>
        <p:nvSpPr>
          <p:cNvPr id="6" name="TextBox 5"/>
          <p:cNvSpPr txBox="1"/>
          <p:nvPr/>
        </p:nvSpPr>
        <p:spPr>
          <a:xfrm>
            <a:off x="8412480" y="2057400"/>
            <a:ext cx="2761487" cy="274320"/>
          </a:xfrm>
          <a:prstGeom prst="rect">
            <a:avLst/>
          </a:prstGeom>
          <a:noFill/>
        </p:spPr>
        <p:txBody>
          <a:bodyPr wrap="square" lIns="0" rIns="0" tIns="0" bIns="0" anchor="t">
            <a:spAutoFit/>
          </a:bodyPr>
          <a:lstStyle/>
          <a:p>
            <a:pPr algn="r">
              <a:lnSpc>
                <a:spcPct val="106000"/>
              </a:lnSpc>
              <a:spcAft>
                <a:spcPts val="0"/>
              </a:spcAft>
            </a:pPr>
            <a:r>
              <a:rPr sz="1000" b="1" i="0">
                <a:solidFill>
                  <a:srgbClr val="777777"/>
                </a:solidFill>
                <a:latin typeface="Calibri"/>
              </a:rPr>
              <a:t>VALUE</a:t>
            </a:r>
          </a:p>
        </p:txBody>
      </p:sp>
      <p:sp>
        <p:nvSpPr>
          <p:cNvPr id="7" name="Rectangle 6"/>
          <p:cNvSpPr/>
          <p:nvPr/>
        </p:nvSpPr>
        <p:spPr>
          <a:xfrm>
            <a:off x="731520" y="2331720"/>
            <a:ext cx="10698480"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2441448"/>
            <a:ext cx="7680960"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Security papers citing at least one machine learning paper</a:t>
            </a:r>
          </a:p>
        </p:txBody>
      </p:sp>
      <p:sp>
        <p:nvSpPr>
          <p:cNvPr id="9" name="TextBox 8"/>
          <p:cNvSpPr txBox="1"/>
          <p:nvPr/>
        </p:nvSpPr>
        <p:spPr>
          <a:xfrm>
            <a:off x="8412480" y="2441448"/>
            <a:ext cx="2761487" cy="310896"/>
          </a:xfrm>
          <a:prstGeom prst="rect">
            <a:avLst/>
          </a:prstGeom>
          <a:noFill/>
        </p:spPr>
        <p:txBody>
          <a:bodyPr wrap="square" lIns="0" rIns="0" tIns="0" bIns="0" anchor="t">
            <a:spAutoFit/>
          </a:bodyPr>
          <a:lstStyle/>
          <a:p>
            <a:pPr algn="r">
              <a:lnSpc>
                <a:spcPct val="106000"/>
              </a:lnSpc>
              <a:spcAft>
                <a:spcPts val="0"/>
              </a:spcAft>
            </a:pPr>
            <a:r>
              <a:rPr sz="1500" b="0" i="0">
                <a:solidFill>
                  <a:srgbClr val="444444"/>
                </a:solidFill>
                <a:latin typeface="Calibri"/>
              </a:rPr>
              <a:t>11.7 %</a:t>
            </a:r>
          </a:p>
        </p:txBody>
      </p:sp>
      <p:sp>
        <p:nvSpPr>
          <p:cNvPr id="10" name="TextBox 9"/>
          <p:cNvSpPr txBox="1"/>
          <p:nvPr/>
        </p:nvSpPr>
        <p:spPr>
          <a:xfrm>
            <a:off x="731520" y="2990088"/>
            <a:ext cx="7680960"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Machine learning papers citing at least one security paper</a:t>
            </a:r>
          </a:p>
        </p:txBody>
      </p:sp>
      <p:sp>
        <p:nvSpPr>
          <p:cNvPr id="11" name="TextBox 10"/>
          <p:cNvSpPr txBox="1"/>
          <p:nvPr/>
        </p:nvSpPr>
        <p:spPr>
          <a:xfrm>
            <a:off x="8412480" y="2990088"/>
            <a:ext cx="2761487" cy="310896"/>
          </a:xfrm>
          <a:prstGeom prst="rect">
            <a:avLst/>
          </a:prstGeom>
          <a:noFill/>
        </p:spPr>
        <p:txBody>
          <a:bodyPr wrap="square" lIns="0" rIns="0" tIns="0" bIns="0" anchor="t">
            <a:spAutoFit/>
          </a:bodyPr>
          <a:lstStyle/>
          <a:p>
            <a:pPr algn="r">
              <a:lnSpc>
                <a:spcPct val="106000"/>
              </a:lnSpc>
              <a:spcAft>
                <a:spcPts val="0"/>
              </a:spcAft>
            </a:pPr>
            <a:r>
              <a:rPr sz="1500" b="0" i="0">
                <a:solidFill>
                  <a:srgbClr val="444444"/>
                </a:solidFill>
                <a:latin typeface="Calibri"/>
              </a:rPr>
              <a:t>9.1 %</a:t>
            </a:r>
          </a:p>
        </p:txBody>
      </p:sp>
      <p:sp>
        <p:nvSpPr>
          <p:cNvPr id="12" name="TextBox 11"/>
          <p:cNvSpPr txBox="1"/>
          <p:nvPr/>
        </p:nvSpPr>
        <p:spPr>
          <a:xfrm>
            <a:off x="731520" y="3538728"/>
            <a:ext cx="7680960"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Tested pairs that stay inside one literature</a:t>
            </a:r>
          </a:p>
        </p:txBody>
      </p:sp>
      <p:sp>
        <p:nvSpPr>
          <p:cNvPr id="13" name="TextBox 12"/>
          <p:cNvSpPr txBox="1"/>
          <p:nvPr/>
        </p:nvSpPr>
        <p:spPr>
          <a:xfrm>
            <a:off x="8412480" y="3538728"/>
            <a:ext cx="2761487" cy="310896"/>
          </a:xfrm>
          <a:prstGeom prst="rect">
            <a:avLst/>
          </a:prstGeom>
          <a:noFill/>
        </p:spPr>
        <p:txBody>
          <a:bodyPr wrap="square" lIns="0" rIns="0" tIns="0" bIns="0" anchor="t">
            <a:spAutoFit/>
          </a:bodyPr>
          <a:lstStyle/>
          <a:p>
            <a:pPr algn="r">
              <a:lnSpc>
                <a:spcPct val="106000"/>
              </a:lnSpc>
              <a:spcAft>
                <a:spcPts val="0"/>
              </a:spcAft>
            </a:pPr>
            <a:r>
              <a:rPr sz="1500" b="0" i="0">
                <a:solidFill>
                  <a:srgbClr val="444444"/>
                </a:solidFill>
                <a:latin typeface="Calibri"/>
              </a:rPr>
              <a:t>98.0 %</a:t>
            </a:r>
          </a:p>
        </p:txBody>
      </p:sp>
      <p:sp>
        <p:nvSpPr>
          <p:cNvPr id="14" name="TextBox 13"/>
          <p:cNvSpPr txBox="1"/>
          <p:nvPr/>
        </p:nvSpPr>
        <p:spPr>
          <a:xfrm>
            <a:off x="731520" y="4087368"/>
            <a:ext cx="7680960"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Combinations in the framework nobody has studied</a:t>
            </a:r>
          </a:p>
        </p:txBody>
      </p:sp>
      <p:sp>
        <p:nvSpPr>
          <p:cNvPr id="15" name="TextBox 14"/>
          <p:cNvSpPr txBox="1"/>
          <p:nvPr/>
        </p:nvSpPr>
        <p:spPr>
          <a:xfrm>
            <a:off x="8412480" y="4087368"/>
            <a:ext cx="2761487" cy="310896"/>
          </a:xfrm>
          <a:prstGeom prst="rect">
            <a:avLst/>
          </a:prstGeom>
          <a:noFill/>
        </p:spPr>
        <p:txBody>
          <a:bodyPr wrap="square" lIns="0" rIns="0" tIns="0" bIns="0" anchor="t">
            <a:spAutoFit/>
          </a:bodyPr>
          <a:lstStyle/>
          <a:p>
            <a:pPr algn="r">
              <a:lnSpc>
                <a:spcPct val="106000"/>
              </a:lnSpc>
              <a:spcAft>
                <a:spcPts val="0"/>
              </a:spcAft>
            </a:pPr>
            <a:r>
              <a:rPr sz="1500" b="0" i="0">
                <a:solidFill>
                  <a:srgbClr val="444444"/>
                </a:solidFill>
                <a:latin typeface="Calibri"/>
              </a:rPr>
              <a:t>60.5 %</a:t>
            </a:r>
          </a:p>
        </p:txBody>
      </p:sp>
      <p:sp>
        <p:nvSpPr>
          <p:cNvPr id="16" name="TextBox 15"/>
          <p:cNvSpPr txBox="1"/>
          <p:nvPr/>
        </p:nvSpPr>
        <p:spPr>
          <a:xfrm>
            <a:off x="731520" y="4617720"/>
            <a:ext cx="10725912" cy="1874519"/>
          </a:xfrm>
          <a:prstGeom prst="rect">
            <a:avLst/>
          </a:prstGeom>
          <a:noFill/>
        </p:spPr>
        <p:txBody>
          <a:bodyPr wrap="square" lIns="0" rIns="0" tIns="0" bIns="0" anchor="t">
            <a:spAutoFit/>
          </a:bodyPr>
          <a:lstStyle/>
          <a:p>
            <a:pPr algn="l">
              <a:lnSpc>
                <a:spcPct val="112000"/>
              </a:lnSpc>
              <a:spcAft>
                <a:spcPts val="900"/>
              </a:spcAft>
            </a:pPr>
            <a:r>
              <a:rPr sz="1400" b="1" i="0">
                <a:solidFill>
                  <a:srgbClr val="111111"/>
                </a:solidFill>
                <a:latin typeface="Calibri"/>
              </a:rPr>
              <a:t>—  Nine of ten papers never cross. Seven pairs in the whole field do.</a:t>
            </a:r>
          </a:p>
          <a:p>
            <a:pPr>
              <a:lnSpc>
                <a:spcPct val="112000"/>
              </a:lnSpc>
              <a:spcAft>
                <a:spcPts val="900"/>
              </a:spcAft>
            </a:pPr>
            <a:r>
              <a:rPr sz="1400" b="0" i="0">
                <a:solidFill>
                  <a:srgbClr val="444444"/>
                </a:solidFill>
                <a:latin typeface="Calibri"/>
              </a:rPr>
              <a:t>—  This is not a sample. We resolved every citation edge in the corpus.</a:t>
            </a:r>
          </a:p>
          <a:p>
            <a:pPr>
              <a:lnSpc>
                <a:spcPct val="112000"/>
              </a:lnSpc>
              <a:spcAft>
                <a:spcPts val="900"/>
              </a:spcAft>
            </a:pPr>
            <a:r>
              <a:rPr sz="1400" b="1" i="0">
                <a:solidFill>
                  <a:srgbClr val="111111"/>
                </a:solidFill>
                <a:latin typeface="Calibri"/>
              </a:rPr>
              <a:t>—  So every claim that a defense is robust holds inside one threat model. Nobody has checked the other one.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FINDING 2</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Causes that nothing has ever been run against</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10</a:t>
            </a:r>
          </a:p>
        </p:txBody>
      </p:sp>
      <p:sp>
        <p:nvSpPr>
          <p:cNvPr id="5" name="TextBox 4"/>
          <p:cNvSpPr txBox="1"/>
          <p:nvPr/>
        </p:nvSpPr>
        <p:spPr>
          <a:xfrm>
            <a:off x="731520" y="1956816"/>
            <a:ext cx="274320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SIDE</a:t>
            </a:r>
          </a:p>
        </p:txBody>
      </p:sp>
      <p:sp>
        <p:nvSpPr>
          <p:cNvPr id="6" name="TextBox 5"/>
          <p:cNvSpPr txBox="1"/>
          <p:nvPr/>
        </p:nvSpPr>
        <p:spPr>
          <a:xfrm>
            <a:off x="3474720" y="1956816"/>
            <a:ext cx="585216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CAUSE</a:t>
            </a:r>
          </a:p>
        </p:txBody>
      </p:sp>
      <p:sp>
        <p:nvSpPr>
          <p:cNvPr id="7" name="TextBox 6"/>
          <p:cNvSpPr txBox="1"/>
          <p:nvPr/>
        </p:nvSpPr>
        <p:spPr>
          <a:xfrm>
            <a:off x="9326880" y="1956816"/>
            <a:ext cx="1847087" cy="274320"/>
          </a:xfrm>
          <a:prstGeom prst="rect">
            <a:avLst/>
          </a:prstGeom>
          <a:noFill/>
        </p:spPr>
        <p:txBody>
          <a:bodyPr wrap="square" lIns="0" rIns="0" tIns="0" bIns="0" anchor="t">
            <a:spAutoFit/>
          </a:bodyPr>
          <a:lstStyle/>
          <a:p>
            <a:pPr algn="r">
              <a:lnSpc>
                <a:spcPct val="106000"/>
              </a:lnSpc>
              <a:spcAft>
                <a:spcPts val="0"/>
              </a:spcAft>
            </a:pPr>
            <a:r>
              <a:rPr sz="1000" b="1" i="0">
                <a:solidFill>
                  <a:srgbClr val="777777"/>
                </a:solidFill>
                <a:latin typeface="Calibri"/>
              </a:rPr>
              <a:t>NEVER ANSWERED</a:t>
            </a:r>
          </a:p>
        </p:txBody>
      </p:sp>
      <p:sp>
        <p:nvSpPr>
          <p:cNvPr id="8" name="Rectangle 7"/>
          <p:cNvSpPr/>
          <p:nvPr/>
        </p:nvSpPr>
        <p:spPr>
          <a:xfrm>
            <a:off x="731520" y="2231136"/>
            <a:ext cx="10698480"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340864"/>
            <a:ext cx="2743200" cy="310896"/>
          </a:xfrm>
          <a:prstGeom prst="rect">
            <a:avLst/>
          </a:prstGeom>
          <a:noFill/>
        </p:spPr>
        <p:txBody>
          <a:bodyPr wrap="square" lIns="0" rIns="0" tIns="0" bIns="0" anchor="t">
            <a:spAutoFit/>
          </a:bodyPr>
          <a:lstStyle/>
          <a:p>
            <a:pPr algn="l">
              <a:lnSpc>
                <a:spcPct val="106000"/>
              </a:lnSpc>
              <a:spcAft>
                <a:spcPts val="0"/>
              </a:spcAft>
            </a:pPr>
            <a:r>
              <a:rPr sz="1400" b="0" i="0">
                <a:solidFill>
                  <a:srgbClr val="444444"/>
                </a:solidFill>
                <a:latin typeface="Calibri"/>
              </a:rPr>
              <a:t>security</a:t>
            </a:r>
          </a:p>
        </p:txBody>
      </p:sp>
      <p:sp>
        <p:nvSpPr>
          <p:cNvPr id="10" name="TextBox 9"/>
          <p:cNvSpPr txBox="1"/>
          <p:nvPr/>
        </p:nvSpPr>
        <p:spPr>
          <a:xfrm>
            <a:off x="3474720" y="2340864"/>
            <a:ext cx="5852160" cy="310896"/>
          </a:xfrm>
          <a:prstGeom prst="rect">
            <a:avLst/>
          </a:prstGeom>
          <a:noFill/>
        </p:spPr>
        <p:txBody>
          <a:bodyPr wrap="square" lIns="0" rIns="0" tIns="0" bIns="0" anchor="t">
            <a:spAutoFit/>
          </a:bodyPr>
          <a:lstStyle/>
          <a:p>
            <a:pPr algn="l">
              <a:lnSpc>
                <a:spcPct val="106000"/>
              </a:lnSpc>
              <a:spcAft>
                <a:spcPts val="0"/>
              </a:spcAft>
            </a:pPr>
            <a:r>
              <a:rPr sz="1400" b="0" i="0">
                <a:solidFill>
                  <a:srgbClr val="444444"/>
                </a:solidFill>
                <a:latin typeface="Calibri"/>
              </a:rPr>
              <a:t>attack  (182 named)</a:t>
            </a:r>
          </a:p>
        </p:txBody>
      </p:sp>
      <p:sp>
        <p:nvSpPr>
          <p:cNvPr id="11" name="TextBox 10"/>
          <p:cNvSpPr txBox="1"/>
          <p:nvPr/>
        </p:nvSpPr>
        <p:spPr>
          <a:xfrm>
            <a:off x="9326880" y="2340864"/>
            <a:ext cx="1847087" cy="310896"/>
          </a:xfrm>
          <a:prstGeom prst="rect">
            <a:avLst/>
          </a:prstGeom>
          <a:noFill/>
        </p:spPr>
        <p:txBody>
          <a:bodyPr wrap="square" lIns="0" rIns="0" tIns="0" bIns="0" anchor="t">
            <a:spAutoFit/>
          </a:bodyPr>
          <a:lstStyle/>
          <a:p>
            <a:pPr algn="r">
              <a:lnSpc>
                <a:spcPct val="106000"/>
              </a:lnSpc>
              <a:spcAft>
                <a:spcPts val="0"/>
              </a:spcAft>
            </a:pPr>
            <a:r>
              <a:rPr sz="1400" b="0" i="0">
                <a:solidFill>
                  <a:srgbClr val="444444"/>
                </a:solidFill>
                <a:latin typeface="Calibri"/>
              </a:rPr>
              <a:t>104</a:t>
            </a:r>
          </a:p>
        </p:txBody>
      </p:sp>
      <p:sp>
        <p:nvSpPr>
          <p:cNvPr id="12" name="TextBox 11"/>
          <p:cNvSpPr txBox="1"/>
          <p:nvPr/>
        </p:nvSpPr>
        <p:spPr>
          <a:xfrm>
            <a:off x="731520" y="2761488"/>
            <a:ext cx="2743200" cy="310896"/>
          </a:xfrm>
          <a:prstGeom prst="rect">
            <a:avLst/>
          </a:prstGeom>
          <a:noFill/>
        </p:spPr>
        <p:txBody>
          <a:bodyPr wrap="square" lIns="0" rIns="0" tIns="0" bIns="0" anchor="t">
            <a:spAutoFit/>
          </a:bodyPr>
          <a:lstStyle/>
          <a:p>
            <a:pPr algn="l">
              <a:lnSpc>
                <a:spcPct val="106000"/>
              </a:lnSpc>
              <a:spcAft>
                <a:spcPts val="0"/>
              </a:spcAft>
            </a:pPr>
            <a:r>
              <a:rPr sz="1400" b="0" i="0">
                <a:solidFill>
                  <a:srgbClr val="444444"/>
                </a:solidFill>
                <a:latin typeface="Calibri"/>
              </a:rPr>
              <a:t>machine learning</a:t>
            </a:r>
          </a:p>
        </p:txBody>
      </p:sp>
      <p:sp>
        <p:nvSpPr>
          <p:cNvPr id="13" name="TextBox 12"/>
          <p:cNvSpPr txBox="1"/>
          <p:nvPr/>
        </p:nvSpPr>
        <p:spPr>
          <a:xfrm>
            <a:off x="3474720" y="2761488"/>
            <a:ext cx="5852160" cy="310896"/>
          </a:xfrm>
          <a:prstGeom prst="rect">
            <a:avLst/>
          </a:prstGeom>
          <a:noFill/>
        </p:spPr>
        <p:txBody>
          <a:bodyPr wrap="square" lIns="0" rIns="0" tIns="0" bIns="0" anchor="t">
            <a:spAutoFit/>
          </a:bodyPr>
          <a:lstStyle/>
          <a:p>
            <a:pPr algn="l">
              <a:lnSpc>
                <a:spcPct val="106000"/>
              </a:lnSpc>
              <a:spcAft>
                <a:spcPts val="0"/>
              </a:spcAft>
            </a:pPr>
            <a:r>
              <a:rPr sz="1400" b="0" i="0">
                <a:solidFill>
                  <a:srgbClr val="444444"/>
                </a:solidFill>
                <a:latin typeface="Calibri"/>
              </a:rPr>
              <a:t>incidental mechanism  (55 named)</a:t>
            </a:r>
          </a:p>
        </p:txBody>
      </p:sp>
      <p:sp>
        <p:nvSpPr>
          <p:cNvPr id="14" name="TextBox 13"/>
          <p:cNvSpPr txBox="1"/>
          <p:nvPr/>
        </p:nvSpPr>
        <p:spPr>
          <a:xfrm>
            <a:off x="9326880" y="2761488"/>
            <a:ext cx="1847087" cy="310896"/>
          </a:xfrm>
          <a:prstGeom prst="rect">
            <a:avLst/>
          </a:prstGeom>
          <a:noFill/>
        </p:spPr>
        <p:txBody>
          <a:bodyPr wrap="square" lIns="0" rIns="0" tIns="0" bIns="0" anchor="t">
            <a:spAutoFit/>
          </a:bodyPr>
          <a:lstStyle/>
          <a:p>
            <a:pPr algn="r">
              <a:lnSpc>
                <a:spcPct val="106000"/>
              </a:lnSpc>
              <a:spcAft>
                <a:spcPts val="0"/>
              </a:spcAft>
            </a:pPr>
            <a:r>
              <a:rPr sz="1400" b="0" i="0">
                <a:solidFill>
                  <a:srgbClr val="444444"/>
                </a:solidFill>
                <a:latin typeface="Calibri"/>
              </a:rPr>
              <a:t>15</a:t>
            </a:r>
          </a:p>
        </p:txBody>
      </p:sp>
      <p:sp>
        <p:nvSpPr>
          <p:cNvPr id="15" name="TextBox 14"/>
          <p:cNvSpPr txBox="1"/>
          <p:nvPr/>
        </p:nvSpPr>
        <p:spPr>
          <a:xfrm>
            <a:off x="731520" y="3108960"/>
            <a:ext cx="10725912" cy="3383279"/>
          </a:xfrm>
          <a:prstGeom prst="rect">
            <a:avLst/>
          </a:prstGeom>
          <a:noFill/>
        </p:spPr>
        <p:txBody>
          <a:bodyPr wrap="square" lIns="0" rIns="0" tIns="0" bIns="0" anchor="t">
            <a:spAutoFit/>
          </a:bodyPr>
          <a:lstStyle/>
          <a:p>
            <a:pPr algn="l">
              <a:lnSpc>
                <a:spcPct val="112000"/>
              </a:lnSpc>
              <a:spcAft>
                <a:spcPts val="800"/>
              </a:spcAft>
            </a:pPr>
            <a:r>
              <a:rPr sz="1400" b="1" i="0">
                <a:solidFill>
                  <a:srgbClr val="111111"/>
                </a:solidFill>
                <a:latin typeface="Calibri"/>
              </a:rPr>
              <a:t>—  Each paper proves its attack works, against a system with no defense switched on.</a:t>
            </a:r>
          </a:p>
          <a:p>
            <a:pPr>
              <a:lnSpc>
                <a:spcPct val="112000"/>
              </a:lnSpc>
              <a:spcAft>
                <a:spcPts val="800"/>
              </a:spcAft>
            </a:pPr>
            <a:r>
              <a:rPr sz="1400" b="0" i="0">
                <a:solidFill>
                  <a:srgbClr val="444444"/>
                </a:solidFill>
                <a:latin typeface="Calibri"/>
              </a:rPr>
              <a:t>—  What those papers compare against is other attacks, not defenses:</a:t>
            </a:r>
          </a:p>
        </p:txBody>
      </p:sp>
      <p:sp>
        <p:nvSpPr>
          <p:cNvPr id="16" name="TextBox 15"/>
          <p:cNvSpPr txBox="1"/>
          <p:nvPr/>
        </p:nvSpPr>
        <p:spPr>
          <a:xfrm>
            <a:off x="731520" y="4041648"/>
            <a:ext cx="393192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ATTACK</a:t>
            </a:r>
          </a:p>
        </p:txBody>
      </p:sp>
      <p:sp>
        <p:nvSpPr>
          <p:cNvPr id="17" name="TextBox 16"/>
          <p:cNvSpPr txBox="1"/>
          <p:nvPr/>
        </p:nvSpPr>
        <p:spPr>
          <a:xfrm>
            <a:off x="4663440" y="4041648"/>
            <a:ext cx="676656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ITS PAPER COMPARES AGAINST</a:t>
            </a:r>
          </a:p>
        </p:txBody>
      </p:sp>
      <p:sp>
        <p:nvSpPr>
          <p:cNvPr id="18" name="Rectangle 17"/>
          <p:cNvSpPr/>
          <p:nvPr/>
        </p:nvSpPr>
        <p:spPr>
          <a:xfrm>
            <a:off x="731520" y="4315968"/>
            <a:ext cx="10698480"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4425696"/>
            <a:ext cx="393192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HOUYI</a:t>
            </a:r>
          </a:p>
        </p:txBody>
      </p:sp>
      <p:sp>
        <p:nvSpPr>
          <p:cNvPr id="20" name="TextBox 19"/>
          <p:cNvSpPr txBox="1"/>
          <p:nvPr/>
        </p:nvSpPr>
        <p:spPr>
          <a:xfrm>
            <a:off x="4663440" y="4425696"/>
            <a:ext cx="67665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three earlier prompt injection techniques</a:t>
            </a:r>
          </a:p>
        </p:txBody>
      </p:sp>
      <p:sp>
        <p:nvSpPr>
          <p:cNvPr id="21" name="TextBox 20"/>
          <p:cNvSpPr txBox="1"/>
          <p:nvPr/>
        </p:nvSpPr>
        <p:spPr>
          <a:xfrm>
            <a:off x="731520" y="4828032"/>
            <a:ext cx="393192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JudgeDeceiver</a:t>
            </a:r>
          </a:p>
        </p:txBody>
      </p:sp>
      <p:sp>
        <p:nvSpPr>
          <p:cNvPr id="22" name="TextBox 21"/>
          <p:cNvSpPr txBox="1"/>
          <p:nvPr/>
        </p:nvSpPr>
        <p:spPr>
          <a:xfrm>
            <a:off x="4663440" y="4828032"/>
            <a:ext cx="67665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six manual prompt injection attacks</a:t>
            </a:r>
          </a:p>
        </p:txBody>
      </p:sp>
      <p:sp>
        <p:nvSpPr>
          <p:cNvPr id="23" name="TextBox 22"/>
          <p:cNvSpPr txBox="1"/>
          <p:nvPr/>
        </p:nvSpPr>
        <p:spPr>
          <a:xfrm>
            <a:off x="731520" y="5230368"/>
            <a:ext cx="393192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ASB: Plan-of-Thought backdoor</a:t>
            </a:r>
          </a:p>
        </p:txBody>
      </p:sp>
      <p:sp>
        <p:nvSpPr>
          <p:cNvPr id="24" name="TextBox 23"/>
          <p:cNvSpPr txBox="1"/>
          <p:nvPr/>
        </p:nvSpPr>
        <p:spPr>
          <a:xfrm>
            <a:off x="4663440" y="5230368"/>
            <a:ext cx="67665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five injection variants and five other attacks</a:t>
            </a:r>
          </a:p>
        </p:txBody>
      </p:sp>
      <p:sp>
        <p:nvSpPr>
          <p:cNvPr id="25" name="TextBox 24"/>
          <p:cNvSpPr txBox="1"/>
          <p:nvPr/>
        </p:nvSpPr>
        <p:spPr>
          <a:xfrm>
            <a:off x="731520" y="5632704"/>
            <a:ext cx="393192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Virtual Prompt Injection</a:t>
            </a:r>
          </a:p>
        </p:txBody>
      </p:sp>
      <p:sp>
        <p:nvSpPr>
          <p:cNvPr id="26" name="TextBox 25"/>
          <p:cNvSpPr txBox="1"/>
          <p:nvPr/>
        </p:nvSpPr>
        <p:spPr>
          <a:xfrm>
            <a:off x="4663440" y="5632704"/>
            <a:ext cx="67665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clean training data and one concurrent poisoning method</a:t>
            </a:r>
          </a:p>
        </p:txBody>
      </p:sp>
      <p:sp>
        <p:nvSpPr>
          <p:cNvPr id="27" name="TextBox 26"/>
          <p:cNvSpPr txBox="1"/>
          <p:nvPr/>
        </p:nvSpPr>
        <p:spPr>
          <a:xfrm>
            <a:off x="731520" y="5870448"/>
            <a:ext cx="10725912" cy="621791"/>
          </a:xfrm>
          <a:prstGeom prst="rect">
            <a:avLst/>
          </a:prstGeom>
          <a:noFill/>
        </p:spPr>
        <p:txBody>
          <a:bodyPr wrap="square" lIns="0" rIns="0" tIns="0" bIns="0" anchor="t">
            <a:spAutoFit/>
          </a:bodyPr>
          <a:lstStyle/>
          <a:p>
            <a:pPr algn="l">
              <a:lnSpc>
                <a:spcPct val="112000"/>
              </a:lnSpc>
              <a:spcAft>
                <a:spcPts val="900"/>
              </a:spcAft>
            </a:pPr>
            <a:r>
              <a:rPr sz="1400" b="1" i="0">
                <a:solidFill>
                  <a:srgbClr val="111111"/>
                </a:solidFill>
                <a:latin typeface="Calibri"/>
              </a:rPr>
              <a:t>—  Each paper asks whether its attack beats the last attack. Whether any published defense stops it is never asked.</a:t>
            </a:r>
          </a:p>
        </p:txBody>
      </p:sp>
      <p:sp>
        <p:nvSpPr>
          <p:cNvPr id="28" name="TextBox 27"/>
          <p:cNvSpPr txBox="1"/>
          <p:nvPr/>
        </p:nvSpPr>
        <p:spPr>
          <a:xfrm>
            <a:off x="731520" y="6400800"/>
            <a:ext cx="10040112" cy="402336"/>
          </a:xfrm>
          <a:prstGeom prst="rect">
            <a:avLst/>
          </a:prstGeom>
          <a:noFill/>
        </p:spPr>
        <p:txBody>
          <a:bodyPr wrap="square" lIns="0" rIns="0" tIns="0" bIns="0" anchor="t">
            <a:spAutoFit/>
          </a:bodyPr>
          <a:lstStyle/>
          <a:p>
            <a:pPr algn="l">
              <a:lnSpc>
                <a:spcPct val="115000"/>
              </a:lnSpc>
              <a:spcAft>
                <a:spcPts val="0"/>
              </a:spcAft>
            </a:pPr>
            <a:r>
              <a:rPr sz="850" b="0" i="0">
                <a:solidFill>
                  <a:srgbClr val="999999"/>
                </a:solidFill>
                <a:latin typeface="Calibri"/>
              </a:rPr>
              <a:t>HOUYI Liu et al., 2023   ·   JudgeDeceiver Shi et al., ACM CCS 2024   ·   ASB Zhang et al., ICLR 2024   ·   VPI Yan et al., NAACL 2023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FINDING 2, THE OTHER SIDE</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320 protections never run against any cause</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11</a:t>
            </a:r>
          </a:p>
        </p:txBody>
      </p:sp>
      <p:sp>
        <p:nvSpPr>
          <p:cNvPr id="5" name="TextBox 4"/>
          <p:cNvSpPr txBox="1"/>
          <p:nvPr/>
        </p:nvSpPr>
        <p:spPr>
          <a:xfrm>
            <a:off x="731520" y="1938528"/>
            <a:ext cx="10725912" cy="4553712"/>
          </a:xfrm>
          <a:prstGeom prst="rect">
            <a:avLst/>
          </a:prstGeom>
          <a:noFill/>
        </p:spPr>
        <p:txBody>
          <a:bodyPr wrap="square" lIns="0" rIns="0" tIns="0" bIns="0" anchor="t">
            <a:spAutoFit/>
          </a:bodyPr>
          <a:lstStyle/>
          <a:p>
            <a:pPr algn="l">
              <a:lnSpc>
                <a:spcPct val="112000"/>
              </a:lnSpc>
              <a:spcAft>
                <a:spcPts val="600"/>
              </a:spcAft>
            </a:pPr>
            <a:r>
              <a:rPr sz="1400" b="1" i="0">
                <a:solidFill>
                  <a:srgbClr val="111111"/>
                </a:solidFill>
                <a:latin typeface="Calibri"/>
              </a:rPr>
              <a:t>—  124 of 263 defenses and 194 of 266 fixes have no tested pair. Reading all 320 shows what each one answers.</a:t>
            </a:r>
          </a:p>
        </p:txBody>
      </p:sp>
      <p:sp>
        <p:nvSpPr>
          <p:cNvPr id="6" name="TextBox 5"/>
          <p:cNvSpPr txBox="1"/>
          <p:nvPr/>
        </p:nvSpPr>
        <p:spPr>
          <a:xfrm>
            <a:off x="731520" y="2798064"/>
            <a:ext cx="338328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WHAT WE FOUND</a:t>
            </a:r>
          </a:p>
        </p:txBody>
      </p:sp>
      <p:sp>
        <p:nvSpPr>
          <p:cNvPr id="7" name="TextBox 6"/>
          <p:cNvSpPr txBox="1"/>
          <p:nvPr/>
        </p:nvSpPr>
        <p:spPr>
          <a:xfrm>
            <a:off x="4114800" y="2798064"/>
            <a:ext cx="658368" cy="274320"/>
          </a:xfrm>
          <a:prstGeom prst="rect">
            <a:avLst/>
          </a:prstGeom>
          <a:noFill/>
        </p:spPr>
        <p:txBody>
          <a:bodyPr wrap="square" lIns="0" rIns="0" tIns="0" bIns="0" anchor="t">
            <a:spAutoFit/>
          </a:bodyPr>
          <a:lstStyle/>
          <a:p>
            <a:pPr algn="r">
              <a:lnSpc>
                <a:spcPct val="106000"/>
              </a:lnSpc>
              <a:spcAft>
                <a:spcPts val="0"/>
              </a:spcAft>
            </a:pPr>
            <a:r>
              <a:rPr sz="1000" b="1" i="0">
                <a:solidFill>
                  <a:srgbClr val="777777"/>
                </a:solidFill>
                <a:latin typeface="Calibri"/>
              </a:rPr>
              <a:t>COUNT</a:t>
            </a:r>
          </a:p>
        </p:txBody>
      </p:sp>
      <p:sp>
        <p:nvSpPr>
          <p:cNvPr id="8" name="TextBox 7"/>
          <p:cNvSpPr txBox="1"/>
          <p:nvPr/>
        </p:nvSpPr>
        <p:spPr>
          <a:xfrm>
            <a:off x="5029200" y="2798064"/>
            <a:ext cx="137160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MOSTLY FROM</a:t>
            </a:r>
          </a:p>
        </p:txBody>
      </p:sp>
      <p:sp>
        <p:nvSpPr>
          <p:cNvPr id="9" name="TextBox 8"/>
          <p:cNvSpPr txBox="1"/>
          <p:nvPr/>
        </p:nvSpPr>
        <p:spPr>
          <a:xfrm>
            <a:off x="6400800" y="2798064"/>
            <a:ext cx="502920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WHAT IT MEANS</a:t>
            </a:r>
          </a:p>
        </p:txBody>
      </p:sp>
      <p:sp>
        <p:nvSpPr>
          <p:cNvPr id="10" name="Rectangle 9"/>
          <p:cNvSpPr/>
          <p:nvPr/>
        </p:nvSpPr>
        <p:spPr>
          <a:xfrm>
            <a:off x="731520" y="3072384"/>
            <a:ext cx="10698480"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182112"/>
            <a:ext cx="3383280" cy="310896"/>
          </a:xfrm>
          <a:prstGeom prst="rect">
            <a:avLst/>
          </a:prstGeom>
          <a:noFill/>
        </p:spPr>
        <p:txBody>
          <a:bodyPr wrap="square" lIns="0" rIns="0" tIns="0" bIns="0" anchor="t">
            <a:spAutoFit/>
          </a:bodyPr>
          <a:lstStyle/>
          <a:p>
            <a:pPr algn="l">
              <a:lnSpc>
                <a:spcPct val="106000"/>
              </a:lnSpc>
              <a:spcAft>
                <a:spcPts val="0"/>
              </a:spcAft>
            </a:pPr>
            <a:r>
              <a:rPr sz="1250" b="0" i="0">
                <a:solidFill>
                  <a:srgbClr val="444444"/>
                </a:solidFill>
                <a:latin typeface="Calibri"/>
              </a:rPr>
              <a:t>A fix for an accidental failure</a:t>
            </a:r>
          </a:p>
        </p:txBody>
      </p:sp>
      <p:sp>
        <p:nvSpPr>
          <p:cNvPr id="12" name="TextBox 11"/>
          <p:cNvSpPr txBox="1"/>
          <p:nvPr/>
        </p:nvSpPr>
        <p:spPr>
          <a:xfrm>
            <a:off x="4114800" y="3182112"/>
            <a:ext cx="658368" cy="310896"/>
          </a:xfrm>
          <a:prstGeom prst="rect">
            <a:avLst/>
          </a:prstGeom>
          <a:noFill/>
        </p:spPr>
        <p:txBody>
          <a:bodyPr wrap="square" lIns="0" rIns="0" tIns="0" bIns="0" anchor="t">
            <a:spAutoFit/>
          </a:bodyPr>
          <a:lstStyle/>
          <a:p>
            <a:pPr algn="r">
              <a:lnSpc>
                <a:spcPct val="106000"/>
              </a:lnSpc>
              <a:spcAft>
                <a:spcPts val="0"/>
              </a:spcAft>
            </a:pPr>
            <a:r>
              <a:rPr sz="1250" b="0" i="0">
                <a:solidFill>
                  <a:srgbClr val="444444"/>
                </a:solidFill>
                <a:latin typeface="Calibri"/>
              </a:rPr>
              <a:t>126</a:t>
            </a:r>
          </a:p>
        </p:txBody>
      </p:sp>
      <p:sp>
        <p:nvSpPr>
          <p:cNvPr id="13" name="TextBox 12"/>
          <p:cNvSpPr txBox="1"/>
          <p:nvPr/>
        </p:nvSpPr>
        <p:spPr>
          <a:xfrm>
            <a:off x="5029200" y="3182112"/>
            <a:ext cx="1371600" cy="310896"/>
          </a:xfrm>
          <a:prstGeom prst="rect">
            <a:avLst/>
          </a:prstGeom>
          <a:noFill/>
        </p:spPr>
        <p:txBody>
          <a:bodyPr wrap="square" lIns="0" rIns="0" tIns="0" bIns="0" anchor="t">
            <a:spAutoFit/>
          </a:bodyPr>
          <a:lstStyle/>
          <a:p>
            <a:pPr algn="l">
              <a:lnSpc>
                <a:spcPct val="106000"/>
              </a:lnSpc>
              <a:spcAft>
                <a:spcPts val="0"/>
              </a:spcAft>
            </a:pPr>
            <a:r>
              <a:rPr sz="1250" b="0" i="0">
                <a:solidFill>
                  <a:srgbClr val="444444"/>
                </a:solidFill>
                <a:latin typeface="Calibri"/>
              </a:rPr>
              <a:t>ML side</a:t>
            </a:r>
          </a:p>
        </p:txBody>
      </p:sp>
      <p:sp>
        <p:nvSpPr>
          <p:cNvPr id="14" name="TextBox 13"/>
          <p:cNvSpPr txBox="1"/>
          <p:nvPr/>
        </p:nvSpPr>
        <p:spPr>
          <a:xfrm>
            <a:off x="6400800" y="3182112"/>
            <a:ext cx="5029200" cy="310896"/>
          </a:xfrm>
          <a:prstGeom prst="rect">
            <a:avLst/>
          </a:prstGeom>
          <a:noFill/>
        </p:spPr>
        <p:txBody>
          <a:bodyPr wrap="square" lIns="0" rIns="0" tIns="0" bIns="0" anchor="t">
            <a:spAutoFit/>
          </a:bodyPr>
          <a:lstStyle/>
          <a:p>
            <a:pPr algn="l">
              <a:lnSpc>
                <a:spcPct val="106000"/>
              </a:lnSpc>
              <a:spcAft>
                <a:spcPts val="0"/>
              </a:spcAft>
            </a:pPr>
            <a:r>
              <a:rPr sz="1250" b="0" i="0">
                <a:solidFill>
                  <a:srgbClr val="444444"/>
                </a:solidFill>
                <a:latin typeface="Calibri"/>
              </a:rPr>
              <a:t>it answers a real failure; it never claimed to stop an adversary</a:t>
            </a:r>
          </a:p>
        </p:txBody>
      </p:sp>
      <p:sp>
        <p:nvSpPr>
          <p:cNvPr id="15" name="TextBox 14"/>
          <p:cNvSpPr txBox="1"/>
          <p:nvPr/>
        </p:nvSpPr>
        <p:spPr>
          <a:xfrm>
            <a:off x="731520" y="3584448"/>
            <a:ext cx="3383280" cy="310896"/>
          </a:xfrm>
          <a:prstGeom prst="rect">
            <a:avLst/>
          </a:prstGeom>
          <a:noFill/>
        </p:spPr>
        <p:txBody>
          <a:bodyPr wrap="square" lIns="0" rIns="0" tIns="0" bIns="0" anchor="t">
            <a:spAutoFit/>
          </a:bodyPr>
          <a:lstStyle/>
          <a:p>
            <a:pPr algn="l">
              <a:lnSpc>
                <a:spcPct val="106000"/>
              </a:lnSpc>
              <a:spcAft>
                <a:spcPts val="0"/>
              </a:spcAft>
            </a:pPr>
            <a:r>
              <a:rPr sz="1250" b="0" i="0">
                <a:solidFill>
                  <a:srgbClr val="444444"/>
                </a:solidFill>
                <a:latin typeface="Calibri"/>
              </a:rPr>
              <a:t>Names a cause, never tests it</a:t>
            </a:r>
          </a:p>
        </p:txBody>
      </p:sp>
      <p:sp>
        <p:nvSpPr>
          <p:cNvPr id="16" name="TextBox 15"/>
          <p:cNvSpPr txBox="1"/>
          <p:nvPr/>
        </p:nvSpPr>
        <p:spPr>
          <a:xfrm>
            <a:off x="4114800" y="3584448"/>
            <a:ext cx="658368" cy="310896"/>
          </a:xfrm>
          <a:prstGeom prst="rect">
            <a:avLst/>
          </a:prstGeom>
          <a:noFill/>
        </p:spPr>
        <p:txBody>
          <a:bodyPr wrap="square" lIns="0" rIns="0" tIns="0" bIns="0" anchor="t">
            <a:spAutoFit/>
          </a:bodyPr>
          <a:lstStyle/>
          <a:p>
            <a:pPr algn="r">
              <a:lnSpc>
                <a:spcPct val="106000"/>
              </a:lnSpc>
              <a:spcAft>
                <a:spcPts val="0"/>
              </a:spcAft>
            </a:pPr>
            <a:r>
              <a:rPr sz="1250" b="0" i="0">
                <a:solidFill>
                  <a:srgbClr val="444444"/>
                </a:solidFill>
                <a:latin typeface="Calibri"/>
              </a:rPr>
              <a:t>99</a:t>
            </a:r>
          </a:p>
        </p:txBody>
      </p:sp>
      <p:sp>
        <p:nvSpPr>
          <p:cNvPr id="17" name="TextBox 16"/>
          <p:cNvSpPr txBox="1"/>
          <p:nvPr/>
        </p:nvSpPr>
        <p:spPr>
          <a:xfrm>
            <a:off x="5029200" y="3584448"/>
            <a:ext cx="1371600" cy="310896"/>
          </a:xfrm>
          <a:prstGeom prst="rect">
            <a:avLst/>
          </a:prstGeom>
          <a:noFill/>
        </p:spPr>
        <p:txBody>
          <a:bodyPr wrap="square" lIns="0" rIns="0" tIns="0" bIns="0" anchor="t">
            <a:spAutoFit/>
          </a:bodyPr>
          <a:lstStyle/>
          <a:p>
            <a:pPr algn="l">
              <a:lnSpc>
                <a:spcPct val="106000"/>
              </a:lnSpc>
              <a:spcAft>
                <a:spcPts val="0"/>
              </a:spcAft>
            </a:pPr>
            <a:r>
              <a:rPr sz="1250" b="0" i="0">
                <a:solidFill>
                  <a:srgbClr val="444444"/>
                </a:solidFill>
                <a:latin typeface="Calibri"/>
              </a:rPr>
              <a:t>both</a:t>
            </a:r>
          </a:p>
        </p:txBody>
      </p:sp>
      <p:sp>
        <p:nvSpPr>
          <p:cNvPr id="18" name="TextBox 17"/>
          <p:cNvSpPr txBox="1"/>
          <p:nvPr/>
        </p:nvSpPr>
        <p:spPr>
          <a:xfrm>
            <a:off x="6400800" y="3584448"/>
            <a:ext cx="5029200" cy="310896"/>
          </a:xfrm>
          <a:prstGeom prst="rect">
            <a:avLst/>
          </a:prstGeom>
          <a:noFill/>
        </p:spPr>
        <p:txBody>
          <a:bodyPr wrap="square" lIns="0" rIns="0" tIns="0" bIns="0" anchor="t">
            <a:spAutoFit/>
          </a:bodyPr>
          <a:lstStyle/>
          <a:p>
            <a:pPr algn="l">
              <a:lnSpc>
                <a:spcPct val="106000"/>
              </a:lnSpc>
              <a:spcAft>
                <a:spcPts val="0"/>
              </a:spcAft>
            </a:pPr>
            <a:r>
              <a:rPr sz="1250" b="0" i="0">
                <a:solidFill>
                  <a:srgbClr val="444444"/>
                </a:solidFill>
                <a:latin typeface="Calibri"/>
              </a:rPr>
              <a:t>the cause is on our map; the experiment is missing</a:t>
            </a:r>
          </a:p>
        </p:txBody>
      </p:sp>
      <p:sp>
        <p:nvSpPr>
          <p:cNvPr id="19" name="TextBox 18"/>
          <p:cNvSpPr txBox="1"/>
          <p:nvPr/>
        </p:nvSpPr>
        <p:spPr>
          <a:xfrm>
            <a:off x="731520" y="3986784"/>
            <a:ext cx="3383280" cy="310896"/>
          </a:xfrm>
          <a:prstGeom prst="rect">
            <a:avLst/>
          </a:prstGeom>
          <a:noFill/>
        </p:spPr>
        <p:txBody>
          <a:bodyPr wrap="square" lIns="0" rIns="0" tIns="0" bIns="0" anchor="t">
            <a:spAutoFit/>
          </a:bodyPr>
          <a:lstStyle/>
          <a:p>
            <a:pPr algn="l">
              <a:lnSpc>
                <a:spcPct val="106000"/>
              </a:lnSpc>
              <a:spcAft>
                <a:spcPts val="0"/>
              </a:spcAft>
            </a:pPr>
            <a:r>
              <a:rPr sz="1250" b="0" i="0">
                <a:solidFill>
                  <a:srgbClr val="444444"/>
                </a:solidFill>
                <a:latin typeface="Calibri"/>
              </a:rPr>
              <a:t>Threat described in prose only</a:t>
            </a:r>
          </a:p>
        </p:txBody>
      </p:sp>
      <p:sp>
        <p:nvSpPr>
          <p:cNvPr id="20" name="TextBox 19"/>
          <p:cNvSpPr txBox="1"/>
          <p:nvPr/>
        </p:nvSpPr>
        <p:spPr>
          <a:xfrm>
            <a:off x="4114800" y="3986784"/>
            <a:ext cx="658368" cy="310896"/>
          </a:xfrm>
          <a:prstGeom prst="rect">
            <a:avLst/>
          </a:prstGeom>
          <a:noFill/>
        </p:spPr>
        <p:txBody>
          <a:bodyPr wrap="square" lIns="0" rIns="0" tIns="0" bIns="0" anchor="t">
            <a:spAutoFit/>
          </a:bodyPr>
          <a:lstStyle/>
          <a:p>
            <a:pPr algn="r">
              <a:lnSpc>
                <a:spcPct val="106000"/>
              </a:lnSpc>
              <a:spcAft>
                <a:spcPts val="0"/>
              </a:spcAft>
            </a:pPr>
            <a:r>
              <a:rPr sz="1250" b="0" i="0">
                <a:solidFill>
                  <a:srgbClr val="444444"/>
                </a:solidFill>
                <a:latin typeface="Calibri"/>
              </a:rPr>
              <a:t>41</a:t>
            </a:r>
          </a:p>
        </p:txBody>
      </p:sp>
      <p:sp>
        <p:nvSpPr>
          <p:cNvPr id="21" name="TextBox 20"/>
          <p:cNvSpPr txBox="1"/>
          <p:nvPr/>
        </p:nvSpPr>
        <p:spPr>
          <a:xfrm>
            <a:off x="5029200" y="3986784"/>
            <a:ext cx="1371600" cy="310896"/>
          </a:xfrm>
          <a:prstGeom prst="rect">
            <a:avLst/>
          </a:prstGeom>
          <a:noFill/>
        </p:spPr>
        <p:txBody>
          <a:bodyPr wrap="square" lIns="0" rIns="0" tIns="0" bIns="0" anchor="t">
            <a:spAutoFit/>
          </a:bodyPr>
          <a:lstStyle/>
          <a:p>
            <a:pPr algn="l">
              <a:lnSpc>
                <a:spcPct val="106000"/>
              </a:lnSpc>
              <a:spcAft>
                <a:spcPts val="0"/>
              </a:spcAft>
            </a:pPr>
            <a:r>
              <a:rPr sz="1250" b="0" i="0">
                <a:solidFill>
                  <a:srgbClr val="444444"/>
                </a:solidFill>
                <a:latin typeface="Calibri"/>
              </a:rPr>
              <a:t>security</a:t>
            </a:r>
          </a:p>
        </p:txBody>
      </p:sp>
      <p:sp>
        <p:nvSpPr>
          <p:cNvPr id="22" name="TextBox 21"/>
          <p:cNvSpPr txBox="1"/>
          <p:nvPr/>
        </p:nvSpPr>
        <p:spPr>
          <a:xfrm>
            <a:off x="6400800" y="3986784"/>
            <a:ext cx="5029200" cy="310896"/>
          </a:xfrm>
          <a:prstGeom prst="rect">
            <a:avLst/>
          </a:prstGeom>
          <a:noFill/>
        </p:spPr>
        <p:txBody>
          <a:bodyPr wrap="square" lIns="0" rIns="0" tIns="0" bIns="0" anchor="t">
            <a:spAutoFit/>
          </a:bodyPr>
          <a:lstStyle/>
          <a:p>
            <a:pPr algn="l">
              <a:lnSpc>
                <a:spcPct val="106000"/>
              </a:lnSpc>
              <a:spcAft>
                <a:spcPts val="0"/>
              </a:spcAft>
            </a:pPr>
            <a:r>
              <a:rPr sz="1250" b="0" i="0">
                <a:solidFill>
                  <a:srgbClr val="444444"/>
                </a:solidFill>
                <a:latin typeface="Calibri"/>
              </a:rPr>
              <a:t>an adversary is named; no experiment follows</a:t>
            </a:r>
          </a:p>
        </p:txBody>
      </p:sp>
      <p:sp>
        <p:nvSpPr>
          <p:cNvPr id="23" name="TextBox 22"/>
          <p:cNvSpPr txBox="1"/>
          <p:nvPr/>
        </p:nvSpPr>
        <p:spPr>
          <a:xfrm>
            <a:off x="731520" y="4389120"/>
            <a:ext cx="3383280" cy="310896"/>
          </a:xfrm>
          <a:prstGeom prst="rect">
            <a:avLst/>
          </a:prstGeom>
          <a:noFill/>
        </p:spPr>
        <p:txBody>
          <a:bodyPr wrap="square" lIns="0" rIns="0" tIns="0" bIns="0" anchor="t">
            <a:spAutoFit/>
          </a:bodyPr>
          <a:lstStyle/>
          <a:p>
            <a:pPr algn="l">
              <a:lnSpc>
                <a:spcPct val="106000"/>
              </a:lnSpc>
              <a:spcAft>
                <a:spcPts val="0"/>
              </a:spcAft>
            </a:pPr>
            <a:r>
              <a:rPr sz="1250" b="0" i="0">
                <a:solidFill>
                  <a:srgbClr val="444444"/>
                </a:solidFill>
                <a:latin typeface="Calibri"/>
              </a:rPr>
              <a:t>Tests an attack it invented</a:t>
            </a:r>
          </a:p>
        </p:txBody>
      </p:sp>
      <p:sp>
        <p:nvSpPr>
          <p:cNvPr id="24" name="TextBox 23"/>
          <p:cNvSpPr txBox="1"/>
          <p:nvPr/>
        </p:nvSpPr>
        <p:spPr>
          <a:xfrm>
            <a:off x="4114800" y="4389120"/>
            <a:ext cx="658368" cy="310896"/>
          </a:xfrm>
          <a:prstGeom prst="rect">
            <a:avLst/>
          </a:prstGeom>
          <a:noFill/>
        </p:spPr>
        <p:txBody>
          <a:bodyPr wrap="square" lIns="0" rIns="0" tIns="0" bIns="0" anchor="t">
            <a:spAutoFit/>
          </a:bodyPr>
          <a:lstStyle/>
          <a:p>
            <a:pPr algn="r">
              <a:lnSpc>
                <a:spcPct val="106000"/>
              </a:lnSpc>
              <a:spcAft>
                <a:spcPts val="0"/>
              </a:spcAft>
            </a:pPr>
            <a:r>
              <a:rPr sz="1250" b="0" i="0">
                <a:solidFill>
                  <a:srgbClr val="444444"/>
                </a:solidFill>
                <a:latin typeface="Calibri"/>
              </a:rPr>
              <a:t>22</a:t>
            </a:r>
          </a:p>
        </p:txBody>
      </p:sp>
      <p:sp>
        <p:nvSpPr>
          <p:cNvPr id="25" name="TextBox 24"/>
          <p:cNvSpPr txBox="1"/>
          <p:nvPr/>
        </p:nvSpPr>
        <p:spPr>
          <a:xfrm>
            <a:off x="5029200" y="4389120"/>
            <a:ext cx="1371600" cy="310896"/>
          </a:xfrm>
          <a:prstGeom prst="rect">
            <a:avLst/>
          </a:prstGeom>
          <a:noFill/>
        </p:spPr>
        <p:txBody>
          <a:bodyPr wrap="square" lIns="0" rIns="0" tIns="0" bIns="0" anchor="t">
            <a:spAutoFit/>
          </a:bodyPr>
          <a:lstStyle/>
          <a:p>
            <a:pPr algn="l">
              <a:lnSpc>
                <a:spcPct val="106000"/>
              </a:lnSpc>
              <a:spcAft>
                <a:spcPts val="0"/>
              </a:spcAft>
            </a:pPr>
            <a:r>
              <a:rPr sz="1250" b="0" i="0">
                <a:solidFill>
                  <a:srgbClr val="444444"/>
                </a:solidFill>
                <a:latin typeface="Calibri"/>
              </a:rPr>
              <a:t>security</a:t>
            </a:r>
          </a:p>
        </p:txBody>
      </p:sp>
      <p:sp>
        <p:nvSpPr>
          <p:cNvPr id="26" name="TextBox 25"/>
          <p:cNvSpPr txBox="1"/>
          <p:nvPr/>
        </p:nvSpPr>
        <p:spPr>
          <a:xfrm>
            <a:off x="6400800" y="4389120"/>
            <a:ext cx="5029200" cy="310896"/>
          </a:xfrm>
          <a:prstGeom prst="rect">
            <a:avLst/>
          </a:prstGeom>
          <a:noFill/>
        </p:spPr>
        <p:txBody>
          <a:bodyPr wrap="square" lIns="0" rIns="0" tIns="0" bIns="0" anchor="t">
            <a:spAutoFit/>
          </a:bodyPr>
          <a:lstStyle/>
          <a:p>
            <a:pPr algn="l">
              <a:lnSpc>
                <a:spcPct val="106000"/>
              </a:lnSpc>
              <a:spcAft>
                <a:spcPts val="0"/>
              </a:spcAft>
            </a:pPr>
            <a:r>
              <a:rPr sz="1250" b="0" i="0">
                <a:solidFill>
                  <a:srgbClr val="444444"/>
                </a:solidFill>
                <a:latin typeface="Calibri"/>
              </a:rPr>
              <a:t>evaluated only against the authors' own construction</a:t>
            </a:r>
          </a:p>
        </p:txBody>
      </p:sp>
      <p:sp>
        <p:nvSpPr>
          <p:cNvPr id="27" name="TextBox 26"/>
          <p:cNvSpPr txBox="1"/>
          <p:nvPr/>
        </p:nvSpPr>
        <p:spPr>
          <a:xfrm>
            <a:off x="731520" y="4791456"/>
            <a:ext cx="3383280" cy="310896"/>
          </a:xfrm>
          <a:prstGeom prst="rect">
            <a:avLst/>
          </a:prstGeom>
          <a:noFill/>
        </p:spPr>
        <p:txBody>
          <a:bodyPr wrap="square" lIns="0" rIns="0" tIns="0" bIns="0" anchor="t">
            <a:spAutoFit/>
          </a:bodyPr>
          <a:lstStyle/>
          <a:p>
            <a:pPr algn="l">
              <a:lnSpc>
                <a:spcPct val="106000"/>
              </a:lnSpc>
              <a:spcAft>
                <a:spcPts val="0"/>
              </a:spcAft>
            </a:pPr>
            <a:r>
              <a:rPr sz="1250" b="0" i="0">
                <a:solidFill>
                  <a:srgbClr val="444444"/>
                </a:solidFill>
                <a:latin typeface="Calibri"/>
              </a:rPr>
              <a:t>Names a benchmark, not a cause</a:t>
            </a:r>
          </a:p>
        </p:txBody>
      </p:sp>
      <p:sp>
        <p:nvSpPr>
          <p:cNvPr id="28" name="TextBox 27"/>
          <p:cNvSpPr txBox="1"/>
          <p:nvPr/>
        </p:nvSpPr>
        <p:spPr>
          <a:xfrm>
            <a:off x="4114800" y="4791456"/>
            <a:ext cx="658368" cy="310896"/>
          </a:xfrm>
          <a:prstGeom prst="rect">
            <a:avLst/>
          </a:prstGeom>
          <a:noFill/>
        </p:spPr>
        <p:txBody>
          <a:bodyPr wrap="square" lIns="0" rIns="0" tIns="0" bIns="0" anchor="t">
            <a:spAutoFit/>
          </a:bodyPr>
          <a:lstStyle/>
          <a:p>
            <a:pPr algn="r">
              <a:lnSpc>
                <a:spcPct val="106000"/>
              </a:lnSpc>
              <a:spcAft>
                <a:spcPts val="0"/>
              </a:spcAft>
            </a:pPr>
            <a:r>
              <a:rPr sz="1250" b="0" i="0">
                <a:solidFill>
                  <a:srgbClr val="444444"/>
                </a:solidFill>
                <a:latin typeface="Calibri"/>
              </a:rPr>
              <a:t>11</a:t>
            </a:r>
          </a:p>
        </p:txBody>
      </p:sp>
      <p:sp>
        <p:nvSpPr>
          <p:cNvPr id="29" name="TextBox 28"/>
          <p:cNvSpPr txBox="1"/>
          <p:nvPr/>
        </p:nvSpPr>
        <p:spPr>
          <a:xfrm>
            <a:off x="5029200" y="4791456"/>
            <a:ext cx="1371600" cy="310896"/>
          </a:xfrm>
          <a:prstGeom prst="rect">
            <a:avLst/>
          </a:prstGeom>
          <a:noFill/>
        </p:spPr>
        <p:txBody>
          <a:bodyPr wrap="square" lIns="0" rIns="0" tIns="0" bIns="0" anchor="t">
            <a:spAutoFit/>
          </a:bodyPr>
          <a:lstStyle/>
          <a:p>
            <a:pPr algn="l">
              <a:lnSpc>
                <a:spcPct val="106000"/>
              </a:lnSpc>
              <a:spcAft>
                <a:spcPts val="0"/>
              </a:spcAft>
            </a:pPr>
            <a:r>
              <a:rPr sz="1250" b="0" i="0">
                <a:solidFill>
                  <a:srgbClr val="444444"/>
                </a:solidFill>
                <a:latin typeface="Calibri"/>
              </a:rPr>
              <a:t>security</a:t>
            </a:r>
          </a:p>
        </p:txBody>
      </p:sp>
      <p:sp>
        <p:nvSpPr>
          <p:cNvPr id="30" name="TextBox 29"/>
          <p:cNvSpPr txBox="1"/>
          <p:nvPr/>
        </p:nvSpPr>
        <p:spPr>
          <a:xfrm>
            <a:off x="6400800" y="4791456"/>
            <a:ext cx="5029200" cy="310896"/>
          </a:xfrm>
          <a:prstGeom prst="rect">
            <a:avLst/>
          </a:prstGeom>
          <a:noFill/>
        </p:spPr>
        <p:txBody>
          <a:bodyPr wrap="square" lIns="0" rIns="0" tIns="0" bIns="0" anchor="t">
            <a:spAutoFit/>
          </a:bodyPr>
          <a:lstStyle/>
          <a:p>
            <a:pPr algn="l">
              <a:lnSpc>
                <a:spcPct val="106000"/>
              </a:lnSpc>
              <a:spcAft>
                <a:spcPts val="0"/>
              </a:spcAft>
            </a:pPr>
            <a:r>
              <a:rPr sz="1250" b="0" i="0">
                <a:solidFill>
                  <a:srgbClr val="444444"/>
                </a:solidFill>
                <a:latin typeface="Calibri"/>
              </a:rPr>
              <a:t>reports a score, not a protection outcome</a:t>
            </a:r>
          </a:p>
        </p:txBody>
      </p:sp>
      <p:sp>
        <p:nvSpPr>
          <p:cNvPr id="31" name="TextBox 30"/>
          <p:cNvSpPr txBox="1"/>
          <p:nvPr/>
        </p:nvSpPr>
        <p:spPr>
          <a:xfrm>
            <a:off x="731520" y="5193792"/>
            <a:ext cx="3383280" cy="310896"/>
          </a:xfrm>
          <a:prstGeom prst="rect">
            <a:avLst/>
          </a:prstGeom>
          <a:noFill/>
        </p:spPr>
        <p:txBody>
          <a:bodyPr wrap="square" lIns="0" rIns="0" tIns="0" bIns="0" anchor="t">
            <a:spAutoFit/>
          </a:bodyPr>
          <a:lstStyle/>
          <a:p>
            <a:pPr algn="l">
              <a:lnSpc>
                <a:spcPct val="106000"/>
              </a:lnSpc>
              <a:spcAft>
                <a:spcPts val="0"/>
              </a:spcAft>
            </a:pPr>
            <a:r>
              <a:rPr sz="1250" b="0" i="0">
                <a:solidFill>
                  <a:srgbClr val="444444"/>
                </a:solidFill>
                <a:latin typeface="Calibri"/>
              </a:rPr>
              <a:t>Could not tell</a:t>
            </a:r>
          </a:p>
        </p:txBody>
      </p:sp>
      <p:sp>
        <p:nvSpPr>
          <p:cNvPr id="32" name="TextBox 31"/>
          <p:cNvSpPr txBox="1"/>
          <p:nvPr/>
        </p:nvSpPr>
        <p:spPr>
          <a:xfrm>
            <a:off x="4114800" y="5193792"/>
            <a:ext cx="658368" cy="310896"/>
          </a:xfrm>
          <a:prstGeom prst="rect">
            <a:avLst/>
          </a:prstGeom>
          <a:noFill/>
        </p:spPr>
        <p:txBody>
          <a:bodyPr wrap="square" lIns="0" rIns="0" tIns="0" bIns="0" anchor="t">
            <a:spAutoFit/>
          </a:bodyPr>
          <a:lstStyle/>
          <a:p>
            <a:pPr algn="r">
              <a:lnSpc>
                <a:spcPct val="106000"/>
              </a:lnSpc>
              <a:spcAft>
                <a:spcPts val="0"/>
              </a:spcAft>
            </a:pPr>
            <a:r>
              <a:rPr sz="1250" b="0" i="0">
                <a:solidFill>
                  <a:srgbClr val="444444"/>
                </a:solidFill>
                <a:latin typeface="Calibri"/>
              </a:rPr>
              <a:t>21</a:t>
            </a:r>
          </a:p>
        </p:txBody>
      </p:sp>
      <p:sp>
        <p:nvSpPr>
          <p:cNvPr id="33" name="TextBox 32"/>
          <p:cNvSpPr txBox="1"/>
          <p:nvPr/>
        </p:nvSpPr>
        <p:spPr>
          <a:xfrm>
            <a:off x="5029200" y="5193792"/>
            <a:ext cx="1371600" cy="310896"/>
          </a:xfrm>
          <a:prstGeom prst="rect">
            <a:avLst/>
          </a:prstGeom>
          <a:noFill/>
        </p:spPr>
        <p:txBody>
          <a:bodyPr wrap="square" lIns="0" rIns="0" tIns="0" bIns="0" anchor="t">
            <a:spAutoFit/>
          </a:bodyPr>
          <a:lstStyle/>
          <a:p>
            <a:pPr algn="l">
              <a:lnSpc>
                <a:spcPct val="106000"/>
              </a:lnSpc>
              <a:spcAft>
                <a:spcPts val="0"/>
              </a:spcAft>
            </a:pPr>
            <a:r>
              <a:rPr sz="1250" b="0" i="0">
                <a:solidFill>
                  <a:srgbClr val="444444"/>
                </a:solidFill>
                <a:latin typeface="Calibri"/>
              </a:rPr>
              <a:t>security</a:t>
            </a:r>
          </a:p>
        </p:txBody>
      </p:sp>
      <p:sp>
        <p:nvSpPr>
          <p:cNvPr id="34" name="TextBox 33"/>
          <p:cNvSpPr txBox="1"/>
          <p:nvPr/>
        </p:nvSpPr>
        <p:spPr>
          <a:xfrm>
            <a:off x="6400800" y="5193792"/>
            <a:ext cx="5029200" cy="310896"/>
          </a:xfrm>
          <a:prstGeom prst="rect">
            <a:avLst/>
          </a:prstGeom>
          <a:noFill/>
        </p:spPr>
        <p:txBody>
          <a:bodyPr wrap="square" lIns="0" rIns="0" tIns="0" bIns="0" anchor="t">
            <a:spAutoFit/>
          </a:bodyPr>
          <a:lstStyle/>
          <a:p>
            <a:pPr algn="l">
              <a:lnSpc>
                <a:spcPct val="106000"/>
              </a:lnSpc>
              <a:spcAft>
                <a:spcPts val="0"/>
              </a:spcAft>
            </a:pPr>
            <a:r>
              <a:rPr sz="1250" b="0" i="0">
                <a:solidFill>
                  <a:srgbClr val="444444"/>
                </a:solidFill>
                <a:latin typeface="Calibri"/>
              </a:rPr>
              <a:t>not enough extracted text to decide</a:t>
            </a:r>
          </a:p>
        </p:txBody>
      </p:sp>
      <p:sp>
        <p:nvSpPr>
          <p:cNvPr id="35" name="TextBox 34"/>
          <p:cNvSpPr txBox="1"/>
          <p:nvPr/>
        </p:nvSpPr>
        <p:spPr>
          <a:xfrm>
            <a:off x="731520" y="5504688"/>
            <a:ext cx="10725912" cy="987552"/>
          </a:xfrm>
          <a:prstGeom prst="rect">
            <a:avLst/>
          </a:prstGeom>
          <a:noFill/>
        </p:spPr>
        <p:txBody>
          <a:bodyPr wrap="square" lIns="0" rIns="0" tIns="0" bIns="0" anchor="t">
            <a:spAutoFit/>
          </a:bodyPr>
          <a:lstStyle/>
          <a:p>
            <a:pPr algn="l">
              <a:lnSpc>
                <a:spcPct val="112000"/>
              </a:lnSpc>
              <a:spcAft>
                <a:spcPts val="500"/>
              </a:spcAft>
            </a:pPr>
            <a:r>
              <a:rPr sz="1300" b="1" i="0">
                <a:solidFill>
                  <a:srgbClr val="111111"/>
                </a:solidFill>
                <a:latin typeface="Calibri"/>
              </a:rPr>
              <a:t>—  126 of them answer an accidental failure and never set out to stop an adversary. 99 name a cause that is on our map and stop short of testing against it.</a:t>
            </a:r>
          </a:p>
          <a:p>
            <a:pPr>
              <a:lnSpc>
                <a:spcPct val="112000"/>
              </a:lnSpc>
              <a:spcAft>
                <a:spcPts val="500"/>
              </a:spcAft>
            </a:pPr>
            <a:r>
              <a:rPr sz="1300" b="0" i="0">
                <a:solidFill>
                  <a:srgbClr val="444444"/>
                </a:solidFill>
                <a:latin typeface="Calibri"/>
              </a:rPr>
              <a:t>—  Those 99 are the gap, and the lead we follow next.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THE GAP, IN DETAIL</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Where an untested pair is waiting</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12</a:t>
            </a:r>
          </a:p>
        </p:txBody>
      </p:sp>
      <p:sp>
        <p:nvSpPr>
          <p:cNvPr id="5" name="TextBox 4"/>
          <p:cNvSpPr txBox="1"/>
          <p:nvPr/>
        </p:nvSpPr>
        <p:spPr>
          <a:xfrm>
            <a:off x="731520" y="1920240"/>
            <a:ext cx="10725912" cy="411480"/>
          </a:xfrm>
          <a:prstGeom prst="rect">
            <a:avLst/>
          </a:prstGeom>
          <a:noFill/>
        </p:spPr>
        <p:txBody>
          <a:bodyPr wrap="square" lIns="0" rIns="0" tIns="0" bIns="0" anchor="t">
            <a:spAutoFit/>
          </a:bodyPr>
          <a:lstStyle/>
          <a:p>
            <a:pPr algn="l">
              <a:lnSpc>
                <a:spcPct val="106000"/>
              </a:lnSpc>
              <a:spcAft>
                <a:spcPts val="0"/>
              </a:spcAft>
            </a:pPr>
            <a:r>
              <a:rPr sz="1400" b="0" i="0">
                <a:solidFill>
                  <a:srgbClr val="444444"/>
                </a:solidFill>
                <a:latin typeface="Calibri"/>
              </a:rPr>
              <a:t>Each row is one route and one failure. Deliberate attacks on one side, and on the other the fixes built for that same failure arriving by accident.</a:t>
            </a:r>
          </a:p>
        </p:txBody>
      </p:sp>
      <p:sp>
        <p:nvSpPr>
          <p:cNvPr id="6" name="TextBox 5"/>
          <p:cNvSpPr txBox="1"/>
          <p:nvPr/>
        </p:nvSpPr>
        <p:spPr>
          <a:xfrm>
            <a:off x="731520" y="2414016"/>
            <a:ext cx="2468880" cy="457200"/>
          </a:xfrm>
          <a:prstGeom prst="rect">
            <a:avLst/>
          </a:prstGeom>
          <a:noFill/>
        </p:spPr>
        <p:txBody>
          <a:bodyPr wrap="square" lIns="0" rIns="0" tIns="0" bIns="0" anchor="t">
            <a:spAutoFit/>
          </a:bodyPr>
          <a:lstStyle/>
          <a:p>
            <a:pPr algn="l">
              <a:lnSpc>
                <a:spcPct val="110000"/>
              </a:lnSpc>
              <a:spcAft>
                <a:spcPts val="0"/>
              </a:spcAft>
            </a:pPr>
            <a:r>
              <a:rPr sz="1150" b="1" i="0">
                <a:solidFill>
                  <a:srgbClr val="777777"/>
                </a:solidFill>
                <a:latin typeface="Calibri"/>
              </a:rPr>
              <a:t>Route in</a:t>
            </a:r>
          </a:p>
        </p:txBody>
      </p:sp>
      <p:sp>
        <p:nvSpPr>
          <p:cNvPr id="7" name="TextBox 6"/>
          <p:cNvSpPr txBox="1"/>
          <p:nvPr/>
        </p:nvSpPr>
        <p:spPr>
          <a:xfrm>
            <a:off x="3291839" y="2414016"/>
            <a:ext cx="3017520" cy="457200"/>
          </a:xfrm>
          <a:prstGeom prst="rect">
            <a:avLst/>
          </a:prstGeom>
          <a:noFill/>
        </p:spPr>
        <p:txBody>
          <a:bodyPr wrap="square" lIns="0" rIns="0" tIns="0" bIns="0" anchor="t">
            <a:spAutoFit/>
          </a:bodyPr>
          <a:lstStyle/>
          <a:p>
            <a:pPr algn="l">
              <a:lnSpc>
                <a:spcPct val="110000"/>
              </a:lnSpc>
              <a:spcAft>
                <a:spcPts val="0"/>
              </a:spcAft>
            </a:pPr>
            <a:r>
              <a:rPr sz="1150" b="1" i="0">
                <a:solidFill>
                  <a:srgbClr val="777777"/>
                </a:solidFill>
                <a:latin typeface="Calibri"/>
              </a:rPr>
              <a:t>What goes wrong</a:t>
            </a:r>
          </a:p>
        </p:txBody>
      </p:sp>
      <p:sp>
        <p:nvSpPr>
          <p:cNvPr id="8" name="TextBox 7"/>
          <p:cNvSpPr txBox="1"/>
          <p:nvPr/>
        </p:nvSpPr>
        <p:spPr>
          <a:xfrm>
            <a:off x="6492240" y="2414016"/>
            <a:ext cx="1371600" cy="457200"/>
          </a:xfrm>
          <a:prstGeom prst="rect">
            <a:avLst/>
          </a:prstGeom>
          <a:noFill/>
        </p:spPr>
        <p:txBody>
          <a:bodyPr wrap="square" lIns="0" rIns="0" tIns="0" bIns="0" anchor="t">
            <a:spAutoFit/>
          </a:bodyPr>
          <a:lstStyle/>
          <a:p>
            <a:pPr algn="l">
              <a:lnSpc>
                <a:spcPct val="110000"/>
              </a:lnSpc>
              <a:spcAft>
                <a:spcPts val="0"/>
              </a:spcAft>
            </a:pPr>
            <a:r>
              <a:rPr sz="1150" b="1" i="0">
                <a:solidFill>
                  <a:srgbClr val="777777"/>
                </a:solidFill>
                <a:latin typeface="Calibri"/>
              </a:rPr>
              <a:t>Attacks</a:t>
            </a:r>
          </a:p>
        </p:txBody>
      </p:sp>
      <p:sp>
        <p:nvSpPr>
          <p:cNvPr id="9" name="TextBox 8"/>
          <p:cNvSpPr txBox="1"/>
          <p:nvPr/>
        </p:nvSpPr>
        <p:spPr>
          <a:xfrm>
            <a:off x="8046720" y="2414016"/>
            <a:ext cx="1463040" cy="457200"/>
          </a:xfrm>
          <a:prstGeom prst="rect">
            <a:avLst/>
          </a:prstGeom>
          <a:noFill/>
        </p:spPr>
        <p:txBody>
          <a:bodyPr wrap="square" lIns="0" rIns="0" tIns="0" bIns="0" anchor="t">
            <a:spAutoFit/>
          </a:bodyPr>
          <a:lstStyle/>
          <a:p>
            <a:pPr algn="l">
              <a:lnSpc>
                <a:spcPct val="110000"/>
              </a:lnSpc>
              <a:spcAft>
                <a:spcPts val="0"/>
              </a:spcAft>
            </a:pPr>
            <a:r>
              <a:rPr sz="1150" b="1" i="0">
                <a:solidFill>
                  <a:srgbClr val="777777"/>
                </a:solidFill>
                <a:latin typeface="Calibri"/>
              </a:rPr>
              <a:t>Fixes</a:t>
            </a:r>
          </a:p>
        </p:txBody>
      </p:sp>
      <p:sp>
        <p:nvSpPr>
          <p:cNvPr id="10" name="TextBox 9"/>
          <p:cNvSpPr txBox="1"/>
          <p:nvPr/>
        </p:nvSpPr>
        <p:spPr>
          <a:xfrm>
            <a:off x="9692640" y="2414016"/>
            <a:ext cx="2011680" cy="457200"/>
          </a:xfrm>
          <a:prstGeom prst="rect">
            <a:avLst/>
          </a:prstGeom>
          <a:noFill/>
        </p:spPr>
        <p:txBody>
          <a:bodyPr wrap="square" lIns="0" rIns="0" tIns="0" bIns="0" anchor="t">
            <a:spAutoFit/>
          </a:bodyPr>
          <a:lstStyle/>
          <a:p>
            <a:pPr algn="l">
              <a:lnSpc>
                <a:spcPct val="110000"/>
              </a:lnSpc>
              <a:spcAft>
                <a:spcPts val="0"/>
              </a:spcAft>
            </a:pPr>
            <a:r>
              <a:rPr sz="1150" b="1" i="0">
                <a:solidFill>
                  <a:srgbClr val="777777"/>
                </a:solidFill>
                <a:latin typeface="Calibri"/>
              </a:rPr>
              <a:t>Ever tested</a:t>
            </a:r>
          </a:p>
          <a:p>
            <a:pPr>
              <a:lnSpc>
                <a:spcPct val="110000"/>
              </a:lnSpc>
              <a:spcAft>
                <a:spcPts val="0"/>
              </a:spcAft>
            </a:pPr>
            <a:r>
              <a:rPr sz="1150" b="1" i="0">
                <a:solidFill>
                  <a:srgbClr val="777777"/>
                </a:solidFill>
                <a:latin typeface="Calibri"/>
              </a:rPr>
              <a:t>against each other</a:t>
            </a:r>
          </a:p>
        </p:txBody>
      </p:sp>
      <p:sp>
        <p:nvSpPr>
          <p:cNvPr id="11" name="TextBox 10"/>
          <p:cNvSpPr txBox="1"/>
          <p:nvPr/>
        </p:nvSpPr>
        <p:spPr>
          <a:xfrm>
            <a:off x="731520" y="2926080"/>
            <a:ext cx="246888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direct-input</a:t>
            </a:r>
          </a:p>
        </p:txBody>
      </p:sp>
      <p:sp>
        <p:nvSpPr>
          <p:cNvPr id="12" name="TextBox 11"/>
          <p:cNvSpPr txBox="1"/>
          <p:nvPr/>
        </p:nvSpPr>
        <p:spPr>
          <a:xfrm>
            <a:off x="3291839" y="2926080"/>
            <a:ext cx="301752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reasoning-corruption</a:t>
            </a:r>
          </a:p>
        </p:txBody>
      </p:sp>
      <p:sp>
        <p:nvSpPr>
          <p:cNvPr id="13" name="TextBox 12"/>
          <p:cNvSpPr txBox="1"/>
          <p:nvPr/>
        </p:nvSpPr>
        <p:spPr>
          <a:xfrm>
            <a:off x="6492240" y="2926080"/>
            <a:ext cx="137160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4</a:t>
            </a:r>
          </a:p>
        </p:txBody>
      </p:sp>
      <p:sp>
        <p:nvSpPr>
          <p:cNvPr id="14" name="TextBox 13"/>
          <p:cNvSpPr txBox="1"/>
          <p:nvPr/>
        </p:nvSpPr>
        <p:spPr>
          <a:xfrm>
            <a:off x="8046720" y="2926080"/>
            <a:ext cx="146304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79</a:t>
            </a:r>
          </a:p>
        </p:txBody>
      </p:sp>
      <p:sp>
        <p:nvSpPr>
          <p:cNvPr id="15" name="TextBox 14"/>
          <p:cNvSpPr txBox="1"/>
          <p:nvPr/>
        </p:nvSpPr>
        <p:spPr>
          <a:xfrm>
            <a:off x="9692640" y="2926080"/>
            <a:ext cx="2011680" cy="292608"/>
          </a:xfrm>
          <a:prstGeom prst="rect">
            <a:avLst/>
          </a:prstGeom>
          <a:noFill/>
        </p:spPr>
        <p:txBody>
          <a:bodyPr wrap="square" lIns="0" rIns="0" tIns="0" bIns="0" anchor="t">
            <a:spAutoFit/>
          </a:bodyPr>
          <a:lstStyle/>
          <a:p>
            <a:pPr algn="l">
              <a:lnSpc>
                <a:spcPct val="106000"/>
              </a:lnSpc>
              <a:spcAft>
                <a:spcPts val="0"/>
              </a:spcAft>
            </a:pPr>
            <a:r>
              <a:rPr sz="1300" b="1" i="0">
                <a:solidFill>
                  <a:srgbClr val="111111"/>
                </a:solidFill>
                <a:latin typeface="Calibri"/>
              </a:rPr>
              <a:t>0</a:t>
            </a:r>
          </a:p>
        </p:txBody>
      </p:sp>
      <p:sp>
        <p:nvSpPr>
          <p:cNvPr id="16" name="TextBox 15"/>
          <p:cNvSpPr txBox="1"/>
          <p:nvPr/>
        </p:nvSpPr>
        <p:spPr>
          <a:xfrm>
            <a:off x="731520" y="3291840"/>
            <a:ext cx="246888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RAG</a:t>
            </a:r>
          </a:p>
        </p:txBody>
      </p:sp>
      <p:sp>
        <p:nvSpPr>
          <p:cNvPr id="17" name="TextBox 16"/>
          <p:cNvSpPr txBox="1"/>
          <p:nvPr/>
        </p:nvSpPr>
        <p:spPr>
          <a:xfrm>
            <a:off x="3291839" y="3291840"/>
            <a:ext cx="301752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silent-corruption</a:t>
            </a:r>
          </a:p>
        </p:txBody>
      </p:sp>
      <p:sp>
        <p:nvSpPr>
          <p:cNvPr id="18" name="TextBox 17"/>
          <p:cNvSpPr txBox="1"/>
          <p:nvPr/>
        </p:nvSpPr>
        <p:spPr>
          <a:xfrm>
            <a:off x="6492240" y="3291840"/>
            <a:ext cx="137160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3</a:t>
            </a:r>
          </a:p>
        </p:txBody>
      </p:sp>
      <p:sp>
        <p:nvSpPr>
          <p:cNvPr id="19" name="TextBox 18"/>
          <p:cNvSpPr txBox="1"/>
          <p:nvPr/>
        </p:nvSpPr>
        <p:spPr>
          <a:xfrm>
            <a:off x="8046720" y="3291840"/>
            <a:ext cx="146304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42</a:t>
            </a:r>
          </a:p>
        </p:txBody>
      </p:sp>
      <p:sp>
        <p:nvSpPr>
          <p:cNvPr id="20" name="TextBox 19"/>
          <p:cNvSpPr txBox="1"/>
          <p:nvPr/>
        </p:nvSpPr>
        <p:spPr>
          <a:xfrm>
            <a:off x="9692640" y="3291840"/>
            <a:ext cx="2011680" cy="292608"/>
          </a:xfrm>
          <a:prstGeom prst="rect">
            <a:avLst/>
          </a:prstGeom>
          <a:noFill/>
        </p:spPr>
        <p:txBody>
          <a:bodyPr wrap="square" lIns="0" rIns="0" tIns="0" bIns="0" anchor="t">
            <a:spAutoFit/>
          </a:bodyPr>
          <a:lstStyle/>
          <a:p>
            <a:pPr algn="l">
              <a:lnSpc>
                <a:spcPct val="106000"/>
              </a:lnSpc>
              <a:spcAft>
                <a:spcPts val="0"/>
              </a:spcAft>
            </a:pPr>
            <a:r>
              <a:rPr sz="1300" b="1" i="0">
                <a:solidFill>
                  <a:srgbClr val="111111"/>
                </a:solidFill>
                <a:latin typeface="Calibri"/>
              </a:rPr>
              <a:t>0</a:t>
            </a:r>
          </a:p>
        </p:txBody>
      </p:sp>
      <p:sp>
        <p:nvSpPr>
          <p:cNvPr id="21" name="TextBox 20"/>
          <p:cNvSpPr txBox="1"/>
          <p:nvPr/>
        </p:nvSpPr>
        <p:spPr>
          <a:xfrm>
            <a:off x="731520" y="3657600"/>
            <a:ext cx="246888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tool-output</a:t>
            </a:r>
          </a:p>
        </p:txBody>
      </p:sp>
      <p:sp>
        <p:nvSpPr>
          <p:cNvPr id="22" name="TextBox 21"/>
          <p:cNvSpPr txBox="1"/>
          <p:nvPr/>
        </p:nvSpPr>
        <p:spPr>
          <a:xfrm>
            <a:off x="3291839" y="3657600"/>
            <a:ext cx="301752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goal-hijack</a:t>
            </a:r>
          </a:p>
        </p:txBody>
      </p:sp>
      <p:sp>
        <p:nvSpPr>
          <p:cNvPr id="23" name="TextBox 22"/>
          <p:cNvSpPr txBox="1"/>
          <p:nvPr/>
        </p:nvSpPr>
        <p:spPr>
          <a:xfrm>
            <a:off x="6492240" y="3657600"/>
            <a:ext cx="137160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61</a:t>
            </a:r>
          </a:p>
        </p:txBody>
      </p:sp>
      <p:sp>
        <p:nvSpPr>
          <p:cNvPr id="24" name="TextBox 23"/>
          <p:cNvSpPr txBox="1"/>
          <p:nvPr/>
        </p:nvSpPr>
        <p:spPr>
          <a:xfrm>
            <a:off x="8046720" y="3657600"/>
            <a:ext cx="146304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1</a:t>
            </a:r>
          </a:p>
        </p:txBody>
      </p:sp>
      <p:sp>
        <p:nvSpPr>
          <p:cNvPr id="25" name="TextBox 24"/>
          <p:cNvSpPr txBox="1"/>
          <p:nvPr/>
        </p:nvSpPr>
        <p:spPr>
          <a:xfrm>
            <a:off x="9692640" y="3657600"/>
            <a:ext cx="2011680" cy="292608"/>
          </a:xfrm>
          <a:prstGeom prst="rect">
            <a:avLst/>
          </a:prstGeom>
          <a:noFill/>
        </p:spPr>
        <p:txBody>
          <a:bodyPr wrap="square" lIns="0" rIns="0" tIns="0" bIns="0" anchor="t">
            <a:spAutoFit/>
          </a:bodyPr>
          <a:lstStyle/>
          <a:p>
            <a:pPr algn="l">
              <a:lnSpc>
                <a:spcPct val="106000"/>
              </a:lnSpc>
              <a:spcAft>
                <a:spcPts val="0"/>
              </a:spcAft>
            </a:pPr>
            <a:r>
              <a:rPr sz="1300" b="1" i="0">
                <a:solidFill>
                  <a:srgbClr val="111111"/>
                </a:solidFill>
                <a:latin typeface="Calibri"/>
              </a:rPr>
              <a:t>0</a:t>
            </a:r>
          </a:p>
        </p:txBody>
      </p:sp>
      <p:sp>
        <p:nvSpPr>
          <p:cNvPr id="26" name="TextBox 25"/>
          <p:cNvSpPr txBox="1"/>
          <p:nvPr/>
        </p:nvSpPr>
        <p:spPr>
          <a:xfrm>
            <a:off x="731520" y="4023360"/>
            <a:ext cx="246888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RAG</a:t>
            </a:r>
          </a:p>
        </p:txBody>
      </p:sp>
      <p:sp>
        <p:nvSpPr>
          <p:cNvPr id="27" name="TextBox 26"/>
          <p:cNvSpPr txBox="1"/>
          <p:nvPr/>
        </p:nvSpPr>
        <p:spPr>
          <a:xfrm>
            <a:off x="3291839" y="4023360"/>
            <a:ext cx="301752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reasoning-corruption</a:t>
            </a:r>
          </a:p>
        </p:txBody>
      </p:sp>
      <p:sp>
        <p:nvSpPr>
          <p:cNvPr id="28" name="TextBox 27"/>
          <p:cNvSpPr txBox="1"/>
          <p:nvPr/>
        </p:nvSpPr>
        <p:spPr>
          <a:xfrm>
            <a:off x="6492240" y="4023360"/>
            <a:ext cx="137160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2</a:t>
            </a:r>
          </a:p>
        </p:txBody>
      </p:sp>
      <p:sp>
        <p:nvSpPr>
          <p:cNvPr id="29" name="TextBox 28"/>
          <p:cNvSpPr txBox="1"/>
          <p:nvPr/>
        </p:nvSpPr>
        <p:spPr>
          <a:xfrm>
            <a:off x="8046720" y="4023360"/>
            <a:ext cx="146304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17</a:t>
            </a:r>
          </a:p>
        </p:txBody>
      </p:sp>
      <p:sp>
        <p:nvSpPr>
          <p:cNvPr id="30" name="TextBox 29"/>
          <p:cNvSpPr txBox="1"/>
          <p:nvPr/>
        </p:nvSpPr>
        <p:spPr>
          <a:xfrm>
            <a:off x="9692640" y="4023360"/>
            <a:ext cx="2011680" cy="292608"/>
          </a:xfrm>
          <a:prstGeom prst="rect">
            <a:avLst/>
          </a:prstGeom>
          <a:noFill/>
        </p:spPr>
        <p:txBody>
          <a:bodyPr wrap="square" lIns="0" rIns="0" tIns="0" bIns="0" anchor="t">
            <a:spAutoFit/>
          </a:bodyPr>
          <a:lstStyle/>
          <a:p>
            <a:pPr algn="l">
              <a:lnSpc>
                <a:spcPct val="106000"/>
              </a:lnSpc>
              <a:spcAft>
                <a:spcPts val="0"/>
              </a:spcAft>
            </a:pPr>
            <a:r>
              <a:rPr sz="1300" b="1" i="0">
                <a:solidFill>
                  <a:srgbClr val="111111"/>
                </a:solidFill>
                <a:latin typeface="Calibri"/>
              </a:rPr>
              <a:t>0</a:t>
            </a:r>
          </a:p>
        </p:txBody>
      </p:sp>
      <p:sp>
        <p:nvSpPr>
          <p:cNvPr id="31" name="TextBox 30"/>
          <p:cNvSpPr txBox="1"/>
          <p:nvPr/>
        </p:nvSpPr>
        <p:spPr>
          <a:xfrm>
            <a:off x="731520" y="4389120"/>
            <a:ext cx="246888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direct-input</a:t>
            </a:r>
          </a:p>
        </p:txBody>
      </p:sp>
      <p:sp>
        <p:nvSpPr>
          <p:cNvPr id="32" name="TextBox 31"/>
          <p:cNvSpPr txBox="1"/>
          <p:nvPr/>
        </p:nvSpPr>
        <p:spPr>
          <a:xfrm>
            <a:off x="3291839" y="4389120"/>
            <a:ext cx="301752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goal-hijack</a:t>
            </a:r>
          </a:p>
        </p:txBody>
      </p:sp>
      <p:sp>
        <p:nvSpPr>
          <p:cNvPr id="33" name="TextBox 32"/>
          <p:cNvSpPr txBox="1"/>
          <p:nvPr/>
        </p:nvSpPr>
        <p:spPr>
          <a:xfrm>
            <a:off x="6492240" y="4389120"/>
            <a:ext cx="137160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27</a:t>
            </a:r>
          </a:p>
        </p:txBody>
      </p:sp>
      <p:sp>
        <p:nvSpPr>
          <p:cNvPr id="34" name="TextBox 33"/>
          <p:cNvSpPr txBox="1"/>
          <p:nvPr/>
        </p:nvSpPr>
        <p:spPr>
          <a:xfrm>
            <a:off x="8046720" y="4389120"/>
            <a:ext cx="146304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1</a:t>
            </a:r>
          </a:p>
        </p:txBody>
      </p:sp>
      <p:sp>
        <p:nvSpPr>
          <p:cNvPr id="35" name="TextBox 34"/>
          <p:cNvSpPr txBox="1"/>
          <p:nvPr/>
        </p:nvSpPr>
        <p:spPr>
          <a:xfrm>
            <a:off x="9692640" y="4389120"/>
            <a:ext cx="2011680" cy="292608"/>
          </a:xfrm>
          <a:prstGeom prst="rect">
            <a:avLst/>
          </a:prstGeom>
          <a:noFill/>
        </p:spPr>
        <p:txBody>
          <a:bodyPr wrap="square" lIns="0" rIns="0" tIns="0" bIns="0" anchor="t">
            <a:spAutoFit/>
          </a:bodyPr>
          <a:lstStyle/>
          <a:p>
            <a:pPr algn="l">
              <a:lnSpc>
                <a:spcPct val="106000"/>
              </a:lnSpc>
              <a:spcAft>
                <a:spcPts val="0"/>
              </a:spcAft>
            </a:pPr>
            <a:r>
              <a:rPr sz="1300" b="1" i="0">
                <a:solidFill>
                  <a:srgbClr val="111111"/>
                </a:solidFill>
                <a:latin typeface="Calibri"/>
              </a:rPr>
              <a:t>0</a:t>
            </a:r>
          </a:p>
        </p:txBody>
      </p:sp>
      <p:sp>
        <p:nvSpPr>
          <p:cNvPr id="36" name="TextBox 35"/>
          <p:cNvSpPr txBox="1"/>
          <p:nvPr/>
        </p:nvSpPr>
        <p:spPr>
          <a:xfrm>
            <a:off x="731520" y="4754880"/>
            <a:ext cx="246888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direct-input</a:t>
            </a:r>
          </a:p>
        </p:txBody>
      </p:sp>
      <p:sp>
        <p:nvSpPr>
          <p:cNvPr id="37" name="TextBox 36"/>
          <p:cNvSpPr txBox="1"/>
          <p:nvPr/>
        </p:nvSpPr>
        <p:spPr>
          <a:xfrm>
            <a:off x="3291839" y="4754880"/>
            <a:ext cx="301752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silent-corruption</a:t>
            </a:r>
          </a:p>
        </p:txBody>
      </p:sp>
      <p:sp>
        <p:nvSpPr>
          <p:cNvPr id="38" name="TextBox 37"/>
          <p:cNvSpPr txBox="1"/>
          <p:nvPr/>
        </p:nvSpPr>
        <p:spPr>
          <a:xfrm>
            <a:off x="6492240" y="4754880"/>
            <a:ext cx="137160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1</a:t>
            </a:r>
          </a:p>
        </p:txBody>
      </p:sp>
      <p:sp>
        <p:nvSpPr>
          <p:cNvPr id="39" name="TextBox 38"/>
          <p:cNvSpPr txBox="1"/>
          <p:nvPr/>
        </p:nvSpPr>
        <p:spPr>
          <a:xfrm>
            <a:off x="8046720" y="4754880"/>
            <a:ext cx="146304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11</a:t>
            </a:r>
          </a:p>
        </p:txBody>
      </p:sp>
      <p:sp>
        <p:nvSpPr>
          <p:cNvPr id="40" name="TextBox 39"/>
          <p:cNvSpPr txBox="1"/>
          <p:nvPr/>
        </p:nvSpPr>
        <p:spPr>
          <a:xfrm>
            <a:off x="9692640" y="4754880"/>
            <a:ext cx="2011680" cy="292608"/>
          </a:xfrm>
          <a:prstGeom prst="rect">
            <a:avLst/>
          </a:prstGeom>
          <a:noFill/>
        </p:spPr>
        <p:txBody>
          <a:bodyPr wrap="square" lIns="0" rIns="0" tIns="0" bIns="0" anchor="t">
            <a:spAutoFit/>
          </a:bodyPr>
          <a:lstStyle/>
          <a:p>
            <a:pPr algn="l">
              <a:lnSpc>
                <a:spcPct val="106000"/>
              </a:lnSpc>
              <a:spcAft>
                <a:spcPts val="0"/>
              </a:spcAft>
            </a:pPr>
            <a:r>
              <a:rPr sz="1300" b="1" i="0">
                <a:solidFill>
                  <a:srgbClr val="111111"/>
                </a:solidFill>
                <a:latin typeface="Calibri"/>
              </a:rPr>
              <a:t>0</a:t>
            </a:r>
          </a:p>
        </p:txBody>
      </p:sp>
      <p:sp>
        <p:nvSpPr>
          <p:cNvPr id="41" name="TextBox 40"/>
          <p:cNvSpPr txBox="1"/>
          <p:nvPr/>
        </p:nvSpPr>
        <p:spPr>
          <a:xfrm>
            <a:off x="731520" y="5120640"/>
            <a:ext cx="246888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memory</a:t>
            </a:r>
          </a:p>
        </p:txBody>
      </p:sp>
      <p:sp>
        <p:nvSpPr>
          <p:cNvPr id="42" name="TextBox 41"/>
          <p:cNvSpPr txBox="1"/>
          <p:nvPr/>
        </p:nvSpPr>
        <p:spPr>
          <a:xfrm>
            <a:off x="3291839" y="5120640"/>
            <a:ext cx="301752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persistence-backdoor</a:t>
            </a:r>
          </a:p>
        </p:txBody>
      </p:sp>
      <p:sp>
        <p:nvSpPr>
          <p:cNvPr id="43" name="TextBox 42"/>
          <p:cNvSpPr txBox="1"/>
          <p:nvPr/>
        </p:nvSpPr>
        <p:spPr>
          <a:xfrm>
            <a:off x="6492240" y="5120640"/>
            <a:ext cx="137160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7</a:t>
            </a:r>
          </a:p>
        </p:txBody>
      </p:sp>
      <p:sp>
        <p:nvSpPr>
          <p:cNvPr id="44" name="TextBox 43"/>
          <p:cNvSpPr txBox="1"/>
          <p:nvPr/>
        </p:nvSpPr>
        <p:spPr>
          <a:xfrm>
            <a:off x="8046720" y="5120640"/>
            <a:ext cx="146304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1</a:t>
            </a:r>
          </a:p>
        </p:txBody>
      </p:sp>
      <p:sp>
        <p:nvSpPr>
          <p:cNvPr id="45" name="TextBox 44"/>
          <p:cNvSpPr txBox="1"/>
          <p:nvPr/>
        </p:nvSpPr>
        <p:spPr>
          <a:xfrm>
            <a:off x="9692640" y="5120640"/>
            <a:ext cx="2011680" cy="292608"/>
          </a:xfrm>
          <a:prstGeom prst="rect">
            <a:avLst/>
          </a:prstGeom>
          <a:noFill/>
        </p:spPr>
        <p:txBody>
          <a:bodyPr wrap="square" lIns="0" rIns="0" tIns="0" bIns="0" anchor="t">
            <a:spAutoFit/>
          </a:bodyPr>
          <a:lstStyle/>
          <a:p>
            <a:pPr algn="l">
              <a:lnSpc>
                <a:spcPct val="106000"/>
              </a:lnSpc>
              <a:spcAft>
                <a:spcPts val="0"/>
              </a:spcAft>
            </a:pPr>
            <a:r>
              <a:rPr sz="1300" b="1" i="0">
                <a:solidFill>
                  <a:srgbClr val="111111"/>
                </a:solidFill>
                <a:latin typeface="Calibri"/>
              </a:rPr>
              <a:t>0</a:t>
            </a:r>
          </a:p>
        </p:txBody>
      </p:sp>
      <p:sp>
        <p:nvSpPr>
          <p:cNvPr id="46" name="TextBox 45"/>
          <p:cNvSpPr txBox="1"/>
          <p:nvPr/>
        </p:nvSpPr>
        <p:spPr>
          <a:xfrm>
            <a:off x="731520" y="5504688"/>
            <a:ext cx="10725912" cy="896112"/>
          </a:xfrm>
          <a:prstGeom prst="rect">
            <a:avLst/>
          </a:prstGeom>
          <a:noFill/>
        </p:spPr>
        <p:txBody>
          <a:bodyPr wrap="square" lIns="0" rIns="0" tIns="0" bIns="0" anchor="t">
            <a:spAutoFit/>
          </a:bodyPr>
          <a:lstStyle/>
          <a:p>
            <a:pPr algn="l">
              <a:lnSpc>
                <a:spcPct val="110000"/>
              </a:lnSpc>
              <a:spcAft>
                <a:spcPts val="600"/>
              </a:spcAft>
            </a:pPr>
            <a:r>
              <a:rPr sz="1350" b="1" i="0">
                <a:solidFill>
                  <a:srgbClr val="111111"/>
                </a:solidFill>
                <a:latin typeface="Calibri"/>
              </a:rPr>
              <a:t>Every row is zero. Not one of these pairs has been tested by anybody.</a:t>
            </a:r>
          </a:p>
          <a:p>
            <a:pPr>
              <a:lnSpc>
                <a:spcPct val="110000"/>
              </a:lnSpc>
              <a:spcAft>
                <a:spcPts val="600"/>
              </a:spcAft>
            </a:pPr>
            <a:r>
              <a:rPr sz="1350" b="0" i="0">
                <a:solidFill>
                  <a:srgbClr val="444444"/>
                </a:solidFill>
                <a:latin typeface="Calibri"/>
              </a:rPr>
              <a:t>tool-output and goal-hijack alone holds 169 tested pairs, every one a defense against an attack or a fix against an accident. None crosses.</a:t>
            </a:r>
          </a:p>
          <a:p>
            <a:pPr>
              <a:lnSpc>
                <a:spcPct val="110000"/>
              </a:lnSpc>
              <a:spcAft>
                <a:spcPts val="600"/>
              </a:spcAft>
            </a:pPr>
            <a:r>
              <a:rPr sz="1350" b="0" i="0">
                <a:solidFill>
                  <a:srgbClr val="444444"/>
                </a:solidFill>
                <a:latin typeface="Calibri"/>
              </a:rPr>
              <a:t>The RAG row is 3 attacks against 42 fixes. 126 possible tests. None run.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WHAT WE CAN REBUILD</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Released code is not the same as working code</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13</a:t>
            </a:r>
          </a:p>
        </p:txBody>
      </p:sp>
      <p:sp>
        <p:nvSpPr>
          <p:cNvPr id="5" name="TextBox 4"/>
          <p:cNvSpPr txBox="1"/>
          <p:nvPr/>
        </p:nvSpPr>
        <p:spPr>
          <a:xfrm>
            <a:off x="731520" y="1920240"/>
            <a:ext cx="10725912" cy="365760"/>
          </a:xfrm>
          <a:prstGeom prst="rect">
            <a:avLst/>
          </a:prstGeom>
          <a:noFill/>
        </p:spPr>
        <p:txBody>
          <a:bodyPr wrap="square" lIns="0" rIns="0" tIns="0" bIns="0" anchor="t">
            <a:spAutoFit/>
          </a:bodyPr>
          <a:lstStyle/>
          <a:p>
            <a:pPr algn="l">
              <a:lnSpc>
                <a:spcPct val="106000"/>
              </a:lnSpc>
              <a:spcAft>
                <a:spcPts val="0"/>
              </a:spcAft>
            </a:pPr>
            <a:r>
              <a:rPr sz="1400" b="0" i="0">
                <a:solidFill>
                  <a:srgbClr val="444444"/>
                </a:solidFill>
                <a:latin typeface="Calibri"/>
              </a:rPr>
              <a:t>We only report a number if we can run the authors' own code. So the first question is which code runs at all.</a:t>
            </a:r>
          </a:p>
        </p:txBody>
      </p:sp>
      <p:sp>
        <p:nvSpPr>
          <p:cNvPr id="6" name="TextBox 5"/>
          <p:cNvSpPr txBox="1"/>
          <p:nvPr/>
        </p:nvSpPr>
        <p:spPr>
          <a:xfrm>
            <a:off x="731520" y="2231136"/>
            <a:ext cx="310896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ATTACKS WE REBUILT</a:t>
            </a:r>
          </a:p>
        </p:txBody>
      </p:sp>
      <p:sp>
        <p:nvSpPr>
          <p:cNvPr id="7" name="TextBox 6"/>
          <p:cNvSpPr txBox="1"/>
          <p:nvPr/>
        </p:nvSpPr>
        <p:spPr>
          <a:xfrm>
            <a:off x="3840480" y="2231136"/>
            <a:ext cx="758952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WHAT IT DOES TO THE ANSWER</a:t>
            </a:r>
          </a:p>
        </p:txBody>
      </p:sp>
      <p:sp>
        <p:nvSpPr>
          <p:cNvPr id="8" name="Rectangle 7"/>
          <p:cNvSpPr/>
          <p:nvPr/>
        </p:nvSpPr>
        <p:spPr>
          <a:xfrm>
            <a:off x="731520" y="2505456"/>
            <a:ext cx="10698480"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615184"/>
            <a:ext cx="31089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corpus poisoning</a:t>
            </a:r>
          </a:p>
        </p:txBody>
      </p:sp>
      <p:sp>
        <p:nvSpPr>
          <p:cNvPr id="10" name="TextBox 9"/>
          <p:cNvSpPr txBox="1"/>
          <p:nvPr/>
        </p:nvSpPr>
        <p:spPr>
          <a:xfrm>
            <a:off x="3840480" y="2615184"/>
            <a:ext cx="758952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removes the answer from the retrieved set</a:t>
            </a:r>
          </a:p>
        </p:txBody>
      </p:sp>
      <p:sp>
        <p:nvSpPr>
          <p:cNvPr id="11" name="TextBox 10"/>
          <p:cNvSpPr txBox="1"/>
          <p:nvPr/>
        </p:nvSpPr>
        <p:spPr>
          <a:xfrm>
            <a:off x="731520" y="2999232"/>
            <a:ext cx="31089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PoisonedRAG</a:t>
            </a:r>
          </a:p>
        </p:txBody>
      </p:sp>
      <p:sp>
        <p:nvSpPr>
          <p:cNvPr id="12" name="TextBox 11"/>
          <p:cNvSpPr txBox="1"/>
          <p:nvPr/>
        </p:nvSpPr>
        <p:spPr>
          <a:xfrm>
            <a:off x="3840480" y="2999232"/>
            <a:ext cx="758952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inserts a false answer</a:t>
            </a:r>
          </a:p>
        </p:txBody>
      </p:sp>
      <p:sp>
        <p:nvSpPr>
          <p:cNvPr id="13" name="TextBox 12"/>
          <p:cNvSpPr txBox="1"/>
          <p:nvPr/>
        </p:nvSpPr>
        <p:spPr>
          <a:xfrm>
            <a:off x="731520" y="3383279"/>
            <a:ext cx="31089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BadRAG DoS</a:t>
            </a:r>
          </a:p>
        </p:txBody>
      </p:sp>
      <p:sp>
        <p:nvSpPr>
          <p:cNvPr id="14" name="TextBox 13"/>
          <p:cNvSpPr txBox="1"/>
          <p:nvPr/>
        </p:nvSpPr>
        <p:spPr>
          <a:xfrm>
            <a:off x="3840480" y="3383279"/>
            <a:ext cx="758952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makes the agent refuse</a:t>
            </a:r>
          </a:p>
        </p:txBody>
      </p:sp>
      <p:sp>
        <p:nvSpPr>
          <p:cNvPr id="15" name="TextBox 14"/>
          <p:cNvSpPr txBox="1"/>
          <p:nvPr/>
        </p:nvSpPr>
        <p:spPr>
          <a:xfrm>
            <a:off x="731520" y="3767328"/>
            <a:ext cx="31089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BadRAG Selective-Fact</a:t>
            </a:r>
          </a:p>
        </p:txBody>
      </p:sp>
      <p:sp>
        <p:nvSpPr>
          <p:cNvPr id="16" name="TextBox 15"/>
          <p:cNvSpPr txBox="1"/>
          <p:nvPr/>
        </p:nvSpPr>
        <p:spPr>
          <a:xfrm>
            <a:off x="3840480" y="3767328"/>
            <a:ext cx="758952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changes only the tone of a correct answer</a:t>
            </a:r>
          </a:p>
        </p:txBody>
      </p:sp>
      <p:sp>
        <p:nvSpPr>
          <p:cNvPr id="17" name="TextBox 16"/>
          <p:cNvSpPr txBox="1"/>
          <p:nvPr/>
        </p:nvSpPr>
        <p:spPr>
          <a:xfrm>
            <a:off x="731520" y="4315968"/>
            <a:ext cx="310896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DEFENSE CODEBASES WE OPENED</a:t>
            </a:r>
          </a:p>
        </p:txBody>
      </p:sp>
      <p:sp>
        <p:nvSpPr>
          <p:cNvPr id="18" name="TextBox 17"/>
          <p:cNvSpPr txBox="1"/>
          <p:nvPr/>
        </p:nvSpPr>
        <p:spPr>
          <a:xfrm>
            <a:off x="3840480" y="4315968"/>
            <a:ext cx="758952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OUTCOME</a:t>
            </a:r>
          </a:p>
        </p:txBody>
      </p:sp>
      <p:sp>
        <p:nvSpPr>
          <p:cNvPr id="19" name="Rectangle 18"/>
          <p:cNvSpPr/>
          <p:nvPr/>
        </p:nvSpPr>
        <p:spPr>
          <a:xfrm>
            <a:off x="731520" y="4590288"/>
            <a:ext cx="10698480"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4700016"/>
            <a:ext cx="31089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4 of 9</a:t>
            </a:r>
          </a:p>
        </p:txBody>
      </p:sp>
      <p:sp>
        <p:nvSpPr>
          <p:cNvPr id="21" name="TextBox 20"/>
          <p:cNvSpPr txBox="1"/>
          <p:nvPr/>
        </p:nvSpPr>
        <p:spPr>
          <a:xfrm>
            <a:off x="3840480" y="4700016"/>
            <a:ext cx="758952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run, and give a usable measurement</a:t>
            </a:r>
          </a:p>
        </p:txBody>
      </p:sp>
      <p:sp>
        <p:nvSpPr>
          <p:cNvPr id="22" name="TextBox 21"/>
          <p:cNvSpPr txBox="1"/>
          <p:nvPr/>
        </p:nvSpPr>
        <p:spPr>
          <a:xfrm>
            <a:off x="731520" y="5084064"/>
            <a:ext cx="31089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1 of 9</a:t>
            </a:r>
          </a:p>
        </p:txBody>
      </p:sp>
      <p:sp>
        <p:nvSpPr>
          <p:cNvPr id="23" name="TextBox 22"/>
          <p:cNvSpPr txBox="1"/>
          <p:nvPr/>
        </p:nvSpPr>
        <p:spPr>
          <a:xfrm>
            <a:off x="3840480" y="5084064"/>
            <a:ext cx="758952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runs, but cannot reproduce its own published benefit</a:t>
            </a:r>
          </a:p>
        </p:txBody>
      </p:sp>
      <p:sp>
        <p:nvSpPr>
          <p:cNvPr id="24" name="TextBox 23"/>
          <p:cNvSpPr txBox="1"/>
          <p:nvPr/>
        </p:nvSpPr>
        <p:spPr>
          <a:xfrm>
            <a:off x="731520" y="5468112"/>
            <a:ext cx="31089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4 of 9</a:t>
            </a:r>
          </a:p>
        </p:txBody>
      </p:sp>
      <p:sp>
        <p:nvSpPr>
          <p:cNvPr id="25" name="TextBox 24"/>
          <p:cNvSpPr txBox="1"/>
          <p:nvPr/>
        </p:nvSpPr>
        <p:spPr>
          <a:xfrm>
            <a:off x="3840480" y="5468112"/>
            <a:ext cx="758952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do not run: missing data, a missing prompt file, a checkpoint with no tokenizer</a:t>
            </a:r>
          </a:p>
        </p:txBody>
      </p:sp>
      <p:sp>
        <p:nvSpPr>
          <p:cNvPr id="26" name="TextBox 25"/>
          <p:cNvSpPr txBox="1"/>
          <p:nvPr/>
        </p:nvSpPr>
        <p:spPr>
          <a:xfrm>
            <a:off x="731520" y="5870448"/>
            <a:ext cx="10725912" cy="530352"/>
          </a:xfrm>
          <a:prstGeom prst="rect">
            <a:avLst/>
          </a:prstGeom>
          <a:noFill/>
        </p:spPr>
        <p:txBody>
          <a:bodyPr wrap="square" lIns="0" rIns="0" tIns="0" bIns="0" anchor="t">
            <a:spAutoFit/>
          </a:bodyPr>
          <a:lstStyle/>
          <a:p>
            <a:pPr algn="l">
              <a:lnSpc>
                <a:spcPct val="110000"/>
              </a:lnSpc>
              <a:spcAft>
                <a:spcPts val="700"/>
              </a:spcAft>
            </a:pPr>
            <a:r>
              <a:rPr sz="1400" b="1" i="0">
                <a:solidFill>
                  <a:srgbClr val="111111"/>
                </a:solidFill>
                <a:latin typeface="Calibri"/>
              </a:rPr>
              <a:t>Nine defense codebases attempted. Four produced a measurement.</a:t>
            </a:r>
          </a:p>
          <a:p>
            <a:pPr>
              <a:lnSpc>
                <a:spcPct val="110000"/>
              </a:lnSpc>
              <a:spcAft>
                <a:spcPts val="700"/>
              </a:spcAft>
            </a:pPr>
            <a:r>
              <a:rPr sz="1400" b="0" i="0">
                <a:solidFill>
                  <a:srgbClr val="444444"/>
                </a:solidFill>
                <a:latin typeface="Calibri"/>
              </a:rPr>
              <a:t>This sets the size of what the work can cover, and it is a finding in its own right.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HOW WE CHOOSE A PAIR</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The map tells us which pairs can even be run</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14</a:t>
            </a:r>
          </a:p>
        </p:txBody>
      </p:sp>
      <p:sp>
        <p:nvSpPr>
          <p:cNvPr id="5" name="TextBox 4"/>
          <p:cNvSpPr txBox="1"/>
          <p:nvPr/>
        </p:nvSpPr>
        <p:spPr>
          <a:xfrm>
            <a:off x="731520" y="1920240"/>
            <a:ext cx="10725912" cy="4480560"/>
          </a:xfrm>
          <a:prstGeom prst="rect">
            <a:avLst/>
          </a:prstGeom>
          <a:noFill/>
        </p:spPr>
        <p:txBody>
          <a:bodyPr wrap="square" lIns="0" rIns="0" tIns="0" bIns="0" anchor="t">
            <a:spAutoFit/>
          </a:bodyPr>
          <a:lstStyle/>
          <a:p>
            <a:pPr algn="l">
              <a:lnSpc>
                <a:spcPct val="110000"/>
              </a:lnSpc>
              <a:spcAft>
                <a:spcPts val="900"/>
              </a:spcAft>
            </a:pPr>
            <a:r>
              <a:rPr sz="1500" b="1" i="0">
                <a:solidFill>
                  <a:srgbClr val="111111"/>
                </a:solidFill>
                <a:latin typeface="Calibri"/>
              </a:rPr>
              <a:t>A defense and an attack belong together when they sit in the same place on the map: the same route in, and the same thing going wrong.</a:t>
            </a:r>
          </a:p>
          <a:p>
            <a:pPr>
              <a:lnSpc>
                <a:spcPct val="110000"/>
              </a:lnSpc>
              <a:spcAft>
                <a:spcPts val="900"/>
              </a:spcAft>
            </a:pPr>
            <a:r>
              <a:rPr sz="1500" b="0" i="0">
                <a:solidFill>
                  <a:srgbClr val="444444"/>
                </a:solidFill>
                <a:latin typeface="Calibri"/>
              </a:rPr>
              <a:t>If a defense was built for a failure that happens by accident, and an attack causes the same failure on purpose through the same route, then the defense has a claim to answer. Nobody has made it answer.</a:t>
            </a:r>
          </a:p>
        </p:txBody>
      </p:sp>
      <p:sp>
        <p:nvSpPr>
          <p:cNvPr id="6" name="TextBox 5"/>
          <p:cNvSpPr txBox="1"/>
          <p:nvPr/>
        </p:nvSpPr>
        <p:spPr>
          <a:xfrm>
            <a:off x="731520" y="3218688"/>
            <a:ext cx="338328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THE CELL WE STARTED IN</a:t>
            </a:r>
          </a:p>
        </p:txBody>
      </p:sp>
      <p:sp>
        <p:nvSpPr>
          <p:cNvPr id="7" name="TextBox 6"/>
          <p:cNvSpPr txBox="1"/>
          <p:nvPr/>
        </p:nvSpPr>
        <p:spPr>
          <a:xfrm>
            <a:off x="4114800" y="3218688"/>
            <a:ext cx="731520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
            </a:r>
          </a:p>
        </p:txBody>
      </p:sp>
      <p:sp>
        <p:nvSpPr>
          <p:cNvPr id="8" name="Rectangle 7"/>
          <p:cNvSpPr/>
          <p:nvPr/>
        </p:nvSpPr>
        <p:spPr>
          <a:xfrm>
            <a:off x="731520" y="3493008"/>
            <a:ext cx="10698480"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602736"/>
            <a:ext cx="338328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Route in</a:t>
            </a:r>
          </a:p>
        </p:txBody>
      </p:sp>
      <p:sp>
        <p:nvSpPr>
          <p:cNvPr id="10" name="TextBox 9"/>
          <p:cNvSpPr txBox="1"/>
          <p:nvPr/>
        </p:nvSpPr>
        <p:spPr>
          <a:xfrm>
            <a:off x="4114800" y="3602736"/>
            <a:ext cx="731520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a document returned by a search step</a:t>
            </a:r>
          </a:p>
        </p:txBody>
      </p:sp>
      <p:sp>
        <p:nvSpPr>
          <p:cNvPr id="11" name="TextBox 10"/>
          <p:cNvSpPr txBox="1"/>
          <p:nvPr/>
        </p:nvSpPr>
        <p:spPr>
          <a:xfrm>
            <a:off x="731520" y="4023360"/>
            <a:ext cx="338328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What goes wrong</a:t>
            </a:r>
          </a:p>
        </p:txBody>
      </p:sp>
      <p:sp>
        <p:nvSpPr>
          <p:cNvPr id="12" name="TextBox 11"/>
          <p:cNvSpPr txBox="1"/>
          <p:nvPr/>
        </p:nvSpPr>
        <p:spPr>
          <a:xfrm>
            <a:off x="4114800" y="4023360"/>
            <a:ext cx="731520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the agent answers from false content and nothing signals it</a:t>
            </a:r>
          </a:p>
        </p:txBody>
      </p:sp>
      <p:sp>
        <p:nvSpPr>
          <p:cNvPr id="13" name="TextBox 12"/>
          <p:cNvSpPr txBox="1"/>
          <p:nvPr/>
        </p:nvSpPr>
        <p:spPr>
          <a:xfrm>
            <a:off x="731520" y="4443984"/>
            <a:ext cx="338328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On the attack side</a:t>
            </a:r>
          </a:p>
        </p:txBody>
      </p:sp>
      <p:sp>
        <p:nvSpPr>
          <p:cNvPr id="14" name="TextBox 13"/>
          <p:cNvSpPr txBox="1"/>
          <p:nvPr/>
        </p:nvSpPr>
        <p:spPr>
          <a:xfrm>
            <a:off x="4114800" y="4443984"/>
            <a:ext cx="731520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3 named attacks, all deliberate</a:t>
            </a:r>
          </a:p>
        </p:txBody>
      </p:sp>
      <p:sp>
        <p:nvSpPr>
          <p:cNvPr id="15" name="TextBox 14"/>
          <p:cNvSpPr txBox="1"/>
          <p:nvPr/>
        </p:nvSpPr>
        <p:spPr>
          <a:xfrm>
            <a:off x="731520" y="4864608"/>
            <a:ext cx="338328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On the fix side</a:t>
            </a:r>
          </a:p>
        </p:txBody>
      </p:sp>
      <p:sp>
        <p:nvSpPr>
          <p:cNvPr id="16" name="TextBox 15"/>
          <p:cNvSpPr txBox="1"/>
          <p:nvPr/>
        </p:nvSpPr>
        <p:spPr>
          <a:xfrm>
            <a:off x="4114800" y="4864608"/>
            <a:ext cx="731520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42 named fixes, all built for the accidental version</a:t>
            </a:r>
          </a:p>
        </p:txBody>
      </p:sp>
      <p:sp>
        <p:nvSpPr>
          <p:cNvPr id="17" name="TextBox 16"/>
          <p:cNvSpPr txBox="1"/>
          <p:nvPr/>
        </p:nvSpPr>
        <p:spPr>
          <a:xfrm>
            <a:off x="731520" y="5285232"/>
            <a:ext cx="338328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Tested against each other</a:t>
            </a:r>
          </a:p>
        </p:txBody>
      </p:sp>
      <p:sp>
        <p:nvSpPr>
          <p:cNvPr id="18" name="TextBox 17"/>
          <p:cNvSpPr txBox="1"/>
          <p:nvPr/>
        </p:nvSpPr>
        <p:spPr>
          <a:xfrm>
            <a:off x="4114800" y="5285232"/>
            <a:ext cx="731520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none of them, by anyone</a:t>
            </a:r>
          </a:p>
        </p:txBody>
      </p:sp>
      <p:sp>
        <p:nvSpPr>
          <p:cNvPr id="19" name="TextBox 18"/>
          <p:cNvSpPr txBox="1"/>
          <p:nvPr/>
        </p:nvSpPr>
        <p:spPr>
          <a:xfrm>
            <a:off x="731520" y="5742432"/>
            <a:ext cx="10725912" cy="658367"/>
          </a:xfrm>
          <a:prstGeom prst="rect">
            <a:avLst/>
          </a:prstGeom>
          <a:noFill/>
        </p:spPr>
        <p:txBody>
          <a:bodyPr wrap="square" lIns="0" rIns="0" tIns="0" bIns="0" anchor="t">
            <a:spAutoFit/>
          </a:bodyPr>
          <a:lstStyle/>
          <a:p>
            <a:pPr algn="l">
              <a:lnSpc>
                <a:spcPct val="110000"/>
              </a:lnSpc>
              <a:spcAft>
                <a:spcPts val="600"/>
              </a:spcAft>
            </a:pPr>
            <a:r>
              <a:rPr sz="1350" b="1" i="0">
                <a:solidFill>
                  <a:srgbClr val="111111"/>
                </a:solidFill>
                <a:latin typeface="Calibri"/>
              </a:rPr>
              <a:t>The map picked the first experiments, not us. Three of the four defenses we ran sit in that cell. The fourth answers the same failure arriving by a different route.</a:t>
            </a:r>
          </a:p>
          <a:p>
            <a:pPr>
              <a:lnSpc>
                <a:spcPct val="110000"/>
              </a:lnSpc>
              <a:spcAft>
                <a:spcPts val="600"/>
              </a:spcAft>
            </a:pPr>
            <a:r>
              <a:rPr sz="1350" b="0" i="0">
                <a:solidFill>
                  <a:srgbClr val="444444"/>
                </a:solidFill>
                <a:latin typeface="Calibri"/>
              </a:rPr>
              <a:t>We then widened the attack set along the same route. Two more attacks also poison a retrieved document, and testing those as well is how we checked that a result was about the defense and not about one attack.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WHAT WE RAN</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The first measurements anyone has taken in that cell</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15</a:t>
            </a:r>
          </a:p>
        </p:txBody>
      </p:sp>
      <p:sp>
        <p:nvSpPr>
          <p:cNvPr id="5" name="TextBox 4"/>
          <p:cNvSpPr txBox="1"/>
          <p:nvPr/>
        </p:nvSpPr>
        <p:spPr>
          <a:xfrm>
            <a:off x="731520" y="1965960"/>
            <a:ext cx="256032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WHAT WE RAN</a:t>
            </a:r>
          </a:p>
        </p:txBody>
      </p:sp>
      <p:sp>
        <p:nvSpPr>
          <p:cNvPr id="6" name="TextBox 5"/>
          <p:cNvSpPr txBox="1"/>
          <p:nvPr/>
        </p:nvSpPr>
        <p:spPr>
          <a:xfrm>
            <a:off x="3291839" y="1965960"/>
            <a:ext cx="813816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DETAIL</a:t>
            </a:r>
          </a:p>
        </p:txBody>
      </p:sp>
      <p:sp>
        <p:nvSpPr>
          <p:cNvPr id="7" name="Rectangle 6"/>
          <p:cNvSpPr/>
          <p:nvPr/>
        </p:nvSpPr>
        <p:spPr>
          <a:xfrm>
            <a:off x="731520" y="2240279"/>
            <a:ext cx="10698480"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2350008"/>
            <a:ext cx="2560320"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4 attacks</a:t>
            </a:r>
          </a:p>
        </p:txBody>
      </p:sp>
      <p:sp>
        <p:nvSpPr>
          <p:cNvPr id="9" name="TextBox 8"/>
          <p:cNvSpPr txBox="1"/>
          <p:nvPr/>
        </p:nvSpPr>
        <p:spPr>
          <a:xfrm>
            <a:off x="3291839" y="2350008"/>
            <a:ext cx="8138160"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rebuilt from released code and papers</a:t>
            </a:r>
          </a:p>
        </p:txBody>
      </p:sp>
      <p:sp>
        <p:nvSpPr>
          <p:cNvPr id="10" name="TextBox 9"/>
          <p:cNvSpPr txBox="1"/>
          <p:nvPr/>
        </p:nvSpPr>
        <p:spPr>
          <a:xfrm>
            <a:off x="731520" y="2916936"/>
            <a:ext cx="2560320"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5 defenses</a:t>
            </a:r>
          </a:p>
        </p:txBody>
      </p:sp>
      <p:sp>
        <p:nvSpPr>
          <p:cNvPr id="11" name="TextBox 10"/>
          <p:cNvSpPr txBox="1"/>
          <p:nvPr/>
        </p:nvSpPr>
        <p:spPr>
          <a:xfrm>
            <a:off x="3291839" y="2916936"/>
            <a:ext cx="8138160"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counting two versions of one of them, all from released code</a:t>
            </a:r>
          </a:p>
        </p:txBody>
      </p:sp>
      <p:sp>
        <p:nvSpPr>
          <p:cNvPr id="12" name="TextBox 11"/>
          <p:cNvSpPr txBox="1"/>
          <p:nvPr/>
        </p:nvSpPr>
        <p:spPr>
          <a:xfrm>
            <a:off x="731520" y="3483863"/>
            <a:ext cx="2560320"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20 pairs</a:t>
            </a:r>
          </a:p>
        </p:txBody>
      </p:sp>
      <p:sp>
        <p:nvSpPr>
          <p:cNvPr id="13" name="TextBox 12"/>
          <p:cNvSpPr txBox="1"/>
          <p:nvPr/>
        </p:nvSpPr>
        <p:spPr>
          <a:xfrm>
            <a:off x="3291839" y="3483863"/>
            <a:ext cx="8138160"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defense against attack, on three models, none of them reported anywhere</a:t>
            </a:r>
          </a:p>
        </p:txBody>
      </p:sp>
      <p:sp>
        <p:nvSpPr>
          <p:cNvPr id="14" name="TextBox 13"/>
          <p:cNvSpPr txBox="1"/>
          <p:nvPr/>
        </p:nvSpPr>
        <p:spPr>
          <a:xfrm>
            <a:off x="731520" y="4050791"/>
            <a:ext cx="2560320"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113 conditions</a:t>
            </a:r>
          </a:p>
        </p:txBody>
      </p:sp>
      <p:sp>
        <p:nvSpPr>
          <p:cNvPr id="15" name="TextBox 14"/>
          <p:cNvSpPr txBox="1"/>
          <p:nvPr/>
        </p:nvSpPr>
        <p:spPr>
          <a:xfrm>
            <a:off x="3291839" y="4050791"/>
            <a:ext cx="8138160"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each pair run at several attack strengths, not one</a:t>
            </a:r>
          </a:p>
        </p:txBody>
      </p:sp>
      <p:sp>
        <p:nvSpPr>
          <p:cNvPr id="16" name="TextBox 15"/>
          <p:cNvSpPr txBox="1"/>
          <p:nvPr/>
        </p:nvSpPr>
        <p:spPr>
          <a:xfrm>
            <a:off x="731520" y="4526280"/>
            <a:ext cx="10725912" cy="1874519"/>
          </a:xfrm>
          <a:prstGeom prst="rect">
            <a:avLst/>
          </a:prstGeom>
          <a:noFill/>
        </p:spPr>
        <p:txBody>
          <a:bodyPr wrap="square" lIns="0" rIns="0" tIns="0" bIns="0" anchor="t">
            <a:spAutoFit/>
          </a:bodyPr>
          <a:lstStyle/>
          <a:p>
            <a:pPr algn="l">
              <a:lnSpc>
                <a:spcPct val="110000"/>
              </a:lnSpc>
              <a:spcAft>
                <a:spcPts val="800"/>
              </a:spcAft>
            </a:pPr>
            <a:r>
              <a:rPr sz="1500" b="1" i="0">
                <a:solidFill>
                  <a:srgbClr val="111111"/>
                </a:solidFill>
                <a:latin typeface="Calibri"/>
              </a:rPr>
              <a:t>Two rules decide whether we are allowed to claim anything.</a:t>
            </a:r>
          </a:p>
          <a:p>
            <a:pPr>
              <a:lnSpc>
                <a:spcPct val="110000"/>
              </a:lnSpc>
              <a:spcAft>
                <a:spcPts val="800"/>
              </a:spcAft>
            </a:pPr>
            <a:r>
              <a:rPr sz="1500" b="0" i="0">
                <a:solidFill>
                  <a:srgbClr val="444444"/>
                </a:solidFill>
                <a:latin typeface="Calibri"/>
              </a:rPr>
              <a:t>A defense must first show its own benefit on its own task. If it cannot, we report nothing from it.</a:t>
            </a:r>
          </a:p>
          <a:p>
            <a:pPr>
              <a:lnSpc>
                <a:spcPct val="110000"/>
              </a:lnSpc>
              <a:spcAft>
                <a:spcPts val="800"/>
              </a:spcAft>
            </a:pPr>
            <a:r>
              <a:rPr sz="1500" b="0" i="0">
                <a:solidFill>
                  <a:srgbClr val="444444"/>
                </a:solidFill>
                <a:latin typeface="Calibri"/>
              </a:rPr>
              <a:t>We fix in advance the smallest change the sample can detect. Below that we say nothing, in either direction.</a:t>
            </a:r>
          </a:p>
          <a:p>
            <a:pPr>
              <a:lnSpc>
                <a:spcPct val="110000"/>
              </a:lnSpc>
              <a:spcAft>
                <a:spcPts val="800"/>
              </a:spcAft>
            </a:pPr>
            <a:r>
              <a:rPr sz="1500" b="0" i="0">
                <a:solidFill>
                  <a:srgbClr val="444444"/>
                </a:solidFill>
                <a:latin typeface="Calibri"/>
              </a:rPr>
              <a:t>Scoring is the authors' own code, unchanged.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THE RESULT</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Does the defense stop the attack?</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16</a:t>
            </a:r>
          </a:p>
        </p:txBody>
      </p:sp>
      <p:sp>
        <p:nvSpPr>
          <p:cNvPr id="5" name="TextBox 4"/>
          <p:cNvSpPr txBox="1"/>
          <p:nvPr/>
        </p:nvSpPr>
        <p:spPr>
          <a:xfrm>
            <a:off x="731520" y="2057400"/>
            <a:ext cx="402336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OUTCOME</a:t>
            </a:r>
          </a:p>
        </p:txBody>
      </p:sp>
      <p:sp>
        <p:nvSpPr>
          <p:cNvPr id="6" name="TextBox 5"/>
          <p:cNvSpPr txBox="1"/>
          <p:nvPr/>
        </p:nvSpPr>
        <p:spPr>
          <a:xfrm>
            <a:off x="4754880" y="2057400"/>
            <a:ext cx="557784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WHAT IT MEANS</a:t>
            </a:r>
          </a:p>
        </p:txBody>
      </p:sp>
      <p:sp>
        <p:nvSpPr>
          <p:cNvPr id="7" name="TextBox 6"/>
          <p:cNvSpPr txBox="1"/>
          <p:nvPr/>
        </p:nvSpPr>
        <p:spPr>
          <a:xfrm>
            <a:off x="10332720" y="2057400"/>
            <a:ext cx="841247" cy="274320"/>
          </a:xfrm>
          <a:prstGeom prst="rect">
            <a:avLst/>
          </a:prstGeom>
          <a:noFill/>
        </p:spPr>
        <p:txBody>
          <a:bodyPr wrap="square" lIns="0" rIns="0" tIns="0" bIns="0" anchor="t">
            <a:spAutoFit/>
          </a:bodyPr>
          <a:lstStyle/>
          <a:p>
            <a:pPr algn="r">
              <a:lnSpc>
                <a:spcPct val="106000"/>
              </a:lnSpc>
              <a:spcAft>
                <a:spcPts val="0"/>
              </a:spcAft>
            </a:pPr>
            <a:r>
              <a:rPr sz="1000" b="1" i="0">
                <a:solidFill>
                  <a:srgbClr val="777777"/>
                </a:solidFill>
                <a:latin typeface="Calibri"/>
              </a:rPr>
              <a:t>PAIRS</a:t>
            </a:r>
          </a:p>
        </p:txBody>
      </p:sp>
      <p:sp>
        <p:nvSpPr>
          <p:cNvPr id="8" name="Rectangle 7"/>
          <p:cNvSpPr/>
          <p:nvPr/>
        </p:nvSpPr>
        <p:spPr>
          <a:xfrm>
            <a:off x="731520" y="2331720"/>
            <a:ext cx="10698480"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441448"/>
            <a:ext cx="4023360" cy="310896"/>
          </a:xfrm>
          <a:prstGeom prst="rect">
            <a:avLst/>
          </a:prstGeom>
          <a:noFill/>
        </p:spPr>
        <p:txBody>
          <a:bodyPr wrap="square" lIns="0" rIns="0" tIns="0" bIns="0" anchor="t">
            <a:spAutoFit/>
          </a:bodyPr>
          <a:lstStyle/>
          <a:p>
            <a:pPr algn="l">
              <a:lnSpc>
                <a:spcPct val="106000"/>
              </a:lnSpc>
              <a:spcAft>
                <a:spcPts val="0"/>
              </a:spcAft>
            </a:pPr>
            <a:r>
              <a:rPr sz="1550" b="0" i="0">
                <a:solidFill>
                  <a:srgbClr val="444444"/>
                </a:solidFill>
                <a:latin typeface="Calibri"/>
              </a:rPr>
              <a:t>It stops the attack</a:t>
            </a:r>
          </a:p>
        </p:txBody>
      </p:sp>
      <p:sp>
        <p:nvSpPr>
          <p:cNvPr id="10" name="TextBox 9"/>
          <p:cNvSpPr txBox="1"/>
          <p:nvPr/>
        </p:nvSpPr>
        <p:spPr>
          <a:xfrm>
            <a:off x="4754880" y="2441448"/>
            <a:ext cx="5577840" cy="310896"/>
          </a:xfrm>
          <a:prstGeom prst="rect">
            <a:avLst/>
          </a:prstGeom>
          <a:noFill/>
        </p:spPr>
        <p:txBody>
          <a:bodyPr wrap="square" lIns="0" rIns="0" tIns="0" bIns="0" anchor="t">
            <a:spAutoFit/>
          </a:bodyPr>
          <a:lstStyle/>
          <a:p>
            <a:pPr algn="l">
              <a:lnSpc>
                <a:spcPct val="106000"/>
              </a:lnSpc>
              <a:spcAft>
                <a:spcPts val="0"/>
              </a:spcAft>
            </a:pPr>
            <a:r>
              <a:rPr sz="1550" b="0" i="0">
                <a:solidFill>
                  <a:srgbClr val="444444"/>
                </a:solidFill>
                <a:latin typeface="Calibri"/>
              </a:rPr>
              <a:t>the attack succeeds less often with the defense switched on</a:t>
            </a:r>
          </a:p>
        </p:txBody>
      </p:sp>
      <p:sp>
        <p:nvSpPr>
          <p:cNvPr id="11" name="TextBox 10"/>
          <p:cNvSpPr txBox="1"/>
          <p:nvPr/>
        </p:nvSpPr>
        <p:spPr>
          <a:xfrm>
            <a:off x="10332720" y="2441448"/>
            <a:ext cx="841247" cy="310896"/>
          </a:xfrm>
          <a:prstGeom prst="rect">
            <a:avLst/>
          </a:prstGeom>
          <a:noFill/>
        </p:spPr>
        <p:txBody>
          <a:bodyPr wrap="square" lIns="0" rIns="0" tIns="0" bIns="0" anchor="t">
            <a:spAutoFit/>
          </a:bodyPr>
          <a:lstStyle/>
          <a:p>
            <a:pPr algn="r">
              <a:lnSpc>
                <a:spcPct val="106000"/>
              </a:lnSpc>
              <a:spcAft>
                <a:spcPts val="0"/>
              </a:spcAft>
            </a:pPr>
            <a:r>
              <a:rPr sz="1550" b="0" i="0">
                <a:solidFill>
                  <a:srgbClr val="444444"/>
                </a:solidFill>
                <a:latin typeface="Calibri"/>
              </a:rPr>
              <a:t>5</a:t>
            </a:r>
          </a:p>
        </p:txBody>
      </p:sp>
      <p:sp>
        <p:nvSpPr>
          <p:cNvPr id="12" name="TextBox 11"/>
          <p:cNvSpPr txBox="1"/>
          <p:nvPr/>
        </p:nvSpPr>
        <p:spPr>
          <a:xfrm>
            <a:off x="731520" y="3136391"/>
            <a:ext cx="4023360" cy="310896"/>
          </a:xfrm>
          <a:prstGeom prst="rect">
            <a:avLst/>
          </a:prstGeom>
          <a:noFill/>
        </p:spPr>
        <p:txBody>
          <a:bodyPr wrap="square" lIns="0" rIns="0" tIns="0" bIns="0" anchor="t">
            <a:spAutoFit/>
          </a:bodyPr>
          <a:lstStyle/>
          <a:p>
            <a:pPr algn="l">
              <a:lnSpc>
                <a:spcPct val="106000"/>
              </a:lnSpc>
              <a:spcAft>
                <a:spcPts val="0"/>
              </a:spcAft>
            </a:pPr>
            <a:r>
              <a:rPr sz="1550" b="0" i="0">
                <a:solidFill>
                  <a:srgbClr val="444444"/>
                </a:solidFill>
                <a:latin typeface="Calibri"/>
              </a:rPr>
              <a:t>It does nothing</a:t>
            </a:r>
          </a:p>
        </p:txBody>
      </p:sp>
      <p:sp>
        <p:nvSpPr>
          <p:cNvPr id="13" name="TextBox 12"/>
          <p:cNvSpPr txBox="1"/>
          <p:nvPr/>
        </p:nvSpPr>
        <p:spPr>
          <a:xfrm>
            <a:off x="4754880" y="3136391"/>
            <a:ext cx="5577840" cy="310896"/>
          </a:xfrm>
          <a:prstGeom prst="rect">
            <a:avLst/>
          </a:prstGeom>
          <a:noFill/>
        </p:spPr>
        <p:txBody>
          <a:bodyPr wrap="square" lIns="0" rIns="0" tIns="0" bIns="0" anchor="t">
            <a:spAutoFit/>
          </a:bodyPr>
          <a:lstStyle/>
          <a:p>
            <a:pPr algn="l">
              <a:lnSpc>
                <a:spcPct val="106000"/>
              </a:lnSpc>
              <a:spcAft>
                <a:spcPts val="0"/>
              </a:spcAft>
            </a:pPr>
            <a:r>
              <a:rPr sz="1550" b="0" i="0">
                <a:solidFill>
                  <a:srgbClr val="444444"/>
                </a:solidFill>
                <a:latin typeface="Calibri"/>
              </a:rPr>
              <a:t>no readable difference either way</a:t>
            </a:r>
          </a:p>
        </p:txBody>
      </p:sp>
      <p:sp>
        <p:nvSpPr>
          <p:cNvPr id="14" name="TextBox 13"/>
          <p:cNvSpPr txBox="1"/>
          <p:nvPr/>
        </p:nvSpPr>
        <p:spPr>
          <a:xfrm>
            <a:off x="10332720" y="3136391"/>
            <a:ext cx="841247" cy="310896"/>
          </a:xfrm>
          <a:prstGeom prst="rect">
            <a:avLst/>
          </a:prstGeom>
          <a:noFill/>
        </p:spPr>
        <p:txBody>
          <a:bodyPr wrap="square" lIns="0" rIns="0" tIns="0" bIns="0" anchor="t">
            <a:spAutoFit/>
          </a:bodyPr>
          <a:lstStyle/>
          <a:p>
            <a:pPr algn="r">
              <a:lnSpc>
                <a:spcPct val="106000"/>
              </a:lnSpc>
              <a:spcAft>
                <a:spcPts val="0"/>
              </a:spcAft>
            </a:pPr>
            <a:r>
              <a:rPr sz="1550" b="0" i="0">
                <a:solidFill>
                  <a:srgbClr val="444444"/>
                </a:solidFill>
                <a:latin typeface="Calibri"/>
              </a:rPr>
              <a:t>7</a:t>
            </a:r>
          </a:p>
        </p:txBody>
      </p:sp>
      <p:sp>
        <p:nvSpPr>
          <p:cNvPr id="15" name="TextBox 14"/>
          <p:cNvSpPr txBox="1"/>
          <p:nvPr/>
        </p:nvSpPr>
        <p:spPr>
          <a:xfrm>
            <a:off x="731520" y="3831335"/>
            <a:ext cx="4023360" cy="310896"/>
          </a:xfrm>
          <a:prstGeom prst="rect">
            <a:avLst/>
          </a:prstGeom>
          <a:noFill/>
        </p:spPr>
        <p:txBody>
          <a:bodyPr wrap="square" lIns="0" rIns="0" tIns="0" bIns="0" anchor="t">
            <a:spAutoFit/>
          </a:bodyPr>
          <a:lstStyle/>
          <a:p>
            <a:pPr algn="l">
              <a:lnSpc>
                <a:spcPct val="106000"/>
              </a:lnSpc>
              <a:spcAft>
                <a:spcPts val="0"/>
              </a:spcAft>
            </a:pPr>
            <a:r>
              <a:rPr sz="1550" b="0" i="0">
                <a:solidFill>
                  <a:srgbClr val="444444"/>
                </a:solidFill>
                <a:latin typeface="Calibri"/>
              </a:rPr>
              <a:t>It makes the attack worse</a:t>
            </a:r>
          </a:p>
        </p:txBody>
      </p:sp>
      <p:sp>
        <p:nvSpPr>
          <p:cNvPr id="16" name="TextBox 15"/>
          <p:cNvSpPr txBox="1"/>
          <p:nvPr/>
        </p:nvSpPr>
        <p:spPr>
          <a:xfrm>
            <a:off x="4754880" y="3831335"/>
            <a:ext cx="5577840" cy="310896"/>
          </a:xfrm>
          <a:prstGeom prst="rect">
            <a:avLst/>
          </a:prstGeom>
          <a:noFill/>
        </p:spPr>
        <p:txBody>
          <a:bodyPr wrap="square" lIns="0" rIns="0" tIns="0" bIns="0" anchor="t">
            <a:spAutoFit/>
          </a:bodyPr>
          <a:lstStyle/>
          <a:p>
            <a:pPr algn="l">
              <a:lnSpc>
                <a:spcPct val="106000"/>
              </a:lnSpc>
              <a:spcAft>
                <a:spcPts val="0"/>
              </a:spcAft>
            </a:pPr>
            <a:r>
              <a:rPr sz="1550" b="0" i="0">
                <a:solidFill>
                  <a:srgbClr val="444444"/>
                </a:solidFill>
                <a:latin typeface="Calibri"/>
              </a:rPr>
              <a:t>the attack succeeds MORE often with the defense switched on</a:t>
            </a:r>
          </a:p>
        </p:txBody>
      </p:sp>
      <p:sp>
        <p:nvSpPr>
          <p:cNvPr id="17" name="TextBox 16"/>
          <p:cNvSpPr txBox="1"/>
          <p:nvPr/>
        </p:nvSpPr>
        <p:spPr>
          <a:xfrm>
            <a:off x="10332720" y="3831335"/>
            <a:ext cx="841247" cy="310896"/>
          </a:xfrm>
          <a:prstGeom prst="rect">
            <a:avLst/>
          </a:prstGeom>
          <a:noFill/>
        </p:spPr>
        <p:txBody>
          <a:bodyPr wrap="square" lIns="0" rIns="0" tIns="0" bIns="0" anchor="t">
            <a:spAutoFit/>
          </a:bodyPr>
          <a:lstStyle/>
          <a:p>
            <a:pPr algn="r">
              <a:lnSpc>
                <a:spcPct val="106000"/>
              </a:lnSpc>
              <a:spcAft>
                <a:spcPts val="0"/>
              </a:spcAft>
            </a:pPr>
            <a:r>
              <a:rPr sz="1550" b="0" i="0">
                <a:solidFill>
                  <a:srgbClr val="444444"/>
                </a:solidFill>
                <a:latin typeface="Calibri"/>
              </a:rPr>
              <a:t>8</a:t>
            </a:r>
          </a:p>
        </p:txBody>
      </p:sp>
      <p:sp>
        <p:nvSpPr>
          <p:cNvPr id="18" name="TextBox 17"/>
          <p:cNvSpPr txBox="1"/>
          <p:nvPr/>
        </p:nvSpPr>
        <p:spPr>
          <a:xfrm>
            <a:off x="731520" y="4315968"/>
            <a:ext cx="10725912" cy="274320"/>
          </a:xfrm>
          <a:prstGeom prst="rect">
            <a:avLst/>
          </a:prstGeom>
          <a:noFill/>
        </p:spPr>
        <p:txBody>
          <a:bodyPr wrap="square" lIns="0" rIns="0" tIns="0" bIns="0" anchor="t">
            <a:spAutoFit/>
          </a:bodyPr>
          <a:lstStyle/>
          <a:p>
            <a:pPr algn="l">
              <a:lnSpc>
                <a:spcPct val="106000"/>
              </a:lnSpc>
              <a:spcAft>
                <a:spcPts val="0"/>
              </a:spcAft>
            </a:pPr>
            <a:r>
              <a:rPr sz="1150" b="0" i="0">
                <a:solidFill>
                  <a:srgbClr val="777777"/>
                </a:solidFill>
                <a:latin typeface="Calibri"/>
              </a:rPr>
              <a:t>out of 20 pairs measured</a:t>
            </a:r>
          </a:p>
        </p:txBody>
      </p:sp>
      <p:sp>
        <p:nvSpPr>
          <p:cNvPr id="19" name="TextBox 18"/>
          <p:cNvSpPr txBox="1"/>
          <p:nvPr/>
        </p:nvSpPr>
        <p:spPr>
          <a:xfrm>
            <a:off x="731520" y="4617720"/>
            <a:ext cx="10725912" cy="1783080"/>
          </a:xfrm>
          <a:prstGeom prst="rect">
            <a:avLst/>
          </a:prstGeom>
          <a:noFill/>
        </p:spPr>
        <p:txBody>
          <a:bodyPr wrap="square" lIns="0" rIns="0" tIns="0" bIns="0" anchor="t">
            <a:spAutoFit/>
          </a:bodyPr>
          <a:lstStyle/>
          <a:p>
            <a:pPr algn="l">
              <a:lnSpc>
                <a:spcPct val="110000"/>
              </a:lnSpc>
              <a:spcAft>
                <a:spcPts val="900"/>
              </a:spcAft>
            </a:pPr>
            <a:r>
              <a:rPr sz="1500" b="1" i="0">
                <a:solidFill>
                  <a:srgbClr val="111111"/>
                </a:solidFill>
                <a:latin typeface="Calibri"/>
              </a:rPr>
              <a:t>A defense helped in 5 cases out of 20. In 8 it made the attack work better than no defense at all.</a:t>
            </a:r>
          </a:p>
          <a:p>
            <a:pPr>
              <a:lnSpc>
                <a:spcPct val="110000"/>
              </a:lnSpc>
              <a:spcAft>
                <a:spcPts val="900"/>
              </a:spcAft>
            </a:pPr>
            <a:r>
              <a:rPr sz="1500" b="0" i="0">
                <a:solidFill>
                  <a:srgbClr val="444444"/>
                </a:solidFill>
                <a:latin typeface="Calibri"/>
              </a:rPr>
              <a:t>In 5 of those 8 the attack does almost nothing to a model with no defense at all. The defense is what makes it work.</a:t>
            </a:r>
          </a:p>
          <a:p>
            <a:pPr>
              <a:lnSpc>
                <a:spcPct val="110000"/>
              </a:lnSpc>
              <a:spcAft>
                <a:spcPts val="900"/>
              </a:spcAft>
            </a:pPr>
            <a:r>
              <a:rPr sz="1500" b="1" i="0">
                <a:solidFill>
                  <a:srgbClr val="111111"/>
                </a:solidFill>
                <a:latin typeface="Calibri"/>
              </a:rPr>
              <a:t>That is the finding. A defense built for one kind of failure is not neutral against the other kind. It can be the reason the attack succeeds.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THE RESULT, CONTINUED</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The same defense, the same attack, two models</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17</a:t>
            </a:r>
          </a:p>
        </p:txBody>
      </p:sp>
      <p:sp>
        <p:nvSpPr>
          <p:cNvPr id="5" name="TextBox 4"/>
          <p:cNvSpPr txBox="1"/>
          <p:nvPr/>
        </p:nvSpPr>
        <p:spPr>
          <a:xfrm>
            <a:off x="731520" y="1874519"/>
            <a:ext cx="10725912" cy="365760"/>
          </a:xfrm>
          <a:prstGeom prst="rect">
            <a:avLst/>
          </a:prstGeom>
          <a:noFill/>
        </p:spPr>
        <p:txBody>
          <a:bodyPr wrap="square" lIns="0" rIns="0" tIns="0" bIns="0" anchor="t">
            <a:spAutoFit/>
          </a:bodyPr>
          <a:lstStyle/>
          <a:p>
            <a:pPr algn="l">
              <a:lnSpc>
                <a:spcPct val="106000"/>
              </a:lnSpc>
              <a:spcAft>
                <a:spcPts val="0"/>
              </a:spcAft>
            </a:pPr>
            <a:r>
              <a:rPr sz="1400" b="0" i="0">
                <a:solidFill>
                  <a:srgbClr val="444444"/>
                </a:solidFill>
                <a:latin typeface="Calibri"/>
              </a:rPr>
              <a:t>We repeated pairs on a second model. The answer did not repeat with them.</a:t>
            </a:r>
          </a:p>
        </p:txBody>
      </p:sp>
      <p:sp>
        <p:nvSpPr>
          <p:cNvPr id="6" name="TextBox 5"/>
          <p:cNvSpPr txBox="1"/>
          <p:nvPr/>
        </p:nvSpPr>
        <p:spPr>
          <a:xfrm>
            <a:off x="731520" y="2304288"/>
            <a:ext cx="420624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DEFENSE AND ATTACK</a:t>
            </a:r>
          </a:p>
        </p:txBody>
      </p:sp>
      <p:sp>
        <p:nvSpPr>
          <p:cNvPr id="7" name="TextBox 6"/>
          <p:cNvSpPr txBox="1"/>
          <p:nvPr/>
        </p:nvSpPr>
        <p:spPr>
          <a:xfrm>
            <a:off x="4937759" y="2304288"/>
            <a:ext cx="201168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ON LLAMA-3</a:t>
            </a:r>
          </a:p>
        </p:txBody>
      </p:sp>
      <p:sp>
        <p:nvSpPr>
          <p:cNvPr id="8" name="TextBox 7"/>
          <p:cNvSpPr txBox="1"/>
          <p:nvPr/>
        </p:nvSpPr>
        <p:spPr>
          <a:xfrm>
            <a:off x="6949440" y="2304288"/>
            <a:ext cx="201168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ON MISTRAL</a:t>
            </a:r>
          </a:p>
        </p:txBody>
      </p:sp>
      <p:sp>
        <p:nvSpPr>
          <p:cNvPr id="9" name="TextBox 8"/>
          <p:cNvSpPr txBox="1"/>
          <p:nvPr/>
        </p:nvSpPr>
        <p:spPr>
          <a:xfrm>
            <a:off x="8961120" y="2304288"/>
            <a:ext cx="246888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WHAT MOVED</a:t>
            </a:r>
          </a:p>
        </p:txBody>
      </p:sp>
      <p:sp>
        <p:nvSpPr>
          <p:cNvPr id="10" name="Rectangle 9"/>
          <p:cNvSpPr/>
          <p:nvPr/>
        </p:nvSpPr>
        <p:spPr>
          <a:xfrm>
            <a:off x="731520" y="2578608"/>
            <a:ext cx="10698480"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688336"/>
            <a:ext cx="420624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Context-reliance vs tone steering</a:t>
            </a:r>
          </a:p>
        </p:txBody>
      </p:sp>
      <p:sp>
        <p:nvSpPr>
          <p:cNvPr id="12" name="TextBox 11"/>
          <p:cNvSpPr txBox="1"/>
          <p:nvPr/>
        </p:nvSpPr>
        <p:spPr>
          <a:xfrm>
            <a:off x="4937759" y="2688336"/>
            <a:ext cx="201168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+95 pts worse</a:t>
            </a:r>
          </a:p>
        </p:txBody>
      </p:sp>
      <p:sp>
        <p:nvSpPr>
          <p:cNvPr id="13" name="TextBox 12"/>
          <p:cNvSpPr txBox="1"/>
          <p:nvPr/>
        </p:nvSpPr>
        <p:spPr>
          <a:xfrm>
            <a:off x="6949440" y="2688336"/>
            <a:ext cx="201168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+20 pts worse</a:t>
            </a:r>
          </a:p>
        </p:txBody>
      </p:sp>
      <p:sp>
        <p:nvSpPr>
          <p:cNvPr id="14" name="TextBox 13"/>
          <p:cNvSpPr txBox="1"/>
          <p:nvPr/>
        </p:nvSpPr>
        <p:spPr>
          <a:xfrm>
            <a:off x="8961120" y="2688336"/>
            <a:ext cx="246888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the size of the harm</a:t>
            </a:r>
          </a:p>
        </p:txBody>
      </p:sp>
      <p:sp>
        <p:nvSpPr>
          <p:cNvPr id="15" name="TextBox 14"/>
          <p:cNvSpPr txBox="1"/>
          <p:nvPr/>
        </p:nvSpPr>
        <p:spPr>
          <a:xfrm>
            <a:off x="731520" y="3346704"/>
            <a:ext cx="420624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Aggregation vs forced refusal</a:t>
            </a:r>
          </a:p>
        </p:txBody>
      </p:sp>
      <p:sp>
        <p:nvSpPr>
          <p:cNvPr id="16" name="TextBox 15"/>
          <p:cNvSpPr txBox="1"/>
          <p:nvPr/>
        </p:nvSpPr>
        <p:spPr>
          <a:xfrm>
            <a:off x="4937759" y="3346704"/>
            <a:ext cx="201168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+85 pts worse</a:t>
            </a:r>
          </a:p>
        </p:txBody>
      </p:sp>
      <p:sp>
        <p:nvSpPr>
          <p:cNvPr id="17" name="TextBox 16"/>
          <p:cNvSpPr txBox="1"/>
          <p:nvPr/>
        </p:nvSpPr>
        <p:spPr>
          <a:xfrm>
            <a:off x="6949440" y="3346704"/>
            <a:ext cx="201168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no readable effect</a:t>
            </a:r>
          </a:p>
        </p:txBody>
      </p:sp>
      <p:sp>
        <p:nvSpPr>
          <p:cNvPr id="18" name="TextBox 17"/>
          <p:cNvSpPr txBox="1"/>
          <p:nvPr/>
        </p:nvSpPr>
        <p:spPr>
          <a:xfrm>
            <a:off x="8961120" y="3346704"/>
            <a:ext cx="246888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whether it happens at all</a:t>
            </a:r>
          </a:p>
        </p:txBody>
      </p:sp>
      <p:sp>
        <p:nvSpPr>
          <p:cNvPr id="19" name="TextBox 18"/>
          <p:cNvSpPr txBox="1"/>
          <p:nvPr/>
        </p:nvSpPr>
        <p:spPr>
          <a:xfrm>
            <a:off x="731520" y="4005072"/>
            <a:ext cx="420624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Context-reliance vs false answers</a:t>
            </a:r>
          </a:p>
        </p:txBody>
      </p:sp>
      <p:sp>
        <p:nvSpPr>
          <p:cNvPr id="20" name="TextBox 19"/>
          <p:cNvSpPr txBox="1"/>
          <p:nvPr/>
        </p:nvSpPr>
        <p:spPr>
          <a:xfrm>
            <a:off x="4937759" y="4005072"/>
            <a:ext cx="201168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+9 pts worse</a:t>
            </a:r>
          </a:p>
        </p:txBody>
      </p:sp>
      <p:sp>
        <p:nvSpPr>
          <p:cNvPr id="21" name="TextBox 20"/>
          <p:cNvSpPr txBox="1"/>
          <p:nvPr/>
        </p:nvSpPr>
        <p:spPr>
          <a:xfrm>
            <a:off x="6949440" y="4005072"/>
            <a:ext cx="201168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11 pts BETTER</a:t>
            </a:r>
          </a:p>
        </p:txBody>
      </p:sp>
      <p:sp>
        <p:nvSpPr>
          <p:cNvPr id="22" name="TextBox 21"/>
          <p:cNvSpPr txBox="1"/>
          <p:nvPr/>
        </p:nvSpPr>
        <p:spPr>
          <a:xfrm>
            <a:off x="8961120" y="4005072"/>
            <a:ext cx="246888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which way it points</a:t>
            </a:r>
          </a:p>
        </p:txBody>
      </p:sp>
      <p:sp>
        <p:nvSpPr>
          <p:cNvPr id="23" name="TextBox 22"/>
          <p:cNvSpPr txBox="1"/>
          <p:nvPr/>
        </p:nvSpPr>
        <p:spPr>
          <a:xfrm>
            <a:off x="731520" y="4526280"/>
            <a:ext cx="10725912" cy="1874519"/>
          </a:xfrm>
          <a:prstGeom prst="rect">
            <a:avLst/>
          </a:prstGeom>
          <a:noFill/>
        </p:spPr>
        <p:txBody>
          <a:bodyPr wrap="square" lIns="0" rIns="0" tIns="0" bIns="0" anchor="t">
            <a:spAutoFit/>
          </a:bodyPr>
          <a:lstStyle/>
          <a:p>
            <a:pPr algn="l">
              <a:lnSpc>
                <a:spcPct val="110000"/>
              </a:lnSpc>
              <a:spcAft>
                <a:spcPts val="900"/>
              </a:spcAft>
            </a:pPr>
            <a:r>
              <a:rPr sz="1500" b="1" i="0">
                <a:solidFill>
                  <a:srgbClr val="111111"/>
                </a:solidFill>
                <a:latin typeface="Calibri"/>
              </a:rPr>
              <a:t>In the last row the same defense stops the attack on one model and helps it on the other. Not a smaller effect. The opposite effect.</a:t>
            </a:r>
          </a:p>
          <a:p>
            <a:pPr>
              <a:lnSpc>
                <a:spcPct val="110000"/>
              </a:lnSpc>
              <a:spcAft>
                <a:spcPts val="900"/>
              </a:spcAft>
            </a:pPr>
            <a:r>
              <a:rPr sz="1500" b="0" i="0">
                <a:solidFill>
                  <a:srgbClr val="444444"/>
                </a:solidFill>
                <a:latin typeface="Calibri"/>
              </a:rPr>
              <a:t>So a result from one model is one measurement, not a property of the defense. Almost every paper in our map reports one model.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WHY IT HAPPENS</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A cheap test predicts it. Two guesses failed.</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18</a:t>
            </a:r>
          </a:p>
        </p:txBody>
      </p:sp>
      <p:sp>
        <p:nvSpPr>
          <p:cNvPr id="5" name="TextBox 4"/>
          <p:cNvSpPr txBox="1"/>
          <p:nvPr/>
        </p:nvSpPr>
        <p:spPr>
          <a:xfrm>
            <a:off x="731520" y="1874519"/>
            <a:ext cx="10725912" cy="4526280"/>
          </a:xfrm>
          <a:prstGeom prst="rect">
            <a:avLst/>
          </a:prstGeom>
          <a:noFill/>
        </p:spPr>
        <p:txBody>
          <a:bodyPr wrap="square" lIns="0" rIns="0" tIns="0" bIns="0" anchor="t">
            <a:spAutoFit/>
          </a:bodyPr>
          <a:lstStyle/>
          <a:p>
            <a:pPr algn="l">
              <a:lnSpc>
                <a:spcPct val="110000"/>
              </a:lnSpc>
              <a:spcAft>
                <a:spcPts val="600"/>
              </a:spcAft>
            </a:pPr>
            <a:r>
              <a:rPr sz="1500" b="1" i="0">
                <a:solidFill>
                  <a:srgbClr val="111111"/>
                </a:solidFill>
                <a:latin typeface="Calibri"/>
              </a:rPr>
              <a:t>An aggregating defense reads each passage on its own. So we measured what each model does when shown one poisoned passage alone, and compared that with what the defense then did overall.</a:t>
            </a:r>
          </a:p>
        </p:txBody>
      </p:sp>
      <p:sp>
        <p:nvSpPr>
          <p:cNvPr id="6" name="TextBox 5"/>
          <p:cNvSpPr txBox="1"/>
          <p:nvPr/>
        </p:nvSpPr>
        <p:spPr>
          <a:xfrm>
            <a:off x="731520" y="2651760"/>
            <a:ext cx="585216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
            </a:r>
          </a:p>
        </p:txBody>
      </p:sp>
      <p:sp>
        <p:nvSpPr>
          <p:cNvPr id="7" name="TextBox 6"/>
          <p:cNvSpPr txBox="1"/>
          <p:nvPr/>
        </p:nvSpPr>
        <p:spPr>
          <a:xfrm>
            <a:off x="6583680" y="2651760"/>
            <a:ext cx="484632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ACROSS FIVE MODELS</a:t>
            </a:r>
          </a:p>
        </p:txBody>
      </p:sp>
      <p:sp>
        <p:nvSpPr>
          <p:cNvPr id="8" name="Rectangle 7"/>
          <p:cNvSpPr/>
          <p:nvPr/>
        </p:nvSpPr>
        <p:spPr>
          <a:xfrm>
            <a:off x="731520" y="2926079"/>
            <a:ext cx="10698480"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035808"/>
            <a:ext cx="585216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One-passage behaviour predicts the defended outcome</a:t>
            </a:r>
          </a:p>
        </p:txBody>
      </p:sp>
      <p:sp>
        <p:nvSpPr>
          <p:cNvPr id="10" name="TextBox 9"/>
          <p:cNvSpPr txBox="1"/>
          <p:nvPr/>
        </p:nvSpPr>
        <p:spPr>
          <a:xfrm>
            <a:off x="6583680" y="3035808"/>
            <a:ext cx="484632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correlation 0.9999</a:t>
            </a:r>
          </a:p>
        </p:txBody>
      </p:sp>
      <p:sp>
        <p:nvSpPr>
          <p:cNvPr id="11" name="TextBox 10"/>
          <p:cNvSpPr txBox="1"/>
          <p:nvPr/>
        </p:nvSpPr>
        <p:spPr>
          <a:xfrm>
            <a:off x="731520" y="3547872"/>
            <a:ext cx="585216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The attack with no defense at all</a:t>
            </a:r>
          </a:p>
        </p:txBody>
      </p:sp>
      <p:sp>
        <p:nvSpPr>
          <p:cNvPr id="12" name="TextBox 11"/>
          <p:cNvSpPr txBox="1"/>
          <p:nvPr/>
        </p:nvSpPr>
        <p:spPr>
          <a:xfrm>
            <a:off x="6583680" y="3547872"/>
            <a:ext cx="484632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0.0%, every model, every time</a:t>
            </a:r>
          </a:p>
        </p:txBody>
      </p:sp>
      <p:sp>
        <p:nvSpPr>
          <p:cNvPr id="13" name="TextBox 12"/>
          <p:cNvSpPr txBox="1"/>
          <p:nvPr/>
        </p:nvSpPr>
        <p:spPr>
          <a:xfrm>
            <a:off x="731520" y="3840480"/>
            <a:ext cx="10725912" cy="292608"/>
          </a:xfrm>
          <a:prstGeom prst="rect">
            <a:avLst/>
          </a:prstGeom>
          <a:noFill/>
        </p:spPr>
        <p:txBody>
          <a:bodyPr wrap="square" lIns="0" rIns="0" tIns="0" bIns="0" anchor="t">
            <a:spAutoFit/>
          </a:bodyPr>
          <a:lstStyle/>
          <a:p>
            <a:pPr algn="l">
              <a:lnSpc>
                <a:spcPct val="106000"/>
              </a:lnSpc>
              <a:spcAft>
                <a:spcPts val="800"/>
              </a:spcAft>
            </a:pPr>
            <a:r>
              <a:rPr sz="1500" b="1" i="0">
                <a:solidFill>
                  <a:srgbClr val="111111"/>
                </a:solidFill>
                <a:latin typeface="Calibri"/>
              </a:rPr>
              <a:t>Two explanations we tested and had to drop</a:t>
            </a:r>
          </a:p>
        </p:txBody>
      </p:sp>
      <p:sp>
        <p:nvSpPr>
          <p:cNvPr id="14" name="TextBox 13"/>
          <p:cNvSpPr txBox="1"/>
          <p:nvPr/>
        </p:nvSpPr>
        <p:spPr>
          <a:xfrm>
            <a:off x="731520" y="4224528"/>
            <a:ext cx="438912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WE EXPECTED</a:t>
            </a:r>
          </a:p>
        </p:txBody>
      </p:sp>
      <p:sp>
        <p:nvSpPr>
          <p:cNvPr id="15" name="TextBox 14"/>
          <p:cNvSpPr txBox="1"/>
          <p:nvPr/>
        </p:nvSpPr>
        <p:spPr>
          <a:xfrm>
            <a:off x="5120640" y="4224528"/>
            <a:ext cx="630936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WHAT HAPPENED</a:t>
            </a:r>
          </a:p>
        </p:txBody>
      </p:sp>
      <p:sp>
        <p:nvSpPr>
          <p:cNvPr id="16" name="Rectangle 15"/>
          <p:cNvSpPr/>
          <p:nvPr/>
        </p:nvSpPr>
        <p:spPr>
          <a:xfrm>
            <a:off x="731520" y="4498848"/>
            <a:ext cx="10698480"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4608576"/>
            <a:ext cx="438912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the attack needs a cautious model</a:t>
            </a:r>
          </a:p>
        </p:txBody>
      </p:sp>
      <p:sp>
        <p:nvSpPr>
          <p:cNvPr id="18" name="TextBox 17"/>
          <p:cNvSpPr txBox="1"/>
          <p:nvPr/>
        </p:nvSpPr>
        <p:spPr>
          <a:xfrm>
            <a:off x="5120640" y="4608576"/>
            <a:ext cx="63093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the most safety-trained model we have never falls for it</a:t>
            </a:r>
          </a:p>
        </p:txBody>
      </p:sp>
      <p:sp>
        <p:nvSpPr>
          <p:cNvPr id="19" name="TextBox 18"/>
          <p:cNvSpPr txBox="1"/>
          <p:nvPr/>
        </p:nvSpPr>
        <p:spPr>
          <a:xfrm>
            <a:off x="731520" y="5138928"/>
            <a:ext cx="438912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the attack needs an obedient model</a:t>
            </a:r>
          </a:p>
        </p:txBody>
      </p:sp>
      <p:sp>
        <p:nvSpPr>
          <p:cNvPr id="20" name="TextBox 19"/>
          <p:cNvSpPr txBox="1"/>
          <p:nvPr/>
        </p:nvSpPr>
        <p:spPr>
          <a:xfrm>
            <a:off x="5120640" y="5138928"/>
            <a:ext cx="63093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a model that obeys 70% of planted orders still never falls for it</a:t>
            </a:r>
          </a:p>
        </p:txBody>
      </p:sp>
      <p:sp>
        <p:nvSpPr>
          <p:cNvPr id="21" name="TextBox 20"/>
          <p:cNvSpPr txBox="1"/>
          <p:nvPr/>
        </p:nvSpPr>
        <p:spPr>
          <a:xfrm>
            <a:off x="731520" y="5394960"/>
            <a:ext cx="10725912" cy="1005839"/>
          </a:xfrm>
          <a:prstGeom prst="rect">
            <a:avLst/>
          </a:prstGeom>
          <a:noFill/>
        </p:spPr>
        <p:txBody>
          <a:bodyPr wrap="square" lIns="0" rIns="0" tIns="0" bIns="0" anchor="t">
            <a:spAutoFit/>
          </a:bodyPr>
          <a:lstStyle/>
          <a:p>
            <a:pPr algn="l">
              <a:lnSpc>
                <a:spcPct val="110000"/>
              </a:lnSpc>
              <a:spcAft>
                <a:spcPts val="800"/>
              </a:spcAft>
            </a:pPr>
            <a:r>
              <a:rPr sz="1500" b="1" i="0">
                <a:solidFill>
                  <a:srgbClr val="111111"/>
                </a:solidFill>
                <a:latin typeface="Calibri"/>
              </a:rPr>
              <a:t>What is left is narrower and more useful. The attack needs a model that lets a retrieved document decide whether it answers at all.</a:t>
            </a:r>
          </a:p>
          <a:p>
            <a:pPr>
              <a:lnSpc>
                <a:spcPct val="110000"/>
              </a:lnSpc>
              <a:spcAft>
                <a:spcPts val="800"/>
              </a:spcAft>
            </a:pPr>
            <a:r>
              <a:rPr sz="1500" b="0" i="0">
                <a:solidFill>
                  <a:srgbClr val="444444"/>
                </a:solidFill>
                <a:latin typeface="Calibri"/>
              </a:rPr>
              <a:t>That is one cheap test away, and it is not the same thing as being safe. The safest model here is the one the attack cannot touch.</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WHERE WE ARE NOW</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What is finished and what is still running</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19</a:t>
            </a:r>
          </a:p>
        </p:txBody>
      </p:sp>
      <p:sp>
        <p:nvSpPr>
          <p:cNvPr id="5" name="TextBox 4"/>
          <p:cNvSpPr txBox="1"/>
          <p:nvPr/>
        </p:nvSpPr>
        <p:spPr>
          <a:xfrm>
            <a:off x="731520" y="2011680"/>
            <a:ext cx="173736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DONE</a:t>
            </a:r>
          </a:p>
        </p:txBody>
      </p:sp>
      <p:sp>
        <p:nvSpPr>
          <p:cNvPr id="6" name="TextBox 5"/>
          <p:cNvSpPr txBox="1"/>
          <p:nvPr/>
        </p:nvSpPr>
        <p:spPr>
          <a:xfrm>
            <a:off x="2468880" y="2011680"/>
            <a:ext cx="347472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
            </a:r>
          </a:p>
        </p:txBody>
      </p:sp>
      <p:sp>
        <p:nvSpPr>
          <p:cNvPr id="7" name="Rectangle 6"/>
          <p:cNvSpPr/>
          <p:nvPr/>
        </p:nvSpPr>
        <p:spPr>
          <a:xfrm>
            <a:off x="731520" y="2286000"/>
            <a:ext cx="5212079"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2395728"/>
            <a:ext cx="17373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1 cell</a:t>
            </a:r>
          </a:p>
        </p:txBody>
      </p:sp>
      <p:sp>
        <p:nvSpPr>
          <p:cNvPr id="9" name="TextBox 8"/>
          <p:cNvSpPr txBox="1"/>
          <p:nvPr/>
        </p:nvSpPr>
        <p:spPr>
          <a:xfrm>
            <a:off x="2468880" y="2395728"/>
            <a:ext cx="347472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worked through: the retrieved document, answering from false content</a:t>
            </a:r>
          </a:p>
        </p:txBody>
      </p:sp>
      <p:sp>
        <p:nvSpPr>
          <p:cNvPr id="10" name="TextBox 9"/>
          <p:cNvSpPr txBox="1"/>
          <p:nvPr/>
        </p:nvSpPr>
        <p:spPr>
          <a:xfrm>
            <a:off x="731520" y="2944368"/>
            <a:ext cx="17373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20 pairs</a:t>
            </a:r>
          </a:p>
        </p:txBody>
      </p:sp>
      <p:sp>
        <p:nvSpPr>
          <p:cNvPr id="11" name="TextBox 10"/>
          <p:cNvSpPr txBox="1"/>
          <p:nvPr/>
        </p:nvSpPr>
        <p:spPr>
          <a:xfrm>
            <a:off x="2468880" y="2944368"/>
            <a:ext cx="347472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measured, none of them previously tested</a:t>
            </a:r>
          </a:p>
        </p:txBody>
      </p:sp>
      <p:sp>
        <p:nvSpPr>
          <p:cNvPr id="12" name="TextBox 11"/>
          <p:cNvSpPr txBox="1"/>
          <p:nvPr/>
        </p:nvSpPr>
        <p:spPr>
          <a:xfrm>
            <a:off x="731520" y="3493008"/>
            <a:ext cx="17373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3 models</a:t>
            </a:r>
          </a:p>
        </p:txBody>
      </p:sp>
      <p:sp>
        <p:nvSpPr>
          <p:cNvPr id="13" name="TextBox 12"/>
          <p:cNvSpPr txBox="1"/>
          <p:nvPr/>
        </p:nvSpPr>
        <p:spPr>
          <a:xfrm>
            <a:off x="2468880" y="3493008"/>
            <a:ext cx="347472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including controlled repeats of the same pair on a second model</a:t>
            </a:r>
          </a:p>
        </p:txBody>
      </p:sp>
      <p:sp>
        <p:nvSpPr>
          <p:cNvPr id="14" name="TextBox 13"/>
          <p:cNvSpPr txBox="1"/>
          <p:nvPr/>
        </p:nvSpPr>
        <p:spPr>
          <a:xfrm>
            <a:off x="731520" y="4041648"/>
            <a:ext cx="17373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5 models</a:t>
            </a:r>
          </a:p>
        </p:txBody>
      </p:sp>
      <p:sp>
        <p:nvSpPr>
          <p:cNvPr id="15" name="TextBox 14"/>
          <p:cNvSpPr txBox="1"/>
          <p:nvPr/>
        </p:nvSpPr>
        <p:spPr>
          <a:xfrm>
            <a:off x="2468880" y="4041648"/>
            <a:ext cx="347472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swept to find what makes one model break where another does not</a:t>
            </a:r>
          </a:p>
        </p:txBody>
      </p:sp>
      <p:sp>
        <p:nvSpPr>
          <p:cNvPr id="16" name="TextBox 15"/>
          <p:cNvSpPr txBox="1"/>
          <p:nvPr/>
        </p:nvSpPr>
        <p:spPr>
          <a:xfrm>
            <a:off x="731520" y="4114800"/>
            <a:ext cx="173736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RUNNING NOW</a:t>
            </a:r>
          </a:p>
        </p:txBody>
      </p:sp>
      <p:sp>
        <p:nvSpPr>
          <p:cNvPr id="17" name="TextBox 16"/>
          <p:cNvSpPr txBox="1"/>
          <p:nvPr/>
        </p:nvSpPr>
        <p:spPr>
          <a:xfrm>
            <a:off x="2468880" y="4114800"/>
            <a:ext cx="347472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
            </a:r>
          </a:p>
        </p:txBody>
      </p:sp>
      <p:sp>
        <p:nvSpPr>
          <p:cNvPr id="18" name="Rectangle 17"/>
          <p:cNvSpPr/>
          <p:nvPr/>
        </p:nvSpPr>
        <p:spPr>
          <a:xfrm>
            <a:off x="731520" y="4389120"/>
            <a:ext cx="5212079"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4498848"/>
            <a:ext cx="17373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5 models</a:t>
            </a:r>
          </a:p>
        </p:txBody>
      </p:sp>
      <p:sp>
        <p:nvSpPr>
          <p:cNvPr id="20" name="TextBox 19"/>
          <p:cNvSpPr txBox="1"/>
          <p:nvPr/>
        </p:nvSpPr>
        <p:spPr>
          <a:xfrm>
            <a:off x="2468880" y="4498848"/>
            <a:ext cx="347472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the second version of the aggregating defense, across the same five</a:t>
            </a:r>
          </a:p>
        </p:txBody>
      </p:sp>
      <p:sp>
        <p:nvSpPr>
          <p:cNvPr id="21" name="TextBox 20"/>
          <p:cNvSpPr txBox="1"/>
          <p:nvPr/>
        </p:nvSpPr>
        <p:spPr>
          <a:xfrm>
            <a:off x="6766559" y="1920240"/>
            <a:ext cx="5029200" cy="292608"/>
          </a:xfrm>
          <a:prstGeom prst="rect">
            <a:avLst/>
          </a:prstGeom>
          <a:noFill/>
        </p:spPr>
        <p:txBody>
          <a:bodyPr wrap="square" lIns="0" rIns="0" tIns="0" bIns="0" anchor="t">
            <a:spAutoFit/>
          </a:bodyPr>
          <a:lstStyle/>
          <a:p>
            <a:pPr algn="l">
              <a:lnSpc>
                <a:spcPct val="106000"/>
              </a:lnSpc>
              <a:spcAft>
                <a:spcPts val="600"/>
              </a:spcAft>
            </a:pPr>
            <a:r>
              <a:rPr sz="1500" b="1" i="0">
                <a:solidFill>
                  <a:srgbClr val="111111"/>
                </a:solidFill>
                <a:latin typeface="Calibri"/>
              </a:rPr>
              <a:t>Left to do</a:t>
            </a:r>
          </a:p>
        </p:txBody>
      </p:sp>
      <p:sp>
        <p:nvSpPr>
          <p:cNvPr id="22" name="TextBox 21"/>
          <p:cNvSpPr txBox="1"/>
          <p:nvPr/>
        </p:nvSpPr>
        <p:spPr>
          <a:xfrm>
            <a:off x="6766559" y="2267712"/>
            <a:ext cx="5029200" cy="4133087"/>
          </a:xfrm>
          <a:prstGeom prst="rect">
            <a:avLst/>
          </a:prstGeom>
          <a:noFill/>
        </p:spPr>
        <p:txBody>
          <a:bodyPr wrap="square" lIns="0" rIns="0" tIns="0" bIns="0" anchor="t">
            <a:spAutoFit/>
          </a:bodyPr>
          <a:lstStyle/>
          <a:p>
            <a:pPr algn="l">
              <a:lnSpc>
                <a:spcPct val="110000"/>
              </a:lnSpc>
              <a:spcAft>
                <a:spcPts val="1000"/>
              </a:spcAft>
            </a:pPr>
            <a:r>
              <a:rPr sz="1300" b="0" i="0">
                <a:solidFill>
                  <a:srgbClr val="444444"/>
                </a:solidFill>
                <a:latin typeface="Calibri"/>
              </a:rPr>
              <a:t>Measure directly whether a model lets a document decide if it answers — the property the sweep left pointing at, with no measurement yet attached.</a:t>
            </a:r>
          </a:p>
          <a:p>
            <a:pPr>
              <a:lnSpc>
                <a:spcPct val="110000"/>
              </a:lnSpc>
              <a:spcAft>
                <a:spcPts val="1000"/>
              </a:spcAft>
            </a:pPr>
            <a:r>
              <a:rPr sz="1300" b="0" i="0">
                <a:solidFill>
                  <a:srgbClr val="444444"/>
                </a:solidFill>
                <a:latin typeface="Calibri"/>
              </a:rPr>
              <a:t>One more attack in this cell: a third poisoning method with released code.</a:t>
            </a:r>
          </a:p>
          <a:p>
            <a:pPr>
              <a:lnSpc>
                <a:spcPct val="110000"/>
              </a:lnSpc>
              <a:spcAft>
                <a:spcPts val="1000"/>
              </a:spcAft>
            </a:pPr>
            <a:r>
              <a:rPr sz="1300" b="0" i="0">
                <a:solidFill>
                  <a:srgbClr val="444444"/>
                </a:solidFill>
                <a:latin typeface="Calibri"/>
              </a:rPr>
              <a:t>An aggregation defense from a different research group, to check the rule is not one laboratory's habit.</a:t>
            </a:r>
          </a:p>
          <a:p>
            <a:pPr>
              <a:lnSpc>
                <a:spcPct val="110000"/>
              </a:lnSpc>
              <a:spcAft>
                <a:spcPts val="1000"/>
              </a:spcAft>
            </a:pPr>
            <a:r>
              <a:rPr sz="1300" b="0" i="0">
                <a:solidFill>
                  <a:srgbClr val="444444"/>
                </a:solidFill>
                <a:latin typeface="Calibri"/>
              </a:rPr>
              <a:t>Then the next cell on the map. The largest untested pool is a different route in, with four attacks and seventy-nine defenses facing each other and nothing between them.</a:t>
            </a:r>
          </a:p>
          <a:p>
            <a:pPr>
              <a:lnSpc>
                <a:spcPct val="110000"/>
              </a:lnSpc>
              <a:spcAft>
                <a:spcPts val="1000"/>
              </a:spcAft>
            </a:pPr>
            <a:r>
              <a:rPr sz="1300" b="0" i="0">
                <a:solidFill>
                  <a:srgbClr val="444444"/>
                </a:solidFill>
                <a:latin typeface="Calibri"/>
              </a:rPr>
              <a:t>99 defense papers name an attack on our map and never test against it. Those are the next candidates after that.</a:t>
            </a:r>
          </a:p>
        </p:txBody>
      </p:sp>
      <p:sp>
        <p:nvSpPr>
          <p:cNvPr id="23" name="TextBox 22"/>
          <p:cNvSpPr txBox="1"/>
          <p:nvPr/>
        </p:nvSpPr>
        <p:spPr>
          <a:xfrm>
            <a:off x="731520" y="5120640"/>
            <a:ext cx="10725912" cy="1280160"/>
          </a:xfrm>
          <a:prstGeom prst="rect">
            <a:avLst/>
          </a:prstGeom>
          <a:noFill/>
        </p:spPr>
        <p:txBody>
          <a:bodyPr wrap="square" lIns="0" rIns="0" tIns="0" bIns="0" anchor="t">
            <a:spAutoFit/>
          </a:bodyPr>
          <a:lstStyle/>
          <a:p>
            <a:pPr algn="l">
              <a:lnSpc>
                <a:spcPct val="110000"/>
              </a:lnSpc>
              <a:spcAft>
                <a:spcPts val="600"/>
              </a:spcAft>
            </a:pPr>
            <a:r>
              <a:rPr sz="1500" b="1" i="0">
                <a:solidFill>
                  <a:srgbClr val="111111"/>
                </a:solidFill>
                <a:latin typeface="Calibri"/>
              </a:rPr>
              <a:t>The cell we finished took four attacks and five defenses. The map holds 10 more cells with both sides present and nothing tested between them.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