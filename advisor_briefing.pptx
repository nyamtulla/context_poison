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this began as a survey and became a measurement study. The headline is that we ran released defense code against attacks nobody had paired it with, and several defenses turned out to create the vulnerability they were meant to prevent.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the split is a publishing artefact we can test, not a fact about the mechanisms.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control-fires-first: it caught CK-PLUG's accuracy column being unusable, and it is what separates this from a survey of papers' self-reported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and RQ2. The 98% figure is computed live from the pair table joined to the attack and defense track columns.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99 'names a registry attack but never tests it' bucket is where the transfer campaign draws its targets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dose sweep is what made the strongest findings visible. A single-point evaluation would have missed the 8-of-10 onset and the monotone divergence entirely.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8-of-10 onset came from crossover runs that had been sitting uncommitted; analysing them corrected our own earlier 'flat then a cliff' reading.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Strongest security-conference framing in the deck: a defense acting as an attack amplifier, measured, with the undefended control proving the attack is otherwise inert.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prediction, confirmed monotonically. This is the methodological centrepiece — it is why the deck claims measurement rather than survey. Also: 12 distinct reproducibility defect classes documented across the repos we attempted.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through-line. If asked what is weakest: single dataset, and the aggregation family coming from one repository. Both are on the slide deliberately.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C47"/>
        </a:solidFill>
        <a:effectLst/>
      </p:bgPr>
    </p:bg>
    <p:spTree>
      <p:nvGrpSpPr>
        <p:cNvPr id="1" name=""/>
        <p:cNvGrpSpPr/>
        <p:nvPr/>
      </p:nvGrpSpPr>
      <p:grpSpPr/>
      <p:sp>
        <p:nvSpPr>
          <p:cNvPr id="2" name="TextBox 1"/>
          <p:cNvSpPr txBox="1"/>
          <p:nvPr/>
        </p:nvSpPr>
        <p:spPr>
          <a:xfrm>
            <a:off x="594360" y="1874519"/>
            <a:ext cx="11000232" cy="1371600"/>
          </a:xfrm>
          <a:prstGeom prst="rect">
            <a:avLst/>
          </a:prstGeom>
          <a:noFill/>
        </p:spPr>
        <p:txBody>
          <a:bodyPr wrap="square" lIns="0" rIns="0" tIns="0" bIns="0" anchor="b">
            <a:spAutoFit/>
          </a:bodyPr>
          <a:lstStyle/>
          <a:p>
            <a:pPr algn="l">
              <a:spcAft>
                <a:spcPts val="0"/>
              </a:spcAft>
            </a:pPr>
            <a:r>
              <a:rPr sz="4000" b="1" i="0">
                <a:solidFill>
                  <a:srgbClr val="FFFFFF"/>
                </a:solidFill>
                <a:latin typeface="Cambria"/>
              </a:rPr>
              <a:t>Context Poisoning in LLM Agent Systems</a:t>
            </a:r>
          </a:p>
        </p:txBody>
      </p:sp>
      <p:sp>
        <p:nvSpPr>
          <p:cNvPr id="3" name="TextBox 2"/>
          <p:cNvSpPr txBox="1"/>
          <p:nvPr/>
        </p:nvSpPr>
        <p:spPr>
          <a:xfrm>
            <a:off x="594360" y="3429000"/>
            <a:ext cx="11000232" cy="2194560"/>
          </a:xfrm>
          <a:prstGeom prst="rect">
            <a:avLst/>
          </a:prstGeom>
          <a:noFill/>
        </p:spPr>
        <p:txBody>
          <a:bodyPr wrap="square" lIns="0" rIns="0" tIns="0" bIns="0" anchor="t">
            <a:spAutoFit/>
          </a:bodyPr>
          <a:lstStyle/>
          <a:p>
            <a:pPr algn="l">
              <a:spcAft>
                <a:spcPts val="1200"/>
              </a:spcAft>
            </a:pPr>
            <a:r>
              <a:rPr sz="1800" b="0" i="0">
                <a:solidFill>
                  <a:srgbClr val="E6E9EB"/>
                </a:solidFill>
                <a:latin typeface="Calibri"/>
              </a:rPr>
              <a:t>A Systematization of Knowledge — with reconstructed transfer experiments</a:t>
            </a:r>
          </a:p>
          <a:p>
            <a:pPr>
              <a:spcAft>
                <a:spcPts val="2600"/>
              </a:spcAft>
            </a:pPr>
            <a:r>
              <a:rPr sz="1400" b="0" i="0">
                <a:solidFill>
                  <a:srgbClr val="AFB8BD"/>
                </a:solidFill>
                <a:latin typeface="Calibri"/>
              </a:rPr>
              <a:t>Nyamtulla  ·  University of Kansas  ·  7 October 2026</a:t>
            </a:r>
          </a:p>
          <a:p>
            <a:pPr>
              <a:spcAft>
                <a:spcPts val="800"/>
              </a:spcAft>
            </a:pPr>
            <a:r>
              <a:rPr sz="1300" b="0" i="0">
                <a:solidFill>
                  <a:srgbClr val="C9B072"/>
                </a:solidFill>
                <a:latin typeface="Calibri"/>
              </a:rPr>
              <a:t>1,158 papers    ·    237 named attacks    ·    534 defenses    ·    16 reconstructed defense × attack cells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2</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Two literatures, one failure mode</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An agent acts on whatever its context says. Two research communities study that going wrong — separately.</a:t>
            </a:r>
          </a:p>
        </p:txBody>
      </p:sp>
      <p:sp>
        <p:nvSpPr>
          <p:cNvPr id="6" name="TextBox 5"/>
          <p:cNvSpPr txBox="1"/>
          <p:nvPr/>
        </p:nvSpPr>
        <p:spPr>
          <a:xfrm>
            <a:off x="594360" y="1645920"/>
            <a:ext cx="11000232" cy="2377440"/>
          </a:xfrm>
          <a:prstGeom prst="rect">
            <a:avLst/>
          </a:prstGeom>
          <a:noFill/>
        </p:spPr>
        <p:txBody>
          <a:bodyPr wrap="square" lIns="0" rIns="0" tIns="0" bIns="0" anchor="t">
            <a:spAutoFit/>
          </a:bodyPr>
          <a:lstStyle/>
          <a:p>
            <a:pPr algn="l">
              <a:lnSpc>
                <a:spcPct val="104000"/>
              </a:lnSpc>
              <a:spcAft>
                <a:spcPts val="900"/>
              </a:spcAft>
            </a:pPr>
            <a:r>
              <a:rPr sz="1500" b="0" i="0">
                <a:solidFill>
                  <a:srgbClr val="1A1A1A"/>
                </a:solidFill>
                <a:latin typeface="Calibri"/>
              </a:rPr>
              <a:t>•  Security track treats it as an attack — indirect prompt injection, PoisonedRAG, BadRAG, AgentPoison. An adversary writes the context.</a:t>
            </a:r>
          </a:p>
          <a:p>
            <a:pPr>
              <a:lnSpc>
                <a:spcPct val="104000"/>
              </a:lnSpc>
              <a:spcAft>
                <a:spcPts val="900"/>
              </a:spcAft>
            </a:pPr>
            <a:r>
              <a:rPr sz="1500" b="0" i="0">
                <a:solidFill>
                  <a:srgbClr val="1A1A1A"/>
                </a:solidFill>
                <a:latin typeface="Calibri"/>
              </a:rPr>
              <a:t>•  ML/AI track treats the same corruption as an accident — lost-in-the-middle, context rot, knowledge conflict, distraction. Nobody writes it on purpose.</a:t>
            </a:r>
          </a:p>
          <a:p>
            <a:pPr>
              <a:lnSpc>
                <a:spcPct val="104000"/>
              </a:lnSpc>
              <a:spcAft>
                <a:spcPts val="900"/>
              </a:spcAft>
            </a:pPr>
            <a:r>
              <a:rPr sz="1500" b="0" i="0">
                <a:solidFill>
                  <a:srgbClr val="1A1A1A"/>
                </a:solidFill>
                <a:latin typeface="Calibri"/>
              </a:rPr>
              <a:t>•  Both sides build defenses. Each set is evaluated on its own side's failures, and almost never on the other's.</a:t>
            </a:r>
          </a:p>
          <a:p>
            <a:pPr>
              <a:lnSpc>
                <a:spcPct val="104000"/>
              </a:lnSpc>
              <a:spcAft>
                <a:spcPts val="900"/>
              </a:spcAft>
            </a:pPr>
            <a:r>
              <a:rPr sz="1500" b="1" i="0">
                <a:solidFill>
                  <a:srgbClr val="1A1A1A"/>
                </a:solidFill>
                <a:latin typeface="Calibri"/>
              </a:rPr>
              <a:t>•  The SoK question: is that separation justified by the mechanisms, or is it an artefact of how the two communities publish?</a:t>
            </a:r>
          </a:p>
        </p:txBody>
      </p:sp>
      <p:sp>
        <p:nvSpPr>
          <p:cNvPr id="7" name="TextBox 6"/>
          <p:cNvSpPr txBox="1"/>
          <p:nvPr/>
        </p:nvSpPr>
        <p:spPr>
          <a:xfrm>
            <a:off x="594360" y="4224528"/>
            <a:ext cx="11000232" cy="274320"/>
          </a:xfrm>
          <a:prstGeom prst="rect">
            <a:avLst/>
          </a:prstGeom>
          <a:noFill/>
        </p:spPr>
        <p:txBody>
          <a:bodyPr wrap="square" lIns="0" rIns="0" tIns="0" bIns="0" anchor="t">
            <a:spAutoFit/>
          </a:bodyPr>
          <a:lstStyle/>
          <a:p>
            <a:pPr algn="l">
              <a:spcAft>
                <a:spcPts val="0"/>
              </a:spcAft>
            </a:pPr>
            <a:r>
              <a:rPr sz="1100" b="1" i="0">
                <a:solidFill>
                  <a:srgbClr val="6B7780"/>
                </a:solidFill>
                <a:latin typeface="Calibri"/>
              </a:rPr>
              <a:t>CORPUS COMPOSITION</a:t>
            </a:r>
          </a:p>
        </p:txBody>
      </p:sp>
      <p:sp>
        <p:nvSpPr>
          <p:cNvPr id="8" name="TextBox 7"/>
          <p:cNvSpPr txBox="1"/>
          <p:nvPr/>
        </p:nvSpPr>
        <p:spPr>
          <a:xfrm>
            <a:off x="594360" y="4553712"/>
            <a:ext cx="329184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626</a:t>
            </a:r>
          </a:p>
        </p:txBody>
      </p:sp>
      <p:sp>
        <p:nvSpPr>
          <p:cNvPr id="9" name="TextBox 8"/>
          <p:cNvSpPr txBox="1"/>
          <p:nvPr/>
        </p:nvSpPr>
        <p:spPr>
          <a:xfrm>
            <a:off x="594360" y="5193792"/>
            <a:ext cx="329184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Security-track papers</a:t>
            </a:r>
          </a:p>
        </p:txBody>
      </p:sp>
      <p:sp>
        <p:nvSpPr>
          <p:cNvPr id="10" name="TextBox 9"/>
          <p:cNvSpPr txBox="1"/>
          <p:nvPr/>
        </p:nvSpPr>
        <p:spPr>
          <a:xfrm>
            <a:off x="4343400" y="4553712"/>
            <a:ext cx="329184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512</a:t>
            </a:r>
          </a:p>
        </p:txBody>
      </p:sp>
      <p:sp>
        <p:nvSpPr>
          <p:cNvPr id="11" name="TextBox 10"/>
          <p:cNvSpPr txBox="1"/>
          <p:nvPr/>
        </p:nvSpPr>
        <p:spPr>
          <a:xfrm>
            <a:off x="4343400" y="5193792"/>
            <a:ext cx="329184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ML/AI-track papers</a:t>
            </a:r>
          </a:p>
        </p:txBody>
      </p:sp>
      <p:sp>
        <p:nvSpPr>
          <p:cNvPr id="12" name="TextBox 11"/>
          <p:cNvSpPr txBox="1"/>
          <p:nvPr/>
        </p:nvSpPr>
        <p:spPr>
          <a:xfrm>
            <a:off x="8092440" y="4553712"/>
            <a:ext cx="329184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20</a:t>
            </a:r>
          </a:p>
        </p:txBody>
      </p:sp>
      <p:sp>
        <p:nvSpPr>
          <p:cNvPr id="13" name="TextBox 12"/>
          <p:cNvSpPr txBox="1"/>
          <p:nvPr/>
        </p:nvSpPr>
        <p:spPr>
          <a:xfrm>
            <a:off x="8092440" y="5193792"/>
            <a:ext cx="329184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papers coded as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3</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How the corpus was built, and how we measure</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Every number in this deck is regenerated from data/paper_explorer.db, not transcribed by hand.</a:t>
            </a:r>
          </a:p>
        </p:txBody>
      </p:sp>
      <p:sp>
        <p:nvSpPr>
          <p:cNvPr id="6" name="TextBox 5"/>
          <p:cNvSpPr txBox="1"/>
          <p:nvPr/>
        </p:nvSpPr>
        <p:spPr>
          <a:xfrm>
            <a:off x="594360" y="1645920"/>
            <a:ext cx="5394960" cy="274320"/>
          </a:xfrm>
          <a:prstGeom prst="rect">
            <a:avLst/>
          </a:prstGeom>
          <a:noFill/>
        </p:spPr>
        <p:txBody>
          <a:bodyPr wrap="square" lIns="0" rIns="0" tIns="0" bIns="0" anchor="t">
            <a:spAutoFit/>
          </a:bodyPr>
          <a:lstStyle/>
          <a:p>
            <a:pPr algn="l">
              <a:spcAft>
                <a:spcPts val="0"/>
              </a:spcAft>
            </a:pPr>
            <a:r>
              <a:rPr sz="1200" b="1" i="0">
                <a:solidFill>
                  <a:srgbClr val="2F4858"/>
                </a:solidFill>
                <a:latin typeface="Calibri"/>
              </a:rPr>
              <a:t>PIPELINE</a:t>
            </a:r>
          </a:p>
        </p:txBody>
      </p:sp>
      <p:sp>
        <p:nvSpPr>
          <p:cNvPr id="7" name="TextBox 6"/>
          <p:cNvSpPr txBox="1"/>
          <p:nvPr/>
        </p:nvSpPr>
        <p:spPr>
          <a:xfrm>
            <a:off x="594360" y="2011680"/>
            <a:ext cx="5394960" cy="2194560"/>
          </a:xfrm>
          <a:prstGeom prst="rect">
            <a:avLst/>
          </a:prstGeom>
          <a:noFill/>
        </p:spPr>
        <p:txBody>
          <a:bodyPr wrap="square" lIns="0" rIns="0" tIns="0" bIns="0" anchor="t">
            <a:spAutoFit/>
          </a:bodyPr>
          <a:lstStyle/>
          <a:p>
            <a:pPr algn="l">
              <a:lnSpc>
                <a:spcPct val="104000"/>
              </a:lnSpc>
              <a:spcAft>
                <a:spcPts val="900"/>
              </a:spcAft>
            </a:pPr>
            <a:r>
              <a:rPr sz="1400" b="0" i="0">
                <a:solidFill>
                  <a:srgbClr val="1A1A1A"/>
                </a:solidFill>
                <a:latin typeface="Calibri"/>
              </a:rPr>
              <a:t>•  ~26,000 papers discovered by keyword and citation expansion</a:t>
            </a:r>
          </a:p>
          <a:p>
            <a:pPr>
              <a:lnSpc>
                <a:spcPct val="104000"/>
              </a:lnSpc>
              <a:spcAft>
                <a:spcPts val="900"/>
              </a:spcAft>
            </a:pPr>
            <a:r>
              <a:rPr sz="1400" b="0" i="0">
                <a:solidFill>
                  <a:srgbClr val="1A1A1A"/>
                </a:solidFill>
                <a:latin typeface="Calibri"/>
              </a:rPr>
              <a:t>•  1,158 curated after screening against explicit criteria</a:t>
            </a:r>
          </a:p>
          <a:p>
            <a:pPr>
              <a:lnSpc>
                <a:spcPct val="104000"/>
              </a:lnSpc>
              <a:spcAft>
                <a:spcPts val="900"/>
              </a:spcAft>
            </a:pPr>
            <a:r>
              <a:rPr sz="1400" b="0" i="0">
                <a:solidFill>
                  <a:srgbClr val="1A1A1A"/>
                </a:solidFill>
                <a:latin typeface="Calibri"/>
              </a:rPr>
              <a:t>•  Registries extracted: 237 attacks, 534 defenses, 349 reported pairs</a:t>
            </a:r>
          </a:p>
          <a:p>
            <a:pPr>
              <a:lnSpc>
                <a:spcPct val="104000"/>
              </a:lnSpc>
              <a:spcAft>
                <a:spcPts val="900"/>
              </a:spcAft>
            </a:pPr>
            <a:r>
              <a:rPr sz="1400" b="0" i="0">
                <a:solidFill>
                  <a:srgbClr val="1A1A1A"/>
                </a:solidFill>
                <a:latin typeface="Calibri"/>
              </a:rPr>
              <a:t>•  Taxonomy cube: 9 channels × 3 intents × 6 consequences</a:t>
            </a:r>
          </a:p>
        </p:txBody>
      </p:sp>
      <p:sp>
        <p:nvSpPr>
          <p:cNvPr id="8" name="TextBox 7"/>
          <p:cNvSpPr txBox="1"/>
          <p:nvPr/>
        </p:nvSpPr>
        <p:spPr>
          <a:xfrm>
            <a:off x="6537960" y="1645920"/>
            <a:ext cx="5394960" cy="274320"/>
          </a:xfrm>
          <a:prstGeom prst="rect">
            <a:avLst/>
          </a:prstGeom>
          <a:noFill/>
        </p:spPr>
        <p:txBody>
          <a:bodyPr wrap="square" lIns="0" rIns="0" tIns="0" bIns="0" anchor="t">
            <a:spAutoFit/>
          </a:bodyPr>
          <a:lstStyle/>
          <a:p>
            <a:pPr algn="l">
              <a:spcAft>
                <a:spcPts val="0"/>
              </a:spcAft>
            </a:pPr>
            <a:r>
              <a:rPr sz="1200" b="1" i="0">
                <a:solidFill>
                  <a:srgbClr val="8C2E2E"/>
                </a:solidFill>
                <a:latin typeface="Calibri"/>
              </a:rPr>
              <a:t>THREE DISCIPLINES, APPLIED MECHANICALLY</a:t>
            </a:r>
          </a:p>
        </p:txBody>
      </p:sp>
      <p:sp>
        <p:nvSpPr>
          <p:cNvPr id="9" name="TextBox 8"/>
          <p:cNvSpPr txBox="1"/>
          <p:nvPr/>
        </p:nvSpPr>
        <p:spPr>
          <a:xfrm>
            <a:off x="6537960" y="2011680"/>
            <a:ext cx="5394960" cy="2651760"/>
          </a:xfrm>
          <a:prstGeom prst="rect">
            <a:avLst/>
          </a:prstGeom>
          <a:noFill/>
        </p:spPr>
        <p:txBody>
          <a:bodyPr wrap="square" lIns="0" rIns="0" tIns="0" bIns="0" anchor="t">
            <a:spAutoFit/>
          </a:bodyPr>
          <a:lstStyle/>
          <a:p>
            <a:pPr algn="l">
              <a:lnSpc>
                <a:spcPct val="104000"/>
              </a:lnSpc>
              <a:spcAft>
                <a:spcPts val="900"/>
              </a:spcAft>
            </a:pPr>
            <a:r>
              <a:rPr sz="1400" b="0" i="0">
                <a:solidFill>
                  <a:srgbClr val="1A1A1A"/>
                </a:solidFill>
                <a:latin typeface="Calibri"/>
              </a:rPr>
              <a:t>•  Control fires first — a defense that cannot reproduce its own benefit on its own benchmark yields no transfer verdict.</a:t>
            </a:r>
          </a:p>
          <a:p>
            <a:pPr>
              <a:lnSpc>
                <a:spcPct val="104000"/>
              </a:lnSpc>
              <a:spcAft>
                <a:spcPts val="900"/>
              </a:spcAft>
            </a:pPr>
            <a:r>
              <a:rPr sz="1400" b="0" i="0">
                <a:solidFill>
                  <a:srgbClr val="1A1A1A"/>
                </a:solidFill>
                <a:latin typeface="Calibri"/>
              </a:rPr>
              <a:t>•  Minimum detectable change — two-proportion power analysis (α=.05, power=.80). A smaller delta is not a result, whatever its sign.</a:t>
            </a:r>
          </a:p>
          <a:p>
            <a:pPr>
              <a:lnSpc>
                <a:spcPct val="104000"/>
              </a:lnSpc>
              <a:spcAft>
                <a:spcPts val="900"/>
              </a:spcAft>
            </a:pPr>
            <a:r>
              <a:rPr sz="1400" b="0" i="0">
                <a:solidFill>
                  <a:srgbClr val="1A1A1A"/>
                </a:solidFill>
                <a:latin typeface="Calibri"/>
              </a:rPr>
              <a:t>•  Authors' scorers, prompts and payloads imported unchanged. Harness adaptation is allowed; evaluation rubrics are not touched.</a:t>
            </a:r>
          </a:p>
        </p:txBody>
      </p:sp>
      <p:sp>
        <p:nvSpPr>
          <p:cNvPr id="10" name="TextBox 9"/>
          <p:cNvSpPr txBox="1"/>
          <p:nvPr/>
        </p:nvSpPr>
        <p:spPr>
          <a:xfrm>
            <a:off x="594360" y="4956048"/>
            <a:ext cx="11000232" cy="914400"/>
          </a:xfrm>
          <a:prstGeom prst="rect">
            <a:avLst/>
          </a:prstGeom>
          <a:noFill/>
        </p:spPr>
        <p:txBody>
          <a:bodyPr wrap="square" lIns="0" rIns="0" tIns="0" bIns="0" anchor="t">
            <a:spAutoFit/>
          </a:bodyPr>
          <a:lstStyle/>
          <a:p>
            <a:pPr algn="l">
              <a:lnSpc>
                <a:spcPct val="115000"/>
              </a:lnSpc>
              <a:spcAft>
                <a:spcPts val="0"/>
              </a:spcAft>
            </a:pPr>
            <a:r>
              <a:rPr sz="1300" b="0" i="1">
                <a:solidFill>
                  <a:srgbClr val="6B7780"/>
                </a:solidFill>
                <a:latin typeface="Calibri"/>
              </a:rPr>
              <a:t>The first two rules are enforced inside the database loader, so the prose cannot drift away from the data. Applying them consistently has already forced two corrections to our own published claims.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4</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The two communities do not read each other</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Full-population counts resolved from the citation graph — not a hand-coded sample, so no confidence interval is reported.</a:t>
            </a:r>
          </a:p>
        </p:txBody>
      </p:sp>
      <p:graphicFrame>
        <p:nvGraphicFramePr>
          <p:cNvPr id="6" name="Table 5"/>
          <p:cNvGraphicFramePr>
            <a:graphicFrameLocks noGrp="1"/>
          </p:cNvGraphicFramePr>
          <p:nvPr/>
        </p:nvGraphicFramePr>
        <p:xfrm>
          <a:off x="594360" y="1700784"/>
          <a:ext cx="11000231" cy="2761488"/>
        </p:xfrm>
        <a:graphic>
          <a:graphicData uri="http://schemas.openxmlformats.org/drawingml/2006/table">
            <a:tbl>
              <a:tblPr bandRow="1">
                <a:tableStyleId>{5C22544A-7EE6-4342-B048-85BDC9FD1C3A}</a:tableStyleId>
              </a:tblPr>
              <a:tblGrid>
                <a:gridCol w="3749039"/>
                <a:gridCol w="2286000"/>
                <a:gridCol w="4965192"/>
              </a:tblGrid>
              <a:tr h="420624">
                <a:tc>
                  <a:txBody>
                    <a:bodyPr wrap="square"/>
                    <a:lstStyle/>
                    <a:p>
                      <a:pPr>
                        <a:spcAft>
                          <a:spcPts val="0"/>
                        </a:spcAft>
                      </a:pPr>
                      <a:r>
                        <a:rPr sz="1150" b="1">
                          <a:solidFill>
                            <a:srgbClr val="FFFFFF"/>
                          </a:solidFill>
                          <a:latin typeface="Calibri"/>
                        </a:rPr>
                        <a:t>Measure</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Value</a:t>
                      </a:r>
                    </a:p>
                  </a:txBody>
                  <a:tcPr marL="82296" marR="82296" marT="36576" marB="36576" anchor="ctr">
                    <a:solidFill>
                      <a:srgbClr val="2F3C47"/>
                    </a:solidFill>
                  </a:tcPr>
                </a:tc>
                <a:tc>
                  <a:txBody>
                    <a:bodyPr wrap="square"/>
                    <a:lstStyle/>
                    <a:p>
                      <a:pPr>
                        <a:spcAft>
                          <a:spcPts val="0"/>
                        </a:spcAft>
                      </a:pPr>
                      <a:r>
                        <a:rPr sz="1150" b="1">
                          <a:solidFill>
                            <a:srgbClr val="FFFFFF"/>
                          </a:solidFill>
                          <a:latin typeface="Calibri"/>
                        </a:rPr>
                        <a:t>Reading</a:t>
                      </a:r>
                    </a:p>
                  </a:txBody>
                  <a:tcPr marL="82296" marR="82296" marT="36576" marB="36576" anchor="ctr">
                    <a:solidFill>
                      <a:srgbClr val="2F3C47"/>
                    </a:solidFill>
                  </a:tcPr>
                </a:tc>
              </a:tr>
              <a:tr h="585216">
                <a:tc>
                  <a:txBody>
                    <a:bodyPr wrap="square"/>
                    <a:lstStyle/>
                    <a:p>
                      <a:pPr>
                        <a:spcAft>
                          <a:spcPts val="0"/>
                        </a:spcAft>
                      </a:pPr>
                      <a:r>
                        <a:rPr sz="1250" b="0">
                          <a:solidFill>
                            <a:srgbClr val="1A1A1A"/>
                          </a:solidFill>
                          <a:latin typeface="Calibri"/>
                        </a:rPr>
                        <a:t>Taxonomy cube cells that are empty</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98 of 162   (60.5%)</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Most channel × intent × consequence combinations have never been studied</a:t>
                      </a:r>
                    </a:p>
                  </a:txBody>
                  <a:tcPr marL="82296" marR="82296" marT="36576" marB="36576" anchor="ctr">
                    <a:solidFill>
                      <a:srgbClr val="FFFFFF"/>
                    </a:solidFill>
                  </a:tcPr>
                </a:tc>
              </a:tr>
              <a:tr h="585216">
                <a:tc>
                  <a:txBody>
                    <a:bodyPr wrap="square"/>
                    <a:lstStyle/>
                    <a:p>
                      <a:pPr>
                        <a:spcAft>
                          <a:spcPts val="0"/>
                        </a:spcAft>
                      </a:pPr>
                      <a:r>
                        <a:rPr sz="1250" b="0">
                          <a:solidFill>
                            <a:srgbClr val="1A1A1A"/>
                          </a:solidFill>
                          <a:latin typeface="Calibri"/>
                        </a:rPr>
                        <a:t>Security papers citing ≥1 ML/AI paper</a:t>
                      </a:r>
                    </a:p>
                  </a:txBody>
                  <a:tcPr marL="82296" marR="82296" marT="36576" marB="36576" anchor="ctr">
                    <a:solidFill>
                      <a:srgbClr val="F6F7F8"/>
                    </a:solidFill>
                  </a:tcPr>
                </a:tc>
                <a:tc>
                  <a:txBody>
                    <a:bodyPr wrap="square"/>
                    <a:lstStyle/>
                    <a:p>
                      <a:pPr algn="ctr">
                        <a:spcAft>
                          <a:spcPts val="0"/>
                        </a:spcAft>
                      </a:pPr>
                      <a:r>
                        <a:rPr sz="1250" b="1">
                          <a:solidFill>
                            <a:srgbClr val="1A1A1A"/>
                          </a:solidFill>
                          <a:latin typeface="Calibri"/>
                        </a:rPr>
                        <a:t>70 of 599   (11.7%)</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Nine in ten ignore the incidental literature entirely</a:t>
                      </a:r>
                    </a:p>
                  </a:txBody>
                  <a:tcPr marL="82296" marR="82296" marT="36576" marB="36576" anchor="ctr">
                    <a:solidFill>
                      <a:srgbClr val="F6F7F8"/>
                    </a:solidFill>
                  </a:tcPr>
                </a:tc>
              </a:tr>
              <a:tr h="585216">
                <a:tc>
                  <a:txBody>
                    <a:bodyPr wrap="square"/>
                    <a:lstStyle/>
                    <a:p>
                      <a:pPr>
                        <a:spcAft>
                          <a:spcPts val="0"/>
                        </a:spcAft>
                      </a:pPr>
                      <a:r>
                        <a:rPr sz="1250" b="0">
                          <a:solidFill>
                            <a:srgbClr val="1A1A1A"/>
                          </a:solidFill>
                          <a:latin typeface="Calibri"/>
                        </a:rPr>
                        <a:t>ML/AI papers citing ≥1 security paper</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37 of 407   (9.1%)</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The asymmetry is small — both directions are near-silent</a:t>
                      </a:r>
                    </a:p>
                  </a:txBody>
                  <a:tcPr marL="82296" marR="82296" marT="36576" marB="36576" anchor="ctr">
                    <a:solidFill>
                      <a:srgbClr val="FFFFFF"/>
                    </a:solidFill>
                  </a:tcPr>
                </a:tc>
              </a:tr>
              <a:tr h="585216">
                <a:tc>
                  <a:txBody>
                    <a:bodyPr wrap="square"/>
                    <a:lstStyle/>
                    <a:p>
                      <a:pPr>
                        <a:spcAft>
                          <a:spcPts val="0"/>
                        </a:spcAft>
                      </a:pPr>
                      <a:r>
                        <a:rPr sz="1250" b="0">
                          <a:solidFill>
                            <a:srgbClr val="1A1A1A"/>
                          </a:solidFill>
                          <a:latin typeface="Calibri"/>
                        </a:rPr>
                        <a:t>Reported pairs staying inside one literature</a:t>
                      </a:r>
                    </a:p>
                  </a:txBody>
                  <a:tcPr marL="82296" marR="82296" marT="36576" marB="36576" anchor="ctr">
                    <a:solidFill>
                      <a:srgbClr val="F6F7F8"/>
                    </a:solidFill>
                  </a:tcPr>
                </a:tc>
                <a:tc>
                  <a:txBody>
                    <a:bodyPr wrap="square"/>
                    <a:lstStyle/>
                    <a:p>
                      <a:pPr algn="ctr">
                        <a:spcAft>
                          <a:spcPts val="0"/>
                        </a:spcAft>
                      </a:pPr>
                      <a:r>
                        <a:rPr sz="1250" b="1">
                          <a:solidFill>
                            <a:srgbClr val="8C2E2E"/>
                          </a:solidFill>
                          <a:latin typeface="Calibri"/>
                        </a:rPr>
                        <a:t>341 of 348   (98.0%)</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Only 7 pairs in the entire corpus cross the divide</a:t>
                      </a:r>
                    </a:p>
                  </a:txBody>
                  <a:tcPr marL="82296" marR="82296" marT="36576" marB="36576" anchor="ctr">
                    <a:solidFill>
                      <a:srgbClr val="F6F7F8"/>
                    </a:solidFill>
                  </a:tcPr>
                </a:tc>
              </a:tr>
            </a:tbl>
          </a:graphicData>
        </a:graphic>
      </p:graphicFrame>
      <p:sp>
        <p:nvSpPr>
          <p:cNvPr id="7" name="TextBox 6"/>
          <p:cNvSpPr txBox="1"/>
          <p:nvPr/>
        </p:nvSpPr>
        <p:spPr>
          <a:xfrm>
            <a:off x="594360" y="5120640"/>
            <a:ext cx="11000232" cy="914400"/>
          </a:xfrm>
          <a:prstGeom prst="rect">
            <a:avLst/>
          </a:prstGeom>
          <a:noFill/>
        </p:spPr>
        <p:txBody>
          <a:bodyPr wrap="square" lIns="0" rIns="0" tIns="0" bIns="0" anchor="t">
            <a:spAutoFit/>
          </a:bodyPr>
          <a:lstStyle/>
          <a:p>
            <a:pPr algn="l">
              <a:lnSpc>
                <a:spcPct val="115000"/>
              </a:lnSpc>
              <a:spcAft>
                <a:spcPts val="0"/>
              </a:spcAft>
            </a:pPr>
            <a:r>
              <a:rPr sz="1350" b="1">
                <a:solidFill>
                  <a:srgbClr val="1A1A1A"/>
                </a:solidFill>
                <a:latin typeface="Calibri"/>
              </a:rPr>
              <a:t>Why this matters for a security venue.  </a:t>
            </a:r>
            <a:r>
              <a:rPr sz="1350">
                <a:solidFill>
                  <a:srgbClr val="1A1A1A"/>
                </a:solidFill>
                <a:latin typeface="Calibri"/>
              </a:rPr>
              <a:t>If the two sides never test each other's mechanisms, every claim of the form “this defense is robust” is scoped to one literature's threat model — and nobody has checked whether it survives the other's.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5</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Most defenses have never met most attacks</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The coverage matrix is far sparser than the plan anticipated — and the shape of the sparsity is itself the finding.</a:t>
            </a:r>
          </a:p>
        </p:txBody>
      </p:sp>
      <p:sp>
        <p:nvSpPr>
          <p:cNvPr id="6" name="TextBox 5"/>
          <p:cNvSpPr txBox="1"/>
          <p:nvPr/>
        </p:nvSpPr>
        <p:spPr>
          <a:xfrm>
            <a:off x="594360" y="1645920"/>
            <a:ext cx="2651760" cy="658368"/>
          </a:xfrm>
          <a:prstGeom prst="rect">
            <a:avLst/>
          </a:prstGeom>
          <a:noFill/>
        </p:spPr>
        <p:txBody>
          <a:bodyPr wrap="square" lIns="0" rIns="0" tIns="0" bIns="0" anchor="t">
            <a:spAutoFit/>
          </a:bodyPr>
          <a:lstStyle/>
          <a:p>
            <a:pPr algn="l">
              <a:spcAft>
                <a:spcPts val="0"/>
              </a:spcAft>
            </a:pPr>
            <a:r>
              <a:rPr sz="3800" b="1" i="0">
                <a:solidFill>
                  <a:srgbClr val="8C2E2E"/>
                </a:solidFill>
                <a:latin typeface="Cambria"/>
              </a:rPr>
              <a:t>119</a:t>
            </a:r>
          </a:p>
        </p:txBody>
      </p:sp>
      <p:sp>
        <p:nvSpPr>
          <p:cNvPr id="7" name="TextBox 6"/>
          <p:cNvSpPr txBox="1"/>
          <p:nvPr/>
        </p:nvSpPr>
        <p:spPr>
          <a:xfrm>
            <a:off x="594360" y="2286000"/>
            <a:ext cx="265176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of 237 attacks (50.2%) have</a:t>
            </a:r>
          </a:p>
          <a:p>
            <a:pPr>
              <a:lnSpc>
                <a:spcPct val="100000"/>
              </a:lnSpc>
              <a:spcAft>
                <a:spcPts val="200"/>
              </a:spcAft>
            </a:pPr>
            <a:r>
              <a:rPr sz="1150" b="0" i="0">
                <a:solidFill>
                  <a:srgbClr val="6B7780"/>
                </a:solidFill>
                <a:latin typeface="Calibri"/>
              </a:rPr>
              <a:t>no defense pair at all</a:t>
            </a:r>
          </a:p>
        </p:txBody>
      </p:sp>
      <p:sp>
        <p:nvSpPr>
          <p:cNvPr id="8" name="TextBox 7"/>
          <p:cNvSpPr txBox="1"/>
          <p:nvPr/>
        </p:nvSpPr>
        <p:spPr>
          <a:xfrm>
            <a:off x="3429000" y="1645920"/>
            <a:ext cx="2651760" cy="658368"/>
          </a:xfrm>
          <a:prstGeom prst="rect">
            <a:avLst/>
          </a:prstGeom>
          <a:noFill/>
        </p:spPr>
        <p:txBody>
          <a:bodyPr wrap="square" lIns="0" rIns="0" tIns="0" bIns="0" anchor="t">
            <a:spAutoFit/>
          </a:bodyPr>
          <a:lstStyle/>
          <a:p>
            <a:pPr algn="l">
              <a:spcAft>
                <a:spcPts val="0"/>
              </a:spcAft>
            </a:pPr>
            <a:r>
              <a:rPr sz="3800" b="1" i="0">
                <a:solidFill>
                  <a:srgbClr val="8C2E2E"/>
                </a:solidFill>
                <a:latin typeface="Cambria"/>
              </a:rPr>
              <a:t>320</a:t>
            </a:r>
          </a:p>
        </p:txBody>
      </p:sp>
      <p:sp>
        <p:nvSpPr>
          <p:cNvPr id="9" name="TextBox 8"/>
          <p:cNvSpPr txBox="1"/>
          <p:nvPr/>
        </p:nvSpPr>
        <p:spPr>
          <a:xfrm>
            <a:off x="3429000" y="2286000"/>
            <a:ext cx="265176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of 534 defenses (59.9%) have</a:t>
            </a:r>
          </a:p>
          <a:p>
            <a:pPr>
              <a:lnSpc>
                <a:spcPct val="100000"/>
              </a:lnSpc>
              <a:spcAft>
                <a:spcPts val="200"/>
              </a:spcAft>
            </a:pPr>
            <a:r>
              <a:rPr sz="1150" b="0" i="0">
                <a:solidFill>
                  <a:srgbClr val="6B7780"/>
                </a:solidFill>
                <a:latin typeface="Calibri"/>
              </a:rPr>
              <a:t>no attack pair at all</a:t>
            </a:r>
          </a:p>
        </p:txBody>
      </p:sp>
      <p:sp>
        <p:nvSpPr>
          <p:cNvPr id="10" name="TextBox 9"/>
          <p:cNvSpPr txBox="1"/>
          <p:nvPr/>
        </p:nvSpPr>
        <p:spPr>
          <a:xfrm>
            <a:off x="6263640" y="1645920"/>
            <a:ext cx="2651760" cy="658368"/>
          </a:xfrm>
          <a:prstGeom prst="rect">
            <a:avLst/>
          </a:prstGeom>
          <a:noFill/>
        </p:spPr>
        <p:txBody>
          <a:bodyPr wrap="square" lIns="0" rIns="0" tIns="0" bIns="0" anchor="t">
            <a:spAutoFit/>
          </a:bodyPr>
          <a:lstStyle/>
          <a:p>
            <a:pPr algn="l">
              <a:spcAft>
                <a:spcPts val="0"/>
              </a:spcAft>
            </a:pPr>
            <a:r>
              <a:rPr sz="3800" b="1" i="0">
                <a:solidFill>
                  <a:srgbClr val="8C2E2E"/>
                </a:solidFill>
                <a:latin typeface="Cambria"/>
              </a:rPr>
              <a:t>15</a:t>
            </a:r>
          </a:p>
        </p:txBody>
      </p:sp>
      <p:sp>
        <p:nvSpPr>
          <p:cNvPr id="11" name="TextBox 10"/>
          <p:cNvSpPr txBox="1"/>
          <p:nvPr/>
        </p:nvSpPr>
        <p:spPr>
          <a:xfrm>
            <a:off x="6263640" y="2286000"/>
            <a:ext cx="265176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of 534 defenses (2.8%) were</a:t>
            </a:r>
          </a:p>
          <a:p>
            <a:pPr>
              <a:lnSpc>
                <a:spcPct val="100000"/>
              </a:lnSpc>
              <a:spcAft>
                <a:spcPts val="200"/>
              </a:spcAft>
            </a:pPr>
            <a:r>
              <a:rPr sz="1150" b="0" i="0">
                <a:solidFill>
                  <a:srgbClr val="6B7780"/>
                </a:solidFill>
                <a:latin typeface="Calibri"/>
              </a:rPr>
              <a:t>validated on both threat models</a:t>
            </a:r>
          </a:p>
        </p:txBody>
      </p:sp>
      <p:sp>
        <p:nvSpPr>
          <p:cNvPr id="12" name="TextBox 11"/>
          <p:cNvSpPr txBox="1"/>
          <p:nvPr/>
        </p:nvSpPr>
        <p:spPr>
          <a:xfrm>
            <a:off x="9098280" y="1645920"/>
            <a:ext cx="246888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349</a:t>
            </a:r>
          </a:p>
        </p:txBody>
      </p:sp>
      <p:sp>
        <p:nvSpPr>
          <p:cNvPr id="13" name="TextBox 12"/>
          <p:cNvSpPr txBox="1"/>
          <p:nvPr/>
        </p:nvSpPr>
        <p:spPr>
          <a:xfrm>
            <a:off x="9098280" y="2286000"/>
            <a:ext cx="246888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defense × attack pairs</a:t>
            </a:r>
          </a:p>
          <a:p>
            <a:pPr>
              <a:lnSpc>
                <a:spcPct val="100000"/>
              </a:lnSpc>
              <a:spcAft>
                <a:spcPts val="200"/>
              </a:spcAft>
            </a:pPr>
            <a:r>
              <a:rPr sz="1150" b="0" i="0">
                <a:solidFill>
                  <a:srgbClr val="6B7780"/>
                </a:solidFill>
                <a:latin typeface="Calibri"/>
              </a:rPr>
              <a:t>reported anywhere</a:t>
            </a:r>
          </a:p>
        </p:txBody>
      </p:sp>
      <p:sp>
        <p:nvSpPr>
          <p:cNvPr id="14" name="TextBox 13"/>
          <p:cNvSpPr txBox="1"/>
          <p:nvPr/>
        </p:nvSpPr>
        <p:spPr>
          <a:xfrm>
            <a:off x="594360" y="3456432"/>
            <a:ext cx="11000232" cy="402336"/>
          </a:xfrm>
          <a:prstGeom prst="rect">
            <a:avLst/>
          </a:prstGeom>
          <a:noFill/>
        </p:spPr>
        <p:txBody>
          <a:bodyPr wrap="square" lIns="0" rIns="0" tIns="0" bIns="0" anchor="t">
            <a:spAutoFit/>
          </a:bodyPr>
          <a:lstStyle/>
          <a:p>
            <a:pPr algn="l">
              <a:spcAft>
                <a:spcPts val="0"/>
              </a:spcAft>
            </a:pPr>
            <a:r>
              <a:rPr sz="1350" b="1" i="0">
                <a:solidFill>
                  <a:srgbClr val="1A1A1A"/>
                </a:solidFill>
                <a:latin typeface="Calibri"/>
              </a:rPr>
              <a:t>A defense paper with no attack pair is not a neutral gap — a defense is supposed to defend something. Classifying all 320:</a:t>
            </a:r>
          </a:p>
        </p:txBody>
      </p:sp>
      <p:graphicFrame>
        <p:nvGraphicFramePr>
          <p:cNvPr id="15" name="Table 14"/>
          <p:cNvGraphicFramePr>
            <a:graphicFrameLocks noGrp="1"/>
          </p:cNvGraphicFramePr>
          <p:nvPr/>
        </p:nvGraphicFramePr>
        <p:xfrm>
          <a:off x="594360" y="3895344"/>
          <a:ext cx="11000232" cy="2313432"/>
        </p:xfrm>
        <a:graphic>
          <a:graphicData uri="http://schemas.openxmlformats.org/drawingml/2006/table">
            <a:tbl>
              <a:tblPr bandRow="1">
                <a:tableStyleId>{5C22544A-7EE6-4342-B048-85BDC9FD1C3A}</a:tableStyleId>
              </a:tblPr>
              <a:tblGrid>
                <a:gridCol w="4297680"/>
                <a:gridCol w="822960"/>
                <a:gridCol w="5879592"/>
              </a:tblGrid>
              <a:tr h="420624">
                <a:tc>
                  <a:txBody>
                    <a:bodyPr wrap="square"/>
                    <a:lstStyle/>
                    <a:p>
                      <a:pPr>
                        <a:spcAft>
                          <a:spcPts val="0"/>
                        </a:spcAft>
                      </a:pPr>
                      <a:r>
                        <a:rPr sz="1150" b="1">
                          <a:solidFill>
                            <a:srgbClr val="FFFFFF"/>
                          </a:solidFill>
                          <a:latin typeface="Calibri"/>
                        </a:rPr>
                        <a:t>Classification of the 320 zero-pair defenses</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n</a:t>
                      </a:r>
                    </a:p>
                  </a:txBody>
                  <a:tcPr marL="82296" marR="82296" marT="36576" marB="36576" anchor="ctr">
                    <a:solidFill>
                      <a:srgbClr val="2F3C47"/>
                    </a:solidFill>
                  </a:tcPr>
                </a:tc>
                <a:tc>
                  <a:txBody>
                    <a:bodyPr wrap="square"/>
                    <a:lstStyle/>
                    <a:p>
                      <a:pPr>
                        <a:spcAft>
                          <a:spcPts val="0"/>
                        </a:spcAft>
                      </a:pPr>
                      <a:r>
                        <a:rPr sz="1150" b="1">
                          <a:solidFill>
                            <a:srgbClr val="FFFFFF"/>
                          </a:solidFill>
                          <a:latin typeface="Calibri"/>
                        </a:rPr>
                        <a:t>What it means</a:t>
                      </a:r>
                    </a:p>
                  </a:txBody>
                  <a:tcPr marL="82296" marR="82296" marT="36576" marB="36576" anchor="ctr">
                    <a:solidFill>
                      <a:srgbClr val="2F3C47"/>
                    </a:solidFill>
                  </a:tcPr>
                </a:tc>
              </a:tr>
              <a:tr h="315468">
                <a:tc>
                  <a:txBody>
                    <a:bodyPr wrap="square"/>
                    <a:lstStyle/>
                    <a:p>
                      <a:pPr>
                        <a:spcAft>
                          <a:spcPts val="0"/>
                        </a:spcAft>
                      </a:pPr>
                      <a:r>
                        <a:rPr sz="1150" b="0">
                          <a:solidFill>
                            <a:srgbClr val="1A1A1A"/>
                          </a:solidFill>
                          <a:latin typeface="Calibri"/>
                        </a:rPr>
                        <a:t>Non-adversarial by construction</a:t>
                      </a:r>
                    </a:p>
                  </a:txBody>
                  <a:tcPr marL="82296" marR="82296" marT="36576" marB="36576" anchor="ctr">
                    <a:solidFill>
                      <a:srgbClr val="FFFFFF"/>
                    </a:solidFill>
                  </a:tcPr>
                </a:tc>
                <a:tc>
                  <a:txBody>
                    <a:bodyPr wrap="square"/>
                    <a:lstStyle/>
                    <a:p>
                      <a:pPr algn="ctr">
                        <a:spcAft>
                          <a:spcPts val="0"/>
                        </a:spcAft>
                      </a:pPr>
                      <a:r>
                        <a:rPr sz="1150" b="0">
                          <a:solidFill>
                            <a:srgbClr val="1A1A1A"/>
                          </a:solidFill>
                          <a:latin typeface="Calibri"/>
                        </a:rPr>
                        <a:t>126</a:t>
                      </a:r>
                    </a:p>
                  </a:txBody>
                  <a:tcPr marL="82296" marR="82296" marT="36576" marB="36576" anchor="ctr">
                    <a:solidFill>
                      <a:srgbClr val="FFFFFF"/>
                    </a:solidFill>
                  </a:tcPr>
                </a:tc>
                <a:tc>
                  <a:txBody>
                    <a:bodyPr wrap="square"/>
                    <a:lstStyle/>
                    <a:p>
                      <a:pPr>
                        <a:spcAft>
                          <a:spcPts val="0"/>
                        </a:spcAft>
                      </a:pPr>
                      <a:r>
                        <a:rPr sz="1150" b="0">
                          <a:solidFill>
                            <a:srgbClr val="1A1A1A"/>
                          </a:solidFill>
                          <a:latin typeface="Calibri"/>
                        </a:rPr>
                        <a:t>Reliability or efficiency work; no threat model is claimed</a:t>
                      </a:r>
                    </a:p>
                  </a:txBody>
                  <a:tcPr marL="82296" marR="82296" marT="36576" marB="36576" anchor="ctr">
                    <a:solidFill>
                      <a:srgbClr val="FFFFFF"/>
                    </a:solidFill>
                  </a:tcPr>
                </a:tc>
              </a:tr>
              <a:tr h="315468">
                <a:tc>
                  <a:txBody>
                    <a:bodyPr wrap="square"/>
                    <a:lstStyle/>
                    <a:p>
                      <a:pPr>
                        <a:spcAft>
                          <a:spcPts val="0"/>
                        </a:spcAft>
                      </a:pPr>
                      <a:r>
                        <a:rPr sz="1150" b="0">
                          <a:solidFill>
                            <a:srgbClr val="1A1A1A"/>
                          </a:solidFill>
                          <a:latin typeface="Calibri"/>
                        </a:rPr>
                        <a:t>Names a registry attack but never tests it</a:t>
                      </a:r>
                    </a:p>
                  </a:txBody>
                  <a:tcPr marL="82296" marR="82296" marT="36576" marB="36576" anchor="ctr">
                    <a:solidFill>
                      <a:srgbClr val="F6F7F8"/>
                    </a:solidFill>
                  </a:tcPr>
                </a:tc>
                <a:tc>
                  <a:txBody>
                    <a:bodyPr wrap="square"/>
                    <a:lstStyle/>
                    <a:p>
                      <a:pPr algn="ctr">
                        <a:spcAft>
                          <a:spcPts val="0"/>
                        </a:spcAft>
                      </a:pPr>
                      <a:r>
                        <a:rPr sz="1150" b="1">
                          <a:solidFill>
                            <a:srgbClr val="8C2E2E"/>
                          </a:solidFill>
                          <a:latin typeface="Calibri"/>
                        </a:rPr>
                        <a:t>99</a:t>
                      </a:r>
                    </a:p>
                  </a:txBody>
                  <a:tcPr marL="82296" marR="82296" marT="36576" marB="36576" anchor="ctr">
                    <a:solidFill>
                      <a:srgbClr val="F6F7F8"/>
                    </a:solidFill>
                  </a:tcPr>
                </a:tc>
                <a:tc>
                  <a:txBody>
                    <a:bodyPr wrap="square"/>
                    <a:lstStyle/>
                    <a:p>
                      <a:pPr>
                        <a:spcAft>
                          <a:spcPts val="0"/>
                        </a:spcAft>
                      </a:pPr>
                      <a:r>
                        <a:rPr sz="1150" b="0">
                          <a:solidFill>
                            <a:srgbClr val="1A1A1A"/>
                          </a:solidFill>
                          <a:latin typeface="Calibri"/>
                        </a:rPr>
                        <a:t>Candidate missed pairs — the strongest lead for new coverage</a:t>
                      </a:r>
                    </a:p>
                  </a:txBody>
                  <a:tcPr marL="82296" marR="82296" marT="36576" marB="36576" anchor="ctr">
                    <a:solidFill>
                      <a:srgbClr val="F6F7F8"/>
                    </a:solidFill>
                  </a:tcPr>
                </a:tc>
              </a:tr>
              <a:tr h="315468">
                <a:tc>
                  <a:txBody>
                    <a:bodyPr wrap="square"/>
                    <a:lstStyle/>
                    <a:p>
                      <a:pPr>
                        <a:spcAft>
                          <a:spcPts val="0"/>
                        </a:spcAft>
                      </a:pPr>
                      <a:r>
                        <a:rPr sz="1150" b="0">
                          <a:solidFill>
                            <a:srgbClr val="1A1A1A"/>
                          </a:solidFill>
                          <a:latin typeface="Calibri"/>
                        </a:rPr>
                        <a:t>Threat named in prose only</a:t>
                      </a:r>
                    </a:p>
                  </a:txBody>
                  <a:tcPr marL="82296" marR="82296" marT="36576" marB="36576" anchor="ctr">
                    <a:solidFill>
                      <a:srgbClr val="FFFFFF"/>
                    </a:solidFill>
                  </a:tcPr>
                </a:tc>
                <a:tc>
                  <a:txBody>
                    <a:bodyPr wrap="square"/>
                    <a:lstStyle/>
                    <a:p>
                      <a:pPr algn="ctr">
                        <a:spcAft>
                          <a:spcPts val="0"/>
                        </a:spcAft>
                      </a:pPr>
                      <a:r>
                        <a:rPr sz="1150" b="0">
                          <a:solidFill>
                            <a:srgbClr val="1A1A1A"/>
                          </a:solidFill>
                          <a:latin typeface="Calibri"/>
                        </a:rPr>
                        <a:t>41</a:t>
                      </a:r>
                    </a:p>
                  </a:txBody>
                  <a:tcPr marL="82296" marR="82296" marT="36576" marB="36576" anchor="ctr">
                    <a:solidFill>
                      <a:srgbClr val="FFFFFF"/>
                    </a:solidFill>
                  </a:tcPr>
                </a:tc>
                <a:tc>
                  <a:txBody>
                    <a:bodyPr wrap="square"/>
                    <a:lstStyle/>
                    <a:p>
                      <a:pPr>
                        <a:spcAft>
                          <a:spcPts val="0"/>
                        </a:spcAft>
                      </a:pPr>
                      <a:r>
                        <a:rPr sz="1150" b="0">
                          <a:solidFill>
                            <a:srgbClr val="1A1A1A"/>
                          </a:solidFill>
                          <a:latin typeface="Calibri"/>
                        </a:rPr>
                        <a:t>An adversary is described; no experiment follows</a:t>
                      </a:r>
                    </a:p>
                  </a:txBody>
                  <a:tcPr marL="82296" marR="82296" marT="36576" marB="36576" anchor="ctr">
                    <a:solidFill>
                      <a:srgbClr val="FFFFFF"/>
                    </a:solidFill>
                  </a:tcPr>
                </a:tc>
              </a:tr>
              <a:tr h="315468">
                <a:tc>
                  <a:txBody>
                    <a:bodyPr wrap="square"/>
                    <a:lstStyle/>
                    <a:p>
                      <a:pPr>
                        <a:spcAft>
                          <a:spcPts val="0"/>
                        </a:spcAft>
                      </a:pPr>
                      <a:r>
                        <a:rPr sz="1150" b="0">
                          <a:solidFill>
                            <a:srgbClr val="1A1A1A"/>
                          </a:solidFill>
                          <a:latin typeface="Calibri"/>
                        </a:rPr>
                        <a:t>Self-constructed threat</a:t>
                      </a:r>
                    </a:p>
                  </a:txBody>
                  <a:tcPr marL="82296" marR="82296" marT="36576" marB="36576" anchor="ctr">
                    <a:solidFill>
                      <a:srgbClr val="F6F7F8"/>
                    </a:solidFill>
                  </a:tcPr>
                </a:tc>
                <a:tc>
                  <a:txBody>
                    <a:bodyPr wrap="square"/>
                    <a:lstStyle/>
                    <a:p>
                      <a:pPr algn="ctr">
                        <a:spcAft>
                          <a:spcPts val="0"/>
                        </a:spcAft>
                      </a:pPr>
                      <a:r>
                        <a:rPr sz="1150" b="0">
                          <a:solidFill>
                            <a:srgbClr val="1A1A1A"/>
                          </a:solidFill>
                          <a:latin typeface="Calibri"/>
                        </a:rPr>
                        <a:t>22</a:t>
                      </a:r>
                    </a:p>
                  </a:txBody>
                  <a:tcPr marL="82296" marR="82296" marT="36576" marB="36576" anchor="ctr">
                    <a:solidFill>
                      <a:srgbClr val="F6F7F8"/>
                    </a:solidFill>
                  </a:tcPr>
                </a:tc>
                <a:tc>
                  <a:txBody>
                    <a:bodyPr wrap="square"/>
                    <a:lstStyle/>
                    <a:p>
                      <a:pPr>
                        <a:spcAft>
                          <a:spcPts val="0"/>
                        </a:spcAft>
                      </a:pPr>
                      <a:r>
                        <a:rPr sz="1150" b="0">
                          <a:solidFill>
                            <a:srgbClr val="1A1A1A"/>
                          </a:solidFill>
                          <a:latin typeface="Calibri"/>
                        </a:rPr>
                        <a:t>Evaluated only against an attack the authors invented</a:t>
                      </a:r>
                    </a:p>
                  </a:txBody>
                  <a:tcPr marL="82296" marR="82296" marT="36576" marB="36576" anchor="ctr">
                    <a:solidFill>
                      <a:srgbClr val="F6F7F8"/>
                    </a:solidFill>
                  </a:tcPr>
                </a:tc>
              </a:tr>
              <a:tr h="315468">
                <a:tc>
                  <a:txBody>
                    <a:bodyPr wrap="square"/>
                    <a:lstStyle/>
                    <a:p>
                      <a:pPr>
                        <a:spcAft>
                          <a:spcPts val="0"/>
                        </a:spcAft>
                      </a:pPr>
                      <a:r>
                        <a:rPr sz="1150" b="0">
                          <a:solidFill>
                            <a:srgbClr val="1A1A1A"/>
                          </a:solidFill>
                          <a:latin typeface="Calibri"/>
                        </a:rPr>
                        <a:t>Benchmark named, no mechanism</a:t>
                      </a:r>
                    </a:p>
                  </a:txBody>
                  <a:tcPr marL="82296" marR="82296" marT="36576" marB="36576" anchor="ctr">
                    <a:solidFill>
                      <a:srgbClr val="FFFFFF"/>
                    </a:solidFill>
                  </a:tcPr>
                </a:tc>
                <a:tc>
                  <a:txBody>
                    <a:bodyPr wrap="square"/>
                    <a:lstStyle/>
                    <a:p>
                      <a:pPr algn="ctr">
                        <a:spcAft>
                          <a:spcPts val="0"/>
                        </a:spcAft>
                      </a:pPr>
                      <a:r>
                        <a:rPr sz="1150" b="0">
                          <a:solidFill>
                            <a:srgbClr val="1A1A1A"/>
                          </a:solidFill>
                          <a:latin typeface="Calibri"/>
                        </a:rPr>
                        <a:t>11</a:t>
                      </a:r>
                    </a:p>
                  </a:txBody>
                  <a:tcPr marL="82296" marR="82296" marT="36576" marB="36576" anchor="ctr">
                    <a:solidFill>
                      <a:srgbClr val="FFFFFF"/>
                    </a:solidFill>
                  </a:tcPr>
                </a:tc>
                <a:tc>
                  <a:txBody>
                    <a:bodyPr wrap="square"/>
                    <a:lstStyle/>
                    <a:p>
                      <a:pPr>
                        <a:spcAft>
                          <a:spcPts val="0"/>
                        </a:spcAft>
                      </a:pPr>
                      <a:r>
                        <a:rPr sz="1150" b="0">
                          <a:solidFill>
                            <a:srgbClr val="1A1A1A"/>
                          </a:solidFill>
                          <a:latin typeface="Calibri"/>
                        </a:rPr>
                        <a:t>Reports a score, not a defense outcome</a:t>
                      </a:r>
                    </a:p>
                  </a:txBody>
                  <a:tcPr marL="82296" marR="82296" marT="36576" marB="36576" anchor="ctr">
                    <a:solidFill>
                      <a:srgbClr val="FFFFFF"/>
                    </a:solidFill>
                  </a:tcPr>
                </a:tc>
              </a:tr>
              <a:tr h="315468">
                <a:tc>
                  <a:txBody>
                    <a:bodyPr wrap="square"/>
                    <a:lstStyle/>
                    <a:p>
                      <a:pPr>
                        <a:spcAft>
                          <a:spcPts val="0"/>
                        </a:spcAft>
                      </a:pPr>
                      <a:r>
                        <a:rPr sz="1150" b="0">
                          <a:solidFill>
                            <a:srgbClr val="1A1A1A"/>
                          </a:solidFill>
                          <a:latin typeface="Calibri"/>
                        </a:rPr>
                        <a:t>Unclassified</a:t>
                      </a:r>
                    </a:p>
                  </a:txBody>
                  <a:tcPr marL="82296" marR="82296" marT="36576" marB="36576" anchor="ctr">
                    <a:solidFill>
                      <a:srgbClr val="F6F7F8"/>
                    </a:solidFill>
                  </a:tcPr>
                </a:tc>
                <a:tc>
                  <a:txBody>
                    <a:bodyPr wrap="square"/>
                    <a:lstStyle/>
                    <a:p>
                      <a:pPr algn="ctr">
                        <a:spcAft>
                          <a:spcPts val="0"/>
                        </a:spcAft>
                      </a:pPr>
                      <a:r>
                        <a:rPr sz="1150" b="0">
                          <a:solidFill>
                            <a:srgbClr val="1A1A1A"/>
                          </a:solidFill>
                          <a:latin typeface="Calibri"/>
                        </a:rPr>
                        <a:t>21</a:t>
                      </a:r>
                    </a:p>
                  </a:txBody>
                  <a:tcPr marL="82296" marR="82296" marT="36576" marB="36576" anchor="ctr">
                    <a:solidFill>
                      <a:srgbClr val="F6F7F8"/>
                    </a:solidFill>
                  </a:tcPr>
                </a:tc>
                <a:tc>
                  <a:txBody>
                    <a:bodyPr wrap="square"/>
                    <a:lstStyle/>
                    <a:p>
                      <a:pPr>
                        <a:spcAft>
                          <a:spcPts val="0"/>
                        </a:spcAft>
                      </a:pPr>
                      <a:r>
                        <a:rPr sz="1150" b="0">
                          <a:solidFill>
                            <a:srgbClr val="1A1A1A"/>
                          </a:solidFill>
                          <a:latin typeface="Calibri"/>
                        </a:rPr>
                        <a:t>Insufficient extracted text to decide</a:t>
                      </a:r>
                    </a:p>
                  </a:txBody>
                  <a:tcPr marL="82296" marR="82296" marT="36576" marB="36576" anchor="ctr">
                    <a:solidFill>
                      <a:srgbClr val="F6F7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6</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We ran the code instead of quoting the papers</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Every cell below is a defense × attack pair reported nowhere in the literature. That is why it was chosen.</a:t>
            </a:r>
          </a:p>
        </p:txBody>
      </p:sp>
      <p:sp>
        <p:nvSpPr>
          <p:cNvPr id="6" name="TextBox 5"/>
          <p:cNvSpPr txBox="1"/>
          <p:nvPr/>
        </p:nvSpPr>
        <p:spPr>
          <a:xfrm>
            <a:off x="594360" y="1645920"/>
            <a:ext cx="11000232" cy="2286000"/>
          </a:xfrm>
          <a:prstGeom prst="rect">
            <a:avLst/>
          </a:prstGeom>
          <a:noFill/>
        </p:spPr>
        <p:txBody>
          <a:bodyPr wrap="square" lIns="0" rIns="0" tIns="0" bIns="0" anchor="t">
            <a:spAutoFit/>
          </a:bodyPr>
          <a:lstStyle/>
          <a:p>
            <a:pPr algn="l">
              <a:lnSpc>
                <a:spcPct val="104000"/>
              </a:lnSpc>
              <a:spcAft>
                <a:spcPts val="900"/>
              </a:spcAft>
            </a:pPr>
            <a:r>
              <a:rPr sz="1500" b="0" i="0">
                <a:solidFill>
                  <a:srgbClr val="1A1A1A"/>
                </a:solidFill>
                <a:latin typeface="Calibri"/>
              </a:rPr>
              <a:t>•  A reconstructability screen ran first, over 7 candidate attacks, before any GPU time was booked — 2 cleanly runnable, 2 needing substitution, 1 unreadable, 1 miscoded in our own registry.</a:t>
            </a:r>
          </a:p>
          <a:p>
            <a:pPr>
              <a:lnSpc>
                <a:spcPct val="104000"/>
              </a:lnSpc>
              <a:spcAft>
                <a:spcPts val="900"/>
              </a:spcAft>
            </a:pPr>
            <a:r>
              <a:rPr sz="1500" b="0" i="0">
                <a:solidFill>
                  <a:srgbClr val="1A1A1A"/>
                </a:solidFill>
                <a:latin typeface="Calibri"/>
              </a:rPr>
              <a:t>•  4 attack mechanisms reconstructed: corpus poisoning (signal removal), PoisonedRAG (lie insertion), BadRAG DoS (refusal induction), BadRAG Selective-Fact (tone steering).</a:t>
            </a:r>
          </a:p>
          <a:p>
            <a:pPr>
              <a:lnSpc>
                <a:spcPct val="104000"/>
              </a:lnSpc>
              <a:spcAft>
                <a:spcPts val="900"/>
              </a:spcAft>
            </a:pPr>
            <a:r>
              <a:rPr sz="1500" b="0" i="0">
                <a:solidFill>
                  <a:srgbClr val="1A1A1A"/>
                </a:solidFill>
                <a:latin typeface="Calibri"/>
              </a:rPr>
              <a:t>•  5 defense implementations run from released code: ParamMute, CK-PLUG, SpARE, RobustRAG KeywordAgg, RobustRAG DecodingAgg.</a:t>
            </a:r>
          </a:p>
          <a:p>
            <a:pPr>
              <a:lnSpc>
                <a:spcPct val="104000"/>
              </a:lnSpc>
              <a:spcAft>
                <a:spcPts val="900"/>
              </a:spcAft>
            </a:pPr>
            <a:r>
              <a:rPr sz="1500" b="0" i="0">
                <a:solidFill>
                  <a:srgbClr val="1A1A1A"/>
                </a:solidFill>
                <a:latin typeface="Calibri"/>
              </a:rPr>
              <a:t>•  Attack dose is swept from 0 to 10 poisoned passages out of 10, so every cell is a curve rather than a single point.</a:t>
            </a:r>
          </a:p>
        </p:txBody>
      </p:sp>
      <p:sp>
        <p:nvSpPr>
          <p:cNvPr id="7" name="TextBox 6"/>
          <p:cNvSpPr txBox="1"/>
          <p:nvPr/>
        </p:nvSpPr>
        <p:spPr>
          <a:xfrm>
            <a:off x="594360" y="4160520"/>
            <a:ext cx="274320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16</a:t>
            </a:r>
          </a:p>
        </p:txBody>
      </p:sp>
      <p:sp>
        <p:nvSpPr>
          <p:cNvPr id="8" name="TextBox 7"/>
          <p:cNvSpPr txBox="1"/>
          <p:nvPr/>
        </p:nvSpPr>
        <p:spPr>
          <a:xfrm>
            <a:off x="594360" y="4800600"/>
            <a:ext cx="274320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defense × attack × model cells</a:t>
            </a:r>
          </a:p>
        </p:txBody>
      </p:sp>
      <p:sp>
        <p:nvSpPr>
          <p:cNvPr id="9" name="TextBox 8"/>
          <p:cNvSpPr txBox="1"/>
          <p:nvPr/>
        </p:nvSpPr>
        <p:spPr>
          <a:xfrm>
            <a:off x="3520440" y="4160520"/>
            <a:ext cx="274320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94</a:t>
            </a:r>
          </a:p>
        </p:txBody>
      </p:sp>
      <p:sp>
        <p:nvSpPr>
          <p:cNvPr id="10" name="TextBox 9"/>
          <p:cNvSpPr txBox="1"/>
          <p:nvPr/>
        </p:nvSpPr>
        <p:spPr>
          <a:xfrm>
            <a:off x="3520440" y="4800600"/>
            <a:ext cx="274320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dose-level measured conditions</a:t>
            </a:r>
          </a:p>
        </p:txBody>
      </p:sp>
      <p:sp>
        <p:nvSpPr>
          <p:cNvPr id="11" name="TextBox 10"/>
          <p:cNvSpPr txBox="1"/>
          <p:nvPr/>
        </p:nvSpPr>
        <p:spPr>
          <a:xfrm>
            <a:off x="6446520" y="4160520"/>
            <a:ext cx="274320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2</a:t>
            </a:r>
          </a:p>
        </p:txBody>
      </p:sp>
      <p:sp>
        <p:nvSpPr>
          <p:cNvPr id="12" name="TextBox 11"/>
          <p:cNvSpPr txBox="1"/>
          <p:nvPr/>
        </p:nvSpPr>
        <p:spPr>
          <a:xfrm>
            <a:off x="6446520" y="4800600"/>
            <a:ext cx="274320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defense families compared</a:t>
            </a:r>
          </a:p>
        </p:txBody>
      </p:sp>
      <p:sp>
        <p:nvSpPr>
          <p:cNvPr id="13" name="TextBox 12"/>
          <p:cNvSpPr txBox="1"/>
          <p:nvPr/>
        </p:nvSpPr>
        <p:spPr>
          <a:xfrm>
            <a:off x="9372600" y="4160520"/>
            <a:ext cx="2743200" cy="658368"/>
          </a:xfrm>
          <a:prstGeom prst="rect">
            <a:avLst/>
          </a:prstGeom>
          <a:noFill/>
        </p:spPr>
        <p:txBody>
          <a:bodyPr wrap="square" lIns="0" rIns="0" tIns="0" bIns="0" anchor="t">
            <a:spAutoFit/>
          </a:bodyPr>
          <a:lstStyle/>
          <a:p>
            <a:pPr algn="l">
              <a:spcAft>
                <a:spcPts val="0"/>
              </a:spcAft>
            </a:pPr>
            <a:r>
              <a:rPr sz="3800" b="1" i="0">
                <a:solidFill>
                  <a:srgbClr val="2F4858"/>
                </a:solidFill>
                <a:latin typeface="Cambria"/>
              </a:rPr>
              <a:t>3</a:t>
            </a:r>
          </a:p>
        </p:txBody>
      </p:sp>
      <p:sp>
        <p:nvSpPr>
          <p:cNvPr id="14" name="TextBox 13"/>
          <p:cNvSpPr txBox="1"/>
          <p:nvPr/>
        </p:nvSpPr>
        <p:spPr>
          <a:xfrm>
            <a:off x="9372600" y="4800600"/>
            <a:ext cx="2743200" cy="658368"/>
          </a:xfrm>
          <a:prstGeom prst="rect">
            <a:avLst/>
          </a:prstGeom>
          <a:noFill/>
        </p:spPr>
        <p:txBody>
          <a:bodyPr wrap="square" lIns="0" rIns="0" tIns="0" bIns="0" anchor="t">
            <a:spAutoFit/>
          </a:bodyPr>
          <a:lstStyle/>
          <a:p>
            <a:pPr algn="l">
              <a:lnSpc>
                <a:spcPct val="100000"/>
              </a:lnSpc>
              <a:spcAft>
                <a:spcPts val="200"/>
              </a:spcAft>
            </a:pPr>
            <a:r>
              <a:rPr sz="1150" b="0" i="0">
                <a:solidFill>
                  <a:srgbClr val="6B7780"/>
                </a:solidFill>
                <a:latin typeface="Calibri"/>
              </a:rPr>
              <a:t>models, incl. a controlled rerun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7</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Finding 1 — the collapse is family-specific</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At full saturation, when every retrieved passage is attacker-controlled, the two families behave categorically differently.</a:t>
            </a:r>
          </a:p>
        </p:txBody>
      </p:sp>
      <p:graphicFrame>
        <p:nvGraphicFramePr>
          <p:cNvPr id="6" name="Table 5"/>
          <p:cNvGraphicFramePr>
            <a:graphicFrameLocks noGrp="1"/>
          </p:cNvGraphicFramePr>
          <p:nvPr/>
        </p:nvGraphicFramePr>
        <p:xfrm>
          <a:off x="594360" y="1700784"/>
          <a:ext cx="11000230" cy="1956816"/>
        </p:xfrm>
        <a:graphic>
          <a:graphicData uri="http://schemas.openxmlformats.org/drawingml/2006/table">
            <a:tbl>
              <a:tblPr bandRow="1">
                <a:tableStyleId>{5C22544A-7EE6-4342-B048-85BDC9FD1C3A}</a:tableStyleId>
              </a:tblPr>
              <a:tblGrid>
                <a:gridCol w="2377440"/>
                <a:gridCol w="4873752"/>
                <a:gridCol w="1874519"/>
                <a:gridCol w="1874519"/>
              </a:tblGrid>
              <a:tr h="420624">
                <a:tc>
                  <a:txBody>
                    <a:bodyPr wrap="square"/>
                    <a:lstStyle/>
                    <a:p>
                      <a:pPr>
                        <a:spcAft>
                          <a:spcPts val="0"/>
                        </a:spcAft>
                      </a:pPr>
                      <a:r>
                        <a:rPr sz="1150" b="1">
                          <a:solidFill>
                            <a:srgbClr val="FFFFFF"/>
                          </a:solidFill>
                          <a:latin typeface="Calibri"/>
                        </a:rPr>
                        <a:t>Defense family</a:t>
                      </a:r>
                    </a:p>
                  </a:txBody>
                  <a:tcPr marL="82296" marR="82296" marT="36576" marB="36576" anchor="ctr">
                    <a:solidFill>
                      <a:srgbClr val="2F3C47"/>
                    </a:solidFill>
                  </a:tcPr>
                </a:tc>
                <a:tc>
                  <a:txBody>
                    <a:bodyPr wrap="square"/>
                    <a:lstStyle/>
                    <a:p>
                      <a:pPr>
                        <a:spcAft>
                          <a:spcPts val="0"/>
                        </a:spcAft>
                      </a:pPr>
                      <a:r>
                        <a:rPr sz="1150" b="1">
                          <a:solidFill>
                            <a:srgbClr val="FFFFFF"/>
                          </a:solidFill>
                          <a:latin typeface="Calibri"/>
                        </a:rPr>
                        <a:t>Mechanism</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Cells with</a:t>
                      </a:r>
                    </a:p>
                    <a:p>
                      <a:pPr algn="ctr">
                        <a:spcAft>
                          <a:spcPts val="0"/>
                        </a:spcAft>
                      </a:pPr>
                      <a:r>
                        <a:rPr sz="1150" b="1">
                          <a:solidFill>
                            <a:srgbClr val="FFFFFF"/>
                          </a:solidFill>
                          <a:latin typeface="Calibri"/>
                        </a:rPr>
                        <a:t>usable control</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Resolvable</a:t>
                      </a:r>
                    </a:p>
                    <a:p>
                      <a:pPr algn="ctr">
                        <a:spcAft>
                          <a:spcPts val="0"/>
                        </a:spcAft>
                      </a:pPr>
                      <a:r>
                        <a:rPr sz="1150" b="1">
                          <a:solidFill>
                            <a:srgbClr val="FFFFFF"/>
                          </a:solidFill>
                          <a:latin typeface="Calibri"/>
                        </a:rPr>
                        <a:t>accuracy loss</a:t>
                      </a:r>
                    </a:p>
                  </a:txBody>
                  <a:tcPr marL="82296" marR="82296" marT="36576" marB="36576" anchor="ctr">
                    <a:solidFill>
                      <a:srgbClr val="2F3C47"/>
                    </a:solidFill>
                  </a:tcPr>
                </a:tc>
              </a:tr>
              <a:tr h="768096">
                <a:tc>
                  <a:txBody>
                    <a:bodyPr wrap="square"/>
                    <a:lstStyle/>
                    <a:p>
                      <a:pPr>
                        <a:spcAft>
                          <a:spcPts val="0"/>
                        </a:spcAft>
                      </a:pPr>
                      <a:r>
                        <a:rPr sz="1250" b="0">
                          <a:solidFill>
                            <a:srgbClr val="1A1A1A"/>
                          </a:solidFill>
                          <a:latin typeface="Calibri"/>
                        </a:rPr>
                        <a:t>Context-reliance</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Suppress parametric memory so the model follows retrieved text</a:t>
                      </a:r>
                    </a:p>
                    <a:p>
                      <a:pPr>
                        <a:spcAft>
                          <a:spcPts val="0"/>
                        </a:spcAft>
                      </a:pPr>
                      <a:r>
                        <a:rPr sz="1250" b="0">
                          <a:solidFill>
                            <a:srgbClr val="1A1A1A"/>
                          </a:solidFill>
                          <a:latin typeface="Calibri"/>
                        </a:rPr>
                        <a:t>(ParamMute, CK-PLUG, SpARE)</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5 of 8</a:t>
                      </a:r>
                    </a:p>
                  </a:txBody>
                  <a:tcPr marL="82296" marR="82296" marT="36576" marB="36576" anchor="ctr">
                    <a:solidFill>
                      <a:srgbClr val="FFFFFF"/>
                    </a:solidFill>
                  </a:tcPr>
                </a:tc>
                <a:tc>
                  <a:txBody>
                    <a:bodyPr wrap="square"/>
                    <a:lstStyle/>
                    <a:p>
                      <a:pPr algn="ctr">
                        <a:spcAft>
                          <a:spcPts val="0"/>
                        </a:spcAft>
                      </a:pPr>
                      <a:r>
                        <a:rPr sz="1250" b="1">
                          <a:solidFill>
                            <a:srgbClr val="8C2E2E"/>
                          </a:solidFill>
                          <a:latin typeface="Calibri"/>
                        </a:rPr>
                        <a:t>4</a:t>
                      </a:r>
                    </a:p>
                  </a:txBody>
                  <a:tcPr marL="82296" marR="82296" marT="36576" marB="36576" anchor="ctr">
                    <a:solidFill>
                      <a:srgbClr val="FFFFFF"/>
                    </a:solidFill>
                  </a:tcPr>
                </a:tc>
              </a:tr>
              <a:tr h="768096">
                <a:tc>
                  <a:txBody>
                    <a:bodyPr wrap="square"/>
                    <a:lstStyle/>
                    <a:p>
                      <a:pPr>
                        <a:spcAft>
                          <a:spcPts val="0"/>
                        </a:spcAft>
                      </a:pPr>
                      <a:r>
                        <a:rPr sz="1250" b="0">
                          <a:solidFill>
                            <a:srgbClr val="1A1A1A"/>
                          </a:solidFill>
                          <a:latin typeface="Calibri"/>
                        </a:rPr>
                        <a:t>Isolate-then-aggregate</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Answer each passage alone, then combine</a:t>
                      </a:r>
                    </a:p>
                    <a:p>
                      <a:pPr>
                        <a:spcAft>
                          <a:spcPts val="0"/>
                        </a:spcAft>
                      </a:pPr>
                      <a:r>
                        <a:rPr sz="1250" b="0">
                          <a:solidFill>
                            <a:srgbClr val="1A1A1A"/>
                          </a:solidFill>
                          <a:latin typeface="Calibri"/>
                        </a:rPr>
                        <a:t>(RobustRAG KeywordAgg, RobustRAG DecodingAgg)</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5 of 5</a:t>
                      </a:r>
                    </a:p>
                  </a:txBody>
                  <a:tcPr marL="82296" marR="82296" marT="36576" marB="36576" anchor="ctr">
                    <a:solidFill>
                      <a:srgbClr val="F6F7F8"/>
                    </a:solidFill>
                  </a:tcPr>
                </a:tc>
                <a:tc>
                  <a:txBody>
                    <a:bodyPr wrap="square"/>
                    <a:lstStyle/>
                    <a:p>
                      <a:pPr algn="ctr">
                        <a:spcAft>
                          <a:spcPts val="0"/>
                        </a:spcAft>
                      </a:pPr>
                      <a:r>
                        <a:rPr sz="1250" b="1">
                          <a:solidFill>
                            <a:srgbClr val="2F4858"/>
                          </a:solidFill>
                          <a:latin typeface="Calibri"/>
                        </a:rPr>
                        <a:t>0</a:t>
                      </a:r>
                    </a:p>
                  </a:txBody>
                  <a:tcPr marL="82296" marR="82296" marT="36576" marB="36576" anchor="ctr">
                    <a:solidFill>
                      <a:srgbClr val="F6F7F8"/>
                    </a:solidFill>
                  </a:tcPr>
                </a:tc>
              </a:tr>
            </a:tbl>
          </a:graphicData>
        </a:graphic>
      </p:graphicFrame>
      <p:sp>
        <p:nvSpPr>
          <p:cNvPr id="7" name="TextBox 6"/>
          <p:cNvSpPr txBox="1"/>
          <p:nvPr/>
        </p:nvSpPr>
        <p:spPr>
          <a:xfrm>
            <a:off x="594360" y="3858768"/>
            <a:ext cx="11000232" cy="2103120"/>
          </a:xfrm>
          <a:prstGeom prst="rect">
            <a:avLst/>
          </a:prstGeom>
          <a:noFill/>
        </p:spPr>
        <p:txBody>
          <a:bodyPr wrap="square" lIns="0" rIns="0" tIns="0" bIns="0" anchor="t">
            <a:spAutoFit/>
          </a:bodyPr>
          <a:lstStyle/>
          <a:p>
            <a:pPr algn="l">
              <a:lnSpc>
                <a:spcPct val="104000"/>
              </a:lnSpc>
              <a:spcAft>
                <a:spcPts val="900"/>
              </a:spcAft>
            </a:pPr>
            <a:r>
              <a:rPr sz="1400" b="0" i="0">
                <a:solidFill>
                  <a:srgbClr val="1A1A1A"/>
                </a:solidFill>
                <a:latin typeface="Calibri"/>
              </a:rPr>
              <a:t>•  The penalty is invariant: −31.7 and −31.8 pp across two defenses, two attacks and two models — one of them not even instruction-tuned.</a:t>
            </a:r>
          </a:p>
          <a:p>
            <a:pPr>
              <a:lnSpc>
                <a:spcPct val="104000"/>
              </a:lnSpc>
              <a:spcAft>
                <a:spcPts val="900"/>
              </a:spcAft>
            </a:pPr>
            <a:r>
              <a:rPr sz="1400" b="0" i="0">
                <a:solidFill>
                  <a:srgbClr val="1A1A1A"/>
                </a:solidFill>
                <a:latin typeface="Calibri"/>
              </a:rPr>
              <a:t>•  Against lie insertion the harm starts at 8 of 10 poisoned passages, not at 10 of 10. A context-reliance defense is a dose multiplier: every poisoned passage is one more passage it insists on.</a:t>
            </a:r>
          </a:p>
          <a:p>
            <a:pPr>
              <a:lnSpc>
                <a:spcPct val="104000"/>
              </a:lnSpc>
              <a:spcAft>
                <a:spcPts val="900"/>
              </a:spcAft>
            </a:pPr>
            <a:r>
              <a:rPr sz="1400" b="1" i="0">
                <a:solidFill>
                  <a:srgbClr val="1A1A1A"/>
                </a:solidFill>
                <a:latin typeface="Calibri"/>
              </a:rPr>
              <a:t>•  Design rule — do not suppress parametric memory. It is the model's only recourse when the evidence set empties, and it is worth about 32 points.</a:t>
            </a:r>
          </a:p>
        </p:txBody>
      </p:sp>
      <p:sp>
        <p:nvSpPr>
          <p:cNvPr id="8" name="TextBox 7"/>
          <p:cNvSpPr txBox="1"/>
          <p:nvPr/>
        </p:nvSpPr>
        <p:spPr>
          <a:xfrm>
            <a:off x="594360" y="5961888"/>
            <a:ext cx="11000232" cy="292608"/>
          </a:xfrm>
          <a:prstGeom prst="rect">
            <a:avLst/>
          </a:prstGeom>
          <a:noFill/>
        </p:spPr>
        <p:txBody>
          <a:bodyPr wrap="square" lIns="0" rIns="0" tIns="0" bIns="0" anchor="t">
            <a:spAutoFit/>
          </a:bodyPr>
          <a:lstStyle/>
          <a:p>
            <a:pPr algn="l">
              <a:spcAft>
                <a:spcPts val="0"/>
              </a:spcAft>
            </a:pPr>
            <a:r>
              <a:rPr sz="1050" b="0" i="1">
                <a:solidFill>
                  <a:srgbClr val="6B7780"/>
                </a:solidFill>
                <a:latin typeface="Calibri"/>
              </a:rPr>
              <a:t>Full curves, controls and limits:  family_dissociation.md  ·  saturation_invariant.md  ·  collapse_boundary.md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8</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Finding 2 — some defenses create the vulnerability</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Attack success against an undefended model, and against the same model with the defense switched on.</a:t>
            </a:r>
          </a:p>
        </p:txBody>
      </p:sp>
      <p:graphicFrame>
        <p:nvGraphicFramePr>
          <p:cNvPr id="6" name="Table 5"/>
          <p:cNvGraphicFramePr>
            <a:graphicFrameLocks noGrp="1"/>
          </p:cNvGraphicFramePr>
          <p:nvPr/>
        </p:nvGraphicFramePr>
        <p:xfrm>
          <a:off x="594360" y="1700784"/>
          <a:ext cx="11000232" cy="2542032"/>
        </p:xfrm>
        <a:graphic>
          <a:graphicData uri="http://schemas.openxmlformats.org/drawingml/2006/table">
            <a:tbl>
              <a:tblPr bandRow="1">
                <a:tableStyleId>{5C22544A-7EE6-4342-B048-85BDC9FD1C3A}</a:tableStyleId>
              </a:tblPr>
              <a:tblGrid>
                <a:gridCol w="3246120"/>
                <a:gridCol w="1783080"/>
                <a:gridCol w="1280160"/>
                <a:gridCol w="1280160"/>
                <a:gridCol w="3410712"/>
              </a:tblGrid>
              <a:tr h="420624">
                <a:tc>
                  <a:txBody>
                    <a:bodyPr wrap="square"/>
                    <a:lstStyle/>
                    <a:p>
                      <a:pPr>
                        <a:spcAft>
                          <a:spcPts val="0"/>
                        </a:spcAft>
                      </a:pPr>
                      <a:r>
                        <a:rPr sz="1150" b="1">
                          <a:solidFill>
                            <a:srgbClr val="FFFFFF"/>
                          </a:solidFill>
                          <a:latin typeface="Calibri"/>
                        </a:rPr>
                        <a:t>Defense</a:t>
                      </a:r>
                    </a:p>
                  </a:txBody>
                  <a:tcPr marL="82296" marR="82296" marT="36576" marB="36576" anchor="ctr">
                    <a:solidFill>
                      <a:srgbClr val="2F3C47"/>
                    </a:solidFill>
                  </a:tcPr>
                </a:tc>
                <a:tc>
                  <a:txBody>
                    <a:bodyPr wrap="square"/>
                    <a:lstStyle/>
                    <a:p>
                      <a:pPr>
                        <a:spcAft>
                          <a:spcPts val="0"/>
                        </a:spcAft>
                      </a:pPr>
                      <a:r>
                        <a:rPr sz="1150" b="1">
                          <a:solidFill>
                            <a:srgbClr val="FFFFFF"/>
                          </a:solidFill>
                          <a:latin typeface="Calibri"/>
                        </a:rPr>
                        <a:t>Attack</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Undefended</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Defended</a:t>
                      </a:r>
                    </a:p>
                  </a:txBody>
                  <a:tcPr marL="82296" marR="82296" marT="36576" marB="36576" anchor="ctr">
                    <a:solidFill>
                      <a:srgbClr val="2F3C47"/>
                    </a:solidFill>
                  </a:tcPr>
                </a:tc>
                <a:tc>
                  <a:txBody>
                    <a:bodyPr wrap="square"/>
                    <a:lstStyle/>
                    <a:p>
                      <a:pPr>
                        <a:spcAft>
                          <a:spcPts val="0"/>
                        </a:spcAft>
                      </a:pPr>
                      <a:r>
                        <a:rPr sz="1150" b="1">
                          <a:solidFill>
                            <a:srgbClr val="FFFFFF"/>
                          </a:solidFill>
                          <a:latin typeface="Calibri"/>
                        </a:rPr>
                        <a:t>Effect of turning the defense on</a:t>
                      </a:r>
                    </a:p>
                  </a:txBody>
                  <a:tcPr marL="82296" marR="82296" marT="36576" marB="36576" anchor="ctr">
                    <a:solidFill>
                      <a:srgbClr val="2F3C47"/>
                    </a:solidFill>
                  </a:tcPr>
                </a:tc>
              </a:tr>
              <a:tr h="530352">
                <a:tc>
                  <a:txBody>
                    <a:bodyPr wrap="square"/>
                    <a:lstStyle/>
                    <a:p>
                      <a:pPr>
                        <a:spcAft>
                          <a:spcPts val="0"/>
                        </a:spcAft>
                      </a:pPr>
                      <a:r>
                        <a:rPr sz="1250" b="0">
                          <a:solidFill>
                            <a:srgbClr val="1A1A1A"/>
                          </a:solidFill>
                          <a:latin typeface="Calibri"/>
                        </a:rPr>
                        <a:t>CK-PLUG</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Tone steering</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0.0 %</a:t>
                      </a:r>
                    </a:p>
                  </a:txBody>
                  <a:tcPr marL="82296" marR="82296" marT="36576" marB="36576" anchor="ctr">
                    <a:solidFill>
                      <a:srgbClr val="FFFFFF"/>
                    </a:solidFill>
                  </a:tcPr>
                </a:tc>
                <a:tc>
                  <a:txBody>
                    <a:bodyPr wrap="square"/>
                    <a:lstStyle/>
                    <a:p>
                      <a:pPr algn="ctr">
                        <a:spcAft>
                          <a:spcPts val="0"/>
                        </a:spcAft>
                      </a:pPr>
                      <a:r>
                        <a:rPr sz="1250" b="1">
                          <a:solidFill>
                            <a:srgbClr val="8C2E2E"/>
                          </a:solidFill>
                          <a:latin typeface="Calibri"/>
                        </a:rPr>
                        <a:t>99.0 %</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78.2 % from a single poisoned passage in ten</a:t>
                      </a:r>
                    </a:p>
                  </a:txBody>
                  <a:tcPr marL="82296" marR="82296" marT="36576" marB="36576" anchor="ctr">
                    <a:solidFill>
                      <a:srgbClr val="FFFFFF"/>
                    </a:solidFill>
                  </a:tcPr>
                </a:tc>
              </a:tr>
              <a:tr h="530352">
                <a:tc>
                  <a:txBody>
                    <a:bodyPr wrap="square"/>
                    <a:lstStyle/>
                    <a:p>
                      <a:pPr>
                        <a:spcAft>
                          <a:spcPts val="0"/>
                        </a:spcAft>
                      </a:pPr>
                      <a:r>
                        <a:rPr sz="1250" b="0">
                          <a:solidFill>
                            <a:srgbClr val="1A1A1A"/>
                          </a:solidFill>
                          <a:latin typeface="Calibri"/>
                        </a:rPr>
                        <a:t>ParamMute</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Tone steering</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0.0 %</a:t>
                      </a:r>
                    </a:p>
                  </a:txBody>
                  <a:tcPr marL="82296" marR="82296" marT="36576" marB="36576" anchor="ctr">
                    <a:solidFill>
                      <a:srgbClr val="F6F7F8"/>
                    </a:solidFill>
                  </a:tcPr>
                </a:tc>
                <a:tc>
                  <a:txBody>
                    <a:bodyPr wrap="square"/>
                    <a:lstStyle/>
                    <a:p>
                      <a:pPr algn="ctr">
                        <a:spcAft>
                          <a:spcPts val="0"/>
                        </a:spcAft>
                      </a:pPr>
                      <a:r>
                        <a:rPr sz="1250" b="1">
                          <a:solidFill>
                            <a:srgbClr val="8C2E2E"/>
                          </a:solidFill>
                          <a:latin typeface="Calibri"/>
                        </a:rPr>
                        <a:t>28.8 %</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Same direction, weaker</a:t>
                      </a:r>
                    </a:p>
                  </a:txBody>
                  <a:tcPr marL="82296" marR="82296" marT="36576" marB="36576" anchor="ctr">
                    <a:solidFill>
                      <a:srgbClr val="F6F7F8"/>
                    </a:solidFill>
                  </a:tcPr>
                </a:tc>
              </a:tr>
              <a:tr h="530352">
                <a:tc>
                  <a:txBody>
                    <a:bodyPr wrap="square"/>
                    <a:lstStyle/>
                    <a:p>
                      <a:pPr>
                        <a:spcAft>
                          <a:spcPts val="0"/>
                        </a:spcAft>
                      </a:pPr>
                      <a:r>
                        <a:rPr sz="1250" b="0">
                          <a:solidFill>
                            <a:srgbClr val="1A1A1A"/>
                          </a:solidFill>
                          <a:latin typeface="Calibri"/>
                        </a:rPr>
                        <a:t>RobustRAG KeywordAgg</a:t>
                      </a:r>
                    </a:p>
                    <a:p>
                      <a:pPr>
                        <a:spcAft>
                          <a:spcPts val="0"/>
                        </a:spcAft>
                      </a:pPr>
                      <a:r>
                        <a:rPr sz="1250" b="0">
                          <a:solidFill>
                            <a:srgbClr val="1A1A1A"/>
                          </a:solidFill>
                          <a:latin typeface="Calibri"/>
                        </a:rPr>
                        <a:t>on Llama-3-8B-Instruct</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Refusal induction</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0.0 %</a:t>
                      </a:r>
                    </a:p>
                  </a:txBody>
                  <a:tcPr marL="82296" marR="82296" marT="36576" marB="36576" anchor="ctr">
                    <a:solidFill>
                      <a:srgbClr val="FFFFFF"/>
                    </a:solidFill>
                  </a:tcPr>
                </a:tc>
                <a:tc>
                  <a:txBody>
                    <a:bodyPr wrap="square"/>
                    <a:lstStyle/>
                    <a:p>
                      <a:pPr algn="ctr">
                        <a:spcAft>
                          <a:spcPts val="0"/>
                        </a:spcAft>
                      </a:pPr>
                      <a:r>
                        <a:rPr sz="1250" b="1">
                          <a:solidFill>
                            <a:srgbClr val="8C2E2E"/>
                          </a:solidFill>
                          <a:latin typeface="Calibri"/>
                        </a:rPr>
                        <a:t>85.0 %</a:t>
                      </a:r>
                    </a:p>
                  </a:txBody>
                  <a:tcPr marL="82296" marR="82296" marT="36576" marB="36576" anchor="ctr">
                    <a:solidFill>
                      <a:srgbClr val="FFFFFF"/>
                    </a:solidFill>
                  </a:tcPr>
                </a:tc>
                <a:tc>
                  <a:txBody>
                    <a:bodyPr wrap="square"/>
                    <a:lstStyle/>
                    <a:p>
                      <a:pPr>
                        <a:spcAft>
                          <a:spcPts val="0"/>
                        </a:spcAft>
                      </a:pPr>
                      <a:r>
                        <a:rPr sz="1250" b="0">
                          <a:solidFill>
                            <a:srgbClr val="1A1A1A"/>
                          </a:solidFill>
                          <a:latin typeface="Calibri"/>
                        </a:rPr>
                        <a:t>The model never refuses until the defense is added</a:t>
                      </a:r>
                    </a:p>
                  </a:txBody>
                  <a:tcPr marL="82296" marR="82296" marT="36576" marB="36576" anchor="ctr">
                    <a:solidFill>
                      <a:srgbClr val="FFFFFF"/>
                    </a:solidFill>
                  </a:tcPr>
                </a:tc>
              </a:tr>
              <a:tr h="530352">
                <a:tc>
                  <a:txBody>
                    <a:bodyPr wrap="square"/>
                    <a:lstStyle/>
                    <a:p>
                      <a:pPr>
                        <a:spcAft>
                          <a:spcPts val="0"/>
                        </a:spcAft>
                      </a:pPr>
                      <a:r>
                        <a:rPr sz="1250" b="0">
                          <a:solidFill>
                            <a:srgbClr val="1A1A1A"/>
                          </a:solidFill>
                          <a:latin typeface="Calibri"/>
                        </a:rPr>
                        <a:t>RobustRAG KeywordAgg</a:t>
                      </a:r>
                    </a:p>
                    <a:p>
                      <a:pPr>
                        <a:spcAft>
                          <a:spcPts val="0"/>
                        </a:spcAft>
                      </a:pPr>
                      <a:r>
                        <a:rPr sz="1250" b="0">
                          <a:solidFill>
                            <a:srgbClr val="1A1A1A"/>
                          </a:solidFill>
                          <a:latin typeface="Calibri"/>
                        </a:rPr>
                        <a:t>on Mistral-7B-Instruct</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Refusal induction</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0.0 %</a:t>
                      </a:r>
                    </a:p>
                  </a:txBody>
                  <a:tcPr marL="82296" marR="82296" marT="36576" marB="36576" anchor="ctr">
                    <a:solidFill>
                      <a:srgbClr val="F6F7F8"/>
                    </a:solidFill>
                  </a:tcPr>
                </a:tc>
                <a:tc>
                  <a:txBody>
                    <a:bodyPr wrap="square"/>
                    <a:lstStyle/>
                    <a:p>
                      <a:pPr algn="ctr">
                        <a:spcAft>
                          <a:spcPts val="0"/>
                        </a:spcAft>
                      </a:pPr>
                      <a:r>
                        <a:rPr sz="1250" b="1">
                          <a:solidFill>
                            <a:srgbClr val="2F4858"/>
                          </a:solidFill>
                          <a:latin typeface="Calibri"/>
                        </a:rPr>
                        <a:t>5.7 %</a:t>
                      </a:r>
                    </a:p>
                  </a:txBody>
                  <a:tcPr marL="82296" marR="82296" marT="36576" marB="36576" anchor="ctr">
                    <a:solidFill>
                      <a:srgbClr val="F6F7F8"/>
                    </a:solidFill>
                  </a:tcPr>
                </a:tc>
                <a:tc>
                  <a:txBody>
                    <a:bodyPr wrap="square"/>
                    <a:lstStyle/>
                    <a:p>
                      <a:pPr>
                        <a:spcAft>
                          <a:spcPts val="0"/>
                        </a:spcAft>
                      </a:pPr>
                      <a:r>
                        <a:rPr sz="1250" b="0">
                          <a:solidFill>
                            <a:srgbClr val="1A1A1A"/>
                          </a:solidFill>
                          <a:latin typeface="Calibri"/>
                        </a:rPr>
                        <a:t>Same defense, same attack, different model — no effect</a:t>
                      </a:r>
                    </a:p>
                  </a:txBody>
                  <a:tcPr marL="82296" marR="82296" marT="36576" marB="36576" anchor="ctr">
                    <a:solidFill>
                      <a:srgbClr val="F6F7F8"/>
                    </a:solidFill>
                  </a:tcPr>
                </a:tc>
              </a:tr>
            </a:tbl>
          </a:graphicData>
        </a:graphic>
      </p:graphicFrame>
      <p:sp>
        <p:nvSpPr>
          <p:cNvPr id="7" name="TextBox 6"/>
          <p:cNvSpPr txBox="1"/>
          <p:nvPr/>
        </p:nvSpPr>
        <p:spPr>
          <a:xfrm>
            <a:off x="594360" y="4315968"/>
            <a:ext cx="11000232" cy="1828800"/>
          </a:xfrm>
          <a:prstGeom prst="rect">
            <a:avLst/>
          </a:prstGeom>
          <a:noFill/>
        </p:spPr>
        <p:txBody>
          <a:bodyPr wrap="square" lIns="0" rIns="0" tIns="0" bIns="0" anchor="t">
            <a:spAutoFit/>
          </a:bodyPr>
          <a:lstStyle/>
          <a:p>
            <a:pPr algn="l">
              <a:lnSpc>
                <a:spcPct val="104000"/>
              </a:lnSpc>
              <a:spcAft>
                <a:spcPts val="700"/>
              </a:spcAft>
            </a:pPr>
            <a:r>
              <a:rPr sz="1350" b="1" i="0">
                <a:solidFill>
                  <a:srgbClr val="1A1A1A"/>
                </a:solidFill>
                <a:latin typeface="Calibri"/>
              </a:rPr>
              <a:t>•  The attack does nothing to an undefended model. It only works through the defense.</a:t>
            </a:r>
          </a:p>
          <a:p>
            <a:pPr>
              <a:lnSpc>
                <a:spcPct val="104000"/>
              </a:lnSpc>
              <a:spcAft>
                <a:spcPts val="700"/>
              </a:spcAft>
            </a:pPr>
            <a:r>
              <a:rPr sz="1350" b="0" i="0">
                <a:solidFill>
                  <a:srgbClr val="1A1A1A"/>
                </a:solidFill>
                <a:latin typeface="Calibri"/>
              </a:rPr>
              <a:t>•  Why: tone steering does not corrupt the answer, so a defense that pushes the model to follow the retrieved text follows the slant too — and scores itself as working perfectly. The attack and the defense want the same thing.</a:t>
            </a:r>
          </a:p>
          <a:p>
            <a:pPr>
              <a:lnSpc>
                <a:spcPct val="104000"/>
              </a:lnSpc>
              <a:spcAft>
                <a:spcPts val="700"/>
              </a:spcAft>
            </a:pPr>
            <a:r>
              <a:rPr sz="1350" b="0" i="0">
                <a:solidFill>
                  <a:srgbClr val="1A1A1A"/>
                </a:solidFill>
                <a:latin typeface="Calibri"/>
              </a:rPr>
              <a:t>•  The last row is the uncomfortable one: the same defense is protective on one model and harmful on another, so model choice is part of the threat model.</a:t>
            </a:r>
          </a:p>
        </p:txBody>
      </p:sp>
      <p:sp>
        <p:nvSpPr>
          <p:cNvPr id="8" name="TextBox 7"/>
          <p:cNvSpPr txBox="1"/>
          <p:nvPr/>
        </p:nvSpPr>
        <p:spPr>
          <a:xfrm>
            <a:off x="594360" y="5961888"/>
            <a:ext cx="11000232" cy="292608"/>
          </a:xfrm>
          <a:prstGeom prst="rect">
            <a:avLst/>
          </a:prstGeom>
          <a:noFill/>
        </p:spPr>
        <p:txBody>
          <a:bodyPr wrap="square" lIns="0" rIns="0" tIns="0" bIns="0" anchor="t">
            <a:spAutoFit/>
          </a:bodyPr>
          <a:lstStyle/>
          <a:p>
            <a:pPr algn="l">
              <a:spcAft>
                <a:spcPts val="0"/>
              </a:spcAft>
            </a:pPr>
            <a:r>
              <a:rPr sz="1050" b="0" i="1">
                <a:solidFill>
                  <a:srgbClr val="6B7780"/>
                </a:solidFill>
                <a:latin typeface="Calibri"/>
              </a:rPr>
              <a:t>Full curves, controls and limits:  family_dissociation.md  ·  second_implementation.md  ·  badrag_transfer_result.md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6382512"/>
            <a:ext cx="7315200" cy="274320"/>
          </a:xfrm>
          <a:prstGeom prst="rect">
            <a:avLst/>
          </a:prstGeom>
          <a:noFill/>
        </p:spPr>
        <p:txBody>
          <a:bodyPr wrap="square" lIns="0" rIns="0" tIns="0" bIns="0" anchor="t">
            <a:spAutoFit/>
          </a:bodyPr>
          <a:lstStyle/>
          <a:p>
            <a:pPr algn="l">
              <a:spcAft>
                <a:spcPts val="0"/>
              </a:spcAft>
            </a:pPr>
            <a:r>
              <a:rPr sz="900" b="0" i="0">
                <a:solidFill>
                  <a:srgbClr val="9AA3A8"/>
                </a:solidFill>
                <a:latin typeface="Calibri"/>
              </a:rPr>
              <a:t>Context Poisoning SoK  ·  advisor briefing  ·  7 October 2026</a:t>
            </a:r>
          </a:p>
        </p:txBody>
      </p:sp>
      <p:sp>
        <p:nvSpPr>
          <p:cNvPr id="3" name="TextBox 2"/>
          <p:cNvSpPr txBox="1"/>
          <p:nvPr/>
        </p:nvSpPr>
        <p:spPr>
          <a:xfrm>
            <a:off x="10881360" y="6382512"/>
            <a:ext cx="713232" cy="274320"/>
          </a:xfrm>
          <a:prstGeom prst="rect">
            <a:avLst/>
          </a:prstGeom>
          <a:noFill/>
        </p:spPr>
        <p:txBody>
          <a:bodyPr wrap="square" lIns="0" rIns="0" tIns="0" bIns="0" anchor="t">
            <a:spAutoFit/>
          </a:bodyPr>
          <a:lstStyle/>
          <a:p>
            <a:pPr algn="r">
              <a:spcAft>
                <a:spcPts val="0"/>
              </a:spcAft>
            </a:pPr>
            <a:r>
              <a:rPr sz="900" b="0" i="0">
                <a:solidFill>
                  <a:srgbClr val="9AA3A8"/>
                </a:solidFill>
                <a:latin typeface="Calibri"/>
              </a:rPr>
              <a:t>9</a:t>
            </a:r>
          </a:p>
        </p:txBody>
      </p:sp>
      <p:sp>
        <p:nvSpPr>
          <p:cNvPr id="4" name="TextBox 3"/>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2F3C47"/>
                </a:solidFill>
                <a:latin typeface="Cambria"/>
              </a:rPr>
              <a:t>Finding 3 — two implementations, opposite verdicts</a:t>
            </a:r>
          </a:p>
        </p:txBody>
      </p:sp>
      <p:sp>
        <p:nvSpPr>
          <p:cNvPr id="5" name="TextBox 4"/>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6B7780"/>
                </a:solidFill>
                <a:latin typeface="Calibri"/>
              </a:rPr>
              <a:t>RobustRAG ships two aggregation variants: same isolation step, same prompt builder, different combination rule.</a:t>
            </a:r>
          </a:p>
        </p:txBody>
      </p:sp>
      <p:graphicFrame>
        <p:nvGraphicFramePr>
          <p:cNvPr id="6" name="Table 5"/>
          <p:cNvGraphicFramePr>
            <a:graphicFrameLocks noGrp="1"/>
          </p:cNvGraphicFramePr>
          <p:nvPr/>
        </p:nvGraphicFramePr>
        <p:xfrm>
          <a:off x="594360" y="1700784"/>
          <a:ext cx="11000232" cy="1847088"/>
        </p:xfrm>
        <a:graphic>
          <a:graphicData uri="http://schemas.openxmlformats.org/drawingml/2006/table">
            <a:tbl>
              <a:tblPr bandRow="1">
                <a:tableStyleId>{5C22544A-7EE6-4342-B048-85BDC9FD1C3A}</a:tableStyleId>
              </a:tblPr>
              <a:tblGrid>
                <a:gridCol w="3200400"/>
                <a:gridCol w="1115568"/>
                <a:gridCol w="1115568"/>
                <a:gridCol w="1115568"/>
                <a:gridCol w="1115568"/>
                <a:gridCol w="1115568"/>
                <a:gridCol w="1115568"/>
                <a:gridCol w="1106424"/>
              </a:tblGrid>
              <a:tr h="420624">
                <a:tc>
                  <a:txBody>
                    <a:bodyPr wrap="square"/>
                    <a:lstStyle/>
                    <a:p>
                      <a:pPr>
                        <a:spcAft>
                          <a:spcPts val="0"/>
                        </a:spcAft>
                      </a:pPr>
                      <a:r>
                        <a:rPr sz="1150" b="1">
                          <a:solidFill>
                            <a:srgbClr val="FFFFFF"/>
                          </a:solidFill>
                          <a:latin typeface="Calibri"/>
                        </a:rPr>
                        <a:t>Poisoned passages (of 10)</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1</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5</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6</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7</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8</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9</a:t>
                      </a:r>
                    </a:p>
                  </a:txBody>
                  <a:tcPr marL="82296" marR="82296" marT="36576" marB="36576" anchor="ctr">
                    <a:solidFill>
                      <a:srgbClr val="2F3C47"/>
                    </a:solidFill>
                  </a:tcPr>
                </a:tc>
                <a:tc>
                  <a:txBody>
                    <a:bodyPr wrap="square"/>
                    <a:lstStyle/>
                    <a:p>
                      <a:pPr algn="ctr">
                        <a:spcAft>
                          <a:spcPts val="0"/>
                        </a:spcAft>
                      </a:pPr>
                      <a:r>
                        <a:rPr sz="1150" b="1">
                          <a:solidFill>
                            <a:srgbClr val="FFFFFF"/>
                          </a:solidFill>
                          <a:latin typeface="Calibri"/>
                        </a:rPr>
                        <a:t>10</a:t>
                      </a:r>
                    </a:p>
                  </a:txBody>
                  <a:tcPr marL="82296" marR="82296" marT="36576" marB="36576" anchor="ctr">
                    <a:solidFill>
                      <a:srgbClr val="2F3C47"/>
                    </a:solidFill>
                  </a:tcPr>
                </a:tc>
              </a:tr>
              <a:tr h="475488">
                <a:tc>
                  <a:txBody>
                    <a:bodyPr wrap="square"/>
                    <a:lstStyle/>
                    <a:p>
                      <a:pPr>
                        <a:spcAft>
                          <a:spcPts val="0"/>
                        </a:spcAft>
                      </a:pPr>
                      <a:r>
                        <a:rPr sz="1250" b="0">
                          <a:solidFill>
                            <a:srgbClr val="1A1A1A"/>
                          </a:solidFill>
                          <a:latin typeface="Calibri"/>
                        </a:rPr>
                        <a:t>KeywordAgg   Δ accuracy</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+7.3</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+4.0</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+4.0</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+5.7</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+6.7</a:t>
                      </a:r>
                    </a:p>
                  </a:txBody>
                  <a:tcPr marL="82296" marR="82296" marT="36576" marB="36576" anchor="ctr">
                    <a:solidFill>
                      <a:srgbClr val="FFFFFF"/>
                    </a:solidFill>
                  </a:tcPr>
                </a:tc>
                <a:tc>
                  <a:txBody>
                    <a:bodyPr wrap="square"/>
                    <a:lstStyle/>
                    <a:p>
                      <a:pPr algn="ctr">
                        <a:spcAft>
                          <a:spcPts val="0"/>
                        </a:spcAft>
                      </a:pPr>
                      <a:r>
                        <a:rPr sz="1250" b="1">
                          <a:solidFill>
                            <a:srgbClr val="2F4858"/>
                          </a:solidFill>
                          <a:latin typeface="Calibri"/>
                        </a:rPr>
                        <a:t>+12.3</a:t>
                      </a:r>
                    </a:p>
                  </a:txBody>
                  <a:tcPr marL="82296" marR="82296" marT="36576" marB="36576" anchor="ctr">
                    <a:solidFill>
                      <a:srgbClr val="FFFFFF"/>
                    </a:solidFill>
                  </a:tcPr>
                </a:tc>
                <a:tc>
                  <a:txBody>
                    <a:bodyPr wrap="square"/>
                    <a:lstStyle/>
                    <a:p>
                      <a:pPr algn="ctr">
                        <a:spcAft>
                          <a:spcPts val="0"/>
                        </a:spcAft>
                      </a:pPr>
                      <a:r>
                        <a:rPr sz="1250" b="0">
                          <a:solidFill>
                            <a:srgbClr val="1A1A1A"/>
                          </a:solidFill>
                          <a:latin typeface="Calibri"/>
                        </a:rPr>
                        <a:t>−5.7</a:t>
                      </a:r>
                    </a:p>
                  </a:txBody>
                  <a:tcPr marL="82296" marR="82296" marT="36576" marB="36576" anchor="ctr">
                    <a:solidFill>
                      <a:srgbClr val="FFFFFF"/>
                    </a:solidFill>
                  </a:tcPr>
                </a:tc>
              </a:tr>
              <a:tr h="475488">
                <a:tc>
                  <a:txBody>
                    <a:bodyPr wrap="square"/>
                    <a:lstStyle/>
                    <a:p>
                      <a:pPr>
                        <a:spcAft>
                          <a:spcPts val="0"/>
                        </a:spcAft>
                      </a:pPr>
                      <a:r>
                        <a:rPr sz="1250" b="0">
                          <a:solidFill>
                            <a:srgbClr val="1A1A1A"/>
                          </a:solidFill>
                          <a:latin typeface="Calibri"/>
                        </a:rPr>
                        <a:t>DecodingAgg   Δ accuracy</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+8.7</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−9.0</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−14.0</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−18.3</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−20.3</a:t>
                      </a:r>
                    </a:p>
                  </a:txBody>
                  <a:tcPr marL="82296" marR="82296" marT="36576" marB="36576" anchor="ctr">
                    <a:solidFill>
                      <a:srgbClr val="F6F7F8"/>
                    </a:solidFill>
                  </a:tcPr>
                </a:tc>
                <a:tc>
                  <a:txBody>
                    <a:bodyPr wrap="square"/>
                    <a:lstStyle/>
                    <a:p>
                      <a:pPr algn="ctr">
                        <a:spcAft>
                          <a:spcPts val="0"/>
                        </a:spcAft>
                      </a:pPr>
                      <a:r>
                        <a:rPr sz="1250" b="1">
                          <a:solidFill>
                            <a:srgbClr val="8C2E2E"/>
                          </a:solidFill>
                          <a:latin typeface="Calibri"/>
                        </a:rPr>
                        <a:t>−17.3</a:t>
                      </a:r>
                    </a:p>
                  </a:txBody>
                  <a:tcPr marL="82296" marR="82296" marT="36576" marB="36576" anchor="ctr">
                    <a:solidFill>
                      <a:srgbClr val="F6F7F8"/>
                    </a:solidFill>
                  </a:tcPr>
                </a:tc>
                <a:tc>
                  <a:txBody>
                    <a:bodyPr wrap="square"/>
                    <a:lstStyle/>
                    <a:p>
                      <a:pPr algn="ctr">
                        <a:spcAft>
                          <a:spcPts val="0"/>
                        </a:spcAft>
                      </a:pPr>
                      <a:r>
                        <a:rPr sz="1250" b="0">
                          <a:solidFill>
                            <a:srgbClr val="1A1A1A"/>
                          </a:solidFill>
                          <a:latin typeface="Calibri"/>
                        </a:rPr>
                        <a:t>−4.0</a:t>
                      </a:r>
                    </a:p>
                  </a:txBody>
                  <a:tcPr marL="82296" marR="82296" marT="36576" marB="36576" anchor="ctr">
                    <a:solidFill>
                      <a:srgbClr val="F6F7F8"/>
                    </a:solidFill>
                  </a:tcPr>
                </a:tc>
              </a:tr>
              <a:tr h="475488">
                <a:tc>
                  <a:txBody>
                    <a:bodyPr wrap="square"/>
                    <a:lstStyle/>
                    <a:p>
                      <a:pPr>
                        <a:spcAft>
                          <a:spcPts val="0"/>
                        </a:spcAft>
                      </a:pPr>
                      <a:r>
                        <a:rPr sz="1250" b="1">
                          <a:solidFill>
                            <a:srgbClr val="1A1A1A"/>
                          </a:solidFill>
                          <a:latin typeface="Calibri"/>
                        </a:rPr>
                        <a:t>Gap between the two</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1.4</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13.0</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18.0</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24.0</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27.0</a:t>
                      </a:r>
                    </a:p>
                  </a:txBody>
                  <a:tcPr marL="82296" marR="82296" marT="36576" marB="36576" anchor="ctr">
                    <a:solidFill>
                      <a:srgbClr val="FFFFFF"/>
                    </a:solidFill>
                  </a:tcPr>
                </a:tc>
                <a:tc>
                  <a:txBody>
                    <a:bodyPr wrap="square"/>
                    <a:lstStyle/>
                    <a:p>
                      <a:pPr algn="ctr">
                        <a:spcAft>
                          <a:spcPts val="0"/>
                        </a:spcAft>
                      </a:pPr>
                      <a:r>
                        <a:rPr sz="1250" b="1">
                          <a:solidFill>
                            <a:srgbClr val="8C2E2E"/>
                          </a:solidFill>
                          <a:latin typeface="Calibri"/>
                        </a:rPr>
                        <a:t>29.6</a:t>
                      </a:r>
                    </a:p>
                  </a:txBody>
                  <a:tcPr marL="82296" marR="82296" marT="36576" marB="36576" anchor="ctr">
                    <a:solidFill>
                      <a:srgbClr val="FFFFFF"/>
                    </a:solidFill>
                  </a:tcPr>
                </a:tc>
                <a:tc>
                  <a:txBody>
                    <a:bodyPr wrap="square"/>
                    <a:lstStyle/>
                    <a:p>
                      <a:pPr algn="ctr">
                        <a:spcAft>
                          <a:spcPts val="0"/>
                        </a:spcAft>
                      </a:pPr>
                      <a:r>
                        <a:rPr sz="1250" b="1">
                          <a:solidFill>
                            <a:srgbClr val="1A1A1A"/>
                          </a:solidFill>
                          <a:latin typeface="Calibri"/>
                        </a:rPr>
                        <a:t>1.7</a:t>
                      </a:r>
                    </a:p>
                  </a:txBody>
                  <a:tcPr marL="82296" marR="82296" marT="36576" marB="36576" anchor="ctr">
                    <a:solidFill>
                      <a:srgbClr val="FFFFFF"/>
                    </a:solidFill>
                  </a:tcPr>
                </a:tc>
              </a:tr>
            </a:tbl>
          </a:graphicData>
        </a:graphic>
      </p:graphicFrame>
      <p:sp>
        <p:nvSpPr>
          <p:cNvPr id="7" name="TextBox 6"/>
          <p:cNvSpPr txBox="1"/>
          <p:nvPr/>
        </p:nvSpPr>
        <p:spPr>
          <a:xfrm>
            <a:off x="594360" y="3913632"/>
            <a:ext cx="11000232" cy="2011680"/>
          </a:xfrm>
          <a:prstGeom prst="rect">
            <a:avLst/>
          </a:prstGeom>
          <a:noFill/>
        </p:spPr>
        <p:txBody>
          <a:bodyPr wrap="square" lIns="0" rIns="0" tIns="0" bIns="0" anchor="t">
            <a:spAutoFit/>
          </a:bodyPr>
          <a:lstStyle/>
          <a:p>
            <a:pPr algn="l">
              <a:lnSpc>
                <a:spcPct val="104000"/>
              </a:lnSpc>
              <a:spcAft>
                <a:spcPts val="700"/>
              </a:spcAft>
            </a:pPr>
            <a:r>
              <a:rPr sz="1350" b="0" i="0">
                <a:solidFill>
                  <a:srgbClr val="1A1A1A"/>
                </a:solidFill>
                <a:latin typeface="Calibri"/>
              </a:rPr>
              <a:t>•  At 9 of 10 poisoned, one implementation of the same principle is resolvably protective and the other resolvably harmful — 29.6 points apart, both clearing threshold.</a:t>
            </a:r>
          </a:p>
          <a:p>
            <a:pPr>
              <a:lnSpc>
                <a:spcPct val="104000"/>
              </a:lnSpc>
              <a:spcAft>
                <a:spcPts val="700"/>
              </a:spcAft>
            </a:pPr>
            <a:r>
              <a:rPr sz="1350" b="0" i="0">
                <a:solidFill>
                  <a:srgbClr val="1A1A1A"/>
                </a:solidFill>
                <a:latin typeface="Calibri"/>
              </a:rPr>
              <a:t>•  The mechanism was written down and committed before the test: a hard keyword filter discards a passage carrying no answer content, so one honest passage still carries the answer; a soft logit average lets nine junk distributions dilute it.</a:t>
            </a:r>
          </a:p>
          <a:p>
            <a:pPr>
              <a:lnSpc>
                <a:spcPct val="104000"/>
              </a:lnSpc>
              <a:spcAft>
                <a:spcPts val="700"/>
              </a:spcAft>
            </a:pPr>
            <a:r>
              <a:rPr sz="1350" b="1" i="0">
                <a:solidFill>
                  <a:srgbClr val="1A1A1A"/>
                </a:solidFill>
                <a:latin typeface="Calibri"/>
              </a:rPr>
              <a:t>•  That predicts the gap scales with the honest minority and vanishes when it reaches zero. Measured afterwards: monotone across six doses, then collapsing to 1.7 at saturation. Confirmed.</a:t>
            </a:r>
          </a:p>
        </p:txBody>
      </p:sp>
      <p:sp>
        <p:nvSpPr>
          <p:cNvPr id="8" name="TextBox 7"/>
          <p:cNvSpPr txBox="1"/>
          <p:nvPr/>
        </p:nvSpPr>
        <p:spPr>
          <a:xfrm>
            <a:off x="594360" y="5961888"/>
            <a:ext cx="11000232" cy="292608"/>
          </a:xfrm>
          <a:prstGeom prst="rect">
            <a:avLst/>
          </a:prstGeom>
          <a:noFill/>
        </p:spPr>
        <p:txBody>
          <a:bodyPr wrap="square" lIns="0" rIns="0" tIns="0" bIns="0" anchor="t">
            <a:spAutoFit/>
          </a:bodyPr>
          <a:lstStyle/>
          <a:p>
            <a:pPr algn="l">
              <a:spcAft>
                <a:spcPts val="0"/>
              </a:spcAft>
            </a:pPr>
            <a:r>
              <a:rPr sz="1050" b="0" i="1">
                <a:solidFill>
                  <a:srgbClr val="6B7780"/>
                </a:solidFill>
                <a:latin typeface="Calibri"/>
              </a:rPr>
              <a:t>Full curves, controls and limits:  aggregation_divergence.md  ·  second_implementation.md  ·  CELL_CAMPAIGN.md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F3C47"/>
        </a:solidFill>
        <a:effectLst/>
      </p:bgPr>
    </p:bg>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lIns="0" rIns="0" tIns="0" bIns="0" anchor="ctr">
            <a:spAutoFit/>
          </a:bodyPr>
          <a:lstStyle/>
          <a:p>
            <a:pPr algn="l">
              <a:spcAft>
                <a:spcPts val="0"/>
              </a:spcAft>
            </a:pPr>
            <a:r>
              <a:rPr sz="2900" b="1" i="0">
                <a:solidFill>
                  <a:srgbClr val="FFFFFF"/>
                </a:solidFill>
                <a:latin typeface="Cambria"/>
              </a:rPr>
              <a:t>Positioning for an A* security venue</a:t>
            </a:r>
          </a:p>
        </p:txBody>
      </p:sp>
      <p:sp>
        <p:nvSpPr>
          <p:cNvPr id="3" name="TextBox 2"/>
          <p:cNvSpPr txBox="1"/>
          <p:nvPr/>
        </p:nvSpPr>
        <p:spPr>
          <a:xfrm>
            <a:off x="594360" y="1115568"/>
            <a:ext cx="11000232" cy="411480"/>
          </a:xfrm>
          <a:prstGeom prst="rect">
            <a:avLst/>
          </a:prstGeom>
          <a:noFill/>
        </p:spPr>
        <p:txBody>
          <a:bodyPr wrap="square" lIns="0" rIns="0" tIns="0" bIns="0" anchor="t">
            <a:spAutoFit/>
          </a:bodyPr>
          <a:lstStyle/>
          <a:p>
            <a:pPr algn="l">
              <a:spcAft>
                <a:spcPts val="0"/>
              </a:spcAft>
            </a:pPr>
            <a:r>
              <a:rPr sz="1300" b="0" i="1">
                <a:solidFill>
                  <a:srgbClr val="AFB8BD"/>
                </a:solidFill>
                <a:latin typeface="Calibri"/>
              </a:rPr>
              <a:t>Target venues: IEEE S&amp;P  ·  USENIX Security  ·  ACM CCS  ·  NDSS — SoK tracks</a:t>
            </a:r>
          </a:p>
        </p:txBody>
      </p:sp>
      <p:sp>
        <p:nvSpPr>
          <p:cNvPr id="4" name="TextBox 3"/>
          <p:cNvSpPr txBox="1"/>
          <p:nvPr/>
        </p:nvSpPr>
        <p:spPr>
          <a:xfrm>
            <a:off x="594360" y="1810512"/>
            <a:ext cx="5394960" cy="274320"/>
          </a:xfrm>
          <a:prstGeom prst="rect">
            <a:avLst/>
          </a:prstGeom>
          <a:noFill/>
        </p:spPr>
        <p:txBody>
          <a:bodyPr wrap="square" lIns="0" rIns="0" tIns="0" bIns="0" anchor="t">
            <a:spAutoFit/>
          </a:bodyPr>
          <a:lstStyle/>
          <a:p>
            <a:pPr algn="l">
              <a:spcAft>
                <a:spcPts val="0"/>
              </a:spcAft>
            </a:pPr>
            <a:r>
              <a:rPr sz="1250" b="1" i="0">
                <a:solidFill>
                  <a:srgbClr val="C9B072"/>
                </a:solidFill>
                <a:latin typeface="Calibri"/>
              </a:rPr>
              <a:t>WHAT IT CONTRIBUTES BEYOND A SURVEY</a:t>
            </a:r>
          </a:p>
        </p:txBody>
      </p:sp>
      <p:sp>
        <p:nvSpPr>
          <p:cNvPr id="5" name="TextBox 4"/>
          <p:cNvSpPr txBox="1"/>
          <p:nvPr/>
        </p:nvSpPr>
        <p:spPr>
          <a:xfrm>
            <a:off x="594360" y="2194560"/>
            <a:ext cx="5394960" cy="3200400"/>
          </a:xfrm>
          <a:prstGeom prst="rect">
            <a:avLst/>
          </a:prstGeom>
          <a:noFill/>
        </p:spPr>
        <p:txBody>
          <a:bodyPr wrap="square" lIns="0" rIns="0" tIns="0" bIns="0" anchor="t">
            <a:spAutoFit/>
          </a:bodyPr>
          <a:lstStyle/>
          <a:p>
            <a:pPr algn="l">
              <a:lnSpc>
                <a:spcPct val="104000"/>
              </a:lnSpc>
              <a:spcAft>
                <a:spcPts val="800"/>
              </a:spcAft>
            </a:pPr>
            <a:r>
              <a:rPr sz="1300" b="0" i="0">
                <a:solidFill>
                  <a:srgbClr val="E6E9EB"/>
                </a:solidFill>
                <a:latin typeface="Calibri"/>
              </a:rPr>
              <a:t>•  New measurements, not re-quoted numbers — 16 cells that exist in no paper</a:t>
            </a:r>
          </a:p>
          <a:p>
            <a:pPr>
              <a:lnSpc>
                <a:spcPct val="104000"/>
              </a:lnSpc>
              <a:spcAft>
                <a:spcPts val="800"/>
              </a:spcAft>
            </a:pPr>
            <a:r>
              <a:rPr sz="1300" b="0" i="0">
                <a:solidFill>
                  <a:srgbClr val="E6E9EB"/>
                </a:solidFill>
                <a:latin typeface="Calibri"/>
              </a:rPr>
              <a:t>•  A threat-model result: defenses as attack amplifiers (0% → 99%), with the undefended control proving the attack is otherwise inert</a:t>
            </a:r>
          </a:p>
          <a:p>
            <a:pPr>
              <a:lnSpc>
                <a:spcPct val="104000"/>
              </a:lnSpc>
              <a:spcAft>
                <a:spcPts val="800"/>
              </a:spcAft>
            </a:pPr>
            <a:r>
              <a:rPr sz="1300" b="0" i="0">
                <a:solidFill>
                  <a:srgbClr val="E6E9EB"/>
                </a:solidFill>
                <a:latin typeface="Calibri"/>
              </a:rPr>
              <a:t>•  A falsifiable mechanism stated before the test and confirmed monotonically</a:t>
            </a:r>
          </a:p>
          <a:p>
            <a:pPr>
              <a:lnSpc>
                <a:spcPct val="104000"/>
              </a:lnSpc>
              <a:spcAft>
                <a:spcPts val="800"/>
              </a:spcAft>
            </a:pPr>
            <a:r>
              <a:rPr sz="1300" b="0" i="0">
                <a:solidFill>
                  <a:srgbClr val="E6E9EB"/>
                </a:solidFill>
                <a:latin typeface="Calibri"/>
              </a:rPr>
              <a:t>•  An actionable design rule, held across 2 families and 5 implementations</a:t>
            </a:r>
          </a:p>
          <a:p>
            <a:pPr>
              <a:lnSpc>
                <a:spcPct val="104000"/>
              </a:lnSpc>
              <a:spcAft>
                <a:spcPts val="800"/>
              </a:spcAft>
            </a:pPr>
            <a:r>
              <a:rPr sz="1300" b="0" i="0">
                <a:solidFill>
                  <a:srgbClr val="E6E9EB"/>
                </a:solidFill>
                <a:latin typeface="Calibri"/>
              </a:rPr>
              <a:t>•  Reproducibility evidence: 12 distinct defect classes documented with fixes</a:t>
            </a:r>
          </a:p>
        </p:txBody>
      </p:sp>
      <p:sp>
        <p:nvSpPr>
          <p:cNvPr id="6" name="TextBox 5"/>
          <p:cNvSpPr txBox="1"/>
          <p:nvPr/>
        </p:nvSpPr>
        <p:spPr>
          <a:xfrm>
            <a:off x="6537960" y="1810512"/>
            <a:ext cx="5394960" cy="274320"/>
          </a:xfrm>
          <a:prstGeom prst="rect">
            <a:avLst/>
          </a:prstGeom>
          <a:noFill/>
        </p:spPr>
        <p:txBody>
          <a:bodyPr wrap="square" lIns="0" rIns="0" tIns="0" bIns="0" anchor="t">
            <a:spAutoFit/>
          </a:bodyPr>
          <a:lstStyle/>
          <a:p>
            <a:pPr algn="l">
              <a:spcAft>
                <a:spcPts val="0"/>
              </a:spcAft>
            </a:pPr>
            <a:r>
              <a:rPr sz="1250" b="1" i="0">
                <a:solidFill>
                  <a:srgbClr val="C9B072"/>
                </a:solidFill>
                <a:latin typeface="Calibri"/>
              </a:rPr>
              <a:t>HONEST LIMITS, AND WHAT IS RUNNING NOW</a:t>
            </a:r>
          </a:p>
        </p:txBody>
      </p:sp>
      <p:sp>
        <p:nvSpPr>
          <p:cNvPr id="7" name="TextBox 6"/>
          <p:cNvSpPr txBox="1"/>
          <p:nvPr/>
        </p:nvSpPr>
        <p:spPr>
          <a:xfrm>
            <a:off x="6537960" y="2194560"/>
            <a:ext cx="5394960" cy="3200400"/>
          </a:xfrm>
          <a:prstGeom prst="rect">
            <a:avLst/>
          </a:prstGeom>
          <a:noFill/>
        </p:spPr>
        <p:txBody>
          <a:bodyPr wrap="square" lIns="0" rIns="0" tIns="0" bIns="0" anchor="t">
            <a:spAutoFit/>
          </a:bodyPr>
          <a:lstStyle/>
          <a:p>
            <a:pPr algn="l">
              <a:lnSpc>
                <a:spcPct val="104000"/>
              </a:lnSpc>
              <a:spcAft>
                <a:spcPts val="800"/>
              </a:spcAft>
            </a:pPr>
            <a:r>
              <a:rPr sz="1300" b="0" i="0">
                <a:solidFill>
                  <a:srgbClr val="E6E9EB"/>
                </a:solidFill>
                <a:latin typeface="Calibri"/>
              </a:rPr>
              <a:t>•  One retrieval dataset (open_nq); three models; four attack mechanisms</a:t>
            </a:r>
          </a:p>
          <a:p>
            <a:pPr>
              <a:lnSpc>
                <a:spcPct val="104000"/>
              </a:lnSpc>
              <a:spcAft>
                <a:spcPts val="800"/>
              </a:spcAft>
            </a:pPr>
            <a:r>
              <a:rPr sz="1300" b="0" i="0">
                <a:solidFill>
                  <a:srgbClr val="E6E9EB"/>
                </a:solidFill>
                <a:latin typeface="Calibri"/>
              </a:rPr>
              <a:t>•  The aggregation family comes from a single repository — a third-party implementation is the next real test</a:t>
            </a:r>
          </a:p>
          <a:p>
            <a:pPr>
              <a:lnSpc>
                <a:spcPct val="104000"/>
              </a:lnSpc>
              <a:spcAft>
                <a:spcPts val="800"/>
              </a:spcAft>
            </a:pPr>
            <a:r>
              <a:rPr sz="1300" b="0" i="0">
                <a:solidFill>
                  <a:srgbClr val="E6E9EB"/>
                </a:solidFill>
                <a:latin typeface="Calibri"/>
              </a:rPr>
              <a:t>•  A model-controlled rerun is executing now; its finished half already shows the KeywordAgg protection does not replicate</a:t>
            </a:r>
          </a:p>
          <a:p>
            <a:pPr>
              <a:lnSpc>
                <a:spcPct val="104000"/>
              </a:lnSpc>
              <a:spcAft>
                <a:spcPts val="800"/>
              </a:spcAft>
            </a:pPr>
            <a:r>
              <a:rPr sz="1300" b="0" i="0">
                <a:solidFill>
                  <a:srgbClr val="E6E9EB"/>
                </a:solidFill>
                <a:latin typeface="Calibri"/>
              </a:rPr>
              <a:t>•  Next: AGGD as a third reconstructable attack; close the 99 candidate missed pairs</a:t>
            </a:r>
          </a:p>
          <a:p>
            <a:pPr>
              <a:lnSpc>
                <a:spcPct val="104000"/>
              </a:lnSpc>
              <a:spcAft>
                <a:spcPts val="800"/>
              </a:spcAft>
            </a:pPr>
            <a:r>
              <a:rPr sz="1300" b="0" i="0">
                <a:solidFill>
                  <a:srgbClr val="E6E9EB"/>
                </a:solidFill>
                <a:latin typeface="Calibri"/>
              </a:rPr>
              <a:t>•  Then freeze the transfer matrix and write up</a:t>
            </a:r>
          </a:p>
        </p:txBody>
      </p:sp>
      <p:sp>
        <p:nvSpPr>
          <p:cNvPr id="8" name="TextBox 7"/>
          <p:cNvSpPr txBox="1"/>
          <p:nvPr/>
        </p:nvSpPr>
        <p:spPr>
          <a:xfrm>
            <a:off x="594360" y="5532120"/>
            <a:ext cx="11000232" cy="822960"/>
          </a:xfrm>
          <a:prstGeom prst="rect">
            <a:avLst/>
          </a:prstGeom>
          <a:noFill/>
        </p:spPr>
        <p:txBody>
          <a:bodyPr wrap="square" lIns="0" rIns="0" tIns="0" bIns="0" anchor="t">
            <a:spAutoFit/>
          </a:bodyPr>
          <a:lstStyle/>
          <a:p>
            <a:pPr algn="l">
              <a:lnSpc>
                <a:spcPct val="115000"/>
              </a:lnSpc>
              <a:spcAft>
                <a:spcPts val="0"/>
              </a:spcAft>
            </a:pPr>
            <a:r>
              <a:rPr sz="1300" b="0" i="1">
                <a:solidFill>
                  <a:srgbClr val="C9B072"/>
                </a:solidFill>
                <a:latin typeface="Calibri"/>
              </a:rPr>
              <a:t>The through-line: a survey found that two communities never test each other's work. Running the code showed why that matters — several defenses are not merely untested against the other threat model, they are harmful under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